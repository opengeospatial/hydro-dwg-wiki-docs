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1" r:id="rId1"/>
  </p:sldMasterIdLst>
  <p:notesMasterIdLst>
    <p:notesMasterId r:id="rId31"/>
  </p:notesMasterIdLst>
  <p:handoutMasterIdLst>
    <p:handoutMasterId r:id="rId32"/>
  </p:handoutMasterIdLst>
  <p:sldIdLst>
    <p:sldId id="256" r:id="rId2"/>
    <p:sldId id="311" r:id="rId3"/>
    <p:sldId id="312" r:id="rId4"/>
    <p:sldId id="258" r:id="rId5"/>
    <p:sldId id="319" r:id="rId6"/>
    <p:sldId id="259" r:id="rId7"/>
    <p:sldId id="303" r:id="rId8"/>
    <p:sldId id="314" r:id="rId9"/>
    <p:sldId id="315" r:id="rId10"/>
    <p:sldId id="313" r:id="rId11"/>
    <p:sldId id="271" r:id="rId12"/>
    <p:sldId id="272" r:id="rId13"/>
    <p:sldId id="299" r:id="rId14"/>
    <p:sldId id="261" r:id="rId15"/>
    <p:sldId id="262" r:id="rId16"/>
    <p:sldId id="276" r:id="rId17"/>
    <p:sldId id="279" r:id="rId18"/>
    <p:sldId id="280" r:id="rId19"/>
    <p:sldId id="321" r:id="rId20"/>
    <p:sldId id="298" r:id="rId21"/>
    <p:sldId id="305" r:id="rId22"/>
    <p:sldId id="306" r:id="rId23"/>
    <p:sldId id="307" r:id="rId24"/>
    <p:sldId id="300" r:id="rId25"/>
    <p:sldId id="304" r:id="rId26"/>
    <p:sldId id="308" r:id="rId27"/>
    <p:sldId id="320" r:id="rId28"/>
    <p:sldId id="316" r:id="rId29"/>
    <p:sldId id="30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8" autoAdjust="0"/>
    <p:restoredTop sz="87937" autoAdjust="0"/>
  </p:normalViewPr>
  <p:slideViewPr>
    <p:cSldViewPr snapToGrid="0" snapToObjects="1">
      <p:cViewPr varScale="1">
        <p:scale>
          <a:sx n="93" d="100"/>
          <a:sy n="93" d="100"/>
        </p:scale>
        <p:origin x="-704" y="-10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interSettings" Target="printerSettings/printerSettings1.bin"/><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EB9D4F-3EEB-C943-97B0-AA038E924F34}" type="datetime1">
              <a:rPr lang="en-US" smtClean="0"/>
              <a:t>9/23/13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F1B9A5-D54A-AA47-9F34-284C7B53E78F}" type="slidenum">
              <a:rPr lang="en-US" smtClean="0"/>
              <a:t>‹#›</a:t>
            </a:fld>
            <a:endParaRPr lang="en-US"/>
          </a:p>
        </p:txBody>
      </p:sp>
    </p:spTree>
    <p:extLst>
      <p:ext uri="{BB962C8B-B14F-4D97-AF65-F5344CB8AC3E}">
        <p14:creationId xmlns:p14="http://schemas.microsoft.com/office/powerpoint/2010/main" val="38557243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9B5485-DDC0-DC4C-9AF8-D00C10CDDC54}" type="datetime1">
              <a:rPr lang="en-US" smtClean="0"/>
              <a:t>9/23/13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7FF3E-8EC6-8947-8559-B0AD3288662E}" type="slidenum">
              <a:rPr lang="en-US" smtClean="0"/>
              <a:t>‹#›</a:t>
            </a:fld>
            <a:endParaRPr lang="en-US"/>
          </a:p>
        </p:txBody>
      </p:sp>
    </p:spTree>
    <p:extLst>
      <p:ext uri="{BB962C8B-B14F-4D97-AF65-F5344CB8AC3E}">
        <p14:creationId xmlns:p14="http://schemas.microsoft.com/office/powerpoint/2010/main" val="92216144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p:cNvSpPr>
          <p:nvPr>
            <p:ph type="sldImg"/>
          </p:nvPr>
        </p:nvSpPr>
        <p:spPr>
          <a:ln/>
        </p:spPr>
      </p:sp>
      <p:sp>
        <p:nvSpPr>
          <p:cNvPr id="7065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ea typeface="ＭＳ Ｐゴシック" charset="0"/>
                <a:cs typeface="ＭＳ Ｐゴシック" charset="0"/>
              </a:rPr>
              <a:t>As of Sept 9, Search results for all data: 624 million resources registered</a:t>
            </a:r>
          </a:p>
        </p:txBody>
      </p:sp>
      <p:sp>
        <p:nvSpPr>
          <p:cNvPr id="4" name="Slide Number Placeholder 3"/>
          <p:cNvSpPr>
            <a:spLocks noGrp="1"/>
          </p:cNvSpPr>
          <p:nvPr>
            <p:ph type="sldNum" sz="quarter" idx="5"/>
          </p:nvPr>
        </p:nvSpPr>
        <p:spPr/>
        <p:txBody>
          <a:bodyPr/>
          <a:lstStyle/>
          <a:p>
            <a:pPr>
              <a:defRPr/>
            </a:pPr>
            <a:fld id="{79368064-90AE-D845-92C0-656D1C24BD89}" type="slidenum">
              <a:rPr lang="en-US" smtClean="0"/>
              <a:pPr>
                <a:defRPr/>
              </a:pPr>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p:cNvSpPr>
          <p:nvPr>
            <p:ph type="sldImg"/>
          </p:nvPr>
        </p:nvSpPr>
        <p:spPr>
          <a:ln/>
        </p:spPr>
      </p:sp>
      <p:sp>
        <p:nvSpPr>
          <p:cNvPr id="7270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ea typeface="ＭＳ Ｐゴシック" charset="0"/>
                <a:cs typeface="ＭＳ Ｐゴシック" charset="0"/>
              </a:rPr>
              <a:t>http://www.geoportal.org/web/guest/geo_search_overview?p_p_id=srgPortlet_WAR_geoportal&amp;p_p_lifecycle=0&amp;p_p_state=normal&amp;searchType=advanced&amp;newregionid=-180%2C-90%2C180%2C90&amp;north=90&amp;west=-180&amp;east=180&amp;south=-90&amp;ftext=WaterML&amp;startDate=&amp;endDate=&amp;numberRecordsForPage=10&amp;x=-458&amp;y=-855 http://bit.ly/19BPbrv </a:t>
            </a:r>
          </a:p>
        </p:txBody>
      </p:sp>
      <p:sp>
        <p:nvSpPr>
          <p:cNvPr id="4" name="Slide Number Placeholder 3"/>
          <p:cNvSpPr>
            <a:spLocks noGrp="1"/>
          </p:cNvSpPr>
          <p:nvPr>
            <p:ph type="sldNum" sz="quarter" idx="5"/>
          </p:nvPr>
        </p:nvSpPr>
        <p:spPr/>
        <p:txBody>
          <a:bodyPr/>
          <a:lstStyle/>
          <a:p>
            <a:pPr>
              <a:defRPr/>
            </a:pPr>
            <a:fld id="{6F40918E-1354-FD4C-AD0E-5A38AC4E7BF4}" type="slidenum">
              <a:rPr lang="en-US" smtClean="0"/>
              <a:pPr>
                <a:defRPr/>
              </a:pPr>
              <a:t>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p:cNvSpPr>
          <p:nvPr>
            <p:ph type="sldImg"/>
          </p:nvPr>
        </p:nvSpPr>
        <p:spPr>
          <a:ln/>
        </p:spPr>
      </p:sp>
      <p:sp>
        <p:nvSpPr>
          <p:cNvPr id="6861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ea typeface="ＭＳ Ｐゴシック" charset="0"/>
                <a:cs typeface="ＭＳ Ｐゴシック" charset="0"/>
              </a:rPr>
              <a:t>http://www.arcgis.com/home/webmap/viewer.html?webmap=87ab07e2aba840828033e80b15fd6727</a:t>
            </a:r>
          </a:p>
        </p:txBody>
      </p:sp>
      <p:sp>
        <p:nvSpPr>
          <p:cNvPr id="4" name="Slide Number Placeholder 3"/>
          <p:cNvSpPr>
            <a:spLocks noGrp="1"/>
          </p:cNvSpPr>
          <p:nvPr>
            <p:ph type="sldNum" sz="quarter" idx="5"/>
          </p:nvPr>
        </p:nvSpPr>
        <p:spPr/>
        <p:txBody>
          <a:bodyPr/>
          <a:lstStyle/>
          <a:p>
            <a:pPr>
              <a:defRPr/>
            </a:pPr>
            <a:fld id="{29B22AAC-0122-BE40-A95C-5EAC96450D7F}" type="slidenum">
              <a:rPr lang="en-US" smtClean="0"/>
              <a:pPr>
                <a:defRPr/>
              </a:pPr>
              <a:t>10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indent="0">
              <a:spcBef>
                <a:spcPct val="0"/>
              </a:spcBef>
              <a:buFontTx/>
              <a:buNone/>
            </a:pPr>
            <a:r>
              <a:rPr lang="en-US" dirty="0" smtClean="0"/>
              <a:t>Here is the current architecture</a:t>
            </a:r>
            <a:r>
              <a:rPr lang="en-US" baseline="0" dirty="0" smtClean="0"/>
              <a:t> for WWO within GEOSS. A user can search the GEOSS registry for “WWO” and access the World Water Online Portal or Map Viewer. If you go to the map viewer, you will see a map containing rendered Web Feature services representing the locations of monitoring stations. A user can zoom in and select a monitoring station to see a pop-up with metadata and possibly other content as well such as a graph. If the metadata provides a </a:t>
            </a:r>
            <a:r>
              <a:rPr lang="en-US" baseline="0" dirty="0" err="1" smtClean="0"/>
              <a:t>WaterMLURI</a:t>
            </a:r>
            <a:r>
              <a:rPr lang="en-US" baseline="0" dirty="0" smtClean="0"/>
              <a:t>, the user can click on the link to send a request to the data server, returning WaterML data. In the current architecture, the University of Texas is hosting the metadata services while the data services are coming from different hosts. Each of these hosts are publishing WaterML data through both proven industry and open technologies.</a:t>
            </a:r>
            <a:endParaRPr lang="en-US" dirty="0" smtClean="0"/>
          </a:p>
          <a:p>
            <a:pPr marL="228600" indent="-228600">
              <a:spcBef>
                <a:spcPct val="0"/>
              </a:spcBef>
              <a:buFontTx/>
              <a:buAutoNum type="arabicPeriod"/>
            </a:pPr>
            <a:endParaRPr lang="en-US" dirty="0" smtClean="0"/>
          </a:p>
          <a:p>
            <a:pPr marL="228600" indent="-228600">
              <a:spcBef>
                <a:spcPct val="0"/>
              </a:spcBef>
              <a:buFontTx/>
              <a:buAutoNum type="arabicPeriod"/>
            </a:pPr>
            <a:r>
              <a:rPr lang="en-US" dirty="0" smtClean="0"/>
              <a:t>User searches GEOSS registry for “WWO”, gets back list of components and data services. </a:t>
            </a:r>
          </a:p>
          <a:p>
            <a:pPr marL="228600" indent="-228600">
              <a:spcBef>
                <a:spcPct val="0"/>
              </a:spcBef>
              <a:buFontTx/>
              <a:buAutoNum type="arabicPeriod"/>
            </a:pPr>
            <a:r>
              <a:rPr lang="en-US" dirty="0" smtClean="0"/>
              <a:t>(click) User selects </a:t>
            </a:r>
            <a:r>
              <a:rPr lang="en-US" dirty="0" err="1" smtClean="0"/>
              <a:t>WorldWaterOnline</a:t>
            </a:r>
            <a:r>
              <a:rPr lang="en-US" dirty="0" smtClean="0"/>
              <a:t> Portal from search result, and zooms into map viewer.</a:t>
            </a:r>
          </a:p>
          <a:p>
            <a:pPr marL="228600" indent="-228600">
              <a:spcBef>
                <a:spcPct val="0"/>
              </a:spcBef>
              <a:buFontTx/>
              <a:buAutoNum type="arabicPeriod"/>
            </a:pPr>
            <a:r>
              <a:rPr lang="en-US" dirty="0" smtClean="0"/>
              <a:t>(click) User selects a monitoring station, and sees a popup with time series metadata, and possibly other content such as graph of recent water discharge at that station.</a:t>
            </a:r>
          </a:p>
          <a:p>
            <a:pPr marL="228600" indent="-228600">
              <a:spcBef>
                <a:spcPct val="0"/>
              </a:spcBef>
              <a:buFontTx/>
              <a:buAutoNum type="arabicPeriod"/>
            </a:pPr>
            <a:r>
              <a:rPr lang="en-US" dirty="0" smtClean="0"/>
              <a:t>(click) If metadata provides a “</a:t>
            </a:r>
            <a:r>
              <a:rPr lang="en-US" dirty="0" err="1" smtClean="0"/>
              <a:t>WaterMLURI</a:t>
            </a:r>
            <a:r>
              <a:rPr lang="en-US" dirty="0" smtClean="0"/>
              <a:t>” field value (link) this will send a request to the data server, returning WaterML data, ready for use in an application. </a:t>
            </a:r>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fld id="{AD30E9ED-CC2E-4AA4-973E-E02860DA85D0}" type="slidenum">
              <a:rPr lang="en-US">
                <a:solidFill>
                  <a:prstClr val="black"/>
                </a:solidFill>
                <a:latin typeface="Calibri" pitchFamily="34" charset="0"/>
              </a:rPr>
              <a:pPr/>
              <a:t>11</a:t>
            </a:fld>
            <a:endParaRPr lang="en-US">
              <a:solidFill>
                <a:prstClr val="black"/>
              </a:solidFill>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indent="0">
              <a:spcBef>
                <a:spcPct val="0"/>
              </a:spcBef>
              <a:buFontTx/>
              <a:buNone/>
            </a:pPr>
            <a:r>
              <a:rPr lang="en-US" dirty="0" smtClean="0"/>
              <a:t>Here is the current architecture</a:t>
            </a:r>
            <a:r>
              <a:rPr lang="en-US" baseline="0" dirty="0" smtClean="0"/>
              <a:t> for WWO within GEOSS. A user can search the GEOSS registry for “WWO” and access the World Water Online Portal or Map Viewer. If you go to the map viewer, you will see a map containing rendered Web Feature services representing the locations of monitoring stations. A user can zoom in and select a monitoring station to see a pop-up with metadata and possibly other content as well such as a graph. If the metadata provides a </a:t>
            </a:r>
            <a:r>
              <a:rPr lang="en-US" baseline="0" dirty="0" err="1" smtClean="0"/>
              <a:t>WaterMLURI</a:t>
            </a:r>
            <a:r>
              <a:rPr lang="en-US" baseline="0" dirty="0" smtClean="0"/>
              <a:t>, the user can click on the link to send a request to the data server, returning WaterML data. In the current architecture, the University of Texas is hosting the metadata services while the data services are coming from different hosts. Each of these hosts are publishing WaterML data through both proven industry and open technologies.</a:t>
            </a:r>
            <a:endParaRPr lang="en-US" dirty="0" smtClean="0"/>
          </a:p>
          <a:p>
            <a:pPr marL="228600" indent="-228600">
              <a:spcBef>
                <a:spcPct val="0"/>
              </a:spcBef>
              <a:buFontTx/>
              <a:buAutoNum type="arabicPeriod"/>
            </a:pPr>
            <a:endParaRPr lang="en-US" dirty="0" smtClean="0"/>
          </a:p>
          <a:p>
            <a:pPr marL="228600" indent="-228600">
              <a:spcBef>
                <a:spcPct val="0"/>
              </a:spcBef>
              <a:buFontTx/>
              <a:buAutoNum type="arabicPeriod"/>
            </a:pPr>
            <a:r>
              <a:rPr lang="en-US" dirty="0" smtClean="0"/>
              <a:t>User searches GEOSS registry for “WWO”, gets back list of components and data services. </a:t>
            </a:r>
          </a:p>
          <a:p>
            <a:pPr marL="228600" indent="-228600">
              <a:spcBef>
                <a:spcPct val="0"/>
              </a:spcBef>
              <a:buFontTx/>
              <a:buAutoNum type="arabicPeriod"/>
            </a:pPr>
            <a:r>
              <a:rPr lang="en-US" dirty="0" smtClean="0"/>
              <a:t>(click) User selects </a:t>
            </a:r>
            <a:r>
              <a:rPr lang="en-US" dirty="0" err="1" smtClean="0"/>
              <a:t>WorldWaterOnline</a:t>
            </a:r>
            <a:r>
              <a:rPr lang="en-US" dirty="0" smtClean="0"/>
              <a:t> Portal from search result, and zooms into map viewer.</a:t>
            </a:r>
          </a:p>
          <a:p>
            <a:pPr marL="228600" indent="-228600">
              <a:spcBef>
                <a:spcPct val="0"/>
              </a:spcBef>
              <a:buFontTx/>
              <a:buAutoNum type="arabicPeriod"/>
            </a:pPr>
            <a:r>
              <a:rPr lang="en-US" dirty="0" smtClean="0"/>
              <a:t>(click) User selects a monitoring station, and sees a popup with time series metadata, and possibly other content such as graph of recent water discharge at that station.</a:t>
            </a:r>
          </a:p>
          <a:p>
            <a:pPr marL="228600" indent="-228600">
              <a:spcBef>
                <a:spcPct val="0"/>
              </a:spcBef>
              <a:buFontTx/>
              <a:buAutoNum type="arabicPeriod"/>
            </a:pPr>
            <a:r>
              <a:rPr lang="en-US" dirty="0" smtClean="0"/>
              <a:t>(click) If metadata provides a “</a:t>
            </a:r>
            <a:r>
              <a:rPr lang="en-US" dirty="0" err="1" smtClean="0"/>
              <a:t>WaterMLURI</a:t>
            </a:r>
            <a:r>
              <a:rPr lang="en-US" dirty="0" smtClean="0"/>
              <a:t>” field value (link) this will send a request to the data server, returning WaterML data, ready for use in an application. </a:t>
            </a:r>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fld id="{AD30E9ED-CC2E-4AA4-973E-E02860DA85D0}" type="slidenum">
              <a:rPr lang="en-US">
                <a:solidFill>
                  <a:prstClr val="black"/>
                </a:solidFill>
                <a:latin typeface="Calibri" pitchFamily="34" charset="0"/>
              </a:rPr>
              <a:pPr/>
              <a:t>12</a:t>
            </a:fld>
            <a:endParaRPr lang="en-US">
              <a:solidFill>
                <a:prstClr val="black"/>
              </a:solidFill>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17FF3E-8EC6-8947-8559-B0AD3288662E}" type="slidenum">
              <a:rPr lang="en-US" smtClean="0"/>
              <a:t>13</a:t>
            </a:fld>
            <a:endParaRPr lang="en-US"/>
          </a:p>
        </p:txBody>
      </p:sp>
    </p:spTree>
    <p:extLst>
      <p:ext uri="{BB962C8B-B14F-4D97-AF65-F5344CB8AC3E}">
        <p14:creationId xmlns:p14="http://schemas.microsoft.com/office/powerpoint/2010/main" val="1409891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17FF3E-8EC6-8947-8559-B0AD3288662E}" type="slidenum">
              <a:rPr lang="en-US" smtClean="0"/>
              <a:t>16</a:t>
            </a:fld>
            <a:endParaRPr lang="en-US"/>
          </a:p>
        </p:txBody>
      </p:sp>
    </p:spTree>
    <p:extLst>
      <p:ext uri="{BB962C8B-B14F-4D97-AF65-F5344CB8AC3E}">
        <p14:creationId xmlns:p14="http://schemas.microsoft.com/office/powerpoint/2010/main" val="3002649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Rectangle 6"/>
          <p:cNvSpPr>
            <a:spLocks noGrp="1" noChangeArrowheads="1"/>
          </p:cNvSpPr>
          <p:nvPr>
            <p:ph type="ctrTitle"/>
          </p:nvPr>
        </p:nvSpPr>
        <p:spPr>
          <a:xfrm>
            <a:off x="685800" y="2895600"/>
            <a:ext cx="4953000" cy="1143000"/>
          </a:xfrm>
        </p:spPr>
        <p:txBody>
          <a:bodyPr/>
          <a:lstStyle>
            <a:lvl1pPr>
              <a:defRPr sz="3600"/>
            </a:lvl1pPr>
          </a:lstStyle>
          <a:p>
            <a:r>
              <a:rPr lang="en-US" smtClean="0"/>
              <a:t>Click to edit Master title style</a:t>
            </a:r>
            <a:endParaRPr lang="en-US"/>
          </a:p>
        </p:txBody>
      </p:sp>
      <p:sp>
        <p:nvSpPr>
          <p:cNvPr id="5127" name="Rectangle 7"/>
          <p:cNvSpPr>
            <a:spLocks noGrp="1" noChangeArrowheads="1"/>
          </p:cNvSpPr>
          <p:nvPr>
            <p:ph type="subTitle" idx="1"/>
          </p:nvPr>
        </p:nvSpPr>
        <p:spPr>
          <a:xfrm>
            <a:off x="685800" y="4191000"/>
            <a:ext cx="6400800" cy="1752600"/>
          </a:xfrm>
        </p:spPr>
        <p:txBody>
          <a:bodyPr/>
          <a:lstStyle>
            <a:lvl1pPr marL="0" indent="0">
              <a:buFontTx/>
              <a:buNone/>
              <a:defRPr sz="1800"/>
            </a:lvl1pPr>
          </a:lstStyle>
          <a:p>
            <a:r>
              <a:rPr lang="en-US" smtClean="0"/>
              <a:t>Click to edit Master subtitle style</a:t>
            </a:r>
            <a:endParaRPr lang="en-US"/>
          </a:p>
        </p:txBody>
      </p:sp>
    </p:spTree>
    <p:extLst>
      <p:ext uri="{BB962C8B-B14F-4D97-AF65-F5344CB8AC3E}">
        <p14:creationId xmlns:p14="http://schemas.microsoft.com/office/powerpoint/2010/main" val="3377210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24774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05582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34022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9114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6183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702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60895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18970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60473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838200"/>
            <a:ext cx="1943100" cy="54768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838200"/>
            <a:ext cx="5676900" cy="5476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73263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838200"/>
            <a:ext cx="7772400" cy="5429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5144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909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0472167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4"/>
          <p:cNvSpPr>
            <a:spLocks noGrp="1" noChangeArrowheads="1"/>
          </p:cNvSpPr>
          <p:nvPr>
            <p:ph type="body" idx="1"/>
          </p:nvPr>
        </p:nvSpPr>
        <p:spPr bwMode="auto">
          <a:xfrm>
            <a:off x="685800" y="1514475"/>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3"/>
          <p:cNvSpPr>
            <a:spLocks noGrp="1" noChangeArrowheads="1"/>
          </p:cNvSpPr>
          <p:nvPr>
            <p:ph type="title"/>
          </p:nvPr>
        </p:nvSpPr>
        <p:spPr bwMode="auto">
          <a:xfrm>
            <a:off x="685800" y="838200"/>
            <a:ext cx="77724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Tree>
    <p:extLst>
      <p:ext uri="{BB962C8B-B14F-4D97-AF65-F5344CB8AC3E}">
        <p14:creationId xmlns:p14="http://schemas.microsoft.com/office/powerpoint/2010/main" val="62754590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rtl="0" eaLnBrk="0" fontAlgn="base" hangingPunct="0">
        <a:spcBef>
          <a:spcPct val="0"/>
        </a:spcBef>
        <a:spcAft>
          <a:spcPct val="0"/>
        </a:spcAft>
        <a:defRPr sz="2800" b="1">
          <a:solidFill>
            <a:srgbClr val="005FAA"/>
          </a:solidFill>
          <a:effectLst>
            <a:outerShdw blurRad="50800" dist="38100" dir="2700000" algn="tl" rotWithShape="0">
              <a:srgbClr val="000000">
                <a:alpha val="43000"/>
              </a:srgbClr>
            </a:outerShdw>
          </a:effectLst>
          <a:latin typeface="+mj-lt"/>
          <a:ea typeface="MS PGothic" pitchFamily="34" charset="-128"/>
          <a:cs typeface="MS PGothic" charset="0"/>
        </a:defRPr>
      </a:lvl1pPr>
      <a:lvl2pPr algn="l" rtl="0" eaLnBrk="0" fontAlgn="base" hangingPunct="0">
        <a:spcBef>
          <a:spcPct val="0"/>
        </a:spcBef>
        <a:spcAft>
          <a:spcPct val="0"/>
        </a:spcAft>
        <a:defRPr sz="2800" b="1">
          <a:solidFill>
            <a:srgbClr val="005FAA"/>
          </a:solidFill>
          <a:latin typeface="Arial" pitchFamily="-65" charset="0"/>
          <a:ea typeface="MS PGothic" pitchFamily="34" charset="-128"/>
          <a:cs typeface="MS PGothic" charset="0"/>
        </a:defRPr>
      </a:lvl2pPr>
      <a:lvl3pPr algn="l" rtl="0" eaLnBrk="0" fontAlgn="base" hangingPunct="0">
        <a:spcBef>
          <a:spcPct val="0"/>
        </a:spcBef>
        <a:spcAft>
          <a:spcPct val="0"/>
        </a:spcAft>
        <a:defRPr sz="2800" b="1">
          <a:solidFill>
            <a:srgbClr val="005FAA"/>
          </a:solidFill>
          <a:latin typeface="Arial" pitchFamily="-65" charset="0"/>
          <a:ea typeface="MS PGothic" pitchFamily="34" charset="-128"/>
          <a:cs typeface="MS PGothic" charset="0"/>
        </a:defRPr>
      </a:lvl3pPr>
      <a:lvl4pPr algn="l" rtl="0" eaLnBrk="0" fontAlgn="base" hangingPunct="0">
        <a:spcBef>
          <a:spcPct val="0"/>
        </a:spcBef>
        <a:spcAft>
          <a:spcPct val="0"/>
        </a:spcAft>
        <a:defRPr sz="2800" b="1">
          <a:solidFill>
            <a:srgbClr val="005FAA"/>
          </a:solidFill>
          <a:latin typeface="Arial" pitchFamily="-65" charset="0"/>
          <a:ea typeface="MS PGothic" pitchFamily="34" charset="-128"/>
          <a:cs typeface="MS PGothic" charset="0"/>
        </a:defRPr>
      </a:lvl4pPr>
      <a:lvl5pPr algn="l" rtl="0" eaLnBrk="0" fontAlgn="base" hangingPunct="0">
        <a:spcBef>
          <a:spcPct val="0"/>
        </a:spcBef>
        <a:spcAft>
          <a:spcPct val="0"/>
        </a:spcAft>
        <a:defRPr sz="2800" b="1">
          <a:solidFill>
            <a:srgbClr val="005FAA"/>
          </a:solidFill>
          <a:latin typeface="Arial" pitchFamily="-65" charset="0"/>
          <a:ea typeface="MS PGothic" pitchFamily="34" charset="-128"/>
          <a:cs typeface="MS PGothic" charset="0"/>
        </a:defRPr>
      </a:lvl5pPr>
      <a:lvl6pPr marL="457200" algn="l" rtl="0" eaLnBrk="1" fontAlgn="base" hangingPunct="1">
        <a:spcBef>
          <a:spcPct val="0"/>
        </a:spcBef>
        <a:spcAft>
          <a:spcPct val="0"/>
        </a:spcAft>
        <a:defRPr sz="2800" b="1">
          <a:solidFill>
            <a:srgbClr val="005FAA"/>
          </a:solidFill>
          <a:latin typeface="Arial" pitchFamily="-65" charset="0"/>
        </a:defRPr>
      </a:lvl6pPr>
      <a:lvl7pPr marL="914400" algn="l" rtl="0" eaLnBrk="1" fontAlgn="base" hangingPunct="1">
        <a:spcBef>
          <a:spcPct val="0"/>
        </a:spcBef>
        <a:spcAft>
          <a:spcPct val="0"/>
        </a:spcAft>
        <a:defRPr sz="2800" b="1">
          <a:solidFill>
            <a:srgbClr val="005FAA"/>
          </a:solidFill>
          <a:latin typeface="Arial" pitchFamily="-65" charset="0"/>
        </a:defRPr>
      </a:lvl7pPr>
      <a:lvl8pPr marL="1371600" algn="l" rtl="0" eaLnBrk="1" fontAlgn="base" hangingPunct="1">
        <a:spcBef>
          <a:spcPct val="0"/>
        </a:spcBef>
        <a:spcAft>
          <a:spcPct val="0"/>
        </a:spcAft>
        <a:defRPr sz="2800" b="1">
          <a:solidFill>
            <a:srgbClr val="005FAA"/>
          </a:solidFill>
          <a:latin typeface="Arial" pitchFamily="-65" charset="0"/>
        </a:defRPr>
      </a:lvl8pPr>
      <a:lvl9pPr marL="1828800" algn="l" rtl="0" eaLnBrk="1" fontAlgn="base" hangingPunct="1">
        <a:spcBef>
          <a:spcPct val="0"/>
        </a:spcBef>
        <a:spcAft>
          <a:spcPct val="0"/>
        </a:spcAft>
        <a:defRPr sz="2800" b="1">
          <a:solidFill>
            <a:srgbClr val="005FAA"/>
          </a:solidFill>
          <a:latin typeface="Arial" pitchFamily="-65"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5pPr>
      <a:lvl6pPr marL="25146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hyperlink" Target="http://earthobservations.org" TargetMode="External"/><Relationship Id="rId6" Type="http://schemas.openxmlformats.org/officeDocument/2006/relationships/hyperlink" Target="http://www.geoportal.org/" TargetMode="External"/><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hyperlink" Target="http://bit.ly/19BPbrv" TargetMode="External"/><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hyperlink" Target="http://www.arcgis.com/home/webmap/viewer.html?webmap=87ab07e2aba840828033e80b15fd6727" TargetMode="External"/><Relationship Id="rId5" Type="http://schemas.openxmlformats.org/officeDocument/2006/relationships/image" Target="../media/image13.png"/><Relationship Id="rId6" Type="http://schemas.openxmlformats.org/officeDocument/2006/relationships/image" Target="../media/image14.png"/><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9" Type="http://schemas.openxmlformats.org/officeDocument/2006/relationships/image" Target="../media/image26.png"/><Relationship Id="rId20" Type="http://schemas.openxmlformats.org/officeDocument/2006/relationships/image" Target="../media/image37.png"/><Relationship Id="rId21" Type="http://schemas.openxmlformats.org/officeDocument/2006/relationships/image" Target="../media/image38.png"/><Relationship Id="rId10" Type="http://schemas.openxmlformats.org/officeDocument/2006/relationships/image" Target="../media/image27.png"/><Relationship Id="rId11" Type="http://schemas.openxmlformats.org/officeDocument/2006/relationships/image" Target="../media/image28.png"/><Relationship Id="rId12" Type="http://schemas.openxmlformats.org/officeDocument/2006/relationships/image" Target="../media/image29.png"/><Relationship Id="rId13" Type="http://schemas.openxmlformats.org/officeDocument/2006/relationships/image" Target="../media/image30.png"/><Relationship Id="rId14" Type="http://schemas.openxmlformats.org/officeDocument/2006/relationships/image" Target="../media/image31.png"/><Relationship Id="rId15" Type="http://schemas.openxmlformats.org/officeDocument/2006/relationships/image" Target="../media/image32.png"/><Relationship Id="rId16" Type="http://schemas.openxmlformats.org/officeDocument/2006/relationships/image" Target="../media/image33.jpg"/><Relationship Id="rId17" Type="http://schemas.openxmlformats.org/officeDocument/2006/relationships/image" Target="../media/image34.png"/><Relationship Id="rId18" Type="http://schemas.openxmlformats.org/officeDocument/2006/relationships/image" Target="../media/image35.jpeg"/><Relationship Id="rId19" Type="http://schemas.openxmlformats.org/officeDocument/2006/relationships/image" Target="../media/image36.png"/><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jpe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hyperlink" Target="http://www.arcgis.com/home/webmap/viewer.html?webmap=7d6cefdf3f324b55b08c136654e91612" TargetMode="External"/><Relationship Id="rId1" Type="http://schemas.openxmlformats.org/officeDocument/2006/relationships/slideLayout" Target="../slideLayouts/slideLayout6.xml"/><Relationship Id="rId2"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47.png"/><Relationship Id="rId1" Type="http://schemas.openxmlformats.org/officeDocument/2006/relationships/slideLayout" Target="../slideLayouts/slideLayout6.xml"/><Relationship Id="rId2"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4" Type="http://schemas.openxmlformats.org/officeDocument/2006/relationships/image" Target="../media/image53.png"/><Relationship Id="rId1" Type="http://schemas.openxmlformats.org/officeDocument/2006/relationships/slideLayout" Target="../slideLayouts/slideLayout6.xml"/><Relationship Id="rId2" Type="http://schemas.openxmlformats.org/officeDocument/2006/relationships/image" Target="../media/image5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ocs.google.com/spreadsheet/ccc?key=0AsrOJTigdu2ldG95X21KVm1DS0dyVkF2SmpTY3ozemc%23gid=0" TargetMode="External"/><Relationship Id="rId4" Type="http://schemas.openxmlformats.org/officeDocument/2006/relationships/hyperlink" Target="https://docs.google.com/viewer?url=http://twiki.grumets.uab.es/twiki/pub/AIP6/Aip6WaterSbaScenarios/AIP6_Demo_Capture_Guidelines.ppt" TargetMode="External"/><Relationship Id="rId1" Type="http://schemas.openxmlformats.org/officeDocument/2006/relationships/slideLayout" Target="../slideLayouts/slideLayout2.xml"/><Relationship Id="rId2" Type="http://schemas.openxmlformats.org/officeDocument/2006/relationships/hyperlink" Target="http://twiki.grumets.uab.es/twiki/bin/view/AIP6/WaterSBATopic"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63471"/>
            <a:ext cx="7125091" cy="1143000"/>
          </a:xfrm>
        </p:spPr>
        <p:txBody>
          <a:bodyPr/>
          <a:lstStyle/>
          <a:p>
            <a:r>
              <a:rPr lang="en-US" dirty="0" smtClean="0"/>
              <a:t>AIP-6 Water SBA</a:t>
            </a:r>
            <a:br>
              <a:rPr lang="en-US" dirty="0" smtClean="0"/>
            </a:br>
            <a:r>
              <a:rPr lang="en-US" i="1" dirty="0" smtClean="0"/>
              <a:t>GEOSS Water Services (GWS)</a:t>
            </a:r>
            <a:br>
              <a:rPr lang="en-US" i="1" dirty="0" smtClean="0"/>
            </a:br>
            <a:r>
              <a:rPr lang="en-US" i="1" dirty="0" smtClean="0"/>
              <a:t>Progress Update</a:t>
            </a:r>
            <a:endParaRPr lang="en-US" i="1" dirty="0"/>
          </a:p>
        </p:txBody>
      </p:sp>
      <p:sp>
        <p:nvSpPr>
          <p:cNvPr id="3" name="Subtitle 2"/>
          <p:cNvSpPr>
            <a:spLocks noGrp="1"/>
          </p:cNvSpPr>
          <p:nvPr>
            <p:ph type="subTitle" idx="1"/>
          </p:nvPr>
        </p:nvSpPr>
        <p:spPr>
          <a:xfrm>
            <a:off x="685800" y="3451412"/>
            <a:ext cx="6400800" cy="2492188"/>
          </a:xfrm>
        </p:spPr>
        <p:txBody>
          <a:bodyPr/>
          <a:lstStyle/>
          <a:p>
            <a:r>
              <a:rPr lang="en-US" dirty="0" smtClean="0"/>
              <a:t>OGC/WMO Hydrology </a:t>
            </a:r>
            <a:r>
              <a:rPr lang="en-US" dirty="0" smtClean="0"/>
              <a:t>DWG</a:t>
            </a:r>
            <a:endParaRPr lang="en-US" dirty="0" smtClean="0"/>
          </a:p>
          <a:p>
            <a:r>
              <a:rPr lang="en-US" dirty="0" smtClean="0"/>
              <a:t>OGC TC, </a:t>
            </a:r>
            <a:r>
              <a:rPr lang="en-US" dirty="0" err="1" smtClean="0"/>
              <a:t>Frascati</a:t>
            </a:r>
            <a:r>
              <a:rPr lang="en-US" dirty="0" smtClean="0"/>
              <a:t> Italy</a:t>
            </a:r>
          </a:p>
          <a:p>
            <a:r>
              <a:rPr lang="en-US" dirty="0" smtClean="0"/>
              <a:t>23 September 2013</a:t>
            </a:r>
          </a:p>
          <a:p>
            <a:endParaRPr lang="en-US" dirty="0"/>
          </a:p>
          <a:p>
            <a:r>
              <a:rPr lang="en-US" dirty="0"/>
              <a:t>David Arctur</a:t>
            </a:r>
          </a:p>
          <a:p>
            <a:r>
              <a:rPr lang="en-US" i="1" dirty="0" smtClean="0"/>
              <a:t>University </a:t>
            </a:r>
            <a:r>
              <a:rPr lang="en-US" i="1" dirty="0" smtClean="0"/>
              <a:t>of Texas at </a:t>
            </a:r>
            <a:r>
              <a:rPr lang="en-US" i="1" dirty="0" smtClean="0"/>
              <a:t>Austin</a:t>
            </a:r>
          </a:p>
          <a:p>
            <a:r>
              <a:rPr lang="en-US" i="1" dirty="0" smtClean="0"/>
              <a:t>Open Geospatial Consortium</a:t>
            </a:r>
            <a:endParaRPr lang="en-US" i="1" dirty="0"/>
          </a:p>
        </p:txBody>
      </p:sp>
    </p:spTree>
    <p:extLst>
      <p:ext uri="{BB962C8B-B14F-4D97-AF65-F5344CB8AC3E}">
        <p14:creationId xmlns:p14="http://schemas.microsoft.com/office/powerpoint/2010/main" val="2305940152"/>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uébec thru rainy window.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5685" y="0"/>
            <a:ext cx="11833184" cy="7732079"/>
          </a:xfrm>
          <a:prstGeom prst="rect">
            <a:avLst/>
          </a:prstGeom>
        </p:spPr>
      </p:pic>
      <p:sp>
        <p:nvSpPr>
          <p:cNvPr id="3" name="TextBox 2"/>
          <p:cNvSpPr txBox="1"/>
          <p:nvPr/>
        </p:nvSpPr>
        <p:spPr>
          <a:xfrm>
            <a:off x="1608674" y="183444"/>
            <a:ext cx="7296739" cy="369332"/>
          </a:xfrm>
          <a:prstGeom prst="rect">
            <a:avLst/>
          </a:prstGeom>
          <a:noFill/>
        </p:spPr>
        <p:txBody>
          <a:bodyPr wrap="none" rtlCol="0">
            <a:spAutoFit/>
          </a:bodyPr>
          <a:lstStyle/>
          <a:p>
            <a:r>
              <a:rPr lang="en-US" dirty="0" smtClean="0"/>
              <a:t>OGC Hydro DWG Workshop</a:t>
            </a:r>
            <a:r>
              <a:rPr lang="en-US" dirty="0"/>
              <a:t>, </a:t>
            </a:r>
            <a:r>
              <a:rPr lang="en-US" dirty="0" smtClean="0"/>
              <a:t>Québec City, Canada, 17-21 June 2013 </a:t>
            </a:r>
            <a:endParaRPr lang="en-US" dirty="0"/>
          </a:p>
        </p:txBody>
      </p:sp>
    </p:spTree>
    <p:extLst>
      <p:ext uri="{BB962C8B-B14F-4D97-AF65-F5344CB8AC3E}">
        <p14:creationId xmlns:p14="http://schemas.microsoft.com/office/powerpoint/2010/main" val="599086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ka271-Caesar Foru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extBox 2"/>
          <p:cNvSpPr txBox="1"/>
          <p:nvPr/>
        </p:nvSpPr>
        <p:spPr>
          <a:xfrm>
            <a:off x="3875471" y="183444"/>
            <a:ext cx="4987175" cy="369332"/>
          </a:xfrm>
          <a:prstGeom prst="rect">
            <a:avLst/>
          </a:prstGeom>
          <a:noFill/>
        </p:spPr>
        <p:txBody>
          <a:bodyPr wrap="none" rtlCol="0">
            <a:spAutoFit/>
          </a:bodyPr>
          <a:lstStyle/>
          <a:p>
            <a:r>
              <a:rPr lang="en-US" dirty="0" smtClean="0"/>
              <a:t>OGC TC, </a:t>
            </a:r>
            <a:r>
              <a:rPr lang="en-US" dirty="0" err="1" smtClean="0"/>
              <a:t>Frascati</a:t>
            </a:r>
            <a:r>
              <a:rPr lang="en-US" dirty="0" smtClean="0"/>
              <a:t> Italy, 23-27 September 2013 </a:t>
            </a:r>
            <a:endParaRPr lang="en-US" dirty="0"/>
          </a:p>
        </p:txBody>
      </p:sp>
    </p:spTree>
    <p:extLst>
      <p:ext uri="{BB962C8B-B14F-4D97-AF65-F5344CB8AC3E}">
        <p14:creationId xmlns:p14="http://schemas.microsoft.com/office/powerpoint/2010/main" val="1746471925"/>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249" y="838200"/>
            <a:ext cx="7772400" cy="542925"/>
          </a:xfrm>
        </p:spPr>
        <p:txBody>
          <a:bodyPr/>
          <a:lstStyle/>
          <a:p>
            <a:r>
              <a:rPr lang="en-US" dirty="0" smtClean="0"/>
              <a:t>AIP-6 GEOSS Water Services</a:t>
            </a:r>
            <a:endParaRPr lang="en-US" dirty="0"/>
          </a:p>
        </p:txBody>
      </p:sp>
      <p:sp>
        <p:nvSpPr>
          <p:cNvPr id="3" name="Content Placeholder 2"/>
          <p:cNvSpPr>
            <a:spLocks noGrp="1"/>
          </p:cNvSpPr>
          <p:nvPr>
            <p:ph idx="1"/>
          </p:nvPr>
        </p:nvSpPr>
        <p:spPr>
          <a:xfrm>
            <a:off x="408249" y="1572294"/>
            <a:ext cx="8467366" cy="4742781"/>
          </a:xfrm>
        </p:spPr>
        <p:txBody>
          <a:bodyPr/>
          <a:lstStyle/>
          <a:p>
            <a:r>
              <a:rPr lang="en-US" b="1" i="1" dirty="0" smtClean="0"/>
              <a:t>Purpose</a:t>
            </a:r>
            <a:r>
              <a:rPr lang="en-US" dirty="0" smtClean="0"/>
              <a:t>: </a:t>
            </a:r>
            <a:r>
              <a:rPr lang="en-US" b="1" dirty="0">
                <a:solidFill>
                  <a:srgbClr val="005FAA"/>
                </a:solidFill>
                <a:latin typeface="+mj-lt"/>
              </a:rPr>
              <a:t>Provide additional operational, federated water information resources in </a:t>
            </a:r>
            <a:r>
              <a:rPr lang="en-US" b="1" dirty="0" smtClean="0">
                <a:solidFill>
                  <a:srgbClr val="005FAA"/>
                </a:solidFill>
                <a:latin typeface="+mj-lt"/>
              </a:rPr>
              <a:t>GEOSS</a:t>
            </a:r>
            <a:br>
              <a:rPr lang="en-US" b="1" dirty="0" smtClean="0">
                <a:solidFill>
                  <a:srgbClr val="005FAA"/>
                </a:solidFill>
                <a:latin typeface="+mj-lt"/>
              </a:rPr>
            </a:br>
            <a:r>
              <a:rPr lang="en-US" sz="1200" b="1" dirty="0" smtClean="0">
                <a:solidFill>
                  <a:srgbClr val="005FAA"/>
                </a:solidFill>
                <a:latin typeface="+mj-lt"/>
              </a:rPr>
              <a:t>    </a:t>
            </a:r>
            <a:endParaRPr lang="en-US" sz="1200" b="1" dirty="0">
              <a:solidFill>
                <a:srgbClr val="005FAA"/>
              </a:solidFill>
            </a:endParaRPr>
          </a:p>
          <a:p>
            <a:r>
              <a:rPr lang="en-US" b="1" i="1" dirty="0" smtClean="0"/>
              <a:t>Scope</a:t>
            </a:r>
            <a:r>
              <a:rPr lang="en-US" i="1" dirty="0"/>
              <a:t>: </a:t>
            </a:r>
            <a:r>
              <a:rPr lang="en-US" b="1" dirty="0" smtClean="0">
                <a:solidFill>
                  <a:srgbClr val="005FAA"/>
                </a:solidFill>
                <a:latin typeface="+mj-lt"/>
              </a:rPr>
              <a:t>A </a:t>
            </a:r>
            <a:r>
              <a:rPr lang="en-US" b="1" dirty="0">
                <a:solidFill>
                  <a:srgbClr val="005FAA"/>
                </a:solidFill>
                <a:latin typeface="+mj-lt"/>
              </a:rPr>
              <a:t>global registry of water data, map and modeling services catalogued using the standards and procedures of the OGC and the </a:t>
            </a:r>
            <a:r>
              <a:rPr lang="en-US" b="1" dirty="0" smtClean="0">
                <a:solidFill>
                  <a:srgbClr val="005FAA"/>
                </a:solidFill>
                <a:latin typeface="+mj-lt"/>
              </a:rPr>
              <a:t>WMO</a:t>
            </a:r>
            <a:br>
              <a:rPr lang="en-US" b="1" dirty="0" smtClean="0">
                <a:solidFill>
                  <a:srgbClr val="005FAA"/>
                </a:solidFill>
                <a:latin typeface="+mj-lt"/>
              </a:rPr>
            </a:br>
            <a:r>
              <a:rPr lang="en-US" sz="1200" dirty="0"/>
              <a:t> </a:t>
            </a:r>
            <a:endParaRPr lang="en-US" b="1" dirty="0" smtClean="0">
              <a:solidFill>
                <a:srgbClr val="005FAA"/>
              </a:solidFill>
              <a:latin typeface="+mj-lt"/>
            </a:endParaRPr>
          </a:p>
          <a:p>
            <a:r>
              <a:rPr lang="en-US" dirty="0"/>
              <a:t>In collaboration with </a:t>
            </a:r>
            <a:r>
              <a:rPr lang="en-US" b="1" dirty="0"/>
              <a:t>WMO </a:t>
            </a:r>
            <a:r>
              <a:rPr lang="en-US" b="1" dirty="0" err="1"/>
              <a:t>CHy</a:t>
            </a:r>
            <a:r>
              <a:rPr lang="en-US" b="1" dirty="0"/>
              <a:t> </a:t>
            </a:r>
            <a:r>
              <a:rPr lang="en-US" dirty="0"/>
              <a:t>Theme 2 </a:t>
            </a:r>
            <a:r>
              <a:rPr lang="en-US" dirty="0" smtClean="0"/>
              <a:t/>
            </a:r>
            <a:br>
              <a:rPr lang="en-US" dirty="0" smtClean="0"/>
            </a:br>
            <a:r>
              <a:rPr lang="en-US" dirty="0" smtClean="0"/>
              <a:t>“</a:t>
            </a:r>
            <a:r>
              <a:rPr lang="en-US" dirty="0"/>
              <a:t>Data Operations and Management</a:t>
            </a:r>
            <a:r>
              <a:rPr lang="en-US" dirty="0" smtClean="0"/>
              <a:t>”, 2012-16</a:t>
            </a:r>
            <a:br>
              <a:rPr lang="en-US" dirty="0" smtClean="0"/>
            </a:br>
            <a:r>
              <a:rPr lang="en-US" sz="1050" dirty="0" smtClean="0"/>
              <a:t> </a:t>
            </a:r>
            <a:endParaRPr lang="en-US" dirty="0"/>
          </a:p>
          <a:p>
            <a:r>
              <a:rPr lang="en-US" dirty="0" smtClean="0"/>
              <a:t>In support of </a:t>
            </a:r>
            <a:r>
              <a:rPr lang="en-US" b="1" dirty="0" smtClean="0"/>
              <a:t>GEO Water Task </a:t>
            </a:r>
            <a:r>
              <a:rPr lang="en-US" dirty="0" smtClean="0"/>
              <a:t>and </a:t>
            </a:r>
            <a:br>
              <a:rPr lang="en-US" dirty="0" smtClean="0"/>
            </a:br>
            <a:r>
              <a:rPr lang="en-US" b="1" dirty="0" smtClean="0"/>
              <a:t>Integrated Global Water Cycle Observations </a:t>
            </a:r>
            <a:r>
              <a:rPr lang="en-US" dirty="0" smtClean="0"/>
              <a:t>(IGWCO) </a:t>
            </a:r>
            <a:br>
              <a:rPr lang="en-US" dirty="0" smtClean="0"/>
            </a:br>
            <a:r>
              <a:rPr lang="en-US" dirty="0" smtClean="0"/>
              <a:t>Community of Practice</a:t>
            </a:r>
          </a:p>
          <a:p>
            <a:endParaRPr lang="en-US" dirty="0"/>
          </a:p>
        </p:txBody>
      </p:sp>
    </p:spTree>
    <p:extLst>
      <p:ext uri="{BB962C8B-B14F-4D97-AF65-F5344CB8AC3E}">
        <p14:creationId xmlns:p14="http://schemas.microsoft.com/office/powerpoint/2010/main" val="1494314011"/>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6355" y="906475"/>
            <a:ext cx="8340422" cy="542925"/>
          </a:xfrm>
        </p:spPr>
        <p:txBody>
          <a:bodyPr/>
          <a:lstStyle/>
          <a:p>
            <a:r>
              <a:rPr lang="en-US" dirty="0" smtClean="0"/>
              <a:t>Importance of regional </a:t>
            </a:r>
            <a:r>
              <a:rPr lang="en-US" dirty="0"/>
              <a:t>/ national </a:t>
            </a:r>
            <a:r>
              <a:rPr lang="en-US" dirty="0" smtClean="0"/>
              <a:t>data federation</a:t>
            </a:r>
            <a:endParaRPr lang="en-US" dirty="0"/>
          </a:p>
        </p:txBody>
      </p:sp>
      <p:sp>
        <p:nvSpPr>
          <p:cNvPr id="4" name="Content Placeholder 3"/>
          <p:cNvSpPr>
            <a:spLocks noGrp="1"/>
          </p:cNvSpPr>
          <p:nvPr>
            <p:ph idx="1"/>
          </p:nvPr>
        </p:nvSpPr>
        <p:spPr>
          <a:xfrm>
            <a:off x="423318" y="1514475"/>
            <a:ext cx="8034882" cy="4800600"/>
          </a:xfrm>
        </p:spPr>
        <p:txBody>
          <a:bodyPr/>
          <a:lstStyle/>
          <a:p>
            <a:r>
              <a:rPr lang="en-US" dirty="0" smtClean="0"/>
              <a:t>WMO has legally binding agreements with all member nations to share meteorology data</a:t>
            </a:r>
          </a:p>
          <a:p>
            <a:pPr lvl="1"/>
            <a:r>
              <a:rPr lang="en-US" b="1" i="1" dirty="0" smtClean="0">
                <a:solidFill>
                  <a:srgbClr val="000090"/>
                </a:solidFill>
              </a:rPr>
              <a:t>But very few nations share water resource data</a:t>
            </a:r>
          </a:p>
          <a:p>
            <a:pPr lvl="2"/>
            <a:endParaRPr lang="en-US" dirty="0" smtClean="0"/>
          </a:p>
          <a:p>
            <a:r>
              <a:rPr lang="en-US" sz="2800" dirty="0" smtClean="0"/>
              <a:t>Establishing conventions </a:t>
            </a:r>
            <a:r>
              <a:rPr lang="en-US" sz="2800" dirty="0"/>
              <a:t>and ‘best </a:t>
            </a:r>
            <a:r>
              <a:rPr lang="en-US" sz="2800" dirty="0" smtClean="0"/>
              <a:t>practices’… </a:t>
            </a:r>
          </a:p>
          <a:p>
            <a:pPr lvl="1"/>
            <a:r>
              <a:rPr lang="en-US" i="1" dirty="0" smtClean="0">
                <a:solidFill>
                  <a:srgbClr val="000090"/>
                </a:solidFill>
              </a:rPr>
              <a:t>Supports </a:t>
            </a:r>
            <a:r>
              <a:rPr lang="en-US" b="1" i="1" dirty="0" smtClean="0">
                <a:solidFill>
                  <a:srgbClr val="000090"/>
                </a:solidFill>
              </a:rPr>
              <a:t>creating a national picture </a:t>
            </a:r>
            <a:r>
              <a:rPr lang="en-US" i="1" dirty="0" smtClean="0">
                <a:solidFill>
                  <a:srgbClr val="000090"/>
                </a:solidFill>
              </a:rPr>
              <a:t>from disparate regional data providers</a:t>
            </a:r>
          </a:p>
          <a:p>
            <a:pPr lvl="1"/>
            <a:r>
              <a:rPr lang="en-US" i="1" dirty="0" smtClean="0">
                <a:solidFill>
                  <a:srgbClr val="000090"/>
                </a:solidFill>
              </a:rPr>
              <a:t>Supports </a:t>
            </a:r>
            <a:r>
              <a:rPr lang="en-US" b="1" i="1" dirty="0" smtClean="0">
                <a:solidFill>
                  <a:srgbClr val="000090"/>
                </a:solidFill>
              </a:rPr>
              <a:t>interregional and international coordination of water policies and data </a:t>
            </a:r>
            <a:r>
              <a:rPr lang="en-US" i="1" dirty="0" smtClean="0">
                <a:solidFill>
                  <a:srgbClr val="000090"/>
                </a:solidFill>
              </a:rPr>
              <a:t>for </a:t>
            </a:r>
            <a:br>
              <a:rPr lang="en-US" i="1" dirty="0" smtClean="0">
                <a:solidFill>
                  <a:srgbClr val="000090"/>
                </a:solidFill>
              </a:rPr>
            </a:br>
            <a:r>
              <a:rPr lang="en-US" i="1" dirty="0" smtClean="0">
                <a:solidFill>
                  <a:srgbClr val="000090"/>
                </a:solidFill>
              </a:rPr>
              <a:t>cross-border watersheds</a:t>
            </a:r>
          </a:p>
          <a:p>
            <a:pPr lvl="1"/>
            <a:endParaRPr lang="en-US" i="1" dirty="0">
              <a:solidFill>
                <a:srgbClr val="000090"/>
              </a:solidFill>
            </a:endParaRPr>
          </a:p>
        </p:txBody>
      </p:sp>
    </p:spTree>
    <p:extLst>
      <p:ext uri="{BB962C8B-B14F-4D97-AF65-F5344CB8AC3E}">
        <p14:creationId xmlns:p14="http://schemas.microsoft.com/office/powerpoint/2010/main" val="1394957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AIP-6 GEOSS Water Services</a:t>
            </a:r>
            <a:endParaRPr lang="en-US" dirty="0"/>
          </a:p>
        </p:txBody>
      </p:sp>
      <p:sp>
        <p:nvSpPr>
          <p:cNvPr id="8" name="Content Placeholder 7"/>
          <p:cNvSpPr>
            <a:spLocks noGrp="1"/>
          </p:cNvSpPr>
          <p:nvPr>
            <p:ph idx="1"/>
          </p:nvPr>
        </p:nvSpPr>
        <p:spPr>
          <a:xfrm>
            <a:off x="4624912" y="1765355"/>
            <a:ext cx="4405425" cy="4800600"/>
          </a:xfrm>
        </p:spPr>
        <p:txBody>
          <a:bodyPr/>
          <a:lstStyle/>
          <a:p>
            <a:r>
              <a:rPr lang="en-US" b="1" dirty="0">
                <a:solidFill>
                  <a:srgbClr val="005FAA"/>
                </a:solidFill>
                <a:latin typeface="+mj-lt"/>
              </a:rPr>
              <a:t>Application Services</a:t>
            </a:r>
          </a:p>
          <a:p>
            <a:pPr lvl="1"/>
            <a:r>
              <a:rPr lang="en-US" sz="2200" dirty="0" smtClean="0"/>
              <a:t>Community info services, </a:t>
            </a:r>
            <a:br>
              <a:rPr lang="en-US" sz="2200" dirty="0" smtClean="0"/>
            </a:br>
            <a:r>
              <a:rPr lang="en-US" i="1" dirty="0" smtClean="0"/>
              <a:t>for serving</a:t>
            </a:r>
            <a:r>
              <a:rPr lang="en-US" dirty="0" smtClean="0"/>
              <a:t>:</a:t>
            </a:r>
          </a:p>
          <a:p>
            <a:r>
              <a:rPr lang="en-US" b="1" dirty="0">
                <a:solidFill>
                  <a:srgbClr val="005FAA"/>
                </a:solidFill>
                <a:latin typeface="+mj-lt"/>
              </a:rPr>
              <a:t>Observation Services</a:t>
            </a:r>
          </a:p>
          <a:p>
            <a:pPr lvl="1"/>
            <a:r>
              <a:rPr lang="en-US" sz="2200" dirty="0" smtClean="0"/>
              <a:t>Water time series</a:t>
            </a:r>
          </a:p>
          <a:p>
            <a:r>
              <a:rPr lang="en-US" b="1" dirty="0">
                <a:solidFill>
                  <a:srgbClr val="005FAA"/>
                </a:solidFill>
                <a:latin typeface="+mj-lt"/>
              </a:rPr>
              <a:t>Model Services</a:t>
            </a:r>
          </a:p>
          <a:p>
            <a:pPr lvl="1"/>
            <a:r>
              <a:rPr lang="en-US" sz="2200" dirty="0" smtClean="0"/>
              <a:t>Computed water time series</a:t>
            </a:r>
          </a:p>
          <a:p>
            <a:r>
              <a:rPr lang="en-US" b="1" dirty="0">
                <a:solidFill>
                  <a:srgbClr val="005FAA"/>
                </a:solidFill>
                <a:latin typeface="+mj-lt"/>
              </a:rPr>
              <a:t>Map Services</a:t>
            </a:r>
          </a:p>
          <a:p>
            <a:pPr lvl="1"/>
            <a:r>
              <a:rPr lang="en-US" sz="2200" dirty="0"/>
              <a:t>Web maps, </a:t>
            </a:r>
            <a:r>
              <a:rPr lang="en-US" sz="2200" dirty="0" smtClean="0"/>
              <a:t>geoprocessing</a:t>
            </a:r>
          </a:p>
          <a:p>
            <a:pPr lvl="1"/>
            <a:endParaRPr lang="en-US" sz="2200" dirty="0"/>
          </a:p>
          <a:p>
            <a:pPr marL="0" indent="0">
              <a:buNone/>
            </a:pPr>
            <a:r>
              <a:rPr lang="en-US" sz="2200" b="1" i="1" dirty="0" smtClean="0"/>
              <a:t>Based on OGC WaterML, WFS, WMS, SOS, CSW</a:t>
            </a:r>
            <a:endParaRPr lang="en-US" sz="2200" b="1" i="1" dirty="0"/>
          </a:p>
        </p:txBody>
      </p:sp>
      <p:pic>
        <p:nvPicPr>
          <p:cNvPr id="7" name="Picture 6"/>
          <p:cNvPicPr>
            <a:picLocks noChangeAspect="1"/>
          </p:cNvPicPr>
          <p:nvPr/>
        </p:nvPicPr>
        <p:blipFill>
          <a:blip r:embed="rId2"/>
          <a:stretch>
            <a:fillRect/>
          </a:stretch>
        </p:blipFill>
        <p:spPr>
          <a:xfrm>
            <a:off x="252357" y="1890794"/>
            <a:ext cx="4184423" cy="3210453"/>
          </a:xfrm>
          <a:prstGeom prst="rect">
            <a:avLst/>
          </a:prstGeom>
        </p:spPr>
      </p:pic>
    </p:spTree>
    <p:extLst>
      <p:ext uri="{BB962C8B-B14F-4D97-AF65-F5344CB8AC3E}">
        <p14:creationId xmlns:p14="http://schemas.microsoft.com/office/powerpoint/2010/main" val="262807038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bwMode="auto">
          <a:xfrm>
            <a:off x="0" y="1295400"/>
            <a:ext cx="9144000" cy="5562600"/>
          </a:xfrm>
          <a:prstGeom prst="rect">
            <a:avLst/>
          </a:prstGeom>
          <a:gradFill flip="none" rotWithShape="1">
            <a:gsLst>
              <a:gs pos="0">
                <a:schemeClr val="accent1">
                  <a:lumMod val="50000"/>
                </a:schemeClr>
              </a:gs>
              <a:gs pos="100000">
                <a:srgbClr val="FFFFFF"/>
              </a:gs>
            </a:gsLst>
            <a:lin ang="0" scaled="1"/>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717213"/>
            <a:ext cx="3700382" cy="2020226"/>
          </a:xfrm>
          <a:prstGeom prst="rect">
            <a:avLst/>
          </a:prstGeom>
          <a:noFill/>
          <a:ln w="19050" cmpd="sng">
            <a:solidFill>
              <a:schemeClr val="accent4">
                <a:lumMod val="60000"/>
                <a:lumOff val="4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685800" y="745260"/>
            <a:ext cx="7772400" cy="542925"/>
          </a:xfrm>
        </p:spPr>
        <p:txBody>
          <a:bodyPr/>
          <a:lstStyle/>
          <a:p>
            <a:r>
              <a:rPr lang="en-US" dirty="0" smtClean="0"/>
              <a:t>Water Time Series </a:t>
            </a:r>
            <a:r>
              <a:rPr lang="en-US" dirty="0" smtClean="0"/>
              <a:t>Services </a:t>
            </a:r>
            <a:r>
              <a:rPr lang="en-US" dirty="0" smtClean="0"/>
              <a:t>Stack</a:t>
            </a:r>
            <a:endParaRPr lang="en-US" dirty="0"/>
          </a:p>
        </p:txBody>
      </p:sp>
      <p:grpSp>
        <p:nvGrpSpPr>
          <p:cNvPr id="3" name="Group 7"/>
          <p:cNvGrpSpPr/>
          <p:nvPr/>
        </p:nvGrpSpPr>
        <p:grpSpPr>
          <a:xfrm>
            <a:off x="2387814" y="2708637"/>
            <a:ext cx="2260912" cy="2314803"/>
            <a:chOff x="3410480" y="2275114"/>
            <a:chExt cx="3252258" cy="320040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0480" y="2275114"/>
              <a:ext cx="3252258" cy="3200400"/>
            </a:xfrm>
            <a:prstGeom prst="rect">
              <a:avLst/>
            </a:prstGeom>
            <a:noFill/>
            <a:ln w="38100" cmpd="sng">
              <a:solidFill>
                <a:srgbClr val="35AC4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6"/>
            <p:cNvSpPr/>
            <p:nvPr/>
          </p:nvSpPr>
          <p:spPr bwMode="auto">
            <a:xfrm>
              <a:off x="4191000" y="2971800"/>
              <a:ext cx="152400" cy="152400"/>
            </a:xfrm>
            <a:prstGeom prst="ellipse">
              <a:avLst/>
            </a:prstGeom>
            <a:noFill/>
            <a:ln w="38100">
              <a:solidFill>
                <a:srgbClr val="35AC46"/>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endParaRPr>
            </a:p>
          </p:txBody>
        </p:sp>
      </p:grpSp>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5047" y="4734021"/>
            <a:ext cx="4829978" cy="822294"/>
          </a:xfrm>
          <a:prstGeom prst="rect">
            <a:avLst/>
          </a:prstGeom>
          <a:noFill/>
          <a:ln w="38100" cmpd="sng">
            <a:solidFill>
              <a:schemeClr val="tx2">
                <a:lumMod val="50000"/>
                <a:lumOff val="5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4797024" y="4425550"/>
            <a:ext cx="2486025" cy="300502"/>
          </a:xfrm>
          <a:prstGeom prst="rect">
            <a:avLst/>
          </a:prstGeom>
          <a:noFill/>
          <a:effectLst/>
        </p:spPr>
        <p:txBody>
          <a:bodyPr wrap="none" lIns="0" tIns="0" rIns="0" bIns="0" rtlCol="0">
            <a:noAutofit/>
          </a:bodyPr>
          <a:lstStyle/>
          <a:p>
            <a:pPr eaLnBrk="0" hangingPunct="0"/>
            <a:r>
              <a:rPr lang="en-US" sz="1400" b="1" dirty="0" err="1"/>
              <a:t>WaterML</a:t>
            </a:r>
            <a:r>
              <a:rPr lang="en-US" sz="1400" b="1" dirty="0"/>
              <a:t> time series </a:t>
            </a:r>
            <a:r>
              <a:rPr lang="en-US" sz="1400" b="1" dirty="0" smtClean="0"/>
              <a:t>service for data</a:t>
            </a:r>
            <a:endParaRPr lang="en-US" sz="1400" b="1" dirty="0"/>
          </a:p>
        </p:txBody>
      </p:sp>
      <p:sp>
        <p:nvSpPr>
          <p:cNvPr id="15" name="TextBox 14"/>
          <p:cNvSpPr txBox="1"/>
          <p:nvPr/>
        </p:nvSpPr>
        <p:spPr>
          <a:xfrm>
            <a:off x="2756965" y="5857876"/>
            <a:ext cx="5698060"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r>
              <a:rPr lang="en-US" dirty="0" smtClean="0">
                <a:solidFill>
                  <a:schemeClr val="tx1"/>
                </a:solidFill>
              </a:rPr>
              <a:t>An attribute of each mapped observation point . . .</a:t>
            </a:r>
            <a:endParaRPr lang="en-US" dirty="0">
              <a:solidFill>
                <a:schemeClr val="tx1"/>
              </a:solidFill>
            </a:endParaRPr>
          </a:p>
          <a:p>
            <a:r>
              <a:rPr lang="en-US" dirty="0">
                <a:solidFill>
                  <a:schemeClr val="tx1"/>
                </a:solidFill>
              </a:rPr>
              <a:t>           </a:t>
            </a:r>
            <a:r>
              <a:rPr lang="en-US" dirty="0" smtClean="0">
                <a:solidFill>
                  <a:schemeClr val="tx1"/>
                </a:solidFill>
              </a:rPr>
              <a:t>. . . is a web link to the </a:t>
            </a:r>
            <a:r>
              <a:rPr lang="en-US" dirty="0" err="1" smtClean="0">
                <a:solidFill>
                  <a:schemeClr val="tx1"/>
                </a:solidFill>
              </a:rPr>
              <a:t>WaterML</a:t>
            </a:r>
            <a:r>
              <a:rPr lang="en-US" dirty="0" smtClean="0">
                <a:solidFill>
                  <a:schemeClr val="tx1"/>
                </a:solidFill>
              </a:rPr>
              <a:t> data service</a:t>
            </a:r>
            <a:endParaRPr lang="en-US" dirty="0">
              <a:solidFill>
                <a:schemeClr val="tx1"/>
              </a:solidFill>
            </a:endParaRPr>
          </a:p>
        </p:txBody>
      </p:sp>
      <p:sp>
        <p:nvSpPr>
          <p:cNvPr id="17" name="TextBox 16"/>
          <p:cNvSpPr txBox="1"/>
          <p:nvPr/>
        </p:nvSpPr>
        <p:spPr>
          <a:xfrm>
            <a:off x="1" y="4179106"/>
            <a:ext cx="3199044" cy="544299"/>
          </a:xfrm>
          <a:prstGeom prst="rect">
            <a:avLst/>
          </a:prstGeom>
          <a:solidFill>
            <a:srgbClr val="CCFFCC">
              <a:alpha val="0"/>
            </a:srgbClr>
          </a:solidFill>
          <a:effectLst/>
        </p:spPr>
        <p:txBody>
          <a:bodyPr wrap="square" lIns="731520" tIns="45720" rIns="0" bIns="45720" rtlCol="0">
            <a:noAutofit/>
          </a:bodyPr>
          <a:lstStyle>
            <a:defPPr>
              <a:defRPr lang="en-US"/>
            </a:defPPr>
            <a:lvl1pPr algn="ctr" defTabSz="457200" eaLnBrk="0" hangingPunct="0">
              <a:defRPr>
                <a:solidFill>
                  <a:srgbClr val="595959"/>
                </a:solidFill>
                <a:cs typeface="Avenir LT Std 85 Heavy"/>
              </a:defRPr>
            </a:lvl1pPr>
          </a:lstStyle>
          <a:p>
            <a:pPr algn="l"/>
            <a:r>
              <a:rPr lang="en-US" sz="1400" b="1" dirty="0">
                <a:solidFill>
                  <a:schemeClr val="bg1"/>
                </a:solidFill>
              </a:rPr>
              <a:t>Colorado River </a:t>
            </a:r>
          </a:p>
          <a:p>
            <a:pPr algn="l"/>
            <a:r>
              <a:rPr lang="en-US" sz="1400" b="1" dirty="0">
                <a:solidFill>
                  <a:schemeClr val="bg1"/>
                </a:solidFill>
              </a:rPr>
              <a:t>at Austin, Texas</a:t>
            </a:r>
          </a:p>
        </p:txBody>
      </p:sp>
      <p:sp>
        <p:nvSpPr>
          <p:cNvPr id="18" name="Bent Arrow 17"/>
          <p:cNvSpPr/>
          <p:nvPr/>
        </p:nvSpPr>
        <p:spPr>
          <a:xfrm rot="16200000" flipH="1" flipV="1">
            <a:off x="4841627" y="3594301"/>
            <a:ext cx="548864" cy="763592"/>
          </a:xfrm>
          <a:prstGeom prst="bentArrow">
            <a:avLst/>
          </a:prstGeom>
          <a:gradFill>
            <a:gsLst>
              <a:gs pos="90000">
                <a:schemeClr val="accent2">
                  <a:lumMod val="75000"/>
                </a:schemeClr>
              </a:gs>
              <a:gs pos="13000">
                <a:schemeClr val="accent2">
                  <a:lumMod val="75000"/>
                  <a:alpha val="0"/>
                </a:schemeClr>
              </a:gs>
            </a:gsLst>
            <a:lin ang="16200000" scaled="0"/>
          </a:gradFill>
          <a:ln w="12700">
            <a:gradFill flip="none" rotWithShape="1">
              <a:gsLst>
                <a:gs pos="15000">
                  <a:schemeClr val="accent2">
                    <a:lumMod val="40000"/>
                    <a:lumOff val="60000"/>
                    <a:alpha val="0"/>
                  </a:schemeClr>
                </a:gs>
                <a:gs pos="100000">
                  <a:schemeClr val="accent2">
                    <a:lumMod val="40000"/>
                    <a:lumOff val="60000"/>
                  </a:schemeClr>
                </a:gs>
              </a:gsLst>
              <a:lin ang="0" scaled="1"/>
              <a:tileRect/>
            </a:gra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a:solidFill>
                <a:srgbClr val="000000"/>
              </a:solidFill>
              <a:latin typeface="Arial" charset="0"/>
              <a:ea typeface="ＭＳ Ｐゴシック" pitchFamily="16" charset="-128"/>
              <a:cs typeface="ＭＳ Ｐゴシック" pitchFamily="-97" charset="-128"/>
            </a:endParaRPr>
          </a:p>
        </p:txBody>
      </p:sp>
      <p:grpSp>
        <p:nvGrpSpPr>
          <p:cNvPr id="4" name="Group 15"/>
          <p:cNvGrpSpPr/>
          <p:nvPr/>
        </p:nvGrpSpPr>
        <p:grpSpPr>
          <a:xfrm>
            <a:off x="5900431" y="1688591"/>
            <a:ext cx="1896844" cy="1263382"/>
            <a:chOff x="6968125" y="3982976"/>
            <a:chExt cx="1896844" cy="1263382"/>
          </a:xfrm>
        </p:grpSpPr>
        <p:sp>
          <p:nvSpPr>
            <p:cNvPr id="19" name="Rounded Rectangle 18"/>
            <p:cNvSpPr/>
            <p:nvPr/>
          </p:nvSpPr>
          <p:spPr bwMode="auto">
            <a:xfrm>
              <a:off x="6968125" y="3982976"/>
              <a:ext cx="1896844" cy="1263382"/>
            </a:xfrm>
            <a:prstGeom prst="roundRect">
              <a:avLst>
                <a:gd name="adj" fmla="val 8773"/>
              </a:avLst>
            </a:prstGeom>
            <a:solidFill>
              <a:schemeClr val="bg1"/>
            </a:solidFill>
            <a:ln w="19050" cmpd="sng">
              <a:solidFill>
                <a:schemeClr val="accent4">
                  <a:lumMod val="60000"/>
                  <a:lumOff val="40000"/>
                </a:schemeClr>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grpSp>
          <p:nvGrpSpPr>
            <p:cNvPr id="5" name="Group 19"/>
            <p:cNvGrpSpPr/>
            <p:nvPr/>
          </p:nvGrpSpPr>
          <p:grpSpPr>
            <a:xfrm>
              <a:off x="7230613" y="4051419"/>
              <a:ext cx="1634355" cy="1115242"/>
              <a:chOff x="7230613" y="3732249"/>
              <a:chExt cx="1634355" cy="1115242"/>
            </a:xfrm>
          </p:grpSpPr>
          <p:grpSp>
            <p:nvGrpSpPr>
              <p:cNvPr id="6" name="Group 20"/>
              <p:cNvGrpSpPr/>
              <p:nvPr/>
            </p:nvGrpSpPr>
            <p:grpSpPr>
              <a:xfrm>
                <a:off x="7645768" y="3732249"/>
                <a:ext cx="1219200" cy="1115242"/>
                <a:chOff x="6305550" y="4434087"/>
                <a:chExt cx="1219200" cy="1115242"/>
              </a:xfrm>
            </p:grpSpPr>
            <p:sp>
              <p:nvSpPr>
                <p:cNvPr id="29" name="TextBox 28"/>
                <p:cNvSpPr txBox="1"/>
                <p:nvPr/>
              </p:nvSpPr>
              <p:spPr>
                <a:xfrm>
                  <a:off x="6305550" y="4843011"/>
                  <a:ext cx="1219200" cy="307777"/>
                </a:xfrm>
                <a:prstGeom prst="rect">
                  <a:avLst/>
                </a:prstGeom>
                <a:noFill/>
              </p:spPr>
              <p:txBody>
                <a:bodyPr wrap="square" rtlCol="0">
                  <a:spAutoFit/>
                </a:bodyPr>
                <a:lstStyle/>
                <a:p>
                  <a:r>
                    <a:rPr lang="en-US" sz="1400" dirty="0"/>
                    <a:t>Metadata</a:t>
                  </a:r>
                </a:p>
              </p:txBody>
            </p:sp>
            <p:sp>
              <p:nvSpPr>
                <p:cNvPr id="30" name="TextBox 29"/>
                <p:cNvSpPr txBox="1"/>
                <p:nvPr/>
              </p:nvSpPr>
              <p:spPr>
                <a:xfrm>
                  <a:off x="6305550" y="5241552"/>
                  <a:ext cx="1219200" cy="307777"/>
                </a:xfrm>
                <a:prstGeom prst="rect">
                  <a:avLst/>
                </a:prstGeom>
                <a:noFill/>
              </p:spPr>
              <p:txBody>
                <a:bodyPr wrap="square" rtlCol="0">
                  <a:spAutoFit/>
                </a:bodyPr>
                <a:lstStyle/>
                <a:p>
                  <a:r>
                    <a:rPr lang="en-US" sz="1400" dirty="0"/>
                    <a:t>Data</a:t>
                  </a:r>
                </a:p>
              </p:txBody>
            </p:sp>
            <p:sp>
              <p:nvSpPr>
                <p:cNvPr id="31" name="TextBox 30"/>
                <p:cNvSpPr txBox="1"/>
                <p:nvPr/>
              </p:nvSpPr>
              <p:spPr>
                <a:xfrm>
                  <a:off x="6305550" y="4434087"/>
                  <a:ext cx="1219200" cy="307777"/>
                </a:xfrm>
                <a:prstGeom prst="rect">
                  <a:avLst/>
                </a:prstGeom>
                <a:noFill/>
              </p:spPr>
              <p:txBody>
                <a:bodyPr wrap="square" rtlCol="0">
                  <a:spAutoFit/>
                </a:bodyPr>
                <a:lstStyle/>
                <a:p>
                  <a:r>
                    <a:rPr lang="en-US" sz="1400" dirty="0"/>
                    <a:t>Catalog</a:t>
                  </a:r>
                </a:p>
              </p:txBody>
            </p:sp>
          </p:grpSp>
          <p:grpSp>
            <p:nvGrpSpPr>
              <p:cNvPr id="8" name="Group 21"/>
              <p:cNvGrpSpPr/>
              <p:nvPr/>
            </p:nvGrpSpPr>
            <p:grpSpPr>
              <a:xfrm>
                <a:off x="7230613" y="3805953"/>
                <a:ext cx="376166" cy="1011800"/>
                <a:chOff x="4419600" y="3050193"/>
                <a:chExt cx="323850" cy="871080"/>
              </a:xfrm>
            </p:grpSpPr>
            <p:sp>
              <p:nvSpPr>
                <p:cNvPr id="23" name="Oval 22"/>
                <p:cNvSpPr/>
                <p:nvPr/>
              </p:nvSpPr>
              <p:spPr>
                <a:xfrm>
                  <a:off x="4572000" y="3050193"/>
                  <a:ext cx="171450" cy="1714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cxnSp>
              <p:nvCxnSpPr>
                <p:cNvPr id="24" name="Straight Connector 23"/>
                <p:cNvCxnSpPr>
                  <a:stCxn id="23" idx="2"/>
                </p:cNvCxnSpPr>
                <p:nvPr/>
              </p:nvCxnSpPr>
              <p:spPr>
                <a:xfrm flipH="1">
                  <a:off x="4419600" y="3135918"/>
                  <a:ext cx="152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4572000" y="3400389"/>
                  <a:ext cx="171450" cy="17145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6" name="Straight Connector 25"/>
                <p:cNvCxnSpPr>
                  <a:stCxn id="25" idx="2"/>
                </p:cNvCxnSpPr>
                <p:nvPr/>
              </p:nvCxnSpPr>
              <p:spPr>
                <a:xfrm flipH="1">
                  <a:off x="4419600" y="3486114"/>
                  <a:ext cx="15240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4572000" y="3749823"/>
                  <a:ext cx="171450" cy="171450"/>
                </a:xfrm>
                <a:prstGeom prst="ellipse">
                  <a:avLst/>
                </a:prstGeom>
                <a:noFill/>
                <a:ln w="3810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8" name="Straight Connector 27"/>
                <p:cNvCxnSpPr>
                  <a:stCxn id="27" idx="2"/>
                </p:cNvCxnSpPr>
                <p:nvPr/>
              </p:nvCxnSpPr>
              <p:spPr>
                <a:xfrm flipH="1">
                  <a:off x="4419600" y="3835548"/>
                  <a:ext cx="152400" cy="0"/>
                </a:xfrm>
                <a:prstGeom prst="line">
                  <a:avLst/>
                </a:prstGeom>
                <a:ln w="381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pSp>
      <p:sp>
        <p:nvSpPr>
          <p:cNvPr id="32" name="TextBox 31"/>
          <p:cNvSpPr txBox="1"/>
          <p:nvPr/>
        </p:nvSpPr>
        <p:spPr>
          <a:xfrm>
            <a:off x="4797023" y="3205743"/>
            <a:ext cx="2486025" cy="300502"/>
          </a:xfrm>
          <a:prstGeom prst="rect">
            <a:avLst/>
          </a:prstGeom>
          <a:noFill/>
          <a:effectLst/>
        </p:spPr>
        <p:txBody>
          <a:bodyPr wrap="none" lIns="0" tIns="0" rIns="0" bIns="0" rtlCol="0">
            <a:noAutofit/>
          </a:bodyPr>
          <a:lstStyle/>
          <a:p>
            <a:pPr eaLnBrk="0" hangingPunct="0"/>
            <a:r>
              <a:rPr lang="en-US" sz="1400" b="1" dirty="0" smtClean="0"/>
              <a:t>Web Feature Service for Observation Metadata</a:t>
            </a:r>
            <a:endParaRPr lang="en-US" sz="1400" b="1" dirty="0"/>
          </a:p>
        </p:txBody>
      </p:sp>
    </p:spTree>
    <p:extLst>
      <p:ext uri="{BB962C8B-B14F-4D97-AF65-F5344CB8AC3E}">
        <p14:creationId xmlns:p14="http://schemas.microsoft.com/office/powerpoint/2010/main" val="23266926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Slide Number Placeholder 2"/>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600">
                <a:solidFill>
                  <a:schemeClr val="tx1"/>
                </a:solidFill>
                <a:latin typeface="MetaBook-Roman" charset="0"/>
                <a:ea typeface="ＭＳ Ｐゴシック" charset="0"/>
                <a:cs typeface="ＭＳ Ｐゴシック" charset="0"/>
              </a:defRPr>
            </a:lvl1pPr>
            <a:lvl2pPr marL="742950" indent="-285750" eaLnBrk="0" hangingPunct="0">
              <a:defRPr sz="1600">
                <a:solidFill>
                  <a:schemeClr val="tx1"/>
                </a:solidFill>
                <a:latin typeface="MetaBook-Roman" charset="0"/>
                <a:ea typeface="ＭＳ Ｐゴシック" charset="0"/>
              </a:defRPr>
            </a:lvl2pPr>
            <a:lvl3pPr marL="1143000" indent="-228600" eaLnBrk="0" hangingPunct="0">
              <a:defRPr sz="1600">
                <a:solidFill>
                  <a:schemeClr val="tx1"/>
                </a:solidFill>
                <a:latin typeface="MetaBook-Roman" charset="0"/>
                <a:ea typeface="ＭＳ Ｐゴシック" charset="0"/>
              </a:defRPr>
            </a:lvl3pPr>
            <a:lvl4pPr marL="1600200" indent="-228600" eaLnBrk="0" hangingPunct="0">
              <a:defRPr sz="1600">
                <a:solidFill>
                  <a:schemeClr val="tx1"/>
                </a:solidFill>
                <a:latin typeface="MetaBook-Roman" charset="0"/>
                <a:ea typeface="ＭＳ Ｐゴシック" charset="0"/>
              </a:defRPr>
            </a:lvl4pPr>
            <a:lvl5pPr marL="2057400" indent="-228600" eaLnBrk="0" hangingPunct="0">
              <a:defRPr sz="1600">
                <a:solidFill>
                  <a:schemeClr val="tx1"/>
                </a:solidFill>
                <a:latin typeface="MetaBook-Roman" charset="0"/>
                <a:ea typeface="ＭＳ Ｐゴシック" charset="0"/>
              </a:defRPr>
            </a:lvl5pPr>
            <a:lvl6pPr marL="2514600" indent="-228600" eaLnBrk="0" fontAlgn="base" hangingPunct="0">
              <a:spcBef>
                <a:spcPct val="0"/>
              </a:spcBef>
              <a:spcAft>
                <a:spcPct val="0"/>
              </a:spcAft>
              <a:defRPr sz="1600">
                <a:solidFill>
                  <a:schemeClr val="tx1"/>
                </a:solidFill>
                <a:latin typeface="MetaBook-Roman" charset="0"/>
                <a:ea typeface="ＭＳ Ｐゴシック" charset="0"/>
              </a:defRPr>
            </a:lvl6pPr>
            <a:lvl7pPr marL="2971800" indent="-228600" eaLnBrk="0" fontAlgn="base" hangingPunct="0">
              <a:spcBef>
                <a:spcPct val="0"/>
              </a:spcBef>
              <a:spcAft>
                <a:spcPct val="0"/>
              </a:spcAft>
              <a:defRPr sz="1600">
                <a:solidFill>
                  <a:schemeClr val="tx1"/>
                </a:solidFill>
                <a:latin typeface="MetaBook-Roman" charset="0"/>
                <a:ea typeface="ＭＳ Ｐゴシック" charset="0"/>
              </a:defRPr>
            </a:lvl7pPr>
            <a:lvl8pPr marL="3429000" indent="-228600" eaLnBrk="0" fontAlgn="base" hangingPunct="0">
              <a:spcBef>
                <a:spcPct val="0"/>
              </a:spcBef>
              <a:spcAft>
                <a:spcPct val="0"/>
              </a:spcAft>
              <a:defRPr sz="1600">
                <a:solidFill>
                  <a:schemeClr val="tx1"/>
                </a:solidFill>
                <a:latin typeface="MetaBook-Roman" charset="0"/>
                <a:ea typeface="ＭＳ Ｐゴシック" charset="0"/>
              </a:defRPr>
            </a:lvl8pPr>
            <a:lvl9pPr marL="3886200" indent="-228600" eaLnBrk="0" fontAlgn="base" hangingPunct="0">
              <a:spcBef>
                <a:spcPct val="0"/>
              </a:spcBef>
              <a:spcAft>
                <a:spcPct val="0"/>
              </a:spcAft>
              <a:defRPr sz="1600">
                <a:solidFill>
                  <a:schemeClr val="tx1"/>
                </a:solidFill>
                <a:latin typeface="MetaBook-Roman" charset="0"/>
                <a:ea typeface="ＭＳ Ｐゴシック" charset="0"/>
              </a:defRPr>
            </a:lvl9pPr>
          </a:lstStyle>
          <a:p>
            <a:fld id="{58EBC5D4-9A9A-1347-931B-04D0440DEED8}" type="slidenum">
              <a:rPr lang="en-US" sz="1200">
                <a:solidFill>
                  <a:schemeClr val="bg1"/>
                </a:solidFill>
                <a:latin typeface="Helvetica" charset="0"/>
              </a:rPr>
              <a:pPr/>
              <a:t>8</a:t>
            </a:fld>
            <a:endParaRPr lang="en-US" sz="1200">
              <a:solidFill>
                <a:schemeClr val="bg1"/>
              </a:solidFill>
              <a:latin typeface="Helvetica" charset="0"/>
            </a:endParaRPr>
          </a:p>
        </p:txBody>
      </p:sp>
      <p:pic>
        <p:nvPicPr>
          <p:cNvPr id="69636" name="Picture 2" descr="C:\GIS_Bolstad\Chapter figs\Chapter1\GEOSS-hom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0600"/>
            <a:ext cx="9144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50" y="1117600"/>
            <a:ext cx="9163050" cy="574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89" name="Title 1"/>
          <p:cNvSpPr>
            <a:spLocks noGrp="1"/>
          </p:cNvSpPr>
          <p:nvPr>
            <p:ph type="title"/>
          </p:nvPr>
        </p:nvSpPr>
        <p:spPr>
          <a:xfrm>
            <a:off x="189089" y="905934"/>
            <a:ext cx="7620000" cy="564440"/>
          </a:xfrm>
          <a:solidFill>
            <a:schemeClr val="bg1"/>
          </a:solidFill>
        </p:spPr>
        <p:txBody>
          <a:bodyPr/>
          <a:lstStyle/>
          <a:p>
            <a:pPr>
              <a:defRPr/>
            </a:pPr>
            <a:r>
              <a:rPr sz="2000" b="1" dirty="0" smtClean="0">
                <a:latin typeface="MetaBook-Roman" charset="0"/>
                <a:ea typeface="Osaka" charset="0"/>
                <a:cs typeface="Osaka" charset="0"/>
              </a:rPr>
              <a:t>Global </a:t>
            </a:r>
            <a:r>
              <a:rPr sz="2000" b="1" dirty="0">
                <a:latin typeface="MetaBook-Roman" charset="0"/>
                <a:ea typeface="Osaka" charset="0"/>
                <a:cs typeface="Osaka" charset="0"/>
              </a:rPr>
              <a:t>Earth Observation System of Systems (GEOSS)</a:t>
            </a:r>
            <a:br>
              <a:rPr sz="2000" b="1" dirty="0">
                <a:latin typeface="MetaBook-Roman" charset="0"/>
                <a:ea typeface="Osaka" charset="0"/>
                <a:cs typeface="Osaka" charset="0"/>
              </a:rPr>
            </a:br>
            <a:r>
              <a:rPr sz="1600" i="1" dirty="0">
                <a:latin typeface="MetaBook-Roman" charset="0"/>
                <a:ea typeface="Osaka" charset="0"/>
                <a:cs typeface="Osaka" charset="0"/>
                <a:hlinkClick r:id="rId5"/>
              </a:rPr>
              <a:t>http://earthobservations.org</a:t>
            </a:r>
            <a:r>
              <a:rPr sz="1600" i="1" dirty="0">
                <a:latin typeface="MetaBook-Roman" charset="0"/>
                <a:ea typeface="Osaka" charset="0"/>
                <a:cs typeface="Osaka" charset="0"/>
              </a:rPr>
              <a:t>  -  </a:t>
            </a:r>
            <a:r>
              <a:rPr sz="1600" i="1" dirty="0">
                <a:latin typeface="MetaBook-Roman" charset="0"/>
                <a:ea typeface="Osaka" charset="0"/>
                <a:cs typeface="Osaka" charset="0"/>
                <a:hlinkClick r:id="rId6"/>
              </a:rPr>
              <a:t>http://www.geoportal.org/</a:t>
            </a:r>
            <a:r>
              <a:rPr sz="1600" i="1" dirty="0">
                <a:latin typeface="MetaBook-Roman" charset="0"/>
                <a:ea typeface="Osaka" charset="0"/>
                <a:cs typeface="Osaka" charset="0"/>
              </a:rPr>
              <a:t> </a:t>
            </a:r>
          </a:p>
        </p:txBody>
      </p:sp>
    </p:spTree>
    <p:extLst>
      <p:ext uri="{BB962C8B-B14F-4D97-AF65-F5344CB8AC3E}">
        <p14:creationId xmlns:p14="http://schemas.microsoft.com/office/powerpoint/2010/main" val="115763706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11435"/>
            <a:ext cx="8305800" cy="381000"/>
          </a:xfrm>
        </p:spPr>
        <p:txBody>
          <a:bodyPr/>
          <a:lstStyle/>
          <a:p>
            <a:pPr>
              <a:defRPr/>
            </a:pPr>
            <a:r>
              <a:rPr dirty="0" smtClean="0"/>
              <a:t>For quick discovery &amp; access</a:t>
            </a:r>
            <a:endParaRPr dirty="0"/>
          </a:p>
        </p:txBody>
      </p:sp>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pPr>
              <a:defRPr/>
            </a:pPr>
            <a:fld id="{F11FEEB7-5001-AD4F-9C87-49328CCF6553}" type="slidenum">
              <a:rPr lang="en-US" smtClean="0"/>
              <a:pPr>
                <a:defRPr/>
              </a:pPr>
              <a:t>9</a:t>
            </a:fld>
            <a:endParaRPr lang="en-US"/>
          </a:p>
        </p:txBody>
      </p:sp>
      <p:sp>
        <p:nvSpPr>
          <p:cNvPr id="4" name="Footer Placeholder 3"/>
          <p:cNvSpPr>
            <a:spLocks noGrp="1"/>
          </p:cNvSpPr>
          <p:nvPr>
            <p:ph type="ftr" sz="quarter" idx="4294967295"/>
          </p:nvPr>
        </p:nvSpPr>
        <p:spPr>
          <a:xfrm>
            <a:off x="381000" y="6356350"/>
            <a:ext cx="2895600" cy="365125"/>
          </a:xfrm>
          <a:prstGeom prst="rect">
            <a:avLst/>
          </a:prstGeom>
        </p:spPr>
        <p:txBody>
          <a:bodyPr/>
          <a:lstStyle/>
          <a:p>
            <a:pPr>
              <a:defRPr/>
            </a:pPr>
            <a:endParaRPr lang="fr-FR" dirty="0"/>
          </a:p>
        </p:txBody>
      </p:sp>
      <p:pic>
        <p:nvPicPr>
          <p:cNvPr id="71684"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685800"/>
            <a:ext cx="9144000" cy="617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7162800" y="228600"/>
            <a:ext cx="1749425" cy="307975"/>
          </a:xfrm>
          <a:prstGeom prst="rect">
            <a:avLst/>
          </a:prstGeom>
          <a:noFill/>
        </p:spPr>
        <p:txBody>
          <a:bodyPr wrap="none">
            <a:spAutoFit/>
          </a:bodyPr>
          <a:lstStyle/>
          <a:p>
            <a:pPr>
              <a:defRPr/>
            </a:pPr>
            <a:r>
              <a:rPr lang="en-US" sz="1400" dirty="0">
                <a:solidFill>
                  <a:schemeClr val="bg2">
                    <a:lumMod val="60000"/>
                    <a:lumOff val="40000"/>
                  </a:schemeClr>
                </a:solidFill>
                <a:hlinkClick r:id="rId4"/>
              </a:rPr>
              <a:t>http://bit.ly/19BPbrv</a:t>
            </a:r>
            <a:r>
              <a:rPr lang="en-US" sz="1400" dirty="0">
                <a:solidFill>
                  <a:schemeClr val="bg2">
                    <a:lumMod val="60000"/>
                    <a:lumOff val="40000"/>
                  </a:schemeClr>
                </a:solidFill>
              </a:rPr>
              <a:t>  </a:t>
            </a:r>
          </a:p>
        </p:txBody>
      </p:sp>
    </p:spTree>
    <p:extLst>
      <p:ext uri="{BB962C8B-B14F-4D97-AF65-F5344CB8AC3E}">
        <p14:creationId xmlns:p14="http://schemas.microsoft.com/office/powerpoint/2010/main" val="298887650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pPr>
              <a:defRPr/>
            </a:pPr>
            <a:fld id="{90498025-62E1-2C4B-85D7-4FEE6E13D9EB}" type="slidenum">
              <a:rPr lang="en-US" smtClean="0"/>
              <a:pPr>
                <a:defRPr/>
              </a:pPr>
              <a:t>10</a:t>
            </a:fld>
            <a:endParaRPr lang="en-US"/>
          </a:p>
        </p:txBody>
      </p:sp>
      <p:sp>
        <p:nvSpPr>
          <p:cNvPr id="4" name="Footer Placeholder 3"/>
          <p:cNvSpPr>
            <a:spLocks noGrp="1"/>
          </p:cNvSpPr>
          <p:nvPr>
            <p:ph type="ftr" sz="quarter" idx="4294967295"/>
          </p:nvPr>
        </p:nvSpPr>
        <p:spPr>
          <a:xfrm>
            <a:off x="381000" y="6356350"/>
            <a:ext cx="2895600" cy="365125"/>
          </a:xfrm>
          <a:prstGeom prst="rect">
            <a:avLst/>
          </a:prstGeom>
        </p:spPr>
        <p:txBody>
          <a:bodyPr/>
          <a:lstStyle/>
          <a:p>
            <a:pPr>
              <a:defRPr/>
            </a:pPr>
            <a:endParaRPr lang="fr-FR" dirty="0"/>
          </a:p>
        </p:txBody>
      </p:sp>
      <p:pic>
        <p:nvPicPr>
          <p:cNvPr id="6758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3" y="1093788"/>
            <a:ext cx="9144000"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TextBox 5"/>
          <p:cNvSpPr txBox="1">
            <a:spLocks noChangeArrowheads="1"/>
          </p:cNvSpPr>
          <p:nvPr/>
        </p:nvSpPr>
        <p:spPr bwMode="auto">
          <a:xfrm>
            <a:off x="2538375" y="6284653"/>
            <a:ext cx="643096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MetaBook-Roman" charset="0"/>
                <a:ea typeface="ＭＳ Ｐゴシック" charset="0"/>
                <a:cs typeface="ＭＳ Ｐゴシック" charset="0"/>
              </a:defRPr>
            </a:lvl1pPr>
            <a:lvl2pPr marL="742950" indent="-285750" eaLnBrk="0" hangingPunct="0">
              <a:defRPr sz="1600">
                <a:solidFill>
                  <a:schemeClr val="tx1"/>
                </a:solidFill>
                <a:latin typeface="MetaBook-Roman" charset="0"/>
                <a:ea typeface="ＭＳ Ｐゴシック" charset="0"/>
              </a:defRPr>
            </a:lvl2pPr>
            <a:lvl3pPr marL="1143000" indent="-228600" eaLnBrk="0" hangingPunct="0">
              <a:defRPr sz="1600">
                <a:solidFill>
                  <a:schemeClr val="tx1"/>
                </a:solidFill>
                <a:latin typeface="MetaBook-Roman" charset="0"/>
                <a:ea typeface="ＭＳ Ｐゴシック" charset="0"/>
              </a:defRPr>
            </a:lvl3pPr>
            <a:lvl4pPr marL="1600200" indent="-228600" eaLnBrk="0" hangingPunct="0">
              <a:defRPr sz="1600">
                <a:solidFill>
                  <a:schemeClr val="tx1"/>
                </a:solidFill>
                <a:latin typeface="MetaBook-Roman" charset="0"/>
                <a:ea typeface="ＭＳ Ｐゴシック" charset="0"/>
              </a:defRPr>
            </a:lvl4pPr>
            <a:lvl5pPr marL="2057400" indent="-228600" eaLnBrk="0" hangingPunct="0">
              <a:defRPr sz="1600">
                <a:solidFill>
                  <a:schemeClr val="tx1"/>
                </a:solidFill>
                <a:latin typeface="MetaBook-Roman" charset="0"/>
                <a:ea typeface="ＭＳ Ｐゴシック" charset="0"/>
              </a:defRPr>
            </a:lvl5pPr>
            <a:lvl6pPr marL="2514600" indent="-228600" eaLnBrk="0" fontAlgn="base" hangingPunct="0">
              <a:spcBef>
                <a:spcPct val="0"/>
              </a:spcBef>
              <a:spcAft>
                <a:spcPct val="0"/>
              </a:spcAft>
              <a:defRPr sz="1600">
                <a:solidFill>
                  <a:schemeClr val="tx1"/>
                </a:solidFill>
                <a:latin typeface="MetaBook-Roman" charset="0"/>
                <a:ea typeface="ＭＳ Ｐゴシック" charset="0"/>
              </a:defRPr>
            </a:lvl6pPr>
            <a:lvl7pPr marL="2971800" indent="-228600" eaLnBrk="0" fontAlgn="base" hangingPunct="0">
              <a:spcBef>
                <a:spcPct val="0"/>
              </a:spcBef>
              <a:spcAft>
                <a:spcPct val="0"/>
              </a:spcAft>
              <a:defRPr sz="1600">
                <a:solidFill>
                  <a:schemeClr val="tx1"/>
                </a:solidFill>
                <a:latin typeface="MetaBook-Roman" charset="0"/>
                <a:ea typeface="ＭＳ Ｐゴシック" charset="0"/>
              </a:defRPr>
            </a:lvl7pPr>
            <a:lvl8pPr marL="3429000" indent="-228600" eaLnBrk="0" fontAlgn="base" hangingPunct="0">
              <a:spcBef>
                <a:spcPct val="0"/>
              </a:spcBef>
              <a:spcAft>
                <a:spcPct val="0"/>
              </a:spcAft>
              <a:defRPr sz="1600">
                <a:solidFill>
                  <a:schemeClr val="tx1"/>
                </a:solidFill>
                <a:latin typeface="MetaBook-Roman" charset="0"/>
                <a:ea typeface="ＭＳ Ｐゴシック" charset="0"/>
              </a:defRPr>
            </a:lvl8pPr>
            <a:lvl9pPr marL="3886200" indent="-228600" eaLnBrk="0" fontAlgn="base" hangingPunct="0">
              <a:spcBef>
                <a:spcPct val="0"/>
              </a:spcBef>
              <a:spcAft>
                <a:spcPct val="0"/>
              </a:spcAft>
              <a:defRPr sz="1600">
                <a:solidFill>
                  <a:schemeClr val="tx1"/>
                </a:solidFill>
                <a:latin typeface="MetaBook-Roman" charset="0"/>
                <a:ea typeface="ＭＳ Ｐゴシック" charset="0"/>
              </a:defRPr>
            </a:lvl9pPr>
          </a:lstStyle>
          <a:p>
            <a:pPr eaLnBrk="1" hangingPunct="1"/>
            <a:r>
              <a:rPr lang="en-US" sz="1100" dirty="0">
                <a:hlinkClick r:id="rId4"/>
              </a:rPr>
              <a:t>http://www.arcgis.com/home/webmap/viewer.html?webmap=87ab07e2aba840828033e80b15fd6727</a:t>
            </a:r>
            <a:r>
              <a:rPr lang="en-US" sz="1100" dirty="0"/>
              <a:t> </a:t>
            </a:r>
          </a:p>
          <a:p>
            <a:pPr eaLnBrk="1" hangingPunct="1"/>
            <a:endParaRPr lang="en-US" sz="1100" dirty="0"/>
          </a:p>
        </p:txBody>
      </p:sp>
      <p:pic>
        <p:nvPicPr>
          <p:cNvPr id="67590" name="Picture 6" descr="Fig4-grdc legend.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4191000"/>
            <a:ext cx="2516188"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4meta-anno.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1066800"/>
            <a:ext cx="3721100" cy="410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724740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GB" dirty="0" smtClean="0"/>
              <a:t>AIP-5 Architecture and Interaction</a:t>
            </a:r>
          </a:p>
        </p:txBody>
      </p:sp>
      <p:pic>
        <p:nvPicPr>
          <p:cNvPr id="348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338" y="2438400"/>
            <a:ext cx="6699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3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2044700"/>
            <a:ext cx="838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TextBox 1"/>
          <p:cNvSpPr txBox="1">
            <a:spLocks noChangeArrowheads="1"/>
          </p:cNvSpPr>
          <p:nvPr/>
        </p:nvSpPr>
        <p:spPr bwMode="auto">
          <a:xfrm>
            <a:off x="107950" y="1828800"/>
            <a:ext cx="15081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fontAlgn="base">
              <a:spcBef>
                <a:spcPct val="0"/>
              </a:spcBef>
              <a:spcAft>
                <a:spcPct val="0"/>
              </a:spcAft>
            </a:pPr>
            <a:r>
              <a:rPr lang="en-US" dirty="0" smtClean="0">
                <a:solidFill>
                  <a:srgbClr val="000000"/>
                </a:solidFill>
                <a:cs typeface="Arial" pitchFamily="34" charset="0"/>
              </a:rPr>
              <a:t>GEOSS Search</a:t>
            </a:r>
          </a:p>
        </p:txBody>
      </p:sp>
      <p:cxnSp>
        <p:nvCxnSpPr>
          <p:cNvPr id="34854" name="Straight Arrow Connector 8"/>
          <p:cNvCxnSpPr>
            <a:cxnSpLocks noChangeShapeType="1"/>
            <a:stCxn id="34820" idx="2"/>
          </p:cNvCxnSpPr>
          <p:nvPr/>
        </p:nvCxnSpPr>
        <p:spPr bwMode="auto">
          <a:xfrm>
            <a:off x="1581150" y="3162300"/>
            <a:ext cx="0" cy="918242"/>
          </a:xfrm>
          <a:prstGeom prst="straightConnector1">
            <a:avLst/>
          </a:prstGeom>
          <a:noFill/>
          <a:ln w="44450">
            <a:solidFill>
              <a:srgbClr val="002C43"/>
            </a:solidFill>
            <a:round/>
            <a:headEnd type="none" w="med" len="lg"/>
            <a:tailEnd type="triangle" w="med" len="med"/>
          </a:ln>
          <a:extLst>
            <a:ext uri="{909E8E84-426E-40dd-AFC4-6F175D3DCCD1}">
              <a14:hiddenFill xmlns:a14="http://schemas.microsoft.com/office/drawing/2010/main">
                <a:noFill/>
              </a14:hiddenFill>
            </a:ext>
          </a:extLst>
        </p:spPr>
      </p:cxnSp>
      <p:grpSp>
        <p:nvGrpSpPr>
          <p:cNvPr id="5" name="Group 4"/>
          <p:cNvGrpSpPr/>
          <p:nvPr/>
        </p:nvGrpSpPr>
        <p:grpSpPr>
          <a:xfrm>
            <a:off x="239713" y="3657600"/>
            <a:ext cx="2732087" cy="2225723"/>
            <a:chOff x="239713" y="3657600"/>
            <a:chExt cx="2732087" cy="2225723"/>
          </a:xfrm>
        </p:grpSpPr>
        <p:pic>
          <p:nvPicPr>
            <p:cNvPr id="34855" name="Picture 3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62050" y="3975253"/>
              <a:ext cx="838200" cy="111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TextBox 24"/>
            <p:cNvSpPr txBox="1">
              <a:spLocks noChangeArrowheads="1"/>
            </p:cNvSpPr>
            <p:nvPr/>
          </p:nvSpPr>
          <p:spPr bwMode="auto">
            <a:xfrm>
              <a:off x="239713" y="3657600"/>
              <a:ext cx="16652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fontAlgn="base">
                <a:spcBef>
                  <a:spcPct val="0"/>
                </a:spcBef>
                <a:spcAft>
                  <a:spcPct val="0"/>
                </a:spcAft>
              </a:pPr>
              <a:r>
                <a:rPr lang="en-US" dirty="0" smtClean="0">
                  <a:solidFill>
                    <a:srgbClr val="000000"/>
                  </a:solidFill>
                  <a:cs typeface="Arial" pitchFamily="34" charset="0"/>
                </a:rPr>
                <a:t>WWO Map Viewer</a:t>
              </a:r>
            </a:p>
          </p:txBody>
        </p:sp>
        <p:pic>
          <p:nvPicPr>
            <p:cNvPr id="3483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3921" y="3912733"/>
              <a:ext cx="713090" cy="124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40" name="TextBox 24"/>
            <p:cNvSpPr txBox="1">
              <a:spLocks noChangeArrowheads="1"/>
            </p:cNvSpPr>
            <p:nvPr/>
          </p:nvSpPr>
          <p:spPr bwMode="auto">
            <a:xfrm>
              <a:off x="1752600" y="4806105"/>
              <a:ext cx="1219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en-GB" sz="1600" b="1" dirty="0" smtClean="0">
                  <a:solidFill>
                    <a:srgbClr val="000000"/>
                  </a:solidFill>
                  <a:latin typeface="Times" pitchFamily="18" charset="0"/>
                  <a:ea typeface="MS PGothic" pitchFamily="34" charset="-128"/>
                  <a:cs typeface="Arial" pitchFamily="34" charset="0"/>
                </a:rPr>
                <a:t>ArcGIS Online / </a:t>
              </a:r>
            </a:p>
            <a:p>
              <a:pPr algn="ctr" fontAlgn="base">
                <a:spcBef>
                  <a:spcPct val="0"/>
                </a:spcBef>
                <a:spcAft>
                  <a:spcPct val="0"/>
                </a:spcAft>
              </a:pPr>
              <a:r>
                <a:rPr lang="en-GB" sz="1600" b="1" dirty="0" smtClean="0">
                  <a:solidFill>
                    <a:srgbClr val="000000"/>
                  </a:solidFill>
                  <a:latin typeface="Times" pitchFamily="18" charset="0"/>
                  <a:ea typeface="MS PGothic" pitchFamily="34" charset="-128"/>
                  <a:cs typeface="Arial" pitchFamily="34" charset="0"/>
                </a:rPr>
                <a:t>PYXIS </a:t>
              </a:r>
              <a:r>
                <a:rPr lang="en-GB" sz="1600" b="1" dirty="0" err="1" smtClean="0">
                  <a:solidFill>
                    <a:srgbClr val="000000"/>
                  </a:solidFill>
                  <a:latin typeface="Times" pitchFamily="18" charset="0"/>
                  <a:ea typeface="MS PGothic" pitchFamily="34" charset="-128"/>
                  <a:cs typeface="Arial" pitchFamily="34" charset="0"/>
                </a:rPr>
                <a:t>WorldView</a:t>
              </a:r>
              <a:endParaRPr lang="en-GB" sz="1600" b="1" dirty="0" smtClean="0">
                <a:solidFill>
                  <a:srgbClr val="000000"/>
                </a:solidFill>
                <a:latin typeface="Times" pitchFamily="18" charset="0"/>
                <a:ea typeface="MS PGothic" pitchFamily="34" charset="-128"/>
                <a:cs typeface="Arial" pitchFamily="34" charset="0"/>
              </a:endParaRPr>
            </a:p>
          </p:txBody>
        </p:sp>
      </p:grpSp>
      <p:grpSp>
        <p:nvGrpSpPr>
          <p:cNvPr id="16" name="Group 15"/>
          <p:cNvGrpSpPr/>
          <p:nvPr/>
        </p:nvGrpSpPr>
        <p:grpSpPr>
          <a:xfrm>
            <a:off x="2547938" y="1443038"/>
            <a:ext cx="2511425" cy="5418137"/>
            <a:chOff x="2547938" y="1443038"/>
            <a:chExt cx="2511425" cy="5418137"/>
          </a:xfrm>
        </p:grpSpPr>
        <p:pic>
          <p:nvPicPr>
            <p:cNvPr id="3484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7339" y="5409271"/>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4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3270" y="2914566"/>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9" name="TextBox 26"/>
            <p:cNvSpPr txBox="1">
              <a:spLocks noChangeArrowheads="1"/>
            </p:cNvSpPr>
            <p:nvPr/>
          </p:nvSpPr>
          <p:spPr bwMode="auto">
            <a:xfrm>
              <a:off x="2684463" y="5845175"/>
              <a:ext cx="14049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defRPr/>
              </a:pPr>
              <a:r>
                <a:rPr lang="en-GB" sz="1800" dirty="0" smtClean="0">
                  <a:solidFill>
                    <a:srgbClr val="000000"/>
                  </a:solidFill>
                  <a:cs typeface="Arial" pitchFamily="34" charset="0"/>
                </a:rPr>
                <a:t>WFS</a:t>
              </a:r>
            </a:p>
            <a:p>
              <a:pPr>
                <a:defRPr/>
              </a:pPr>
              <a:r>
                <a:rPr lang="en-GB" sz="1400" b="1" i="1" dirty="0" smtClean="0">
                  <a:solidFill>
                    <a:srgbClr val="000000"/>
                  </a:solidFill>
                  <a:latin typeface="Arial"/>
                  <a:cs typeface="Arial" pitchFamily="34" charset="0"/>
                </a:rPr>
                <a:t>USGS Metadata</a:t>
              </a:r>
            </a:p>
            <a:p>
              <a:pPr>
                <a:defRPr/>
              </a:pPr>
              <a:r>
                <a:rPr lang="en-GB" sz="1400" b="1" i="1" dirty="0" smtClean="0">
                  <a:solidFill>
                    <a:srgbClr val="000000"/>
                  </a:solidFill>
                  <a:latin typeface="Arial"/>
                  <a:cs typeface="Arial" pitchFamily="34" charset="0"/>
                </a:rPr>
                <a:t>(</a:t>
              </a:r>
              <a:r>
                <a:rPr lang="en-GB" sz="1400" b="1" i="1" dirty="0" err="1" smtClean="0">
                  <a:solidFill>
                    <a:srgbClr val="000000"/>
                  </a:solidFill>
                  <a:latin typeface="Arial"/>
                  <a:cs typeface="Arial" pitchFamily="34" charset="0"/>
                </a:rPr>
                <a:t>Univ</a:t>
              </a:r>
              <a:r>
                <a:rPr lang="en-GB" sz="1400" b="1" i="1" dirty="0" smtClean="0">
                  <a:solidFill>
                    <a:srgbClr val="000000"/>
                  </a:solidFill>
                  <a:latin typeface="Arial"/>
                  <a:cs typeface="Arial" pitchFamily="34" charset="0"/>
                </a:rPr>
                <a:t> </a:t>
              </a:r>
              <a:r>
                <a:rPr lang="en-GB" sz="1400" b="1" i="1" dirty="0" err="1" smtClean="0">
                  <a:solidFill>
                    <a:srgbClr val="000000"/>
                  </a:solidFill>
                  <a:latin typeface="Arial"/>
                  <a:cs typeface="Arial" pitchFamily="34" charset="0"/>
                </a:rPr>
                <a:t>Tx</a:t>
              </a:r>
              <a:r>
                <a:rPr lang="en-GB" sz="1400" b="1" i="1" dirty="0" smtClean="0">
                  <a:solidFill>
                    <a:srgbClr val="000000"/>
                  </a:solidFill>
                  <a:latin typeface="Arial"/>
                  <a:cs typeface="Arial" pitchFamily="34" charset="0"/>
                </a:rPr>
                <a:t> host)</a:t>
              </a:r>
              <a:endParaRPr lang="en-GB" sz="1400" b="1" i="1" dirty="0">
                <a:solidFill>
                  <a:srgbClr val="000000"/>
                </a:solidFill>
                <a:latin typeface="Arial"/>
                <a:cs typeface="Arial" pitchFamily="34" charset="0"/>
              </a:endParaRPr>
            </a:p>
          </p:txBody>
        </p:sp>
        <p:sp>
          <p:nvSpPr>
            <p:cNvPr id="31" name="TextBox 26"/>
            <p:cNvSpPr txBox="1">
              <a:spLocks noChangeArrowheads="1"/>
            </p:cNvSpPr>
            <p:nvPr/>
          </p:nvSpPr>
          <p:spPr bwMode="auto">
            <a:xfrm>
              <a:off x="3162300" y="3643313"/>
              <a:ext cx="18970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000000"/>
                  </a:solidFill>
                  <a:cs typeface="Arial" pitchFamily="34" charset="0"/>
                </a:rPr>
                <a:t>WFS</a:t>
              </a:r>
            </a:p>
            <a:p>
              <a:pPr algn="r">
                <a:defRPr/>
              </a:pPr>
              <a:r>
                <a:rPr lang="en-GB" sz="1400" b="1" i="1" dirty="0" smtClean="0">
                  <a:solidFill>
                    <a:srgbClr val="000000"/>
                  </a:solidFill>
                  <a:latin typeface="Arial"/>
                  <a:cs typeface="Arial" pitchFamily="34" charset="0"/>
                </a:rPr>
                <a:t>Dominican Republic Metadata</a:t>
              </a:r>
            </a:p>
            <a:p>
              <a:pPr algn="r">
                <a:defRPr/>
              </a:pPr>
              <a:r>
                <a:rPr lang="en-GB" sz="1400" b="1" i="1" dirty="0" smtClean="0">
                  <a:solidFill>
                    <a:srgbClr val="000000"/>
                  </a:solidFill>
                  <a:latin typeface="Arial"/>
                  <a:cs typeface="Arial" pitchFamily="34" charset="0"/>
                </a:rPr>
                <a:t>(</a:t>
              </a:r>
              <a:r>
                <a:rPr lang="en-GB" sz="1400" b="1" i="1" dirty="0" err="1" smtClean="0">
                  <a:solidFill>
                    <a:srgbClr val="000000"/>
                  </a:solidFill>
                  <a:latin typeface="Arial"/>
                  <a:cs typeface="Arial" pitchFamily="34" charset="0"/>
                </a:rPr>
                <a:t>Univ</a:t>
              </a:r>
              <a:r>
                <a:rPr lang="en-GB" sz="1400" b="1" i="1" dirty="0" smtClean="0">
                  <a:solidFill>
                    <a:srgbClr val="000000"/>
                  </a:solidFill>
                  <a:latin typeface="Arial"/>
                  <a:cs typeface="Arial" pitchFamily="34" charset="0"/>
                </a:rPr>
                <a:t> </a:t>
              </a:r>
              <a:r>
                <a:rPr lang="en-GB" sz="1400" b="1" i="1" dirty="0" err="1" smtClean="0">
                  <a:solidFill>
                    <a:srgbClr val="000000"/>
                  </a:solidFill>
                  <a:latin typeface="Arial"/>
                  <a:cs typeface="Arial" pitchFamily="34" charset="0"/>
                </a:rPr>
                <a:t>Tx</a:t>
              </a:r>
              <a:r>
                <a:rPr lang="en-GB" sz="1400" b="1" i="1" dirty="0" smtClean="0">
                  <a:solidFill>
                    <a:srgbClr val="000000"/>
                  </a:solidFill>
                  <a:latin typeface="Arial"/>
                  <a:cs typeface="Arial" pitchFamily="34" charset="0"/>
                </a:rPr>
                <a:t> host)</a:t>
              </a:r>
              <a:endParaRPr lang="en-GB" sz="1400" b="1" i="1" dirty="0">
                <a:solidFill>
                  <a:srgbClr val="000000"/>
                </a:solidFill>
                <a:latin typeface="Arial"/>
                <a:cs typeface="Arial" pitchFamily="34" charset="0"/>
              </a:endParaRPr>
            </a:p>
          </p:txBody>
        </p:sp>
        <p:pic>
          <p:nvPicPr>
            <p:cNvPr id="348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4124" y="1443038"/>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26"/>
            <p:cNvSpPr txBox="1">
              <a:spLocks noChangeArrowheads="1"/>
            </p:cNvSpPr>
            <p:nvPr/>
          </p:nvSpPr>
          <p:spPr bwMode="auto">
            <a:xfrm>
              <a:off x="2547938" y="1627188"/>
              <a:ext cx="17684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000000"/>
                  </a:solidFill>
                  <a:cs typeface="Arial" pitchFamily="34" charset="0"/>
                </a:rPr>
                <a:t>WFS</a:t>
              </a:r>
            </a:p>
            <a:p>
              <a:pPr algn="r">
                <a:defRPr/>
              </a:pPr>
              <a:r>
                <a:rPr lang="en-GB" sz="1400" b="1" i="1" dirty="0" smtClean="0">
                  <a:solidFill>
                    <a:srgbClr val="000000"/>
                  </a:solidFill>
                  <a:latin typeface="Arial"/>
                  <a:cs typeface="Arial" pitchFamily="34" charset="0"/>
                </a:rPr>
                <a:t>GRDC </a:t>
              </a:r>
            </a:p>
            <a:p>
              <a:pPr algn="r">
                <a:defRPr/>
              </a:pPr>
              <a:r>
                <a:rPr lang="en-GB" sz="1400" b="1" i="1" dirty="0" smtClean="0">
                  <a:solidFill>
                    <a:srgbClr val="000000"/>
                  </a:solidFill>
                  <a:latin typeface="Arial"/>
                  <a:cs typeface="Arial" pitchFamily="34" charset="0"/>
                </a:rPr>
                <a:t>Metadata</a:t>
              </a:r>
            </a:p>
            <a:p>
              <a:pPr algn="r">
                <a:defRPr/>
              </a:pPr>
              <a:r>
                <a:rPr lang="en-GB" sz="1400" b="1" i="1" dirty="0" smtClean="0">
                  <a:solidFill>
                    <a:srgbClr val="000000"/>
                  </a:solidFill>
                  <a:latin typeface="Arial"/>
                  <a:cs typeface="Arial" pitchFamily="34" charset="0"/>
                </a:rPr>
                <a:t>(</a:t>
              </a:r>
              <a:r>
                <a:rPr lang="en-GB" sz="1400" b="1" i="1" dirty="0" err="1" smtClean="0">
                  <a:solidFill>
                    <a:srgbClr val="000000"/>
                  </a:solidFill>
                  <a:latin typeface="Arial"/>
                  <a:cs typeface="Arial" pitchFamily="34" charset="0"/>
                </a:rPr>
                <a:t>Univ</a:t>
              </a:r>
              <a:r>
                <a:rPr lang="en-GB" sz="1400" b="1" i="1" dirty="0" smtClean="0">
                  <a:solidFill>
                    <a:srgbClr val="000000"/>
                  </a:solidFill>
                  <a:latin typeface="Arial"/>
                  <a:cs typeface="Arial" pitchFamily="34" charset="0"/>
                </a:rPr>
                <a:t> </a:t>
              </a:r>
              <a:r>
                <a:rPr lang="en-GB" sz="1400" b="1" i="1" dirty="0" err="1" smtClean="0">
                  <a:solidFill>
                    <a:srgbClr val="000000"/>
                  </a:solidFill>
                  <a:latin typeface="Arial"/>
                  <a:cs typeface="Arial" pitchFamily="34" charset="0"/>
                </a:rPr>
                <a:t>Tx</a:t>
              </a:r>
              <a:r>
                <a:rPr lang="en-GB" sz="1400" b="1" i="1" dirty="0" smtClean="0">
                  <a:solidFill>
                    <a:srgbClr val="000000"/>
                  </a:solidFill>
                  <a:latin typeface="Arial"/>
                  <a:cs typeface="Arial" pitchFamily="34" charset="0"/>
                </a:rPr>
                <a:t> host)</a:t>
              </a:r>
              <a:endParaRPr lang="en-GB" sz="1400" b="1" i="1" dirty="0">
                <a:solidFill>
                  <a:srgbClr val="000000"/>
                </a:solidFill>
                <a:latin typeface="Arial"/>
                <a:cs typeface="Arial" pitchFamily="34" charset="0"/>
              </a:endParaRPr>
            </a:p>
          </p:txBody>
        </p:sp>
      </p:grpSp>
      <p:grpSp>
        <p:nvGrpSpPr>
          <p:cNvPr id="15" name="Group 14"/>
          <p:cNvGrpSpPr/>
          <p:nvPr/>
        </p:nvGrpSpPr>
        <p:grpSpPr>
          <a:xfrm>
            <a:off x="2376274" y="2643066"/>
            <a:ext cx="1128796" cy="2974137"/>
            <a:chOff x="2376274" y="2643066"/>
            <a:chExt cx="1128796" cy="2974137"/>
          </a:xfrm>
        </p:grpSpPr>
        <p:cxnSp>
          <p:nvCxnSpPr>
            <p:cNvPr id="34844" name="Straight Arrow Connector 11"/>
            <p:cNvCxnSpPr>
              <a:cxnSpLocks noChangeShapeType="1"/>
            </p:cNvCxnSpPr>
            <p:nvPr/>
          </p:nvCxnSpPr>
          <p:spPr bwMode="auto">
            <a:xfrm flipV="1">
              <a:off x="2802370" y="3744608"/>
              <a:ext cx="640630" cy="424441"/>
            </a:xfrm>
            <a:prstGeom prst="straightConnector1">
              <a:avLst/>
            </a:prstGeom>
            <a:noFill/>
            <a:ln w="44450">
              <a:solidFill>
                <a:srgbClr val="002C43"/>
              </a:solidFill>
              <a:round/>
              <a:headEnd type="none" w="med" len="lg"/>
              <a:tailEnd type="triangle" w="med" len="med"/>
            </a:ln>
            <a:extLst>
              <a:ext uri="{909E8E84-426E-40dd-AFC4-6F175D3DCCD1}">
                <a14:hiddenFill xmlns:a14="http://schemas.microsoft.com/office/drawing/2010/main">
                  <a:noFill/>
                </a14:hiddenFill>
              </a:ext>
            </a:extLst>
          </p:spPr>
        </p:cxnSp>
        <p:cxnSp>
          <p:nvCxnSpPr>
            <p:cNvPr id="34845" name="Straight Arrow Connector 12"/>
            <p:cNvCxnSpPr>
              <a:cxnSpLocks noChangeShapeType="1"/>
            </p:cNvCxnSpPr>
            <p:nvPr/>
          </p:nvCxnSpPr>
          <p:spPr bwMode="auto">
            <a:xfrm flipV="1">
              <a:off x="2749693" y="3629590"/>
              <a:ext cx="626931" cy="400042"/>
            </a:xfrm>
            <a:prstGeom prst="straightConnector1">
              <a:avLst/>
            </a:prstGeom>
            <a:noFill/>
            <a:ln w="44450">
              <a:solidFill>
                <a:srgbClr val="002C43"/>
              </a:solidFill>
              <a:round/>
              <a:headEnd type="triangle" w="med" len="med"/>
              <a:tailEnd/>
            </a:ln>
            <a:extLst>
              <a:ext uri="{909E8E84-426E-40dd-AFC4-6F175D3DCCD1}">
                <a14:hiddenFill xmlns:a14="http://schemas.microsoft.com/office/drawing/2010/main">
                  <a:noFill/>
                </a14:hiddenFill>
              </a:ext>
            </a:extLst>
          </p:spPr>
        </p:cxnSp>
        <p:cxnSp>
          <p:nvCxnSpPr>
            <p:cNvPr id="34846" name="Straight Arrow Connector 13"/>
            <p:cNvCxnSpPr>
              <a:cxnSpLocks noChangeShapeType="1"/>
            </p:cNvCxnSpPr>
            <p:nvPr/>
          </p:nvCxnSpPr>
          <p:spPr bwMode="auto">
            <a:xfrm>
              <a:off x="2707011" y="4806105"/>
              <a:ext cx="690328" cy="811098"/>
            </a:xfrm>
            <a:prstGeom prst="straightConnector1">
              <a:avLst/>
            </a:prstGeom>
            <a:noFill/>
            <a:ln w="44450">
              <a:solidFill>
                <a:srgbClr val="002C43"/>
              </a:solidFill>
              <a:round/>
              <a:headEnd type="none" w="med" len="lg"/>
              <a:tailEnd type="triangle" w="med" len="med"/>
            </a:ln>
            <a:extLst>
              <a:ext uri="{909E8E84-426E-40dd-AFC4-6F175D3DCCD1}">
                <a14:hiddenFill xmlns:a14="http://schemas.microsoft.com/office/drawing/2010/main">
                  <a:noFill/>
                </a14:hiddenFill>
              </a:ext>
            </a:extLst>
          </p:spPr>
        </p:cxnSp>
        <p:cxnSp>
          <p:nvCxnSpPr>
            <p:cNvPr id="34847" name="Straight Arrow Connector 14"/>
            <p:cNvCxnSpPr>
              <a:cxnSpLocks noChangeShapeType="1"/>
            </p:cNvCxnSpPr>
            <p:nvPr/>
          </p:nvCxnSpPr>
          <p:spPr bwMode="auto">
            <a:xfrm>
              <a:off x="2780400" y="4673761"/>
              <a:ext cx="724670" cy="888684"/>
            </a:xfrm>
            <a:prstGeom prst="straightConnector1">
              <a:avLst/>
            </a:prstGeom>
            <a:noFill/>
            <a:ln w="44450">
              <a:solidFill>
                <a:srgbClr val="002C43"/>
              </a:solidFill>
              <a:round/>
              <a:headEnd type="triangle" w="med" len="med"/>
              <a:tailEnd/>
            </a:ln>
            <a:extLst>
              <a:ext uri="{909E8E84-426E-40dd-AFC4-6F175D3DCCD1}">
                <a14:hiddenFill xmlns:a14="http://schemas.microsoft.com/office/drawing/2010/main">
                  <a:noFill/>
                </a14:hiddenFill>
              </a:ext>
            </a:extLst>
          </p:spPr>
        </p:cxnSp>
        <p:cxnSp>
          <p:nvCxnSpPr>
            <p:cNvPr id="34852" name="Straight Arrow Connector 11"/>
            <p:cNvCxnSpPr>
              <a:cxnSpLocks noChangeShapeType="1"/>
            </p:cNvCxnSpPr>
            <p:nvPr/>
          </p:nvCxnSpPr>
          <p:spPr bwMode="auto">
            <a:xfrm flipV="1">
              <a:off x="2521592" y="2679528"/>
              <a:ext cx="329678" cy="1130384"/>
            </a:xfrm>
            <a:prstGeom prst="straightConnector1">
              <a:avLst/>
            </a:prstGeom>
            <a:noFill/>
            <a:ln w="44450">
              <a:solidFill>
                <a:srgbClr val="002C43"/>
              </a:solidFill>
              <a:round/>
              <a:headEnd type="none" w="med" len="lg"/>
              <a:tailEnd type="triangle" w="med" len="med"/>
            </a:ln>
            <a:extLst>
              <a:ext uri="{909E8E84-426E-40dd-AFC4-6F175D3DCCD1}">
                <a14:hiddenFill xmlns:a14="http://schemas.microsoft.com/office/drawing/2010/main">
                  <a:noFill/>
                </a14:hiddenFill>
              </a:ext>
            </a:extLst>
          </p:spPr>
        </p:cxnSp>
        <p:cxnSp>
          <p:nvCxnSpPr>
            <p:cNvPr id="34853" name="Straight Arrow Connector 12"/>
            <p:cNvCxnSpPr>
              <a:cxnSpLocks noChangeShapeType="1"/>
            </p:cNvCxnSpPr>
            <p:nvPr/>
          </p:nvCxnSpPr>
          <p:spPr bwMode="auto">
            <a:xfrm flipV="1">
              <a:off x="2376274" y="2643066"/>
              <a:ext cx="330737" cy="1137661"/>
            </a:xfrm>
            <a:prstGeom prst="straightConnector1">
              <a:avLst/>
            </a:prstGeom>
            <a:noFill/>
            <a:ln w="44450">
              <a:solidFill>
                <a:srgbClr val="002C43"/>
              </a:solidFill>
              <a:round/>
              <a:headEnd type="triangle" w="med" len="med"/>
              <a:tailEnd/>
            </a:ln>
            <a:extLst>
              <a:ext uri="{909E8E84-426E-40dd-AFC4-6F175D3DCCD1}">
                <a14:hiddenFill xmlns:a14="http://schemas.microsoft.com/office/drawing/2010/main">
                  <a:noFill/>
                </a14:hiddenFill>
              </a:ext>
            </a:extLst>
          </p:spPr>
        </p:cxnSp>
      </p:grpSp>
      <p:grpSp>
        <p:nvGrpSpPr>
          <p:cNvPr id="14" name="Group 13"/>
          <p:cNvGrpSpPr/>
          <p:nvPr/>
        </p:nvGrpSpPr>
        <p:grpSpPr>
          <a:xfrm>
            <a:off x="1828800" y="2209800"/>
            <a:ext cx="1828800" cy="3124200"/>
            <a:chOff x="1828800" y="2209800"/>
            <a:chExt cx="1828800" cy="3124200"/>
          </a:xfrm>
        </p:grpSpPr>
        <p:cxnSp>
          <p:nvCxnSpPr>
            <p:cNvPr id="8" name="Straight Arrow Connector 7"/>
            <p:cNvCxnSpPr/>
            <p:nvPr/>
          </p:nvCxnSpPr>
          <p:spPr bwMode="auto">
            <a:xfrm flipV="1">
              <a:off x="1828800" y="2209800"/>
              <a:ext cx="838200" cy="76200"/>
            </a:xfrm>
            <a:prstGeom prst="straightConnector1">
              <a:avLst/>
            </a:prstGeom>
            <a:solidFill>
              <a:schemeClr val="accent1"/>
            </a:solidFill>
            <a:ln w="25400" cap="flat" cmpd="sng" algn="ctr">
              <a:solidFill>
                <a:schemeClr val="accent2">
                  <a:lumMod val="75000"/>
                </a:schemeClr>
              </a:solidFill>
              <a:prstDash val="sysDash"/>
              <a:round/>
              <a:headEnd type="none" w="med" len="med"/>
              <a:tailEnd type="arrow"/>
            </a:ln>
            <a:effectLst/>
          </p:spPr>
        </p:cxnSp>
        <p:cxnSp>
          <p:nvCxnSpPr>
            <p:cNvPr id="49" name="Straight Arrow Connector 48"/>
            <p:cNvCxnSpPr/>
            <p:nvPr/>
          </p:nvCxnSpPr>
          <p:spPr bwMode="auto">
            <a:xfrm>
              <a:off x="2057400" y="2667000"/>
              <a:ext cx="1421815" cy="644802"/>
            </a:xfrm>
            <a:prstGeom prst="straightConnector1">
              <a:avLst/>
            </a:prstGeom>
            <a:solidFill>
              <a:schemeClr val="accent1"/>
            </a:solidFill>
            <a:ln w="25400" cap="flat" cmpd="sng" algn="ctr">
              <a:solidFill>
                <a:schemeClr val="accent2">
                  <a:lumMod val="75000"/>
                </a:schemeClr>
              </a:solidFill>
              <a:prstDash val="sysDash"/>
              <a:round/>
              <a:headEnd type="none" w="med" len="med"/>
              <a:tailEnd type="arrow"/>
            </a:ln>
            <a:effectLst/>
          </p:spPr>
        </p:cxnSp>
        <p:cxnSp>
          <p:nvCxnSpPr>
            <p:cNvPr id="51" name="Straight Arrow Connector 50"/>
            <p:cNvCxnSpPr/>
            <p:nvPr/>
          </p:nvCxnSpPr>
          <p:spPr bwMode="auto">
            <a:xfrm>
              <a:off x="1981200" y="2971800"/>
              <a:ext cx="1676400" cy="2362200"/>
            </a:xfrm>
            <a:prstGeom prst="straightConnector1">
              <a:avLst/>
            </a:prstGeom>
            <a:solidFill>
              <a:schemeClr val="accent1"/>
            </a:solidFill>
            <a:ln w="25400" cap="flat" cmpd="sng" algn="ctr">
              <a:solidFill>
                <a:schemeClr val="accent2">
                  <a:lumMod val="75000"/>
                </a:schemeClr>
              </a:solidFill>
              <a:prstDash val="sysDash"/>
              <a:round/>
              <a:headEnd type="none" w="med" len="med"/>
              <a:tailEnd type="arrow"/>
            </a:ln>
            <a:effectLst/>
          </p:spPr>
        </p:cxnSp>
      </p:grpSp>
    </p:spTree>
    <p:extLst>
      <p:ext uri="{BB962C8B-B14F-4D97-AF65-F5344CB8AC3E}">
        <p14:creationId xmlns:p14="http://schemas.microsoft.com/office/powerpoint/2010/main" val="93026900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4854"/>
                                        </p:tgtEl>
                                        <p:attrNameLst>
                                          <p:attrName>style.visibility</p:attrName>
                                        </p:attrNameLst>
                                      </p:cBhvr>
                                      <p:to>
                                        <p:strVal val="visible"/>
                                      </p:to>
                                    </p:set>
                                    <p:animEffect transition="in" filter="wipe(up)">
                                      <p:cBhvr>
                                        <p:cTn id="15" dur="500"/>
                                        <p:tgtEl>
                                          <p:spTgt spid="34854"/>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GB" dirty="0" smtClean="0"/>
              <a:t>AIP-5 Architecture and Interaction</a:t>
            </a:r>
          </a:p>
        </p:txBody>
      </p:sp>
      <p:grpSp>
        <p:nvGrpSpPr>
          <p:cNvPr id="2" name="Group 1"/>
          <p:cNvGrpSpPr/>
          <p:nvPr/>
        </p:nvGrpSpPr>
        <p:grpSpPr>
          <a:xfrm>
            <a:off x="239713" y="1627188"/>
            <a:ext cx="7199312" cy="4992687"/>
            <a:chOff x="239713" y="1627188"/>
            <a:chExt cx="7199312" cy="4992687"/>
          </a:xfrm>
        </p:grpSpPr>
        <p:pic>
          <p:nvPicPr>
            <p:cNvPr id="348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343400"/>
              <a:ext cx="6699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p:nvPr/>
          </p:nvGrpSpPr>
          <p:grpSpPr>
            <a:xfrm>
              <a:off x="239713" y="3657600"/>
              <a:ext cx="2808287" cy="2225723"/>
              <a:chOff x="239713" y="3657600"/>
              <a:chExt cx="2808287" cy="2225723"/>
            </a:xfrm>
          </p:grpSpPr>
          <p:pic>
            <p:nvPicPr>
              <p:cNvPr id="34855" name="Picture 3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3975253"/>
                <a:ext cx="838200" cy="111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TextBox 24"/>
              <p:cNvSpPr txBox="1">
                <a:spLocks noChangeArrowheads="1"/>
              </p:cNvSpPr>
              <p:nvPr/>
            </p:nvSpPr>
            <p:spPr bwMode="auto">
              <a:xfrm>
                <a:off x="239713" y="3657600"/>
                <a:ext cx="16652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fontAlgn="base">
                  <a:spcBef>
                    <a:spcPct val="0"/>
                  </a:spcBef>
                  <a:spcAft>
                    <a:spcPct val="0"/>
                  </a:spcAft>
                </a:pPr>
                <a:r>
                  <a:rPr lang="en-US" dirty="0" smtClean="0">
                    <a:solidFill>
                      <a:srgbClr val="000000"/>
                    </a:solidFill>
                    <a:cs typeface="Arial" pitchFamily="34" charset="0"/>
                  </a:rPr>
                  <a:t>WWO Map Viewer</a:t>
                </a:r>
              </a:p>
            </p:txBody>
          </p:sp>
          <p:pic>
            <p:nvPicPr>
              <p:cNvPr id="3483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3921" y="3912733"/>
                <a:ext cx="713090" cy="124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40" name="TextBox 24"/>
              <p:cNvSpPr txBox="1">
                <a:spLocks noChangeArrowheads="1"/>
              </p:cNvSpPr>
              <p:nvPr/>
            </p:nvSpPr>
            <p:spPr bwMode="auto">
              <a:xfrm>
                <a:off x="1676400" y="4806105"/>
                <a:ext cx="13716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en-GB" sz="1600" b="1" dirty="0" smtClean="0">
                    <a:solidFill>
                      <a:srgbClr val="000000"/>
                    </a:solidFill>
                    <a:latin typeface="Times" pitchFamily="18" charset="0"/>
                    <a:ea typeface="MS PGothic" pitchFamily="34" charset="-128"/>
                    <a:cs typeface="Arial" pitchFamily="34" charset="0"/>
                  </a:rPr>
                  <a:t>ArcGIS Online / </a:t>
                </a:r>
              </a:p>
              <a:p>
                <a:pPr algn="ctr" fontAlgn="base">
                  <a:spcBef>
                    <a:spcPct val="0"/>
                  </a:spcBef>
                  <a:spcAft>
                    <a:spcPct val="0"/>
                  </a:spcAft>
                </a:pPr>
                <a:r>
                  <a:rPr lang="en-GB" sz="1600" b="1" dirty="0" smtClean="0">
                    <a:solidFill>
                      <a:srgbClr val="000000"/>
                    </a:solidFill>
                    <a:latin typeface="Times" pitchFamily="18" charset="0"/>
                    <a:ea typeface="MS PGothic" pitchFamily="34" charset="-128"/>
                    <a:cs typeface="Arial" pitchFamily="34" charset="0"/>
                  </a:rPr>
                  <a:t>PYXIS </a:t>
                </a:r>
                <a:r>
                  <a:rPr lang="en-GB" sz="1600" b="1" dirty="0" err="1" smtClean="0">
                    <a:solidFill>
                      <a:srgbClr val="000000"/>
                    </a:solidFill>
                    <a:latin typeface="Times" pitchFamily="18" charset="0"/>
                    <a:ea typeface="MS PGothic" pitchFamily="34" charset="-128"/>
                    <a:cs typeface="Arial" pitchFamily="34" charset="0"/>
                  </a:rPr>
                  <a:t>WorldView</a:t>
                </a:r>
                <a:endParaRPr lang="en-GB" sz="1600" b="1" dirty="0">
                  <a:solidFill>
                    <a:srgbClr val="000000"/>
                  </a:solidFill>
                  <a:latin typeface="Times" pitchFamily="18" charset="0"/>
                  <a:ea typeface="MS PGothic" pitchFamily="34" charset="-128"/>
                  <a:cs typeface="Arial" pitchFamily="34" charset="0"/>
                </a:endParaRPr>
              </a:p>
            </p:txBody>
          </p:sp>
        </p:grpSp>
        <p:grpSp>
          <p:nvGrpSpPr>
            <p:cNvPr id="54" name="Group 53"/>
            <p:cNvGrpSpPr>
              <a:grpSpLocks/>
            </p:cNvGrpSpPr>
            <p:nvPr/>
          </p:nvGrpSpPr>
          <p:grpSpPr bwMode="auto">
            <a:xfrm>
              <a:off x="2590800" y="1627188"/>
              <a:ext cx="4848225" cy="4992687"/>
              <a:chOff x="2591268" y="1627149"/>
              <a:chExt cx="4847892" cy="4993519"/>
            </a:xfrm>
          </p:grpSpPr>
          <p:grpSp>
            <p:nvGrpSpPr>
              <p:cNvPr id="34826" name="Group 40"/>
              <p:cNvGrpSpPr>
                <a:grpSpLocks/>
              </p:cNvGrpSpPr>
              <p:nvPr/>
            </p:nvGrpSpPr>
            <p:grpSpPr bwMode="auto">
              <a:xfrm>
                <a:off x="4778639" y="1627149"/>
                <a:ext cx="2660521" cy="4993519"/>
                <a:chOff x="4778639" y="1627149"/>
                <a:chExt cx="2660521" cy="4993519"/>
              </a:xfrm>
            </p:grpSpPr>
            <p:pic>
              <p:nvPicPr>
                <p:cNvPr id="3483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3852" y="1627149"/>
                  <a:ext cx="712788"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26"/>
                <p:cNvSpPr txBox="1">
                  <a:spLocks noChangeArrowheads="1"/>
                </p:cNvSpPr>
                <p:nvPr/>
              </p:nvSpPr>
              <p:spPr bwMode="auto">
                <a:xfrm>
                  <a:off x="5404125" y="1952640"/>
                  <a:ext cx="1387380" cy="101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000000"/>
                      </a:solidFill>
                      <a:cs typeface="Arial" pitchFamily="34" charset="0"/>
                    </a:rPr>
                    <a:t>SOS</a:t>
                  </a:r>
                </a:p>
                <a:p>
                  <a:pPr algn="r">
                    <a:defRPr/>
                  </a:pPr>
                  <a:r>
                    <a:rPr lang="en-GB" sz="1400" b="1" i="1" dirty="0" smtClean="0">
                      <a:solidFill>
                        <a:srgbClr val="000000"/>
                      </a:solidFill>
                      <a:latin typeface="Arial"/>
                      <a:cs typeface="Arial" pitchFamily="34" charset="0"/>
                    </a:rPr>
                    <a:t>GRDC WaterML2</a:t>
                  </a:r>
                </a:p>
                <a:p>
                  <a:pPr algn="r">
                    <a:defRPr/>
                  </a:pPr>
                  <a:r>
                    <a:rPr lang="en-GB" sz="1400" b="1" i="1" dirty="0" smtClean="0">
                      <a:solidFill>
                        <a:srgbClr val="000000"/>
                      </a:solidFill>
                      <a:latin typeface="Arial"/>
                      <a:cs typeface="Arial" pitchFamily="34" charset="0"/>
                    </a:rPr>
                    <a:t>(</a:t>
                  </a:r>
                  <a:r>
                    <a:rPr lang="en-GB" sz="1400" b="1" i="1" dirty="0" err="1" smtClean="0">
                      <a:solidFill>
                        <a:srgbClr val="000000"/>
                      </a:solidFill>
                      <a:latin typeface="Arial"/>
                      <a:cs typeface="Arial" pitchFamily="34" charset="0"/>
                    </a:rPr>
                    <a:t>Kisters</a:t>
                  </a:r>
                  <a:r>
                    <a:rPr lang="en-GB" sz="1400" b="1" i="1" dirty="0" smtClean="0">
                      <a:solidFill>
                        <a:srgbClr val="000000"/>
                      </a:solidFill>
                      <a:latin typeface="Arial"/>
                      <a:cs typeface="Arial" pitchFamily="34" charset="0"/>
                    </a:rPr>
                    <a:t> host)</a:t>
                  </a:r>
                  <a:endParaRPr lang="en-GB" sz="1400" b="1" i="1" dirty="0">
                    <a:solidFill>
                      <a:srgbClr val="000000"/>
                    </a:solidFill>
                    <a:latin typeface="Arial"/>
                    <a:cs typeface="Arial" pitchFamily="34" charset="0"/>
                  </a:endParaRPr>
                </a:p>
              </p:txBody>
            </p:sp>
            <p:pic>
              <p:nvPicPr>
                <p:cNvPr id="3483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3727" y="3191489"/>
                  <a:ext cx="712788"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Box 26"/>
                <p:cNvSpPr txBox="1">
                  <a:spLocks noChangeArrowheads="1"/>
                </p:cNvSpPr>
                <p:nvPr/>
              </p:nvSpPr>
              <p:spPr bwMode="auto">
                <a:xfrm>
                  <a:off x="5404125" y="3848431"/>
                  <a:ext cx="2035035" cy="101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000000"/>
                      </a:solidFill>
                      <a:cs typeface="Arial" pitchFamily="34" charset="0"/>
                    </a:rPr>
                    <a:t>WOF</a:t>
                  </a:r>
                </a:p>
                <a:p>
                  <a:pPr algn="r">
                    <a:defRPr/>
                  </a:pPr>
                  <a:r>
                    <a:rPr lang="en-GB" sz="1400" b="1" i="1" dirty="0" smtClean="0">
                      <a:solidFill>
                        <a:srgbClr val="000000"/>
                      </a:solidFill>
                      <a:latin typeface="Arial"/>
                      <a:cs typeface="Arial" pitchFamily="34" charset="0"/>
                    </a:rPr>
                    <a:t>Dominican Republic WaterML1</a:t>
                  </a:r>
                </a:p>
                <a:p>
                  <a:pPr algn="r">
                    <a:defRPr/>
                  </a:pPr>
                  <a:r>
                    <a:rPr lang="en-GB" sz="1400" b="1" i="1" dirty="0" smtClean="0">
                      <a:solidFill>
                        <a:srgbClr val="000000"/>
                      </a:solidFill>
                      <a:latin typeface="Arial"/>
                      <a:cs typeface="Arial" pitchFamily="34" charset="0"/>
                    </a:rPr>
                    <a:t>(BYU host)</a:t>
                  </a:r>
                  <a:endParaRPr lang="en-GB" sz="1400" b="1" i="1" dirty="0">
                    <a:solidFill>
                      <a:srgbClr val="000000"/>
                    </a:solidFill>
                    <a:latin typeface="Arial"/>
                    <a:cs typeface="Arial" pitchFamily="34" charset="0"/>
                  </a:endParaRPr>
                </a:p>
              </p:txBody>
            </p:sp>
            <p:pic>
              <p:nvPicPr>
                <p:cNvPr id="3483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5168561"/>
                  <a:ext cx="712788"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Box 26"/>
                <p:cNvSpPr txBox="1">
                  <a:spLocks noChangeArrowheads="1"/>
                </p:cNvSpPr>
                <p:nvPr/>
              </p:nvSpPr>
              <p:spPr bwMode="auto">
                <a:xfrm>
                  <a:off x="4778693" y="5604499"/>
                  <a:ext cx="1420715" cy="1016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defRPr/>
                  </a:pPr>
                  <a:r>
                    <a:rPr lang="en-GB" sz="1800" dirty="0" smtClean="0">
                      <a:solidFill>
                        <a:srgbClr val="000000"/>
                      </a:solidFill>
                      <a:cs typeface="Arial" pitchFamily="34" charset="0"/>
                    </a:rPr>
                    <a:t>REST</a:t>
                  </a:r>
                </a:p>
                <a:p>
                  <a:pPr>
                    <a:defRPr/>
                  </a:pPr>
                  <a:r>
                    <a:rPr lang="en-GB" sz="1400" b="1" i="1" dirty="0" smtClean="0">
                      <a:solidFill>
                        <a:srgbClr val="000000"/>
                      </a:solidFill>
                      <a:latin typeface="Arial"/>
                      <a:cs typeface="Arial" pitchFamily="34" charset="0"/>
                    </a:rPr>
                    <a:t>USGS WaterML1</a:t>
                  </a:r>
                </a:p>
                <a:p>
                  <a:pPr>
                    <a:defRPr/>
                  </a:pPr>
                  <a:r>
                    <a:rPr lang="en-GB" sz="1400" b="1" i="1" dirty="0" smtClean="0">
                      <a:solidFill>
                        <a:srgbClr val="000000"/>
                      </a:solidFill>
                      <a:latin typeface="Arial"/>
                      <a:cs typeface="Arial" pitchFamily="34" charset="0"/>
                    </a:rPr>
                    <a:t>(USGS host)</a:t>
                  </a:r>
                  <a:endParaRPr lang="en-GB" sz="1400" b="1" i="1" dirty="0">
                    <a:solidFill>
                      <a:srgbClr val="000000"/>
                    </a:solidFill>
                    <a:latin typeface="Arial"/>
                    <a:cs typeface="Arial" pitchFamily="34" charset="0"/>
                  </a:endParaRPr>
                </a:p>
              </p:txBody>
            </p:sp>
          </p:grpSp>
          <p:sp>
            <p:nvSpPr>
              <p:cNvPr id="44" name="Freeform 43"/>
              <p:cNvSpPr/>
              <p:nvPr/>
            </p:nvSpPr>
            <p:spPr bwMode="auto">
              <a:xfrm>
                <a:off x="2591268" y="2251140"/>
                <a:ext cx="2793808" cy="1635397"/>
              </a:xfrm>
              <a:custGeom>
                <a:avLst/>
                <a:gdLst>
                  <a:gd name="connsiteX0" fmla="*/ 0 w 3674533"/>
                  <a:gd name="connsiteY0" fmla="*/ 1879945 h 1879945"/>
                  <a:gd name="connsiteX1" fmla="*/ 1168400 w 3674533"/>
                  <a:gd name="connsiteY1" fmla="*/ 1219545 h 1879945"/>
                  <a:gd name="connsiteX2" fmla="*/ 2810933 w 3674533"/>
                  <a:gd name="connsiteY2" fmla="*/ 186612 h 1879945"/>
                  <a:gd name="connsiteX3" fmla="*/ 3674533 w 3674533"/>
                  <a:gd name="connsiteY3" fmla="*/ 345 h 1879945"/>
                  <a:gd name="connsiteX4" fmla="*/ 3674533 w 3674533"/>
                  <a:gd name="connsiteY4" fmla="*/ 345 h 1879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4533" h="1879945">
                    <a:moveTo>
                      <a:pt x="0" y="1879945"/>
                    </a:moveTo>
                    <a:cubicBezTo>
                      <a:pt x="349955" y="1690856"/>
                      <a:pt x="699911" y="1501767"/>
                      <a:pt x="1168400" y="1219545"/>
                    </a:cubicBezTo>
                    <a:cubicBezTo>
                      <a:pt x="1636889" y="937323"/>
                      <a:pt x="2393244" y="389812"/>
                      <a:pt x="2810933" y="186612"/>
                    </a:cubicBezTo>
                    <a:cubicBezTo>
                      <a:pt x="3228622" y="-16588"/>
                      <a:pt x="3674533" y="345"/>
                      <a:pt x="3674533" y="345"/>
                    </a:cubicBezTo>
                    <a:lnTo>
                      <a:pt x="3674533" y="345"/>
                    </a:lnTo>
                  </a:path>
                </a:pathLst>
              </a:custGeom>
              <a:noFill/>
              <a:ln w="25400" cap="flat" cmpd="sng" algn="ctr">
                <a:solidFill>
                  <a:schemeClr val="accent1">
                    <a:lumMod val="50000"/>
                  </a:schemeClr>
                </a:solidFill>
                <a:prstDash val="solid"/>
                <a:round/>
                <a:headEnd type="none" w="med" len="med"/>
                <a:tailEnd type="triangl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69" name="Freeform 68"/>
              <p:cNvSpPr/>
              <p:nvPr/>
            </p:nvSpPr>
            <p:spPr bwMode="auto">
              <a:xfrm>
                <a:off x="2667462" y="2362283"/>
                <a:ext cx="2666816" cy="1676679"/>
              </a:xfrm>
              <a:custGeom>
                <a:avLst/>
                <a:gdLst>
                  <a:gd name="connsiteX0" fmla="*/ 0 w 3674533"/>
                  <a:gd name="connsiteY0" fmla="*/ 1879945 h 1879945"/>
                  <a:gd name="connsiteX1" fmla="*/ 1168400 w 3674533"/>
                  <a:gd name="connsiteY1" fmla="*/ 1219545 h 1879945"/>
                  <a:gd name="connsiteX2" fmla="*/ 2810933 w 3674533"/>
                  <a:gd name="connsiteY2" fmla="*/ 186612 h 1879945"/>
                  <a:gd name="connsiteX3" fmla="*/ 3674533 w 3674533"/>
                  <a:gd name="connsiteY3" fmla="*/ 345 h 1879945"/>
                  <a:gd name="connsiteX4" fmla="*/ 3674533 w 3674533"/>
                  <a:gd name="connsiteY4" fmla="*/ 345 h 1879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4533" h="1879945">
                    <a:moveTo>
                      <a:pt x="0" y="1879945"/>
                    </a:moveTo>
                    <a:cubicBezTo>
                      <a:pt x="349955" y="1690856"/>
                      <a:pt x="699911" y="1501767"/>
                      <a:pt x="1168400" y="1219545"/>
                    </a:cubicBezTo>
                    <a:cubicBezTo>
                      <a:pt x="1636889" y="937323"/>
                      <a:pt x="2393244" y="389812"/>
                      <a:pt x="2810933" y="186612"/>
                    </a:cubicBezTo>
                    <a:cubicBezTo>
                      <a:pt x="3228622" y="-16588"/>
                      <a:pt x="3674533" y="345"/>
                      <a:pt x="3674533" y="345"/>
                    </a:cubicBezTo>
                    <a:lnTo>
                      <a:pt x="3674533" y="345"/>
                    </a:lnTo>
                  </a:path>
                </a:pathLst>
              </a:custGeom>
              <a:noFill/>
              <a:ln w="25400" cap="flat" cmpd="sng" algn="ctr">
                <a:solidFill>
                  <a:schemeClr val="accent1">
                    <a:lumMod val="50000"/>
                  </a:schemeClr>
                </a:solidFill>
                <a:prstDash val="solid"/>
                <a:round/>
                <a:headEnd type="triangle" w="lg" len="lg"/>
                <a:tailEnd type="non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45" name="Freeform 44"/>
              <p:cNvSpPr/>
              <p:nvPr/>
            </p:nvSpPr>
            <p:spPr bwMode="auto">
              <a:xfrm>
                <a:off x="2667462" y="3945285"/>
                <a:ext cx="3123986" cy="871682"/>
              </a:xfrm>
              <a:custGeom>
                <a:avLst/>
                <a:gdLst>
                  <a:gd name="connsiteX0" fmla="*/ 0 w 3826933"/>
                  <a:gd name="connsiteY0" fmla="*/ 355600 h 871519"/>
                  <a:gd name="connsiteX1" fmla="*/ 2336800 w 3826933"/>
                  <a:gd name="connsiteY1" fmla="*/ 863600 h 871519"/>
                  <a:gd name="connsiteX2" fmla="*/ 3826933 w 3826933"/>
                  <a:gd name="connsiteY2" fmla="*/ 0 h 871519"/>
                  <a:gd name="connsiteX3" fmla="*/ 3826933 w 3826933"/>
                  <a:gd name="connsiteY3" fmla="*/ 0 h 871519"/>
                </a:gdLst>
                <a:ahLst/>
                <a:cxnLst>
                  <a:cxn ang="0">
                    <a:pos x="connsiteX0" y="connsiteY0"/>
                  </a:cxn>
                  <a:cxn ang="0">
                    <a:pos x="connsiteX1" y="connsiteY1"/>
                  </a:cxn>
                  <a:cxn ang="0">
                    <a:pos x="connsiteX2" y="connsiteY2"/>
                  </a:cxn>
                  <a:cxn ang="0">
                    <a:pos x="connsiteX3" y="connsiteY3"/>
                  </a:cxn>
                </a:cxnLst>
                <a:rect l="l" t="t" r="r" b="b"/>
                <a:pathLst>
                  <a:path w="3826933" h="871519">
                    <a:moveTo>
                      <a:pt x="0" y="355600"/>
                    </a:moveTo>
                    <a:cubicBezTo>
                      <a:pt x="849489" y="639233"/>
                      <a:pt x="1698978" y="922867"/>
                      <a:pt x="2336800" y="863600"/>
                    </a:cubicBezTo>
                    <a:cubicBezTo>
                      <a:pt x="2974622" y="804333"/>
                      <a:pt x="3826933" y="0"/>
                      <a:pt x="3826933" y="0"/>
                    </a:cubicBezTo>
                    <a:lnTo>
                      <a:pt x="3826933" y="0"/>
                    </a:lnTo>
                  </a:path>
                </a:pathLst>
              </a:custGeom>
              <a:noFill/>
              <a:ln w="25400" cap="flat" cmpd="sng" algn="ctr">
                <a:solidFill>
                  <a:schemeClr val="accent1">
                    <a:lumMod val="50000"/>
                  </a:schemeClr>
                </a:solidFill>
                <a:prstDash val="solid"/>
                <a:round/>
                <a:headEnd type="none" w="med" len="med"/>
                <a:tailEnd type="triangl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71" name="Freeform 70"/>
              <p:cNvSpPr/>
              <p:nvPr/>
            </p:nvSpPr>
            <p:spPr bwMode="auto">
              <a:xfrm>
                <a:off x="2667463" y="4081833"/>
                <a:ext cx="3141447" cy="871682"/>
              </a:xfrm>
              <a:custGeom>
                <a:avLst/>
                <a:gdLst>
                  <a:gd name="connsiteX0" fmla="*/ 0 w 3826933"/>
                  <a:gd name="connsiteY0" fmla="*/ 355600 h 871519"/>
                  <a:gd name="connsiteX1" fmla="*/ 2336800 w 3826933"/>
                  <a:gd name="connsiteY1" fmla="*/ 863600 h 871519"/>
                  <a:gd name="connsiteX2" fmla="*/ 3826933 w 3826933"/>
                  <a:gd name="connsiteY2" fmla="*/ 0 h 871519"/>
                  <a:gd name="connsiteX3" fmla="*/ 3826933 w 3826933"/>
                  <a:gd name="connsiteY3" fmla="*/ 0 h 871519"/>
                </a:gdLst>
                <a:ahLst/>
                <a:cxnLst>
                  <a:cxn ang="0">
                    <a:pos x="connsiteX0" y="connsiteY0"/>
                  </a:cxn>
                  <a:cxn ang="0">
                    <a:pos x="connsiteX1" y="connsiteY1"/>
                  </a:cxn>
                  <a:cxn ang="0">
                    <a:pos x="connsiteX2" y="connsiteY2"/>
                  </a:cxn>
                  <a:cxn ang="0">
                    <a:pos x="connsiteX3" y="connsiteY3"/>
                  </a:cxn>
                </a:cxnLst>
                <a:rect l="l" t="t" r="r" b="b"/>
                <a:pathLst>
                  <a:path w="3826933" h="871519">
                    <a:moveTo>
                      <a:pt x="0" y="355600"/>
                    </a:moveTo>
                    <a:cubicBezTo>
                      <a:pt x="849489" y="639233"/>
                      <a:pt x="1698978" y="922867"/>
                      <a:pt x="2336800" y="863600"/>
                    </a:cubicBezTo>
                    <a:cubicBezTo>
                      <a:pt x="2974622" y="804333"/>
                      <a:pt x="3826933" y="0"/>
                      <a:pt x="3826933" y="0"/>
                    </a:cubicBezTo>
                    <a:lnTo>
                      <a:pt x="3826933" y="0"/>
                    </a:lnTo>
                  </a:path>
                </a:pathLst>
              </a:custGeom>
              <a:noFill/>
              <a:ln w="25400" cap="flat" cmpd="sng" algn="ctr">
                <a:solidFill>
                  <a:schemeClr val="accent1">
                    <a:lumMod val="50000"/>
                  </a:schemeClr>
                </a:solidFill>
                <a:prstDash val="solid"/>
                <a:round/>
                <a:headEnd type="triangle" w="lg" len="lg"/>
                <a:tailEnd type="non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46" name="Freeform 45"/>
              <p:cNvSpPr/>
              <p:nvPr/>
            </p:nvSpPr>
            <p:spPr bwMode="auto">
              <a:xfrm>
                <a:off x="2743658" y="5029728"/>
                <a:ext cx="2744599" cy="381063"/>
              </a:xfrm>
              <a:custGeom>
                <a:avLst/>
                <a:gdLst>
                  <a:gd name="connsiteX0" fmla="*/ 0 w 3725333"/>
                  <a:gd name="connsiteY0" fmla="*/ 17552 h 203880"/>
                  <a:gd name="connsiteX1" fmla="*/ 1642533 w 3725333"/>
                  <a:gd name="connsiteY1" fmla="*/ 203819 h 203880"/>
                  <a:gd name="connsiteX2" fmla="*/ 2777067 w 3725333"/>
                  <a:gd name="connsiteY2" fmla="*/ 619 h 203880"/>
                  <a:gd name="connsiteX3" fmla="*/ 3725333 w 3725333"/>
                  <a:gd name="connsiteY3" fmla="*/ 136085 h 203880"/>
                  <a:gd name="connsiteX4" fmla="*/ 3725333 w 3725333"/>
                  <a:gd name="connsiteY4" fmla="*/ 136085 h 203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5333" h="203880">
                    <a:moveTo>
                      <a:pt x="0" y="17552"/>
                    </a:moveTo>
                    <a:cubicBezTo>
                      <a:pt x="589844" y="112096"/>
                      <a:pt x="1179689" y="206641"/>
                      <a:pt x="1642533" y="203819"/>
                    </a:cubicBezTo>
                    <a:cubicBezTo>
                      <a:pt x="2105377" y="200997"/>
                      <a:pt x="2429934" y="11908"/>
                      <a:pt x="2777067" y="619"/>
                    </a:cubicBezTo>
                    <a:cubicBezTo>
                      <a:pt x="3124200" y="-10670"/>
                      <a:pt x="3725333" y="136085"/>
                      <a:pt x="3725333" y="136085"/>
                    </a:cubicBezTo>
                    <a:lnTo>
                      <a:pt x="3725333" y="136085"/>
                    </a:lnTo>
                  </a:path>
                </a:pathLst>
              </a:custGeom>
              <a:noFill/>
              <a:ln w="25400" cap="flat" cmpd="sng" algn="ctr">
                <a:solidFill>
                  <a:schemeClr val="accent1">
                    <a:lumMod val="50000"/>
                  </a:schemeClr>
                </a:solidFill>
                <a:prstDash val="solid"/>
                <a:round/>
                <a:headEnd type="none" w="med" len="med"/>
                <a:tailEnd type="triangl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73" name="Freeform 72"/>
              <p:cNvSpPr/>
              <p:nvPr/>
            </p:nvSpPr>
            <p:spPr bwMode="auto">
              <a:xfrm>
                <a:off x="2743658" y="5182153"/>
                <a:ext cx="2666817" cy="381062"/>
              </a:xfrm>
              <a:custGeom>
                <a:avLst/>
                <a:gdLst>
                  <a:gd name="connsiteX0" fmla="*/ 0 w 3725333"/>
                  <a:gd name="connsiteY0" fmla="*/ 17552 h 203880"/>
                  <a:gd name="connsiteX1" fmla="*/ 1642533 w 3725333"/>
                  <a:gd name="connsiteY1" fmla="*/ 203819 h 203880"/>
                  <a:gd name="connsiteX2" fmla="*/ 2777067 w 3725333"/>
                  <a:gd name="connsiteY2" fmla="*/ 619 h 203880"/>
                  <a:gd name="connsiteX3" fmla="*/ 3725333 w 3725333"/>
                  <a:gd name="connsiteY3" fmla="*/ 136085 h 203880"/>
                  <a:gd name="connsiteX4" fmla="*/ 3725333 w 3725333"/>
                  <a:gd name="connsiteY4" fmla="*/ 136085 h 203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5333" h="203880">
                    <a:moveTo>
                      <a:pt x="0" y="17552"/>
                    </a:moveTo>
                    <a:cubicBezTo>
                      <a:pt x="589844" y="112096"/>
                      <a:pt x="1179689" y="206641"/>
                      <a:pt x="1642533" y="203819"/>
                    </a:cubicBezTo>
                    <a:cubicBezTo>
                      <a:pt x="2105377" y="200997"/>
                      <a:pt x="2429934" y="11908"/>
                      <a:pt x="2777067" y="619"/>
                    </a:cubicBezTo>
                    <a:cubicBezTo>
                      <a:pt x="3124200" y="-10670"/>
                      <a:pt x="3725333" y="136085"/>
                      <a:pt x="3725333" y="136085"/>
                    </a:cubicBezTo>
                    <a:lnTo>
                      <a:pt x="3725333" y="136085"/>
                    </a:lnTo>
                  </a:path>
                </a:pathLst>
              </a:custGeom>
              <a:noFill/>
              <a:ln w="25400" cap="flat" cmpd="sng" algn="ctr">
                <a:solidFill>
                  <a:schemeClr val="accent1">
                    <a:lumMod val="50000"/>
                  </a:schemeClr>
                </a:solidFill>
                <a:prstDash val="solid"/>
                <a:round/>
                <a:headEnd type="triangle" w="lg" len="lg"/>
                <a:tailEnd type="non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grpSp>
      </p:grpSp>
    </p:spTree>
    <p:extLst>
      <p:ext uri="{BB962C8B-B14F-4D97-AF65-F5344CB8AC3E}">
        <p14:creationId xmlns:p14="http://schemas.microsoft.com/office/powerpoint/2010/main" val="506684308"/>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CIESS logo5.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479" y="803443"/>
            <a:ext cx="2555524" cy="1049110"/>
          </a:xfrm>
          <a:prstGeom prst="rect">
            <a:avLst/>
          </a:prstGeom>
        </p:spPr>
      </p:pic>
      <p:pic>
        <p:nvPicPr>
          <p:cNvPr id="5" name="Picture 4" descr="ECMWF 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5793" y="5222759"/>
            <a:ext cx="2555524" cy="463814"/>
          </a:xfrm>
          <a:prstGeom prst="rect">
            <a:avLst/>
          </a:prstGeom>
        </p:spPr>
      </p:pic>
      <p:pic>
        <p:nvPicPr>
          <p:cNvPr id="6" name="Picture 5" descr="GIWS Logo Small.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814" y="3209931"/>
            <a:ext cx="2560189" cy="1119616"/>
          </a:xfrm>
          <a:prstGeom prst="rect">
            <a:avLst/>
          </a:prstGeom>
        </p:spPr>
      </p:pic>
      <p:pic>
        <p:nvPicPr>
          <p:cNvPr id="7" name="Picture 6" descr="horizons logo.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3859" y="5446248"/>
            <a:ext cx="2028941" cy="1260169"/>
          </a:xfrm>
          <a:prstGeom prst="rect">
            <a:avLst/>
          </a:prstGeom>
        </p:spPr>
      </p:pic>
      <p:pic>
        <p:nvPicPr>
          <p:cNvPr id="8" name="Picture 7" descr="niwa-logo.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8144" y="4649768"/>
            <a:ext cx="2550859" cy="617308"/>
          </a:xfrm>
          <a:prstGeom prst="rect">
            <a:avLst/>
          </a:prstGeom>
        </p:spPr>
      </p:pic>
      <p:pic>
        <p:nvPicPr>
          <p:cNvPr id="9" name="Picture 8" descr="noaa logo.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21907" y="3825073"/>
            <a:ext cx="1800726" cy="1808765"/>
          </a:xfrm>
          <a:prstGeom prst="rect">
            <a:avLst/>
          </a:prstGeom>
        </p:spPr>
      </p:pic>
      <p:pic>
        <p:nvPicPr>
          <p:cNvPr id="12" name="Picture 11" descr="ISPRA logo.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82382" y="1677615"/>
            <a:ext cx="2716291" cy="986112"/>
          </a:xfrm>
          <a:prstGeom prst="rect">
            <a:avLst/>
          </a:prstGeom>
        </p:spPr>
      </p:pic>
      <p:pic>
        <p:nvPicPr>
          <p:cNvPr id="11" name="Picture 10" descr="Arpa logo.png"/>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07621" y="917571"/>
            <a:ext cx="1423372" cy="990747"/>
          </a:xfrm>
          <a:prstGeom prst="rect">
            <a:avLst/>
          </a:prstGeom>
        </p:spPr>
      </p:pic>
      <p:pic>
        <p:nvPicPr>
          <p:cNvPr id="13" name="Picture 12" descr="JRC logo.pn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85793" y="5775059"/>
            <a:ext cx="5095706" cy="931358"/>
          </a:xfrm>
          <a:prstGeom prst="rect">
            <a:avLst/>
          </a:prstGeom>
        </p:spPr>
      </p:pic>
      <p:grpSp>
        <p:nvGrpSpPr>
          <p:cNvPr id="19" name="Group 18"/>
          <p:cNvGrpSpPr/>
          <p:nvPr/>
        </p:nvGrpSpPr>
        <p:grpSpPr>
          <a:xfrm>
            <a:off x="2985793" y="3727336"/>
            <a:ext cx="3976261" cy="1335544"/>
            <a:chOff x="3001268" y="863207"/>
            <a:chExt cx="3976261" cy="1335544"/>
          </a:xfrm>
        </p:grpSpPr>
        <p:pic>
          <p:nvPicPr>
            <p:cNvPr id="14" name="Picture 13" descr="NASA basic.png"/>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01268" y="863207"/>
              <a:ext cx="3976261" cy="762000"/>
            </a:xfrm>
            <a:prstGeom prst="rect">
              <a:avLst/>
            </a:prstGeom>
          </p:spPr>
        </p:pic>
        <p:pic>
          <p:nvPicPr>
            <p:cNvPr id="15" name="Picture 14" descr="NASA hydro.pn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001268" y="1610267"/>
              <a:ext cx="3976261" cy="588484"/>
            </a:xfrm>
            <a:prstGeom prst="rect">
              <a:avLst/>
            </a:prstGeom>
          </p:spPr>
        </p:pic>
      </p:grpSp>
      <p:pic>
        <p:nvPicPr>
          <p:cNvPr id="17" name="Picture 16" descr="Kisters logo.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82382" y="2676190"/>
            <a:ext cx="2648611" cy="726232"/>
          </a:xfrm>
          <a:prstGeom prst="rect">
            <a:avLst/>
          </a:prstGeom>
        </p:spPr>
      </p:pic>
      <p:pic>
        <p:nvPicPr>
          <p:cNvPr id="18" name="Picture 17" descr="BYU logo.png"/>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08814" y="2193280"/>
            <a:ext cx="2622517" cy="716149"/>
          </a:xfrm>
          <a:prstGeom prst="rect">
            <a:avLst/>
          </a:prstGeom>
        </p:spPr>
      </p:pic>
      <p:sp>
        <p:nvSpPr>
          <p:cNvPr id="2" name="Title 1"/>
          <p:cNvSpPr>
            <a:spLocks noGrp="1"/>
          </p:cNvSpPr>
          <p:nvPr>
            <p:ph type="title"/>
          </p:nvPr>
        </p:nvSpPr>
        <p:spPr>
          <a:xfrm>
            <a:off x="457200" y="170051"/>
            <a:ext cx="8229600" cy="414371"/>
          </a:xfrm>
          <a:ln>
            <a:noFill/>
          </a:ln>
        </p:spPr>
        <p:txBody>
          <a:bodyPr>
            <a:noAutofit/>
          </a:bodyPr>
          <a:lstStyle/>
          <a:p>
            <a:pPr algn="ctr"/>
            <a:r>
              <a:rPr lang="en-US" sz="3200" i="1" dirty="0">
                <a:effectLst>
                  <a:outerShdw blurRad="50800" dist="38100" dir="2700000" algn="tl" rotWithShape="0">
                    <a:scrgbClr r="0" g="0" b="0">
                      <a:alpha val="43000"/>
                    </a:scrgbClr>
                  </a:outerShdw>
                </a:effectLst>
              </a:rPr>
              <a:t>AIP-6 GEOSS Water Services Team</a:t>
            </a:r>
            <a:endParaRPr lang="en-US" sz="3200" b="1" i="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50800" dist="38100" dir="2700000" algn="tl" rotWithShape="0">
                  <a:scrgbClr r="0" g="0" b="0">
                    <a:alpha val="43000"/>
                  </a:scrgbClr>
                </a:outerShdw>
              </a:effectLst>
            </a:endParaRPr>
          </a:p>
        </p:txBody>
      </p:sp>
      <p:pic>
        <p:nvPicPr>
          <p:cNvPr id="4" name="Picture 3" descr="cuahsi_logo_text.jpg"/>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261592" y="2827443"/>
            <a:ext cx="2555524" cy="764975"/>
          </a:xfrm>
          <a:prstGeom prst="rect">
            <a:avLst/>
          </a:prstGeom>
        </p:spPr>
      </p:pic>
      <p:pic>
        <p:nvPicPr>
          <p:cNvPr id="10" name="Picture 9" descr="pyxis logo.png"/>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617993" y="1754283"/>
            <a:ext cx="1761604" cy="1100694"/>
          </a:xfrm>
          <a:prstGeom prst="rect">
            <a:avLst/>
          </a:prstGeom>
        </p:spPr>
      </p:pic>
      <p:pic>
        <p:nvPicPr>
          <p:cNvPr id="1025" name="図 4" descr="JAXA_logo_official.jpg"/>
          <p:cNvPicPr>
            <a:picLocks noChangeAspect="1" noChangeArrowheads="1"/>
          </p:cNvPicPr>
          <p:nvPr/>
        </p:nvPicPr>
        <p:blipFill>
          <a:blip r:embed="rId18">
            <a:extLst>
              <a:ext uri="{28A0092B-C50C-407E-A947-70E740481C1C}">
                <a14:useLocalDpi xmlns:a14="http://schemas.microsoft.com/office/drawing/2010/main" val="0"/>
              </a:ext>
            </a:extLst>
          </a:blip>
          <a:srcRect l="8681" t="9091" r="11414" b="9091"/>
          <a:stretch>
            <a:fillRect/>
          </a:stretch>
        </p:blipFill>
        <p:spPr bwMode="auto">
          <a:xfrm>
            <a:off x="3260117" y="1417224"/>
            <a:ext cx="112871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図 3" descr="http://www.editoria.u-tokyo.ac.jp/projects/dias/images/dias_logo160w.pn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12036" y="2120202"/>
            <a:ext cx="8969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CEOS logo.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312036" y="917571"/>
            <a:ext cx="1356538" cy="528048"/>
          </a:xfrm>
          <a:prstGeom prst="rect">
            <a:avLst/>
          </a:prstGeom>
        </p:spPr>
      </p:pic>
      <p:pic>
        <p:nvPicPr>
          <p:cNvPr id="20" name="Picture 19" descr="Esri logo.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224161" y="900783"/>
            <a:ext cx="1897746" cy="710486"/>
          </a:xfrm>
          <a:prstGeom prst="rect">
            <a:avLst/>
          </a:prstGeom>
        </p:spPr>
      </p:pic>
    </p:spTree>
    <p:extLst>
      <p:ext uri="{BB962C8B-B14F-4D97-AF65-F5344CB8AC3E}">
        <p14:creationId xmlns:p14="http://schemas.microsoft.com/office/powerpoint/2010/main" val="477306299"/>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AIP-6 Thematic Goals – 1 </a:t>
            </a:r>
            <a:endParaRPr lang="en-US" dirty="0"/>
          </a:p>
        </p:txBody>
      </p:sp>
      <p:sp>
        <p:nvSpPr>
          <p:cNvPr id="4" name="Content Placeholder 3"/>
          <p:cNvSpPr>
            <a:spLocks noGrp="1"/>
          </p:cNvSpPr>
          <p:nvPr>
            <p:ph idx="1"/>
          </p:nvPr>
        </p:nvSpPr>
        <p:spPr>
          <a:xfrm>
            <a:off x="685800" y="1514475"/>
            <a:ext cx="8341018" cy="4800600"/>
          </a:xfrm>
        </p:spPr>
        <p:txBody>
          <a:bodyPr/>
          <a:lstStyle/>
          <a:p>
            <a:pPr marL="457200" indent="-457200">
              <a:buFont typeface="+mj-lt"/>
              <a:buAutoNum type="arabicPeriod"/>
            </a:pPr>
            <a:r>
              <a:rPr lang="en-US" b="1" dirty="0" smtClean="0">
                <a:solidFill>
                  <a:srgbClr val="3366FF"/>
                </a:solidFill>
              </a:rPr>
              <a:t>Provide a systematic way for publishing map services of water observations </a:t>
            </a:r>
            <a:r>
              <a:rPr lang="en-US" dirty="0" smtClean="0"/>
              <a:t>that index locations of accessible WaterML time series services.</a:t>
            </a:r>
          </a:p>
          <a:p>
            <a:pPr marL="457200" indent="-457200">
              <a:buFont typeface="+mj-lt"/>
              <a:buAutoNum type="arabicPeriod"/>
            </a:pPr>
            <a:r>
              <a:rPr lang="en-US" b="1" dirty="0" smtClean="0">
                <a:solidFill>
                  <a:srgbClr val="3366FF"/>
                </a:solidFill>
              </a:rPr>
              <a:t>Produce web services of the results of global models for flood and drought analysis</a:t>
            </a:r>
            <a:r>
              <a:rPr lang="en-US" dirty="0" smtClean="0"/>
              <a:t>, including: </a:t>
            </a:r>
          </a:p>
          <a:p>
            <a:pPr marL="857250" lvl="1" indent="-457200"/>
            <a:r>
              <a:rPr lang="en-US" dirty="0" smtClean="0"/>
              <a:t>EC Global Flood Awareness System (</a:t>
            </a:r>
            <a:r>
              <a:rPr lang="en-US" dirty="0" err="1" smtClean="0"/>
              <a:t>GloFAS</a:t>
            </a:r>
            <a:r>
              <a:rPr lang="en-US" dirty="0" smtClean="0"/>
              <a:t>)</a:t>
            </a:r>
          </a:p>
          <a:p>
            <a:pPr marL="857250" lvl="1" indent="-457200"/>
            <a:r>
              <a:rPr lang="en-US" dirty="0" smtClean="0"/>
              <a:t>NASA/NOAA Global Land Data Assimilation System for drought assessments</a:t>
            </a:r>
          </a:p>
          <a:p>
            <a:pPr marL="457200" indent="-457200">
              <a:buFont typeface="+mj-lt"/>
              <a:buAutoNum type="arabicPeriod"/>
            </a:pPr>
            <a:r>
              <a:rPr lang="en-US" b="1" dirty="0" smtClean="0">
                <a:solidFill>
                  <a:srgbClr val="3366FF"/>
                </a:solidFill>
              </a:rPr>
              <a:t>Link web services for observations and modeling</a:t>
            </a:r>
            <a:r>
              <a:rPr lang="en-US" dirty="0" smtClean="0"/>
              <a:t>, so observations can inform model calibration, and so models can furnish larger context for observations</a:t>
            </a:r>
            <a:endParaRPr lang="en-US" dirty="0"/>
          </a:p>
        </p:txBody>
      </p:sp>
    </p:spTree>
    <p:extLst>
      <p:ext uri="{BB962C8B-B14F-4D97-AF65-F5344CB8AC3E}">
        <p14:creationId xmlns:p14="http://schemas.microsoft.com/office/powerpoint/2010/main" val="6639743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AIP-6 Thematic Goals – 2 </a:t>
            </a:r>
            <a:endParaRPr lang="en-US" dirty="0"/>
          </a:p>
        </p:txBody>
      </p:sp>
      <p:sp>
        <p:nvSpPr>
          <p:cNvPr id="4" name="Content Placeholder 3"/>
          <p:cNvSpPr>
            <a:spLocks noGrp="1"/>
          </p:cNvSpPr>
          <p:nvPr>
            <p:ph idx="1"/>
          </p:nvPr>
        </p:nvSpPr>
        <p:spPr>
          <a:xfrm>
            <a:off x="685800" y="1514475"/>
            <a:ext cx="8159574" cy="4800600"/>
          </a:xfrm>
        </p:spPr>
        <p:txBody>
          <a:bodyPr/>
          <a:lstStyle/>
          <a:p>
            <a:pPr marL="457200" indent="-457200">
              <a:buFont typeface="+mj-lt"/>
              <a:buAutoNum type="arabicPeriod" startAt="4"/>
            </a:pPr>
            <a:r>
              <a:rPr lang="en-US" b="1" dirty="0">
                <a:solidFill>
                  <a:srgbClr val="3366FF"/>
                </a:solidFill>
              </a:rPr>
              <a:t>Form federated national water data services </a:t>
            </a:r>
            <a:r>
              <a:rPr lang="en-US" dirty="0" smtClean="0"/>
              <a:t>for common variables</a:t>
            </a:r>
          </a:p>
          <a:p>
            <a:pPr marL="857250" lvl="1" indent="-457200"/>
            <a:r>
              <a:rPr lang="en-US" dirty="0" smtClean="0"/>
              <a:t>Italy: ISPRA national, ARPA regional agencies</a:t>
            </a:r>
          </a:p>
          <a:p>
            <a:pPr marL="857250" lvl="1" indent="-457200"/>
            <a:r>
              <a:rPr lang="en-US" dirty="0" smtClean="0"/>
              <a:t>New Zealand: NIWA national, HRC regional</a:t>
            </a:r>
          </a:p>
          <a:p>
            <a:pPr marL="457200" indent="-457200">
              <a:buFont typeface="+mj-lt"/>
              <a:buAutoNum type="arabicPeriod" startAt="5"/>
            </a:pPr>
            <a:r>
              <a:rPr lang="en-US" b="1" dirty="0">
                <a:solidFill>
                  <a:srgbClr val="3366FF"/>
                </a:solidFill>
              </a:rPr>
              <a:t>Synthesize data, map, and modeling services </a:t>
            </a:r>
            <a:r>
              <a:rPr lang="en-US" dirty="0" smtClean="0"/>
              <a:t>to support specific useful applications, </a:t>
            </a:r>
            <a:r>
              <a:rPr lang="en-US" dirty="0" err="1" smtClean="0"/>
              <a:t>eg</a:t>
            </a:r>
            <a:r>
              <a:rPr lang="en-US" dirty="0"/>
              <a:t>, linkage of watershed delineation with precipitation mapping over watershed + flow observations + model results at outlet</a:t>
            </a:r>
          </a:p>
          <a:p>
            <a:pPr marL="457200" indent="-457200">
              <a:buFont typeface="+mj-lt"/>
              <a:buAutoNum type="arabicPeriod" startAt="5"/>
            </a:pPr>
            <a:r>
              <a:rPr lang="en-US" b="1" dirty="0">
                <a:solidFill>
                  <a:srgbClr val="3366FF"/>
                </a:solidFill>
              </a:rPr>
              <a:t>Advance the utilization of water services in developing countries</a:t>
            </a:r>
            <a:r>
              <a:rPr lang="en-US" dirty="0" smtClean="0"/>
              <a:t>, through access to global web services, and lightweight methods of publishing local data </a:t>
            </a:r>
          </a:p>
          <a:p>
            <a:pPr marL="457200" indent="-457200">
              <a:buFont typeface="+mj-lt"/>
              <a:buAutoNum type="arabicPeriod" startAt="5"/>
            </a:pPr>
            <a:endParaRPr lang="en-US" dirty="0"/>
          </a:p>
        </p:txBody>
      </p:sp>
    </p:spTree>
    <p:extLst>
      <p:ext uri="{BB962C8B-B14F-4D97-AF65-F5344CB8AC3E}">
        <p14:creationId xmlns:p14="http://schemas.microsoft.com/office/powerpoint/2010/main" val="4787362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819280"/>
            <a:ext cx="7772400" cy="886365"/>
          </a:xfrm>
        </p:spPr>
        <p:txBody>
          <a:bodyPr/>
          <a:lstStyle/>
          <a:p>
            <a:r>
              <a:rPr lang="en-US" i="1" dirty="0" smtClean="0"/>
              <a:t>Project Output</a:t>
            </a:r>
            <a:r>
              <a:rPr lang="en-US" dirty="0" smtClean="0"/>
              <a:t>: enabling Thematic Maps</a:t>
            </a:r>
            <a:br>
              <a:rPr lang="en-US" dirty="0" smtClean="0"/>
            </a:br>
            <a:r>
              <a:rPr lang="en-US" dirty="0" smtClean="0"/>
              <a:t>of water information anyone can find &amp; use</a:t>
            </a:r>
            <a:endParaRPr lang="en-US" dirty="0"/>
          </a:p>
        </p:txBody>
      </p:sp>
      <p:sp>
        <p:nvSpPr>
          <p:cNvPr id="3" name="Content Placeholder 2"/>
          <p:cNvSpPr>
            <a:spLocks noGrp="1"/>
          </p:cNvSpPr>
          <p:nvPr>
            <p:ph idx="1"/>
          </p:nvPr>
        </p:nvSpPr>
        <p:spPr>
          <a:xfrm>
            <a:off x="685800" y="1761437"/>
            <a:ext cx="8245950" cy="4929295"/>
          </a:xfrm>
        </p:spPr>
        <p:txBody>
          <a:bodyPr/>
          <a:lstStyle/>
          <a:p>
            <a:r>
              <a:rPr lang="en-US" sz="2000" dirty="0" smtClean="0"/>
              <a:t>Water data &amp; model output providers follow consistent practices in applying the OGC O&amp;M model and WaterML 2 standard</a:t>
            </a:r>
          </a:p>
          <a:p>
            <a:r>
              <a:rPr lang="en-US" sz="2000" dirty="0" smtClean="0"/>
              <a:t>This model description becomes part of the </a:t>
            </a:r>
            <a:r>
              <a:rPr lang="en-US" sz="2000" i="1" dirty="0" smtClean="0"/>
              <a:t>WMO Glossary of Terms</a:t>
            </a:r>
          </a:p>
          <a:p>
            <a:r>
              <a:rPr lang="en-US" sz="2000" dirty="0" smtClean="0"/>
              <a:t>GEOSS provides rules for publishing these maps</a:t>
            </a:r>
          </a:p>
          <a:p>
            <a:pPr lvl="1"/>
            <a:r>
              <a:rPr lang="en-US" sz="2000" dirty="0" smtClean="0"/>
              <a:t>Easy registration and quick, consistent </a:t>
            </a:r>
            <a:r>
              <a:rPr lang="en-US" sz="2000" dirty="0" smtClean="0"/>
              <a:t>discovery</a:t>
            </a:r>
            <a:endParaRPr lang="en-US" sz="2000" dirty="0" smtClean="0"/>
          </a:p>
          <a:p>
            <a:pPr marL="0" indent="0">
              <a:buNone/>
            </a:pPr>
            <a:r>
              <a:rPr lang="en-US" sz="2000" b="1" i="1" dirty="0" smtClean="0"/>
              <a:t>How we’ll know we’re done</a:t>
            </a:r>
            <a:r>
              <a:rPr lang="en-US" sz="2000" dirty="0" smtClean="0"/>
              <a:t>: </a:t>
            </a:r>
          </a:p>
          <a:p>
            <a:r>
              <a:rPr lang="en-US" sz="2000" dirty="0" smtClean="0"/>
              <a:t>We can </a:t>
            </a:r>
            <a:r>
              <a:rPr lang="en-US" sz="2000" dirty="0" smtClean="0"/>
              <a:t>register and perform </a:t>
            </a:r>
            <a:r>
              <a:rPr lang="en-US" sz="2000" dirty="0" smtClean="0"/>
              <a:t>distributed search through GEOSS for time series of </a:t>
            </a:r>
            <a:r>
              <a:rPr lang="en-US" sz="2000" dirty="0" smtClean="0"/>
              <a:t>stream flow, </a:t>
            </a:r>
            <a:r>
              <a:rPr lang="en-US" sz="2000" dirty="0" smtClean="0"/>
              <a:t>and get </a:t>
            </a:r>
            <a:r>
              <a:rPr lang="en-US" sz="2000" dirty="0" smtClean="0"/>
              <a:t>maps and data for the </a:t>
            </a:r>
            <a:r>
              <a:rPr lang="en-US" sz="2000" dirty="0" smtClean="0"/>
              <a:t>results</a:t>
            </a:r>
          </a:p>
          <a:p>
            <a:r>
              <a:rPr lang="en-US" sz="2000" dirty="0" smtClean="0"/>
              <a:t>We can search from Esri ArcGIS Online and find resources registered in GEOSS; and we can search from GEOSS and find resources registered in ArcGIS Online.</a:t>
            </a:r>
          </a:p>
          <a:p>
            <a:r>
              <a:rPr lang="en-US" sz="2000" dirty="0" smtClean="0"/>
              <a:t>Same applies to distributed search using CUAHSI Hydrologic Information System and HydroDesktop app, and to PYXIS </a:t>
            </a:r>
            <a:r>
              <a:rPr lang="en-US" sz="2000" dirty="0" err="1" smtClean="0"/>
              <a:t>WorldView</a:t>
            </a:r>
            <a:r>
              <a:rPr lang="en-US" sz="2000" dirty="0" smtClean="0"/>
              <a:t>. </a:t>
            </a:r>
          </a:p>
        </p:txBody>
      </p:sp>
    </p:spTree>
    <p:extLst>
      <p:ext uri="{BB962C8B-B14F-4D97-AF65-F5344CB8AC3E}">
        <p14:creationId xmlns:p14="http://schemas.microsoft.com/office/powerpoint/2010/main" val="3221649472"/>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bwMode="auto">
          <a:xfrm>
            <a:off x="419047" y="3329374"/>
            <a:ext cx="4554522" cy="2498299"/>
          </a:xfrm>
          <a:prstGeom prst="rect">
            <a:avLst/>
          </a:prstGeom>
          <a:gradFill flip="none" rotWithShape="1">
            <a:gsLst>
              <a:gs pos="50000">
                <a:srgbClr val="1491ED">
                  <a:alpha val="60000"/>
                </a:srgbClr>
              </a:gs>
              <a:gs pos="100000">
                <a:schemeClr val="accent1">
                  <a:alpha val="0"/>
                </a:schemeClr>
              </a:gs>
              <a:gs pos="0">
                <a:schemeClr val="accent1">
                  <a:lumMod val="60000"/>
                  <a:lumOff val="40000"/>
                  <a:alpha val="0"/>
                </a:schemeClr>
              </a:gs>
            </a:gsLst>
            <a:lin ang="0" scaled="0"/>
            <a:tileRect/>
          </a:gradFill>
          <a:ln w="12700" cap="flat" cmpd="sng" algn="ctr">
            <a:noFill/>
            <a:prstDash val="solid"/>
            <a:round/>
            <a:headEnd type="none" w="med" len="med"/>
            <a:tailEnd type="none" w="med" len="med"/>
          </a:ln>
          <a:effectLst/>
        </p:spPr>
        <p:txBody>
          <a:bodyPr vert="horz" wrap="none" lIns="91796" tIns="45898" rIns="91796" bIns="45898"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7AC2"/>
              </a:solidFill>
              <a:effectLst/>
              <a:uLnTx/>
              <a:uFillTx/>
              <a:latin typeface="Arial" charset="0"/>
              <a:ea typeface="ＭＳ Ｐゴシック" pitchFamily="16" charset="-128"/>
            </a:endParaRPr>
          </a:p>
        </p:txBody>
      </p:sp>
      <p:sp>
        <p:nvSpPr>
          <p:cNvPr id="2" name="Title 1"/>
          <p:cNvSpPr>
            <a:spLocks noGrp="1"/>
          </p:cNvSpPr>
          <p:nvPr>
            <p:ph type="title"/>
          </p:nvPr>
        </p:nvSpPr>
        <p:spPr/>
        <p:txBody>
          <a:bodyPr/>
          <a:lstStyle/>
          <a:p>
            <a:r>
              <a:rPr lang="en-US" dirty="0" smtClean="0"/>
              <a:t>Global Water Maps</a:t>
            </a:r>
            <a:endParaRPr lang="en-US" dirty="0"/>
          </a:p>
        </p:txBody>
      </p:sp>
      <p:grpSp>
        <p:nvGrpSpPr>
          <p:cNvPr id="5" name="Group 4"/>
          <p:cNvGrpSpPr/>
          <p:nvPr/>
        </p:nvGrpSpPr>
        <p:grpSpPr>
          <a:xfrm>
            <a:off x="3342987" y="2800478"/>
            <a:ext cx="5801013" cy="3371817"/>
            <a:chOff x="3357563" y="2000632"/>
            <a:chExt cx="5097462" cy="2962880"/>
          </a:xfrm>
        </p:grpSpPr>
        <p:pic>
          <p:nvPicPr>
            <p:cNvPr id="24" name="Picture 23" descr="GLDAS netCDF_rect_150dpi.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90387" y="2000632"/>
              <a:ext cx="3664638" cy="2436165"/>
            </a:xfrm>
            <a:prstGeom prst="rect">
              <a:avLst/>
            </a:prstGeom>
            <a:noFill/>
            <a:ln>
              <a:noFill/>
            </a:ln>
            <a:scene3d>
              <a:camera prst="isometricOffAxis1Right">
                <a:rot lat="1560000" lon="18540000" rev="0"/>
              </a:camera>
              <a:lightRig rig="threePt" dir="t"/>
            </a:scene3d>
          </p:spPr>
        </p:pic>
        <p:grpSp>
          <p:nvGrpSpPr>
            <p:cNvPr id="21" name="Group 20"/>
            <p:cNvGrpSpPr/>
            <p:nvPr/>
          </p:nvGrpSpPr>
          <p:grpSpPr>
            <a:xfrm>
              <a:off x="3357563" y="2677512"/>
              <a:ext cx="3657600" cy="2286000"/>
              <a:chOff x="1828800" y="2438400"/>
              <a:chExt cx="3657600" cy="2286000"/>
            </a:xfrm>
            <a:scene3d>
              <a:camera prst="isometricOffAxis2Left"/>
              <a:lightRig rig="threePt" dir="t"/>
            </a:scene3d>
          </p:grpSpPr>
          <p:sp>
            <p:nvSpPr>
              <p:cNvPr id="4" name="Rectangle 3"/>
              <p:cNvSpPr/>
              <p:nvPr/>
            </p:nvSpPr>
            <p:spPr bwMode="auto">
              <a:xfrm>
                <a:off x="1828800" y="2438400"/>
                <a:ext cx="3657600" cy="2286000"/>
              </a:xfrm>
              <a:prstGeom prst="rect">
                <a:avLst/>
              </a:prstGeom>
              <a:gradFill flip="none" rotWithShape="1">
                <a:gsLst>
                  <a:gs pos="100000">
                    <a:schemeClr val="accent4">
                      <a:lumMod val="20000"/>
                      <a:lumOff val="80000"/>
                      <a:alpha val="10000"/>
                    </a:schemeClr>
                  </a:gs>
                  <a:gs pos="0">
                    <a:schemeClr val="accent4">
                      <a:lumMod val="20000"/>
                      <a:lumOff val="80000"/>
                      <a:alpha val="50000"/>
                    </a:schemeClr>
                  </a:gs>
                </a:gsLst>
                <a:lin ang="0" scaled="1"/>
                <a:tileRect/>
              </a:gradFill>
              <a:ln>
                <a:noFill/>
                <a:headEnd type="none" w="med" len="med"/>
                <a:tailEnd type="none" w="med" len="med"/>
              </a:ln>
              <a:effectLst/>
              <a:sp3d contourW="31750">
                <a:bevelT w="38100" h="38100"/>
                <a:contourClr>
                  <a:srgbClr val="6FC6FA"/>
                </a:contourClr>
              </a:sp3d>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cxnSp>
            <p:nvCxnSpPr>
              <p:cNvPr id="8" name="Straight Arrow Connector 7"/>
              <p:cNvCxnSpPr/>
              <p:nvPr/>
            </p:nvCxnSpPr>
            <p:spPr bwMode="auto">
              <a:xfrm flipV="1">
                <a:off x="2133600" y="2667000"/>
                <a:ext cx="0" cy="1453033"/>
              </a:xfrm>
              <a:prstGeom prst="straightConnector1">
                <a:avLst/>
              </a:prstGeom>
              <a:noFill/>
              <a:ln w="19050" cap="flat" cmpd="sng" algn="ctr">
                <a:solidFill>
                  <a:schemeClr val="tx2"/>
                </a:solidFill>
                <a:prstDash val="solid"/>
                <a:round/>
                <a:headEnd type="none" w="med" len="med"/>
                <a:tailEnd type="arrow"/>
              </a:ln>
              <a:effectLst/>
            </p:spPr>
          </p:cxnSp>
          <p:cxnSp>
            <p:nvCxnSpPr>
              <p:cNvPr id="10" name="Straight Arrow Connector 9"/>
              <p:cNvCxnSpPr/>
              <p:nvPr/>
            </p:nvCxnSpPr>
            <p:spPr bwMode="auto">
              <a:xfrm>
                <a:off x="2133600" y="4120033"/>
                <a:ext cx="2819400" cy="0"/>
              </a:xfrm>
              <a:prstGeom prst="straightConnector1">
                <a:avLst/>
              </a:prstGeom>
              <a:noFill/>
              <a:ln w="19050" cap="flat" cmpd="sng" algn="ctr">
                <a:solidFill>
                  <a:schemeClr val="tx2"/>
                </a:solidFill>
                <a:prstDash val="solid"/>
                <a:round/>
                <a:headEnd type="none" w="med" len="med"/>
                <a:tailEnd type="arrow"/>
              </a:ln>
              <a:effectLst/>
            </p:spPr>
          </p:cxnSp>
          <p:sp>
            <p:nvSpPr>
              <p:cNvPr id="11" name="Oval 10"/>
              <p:cNvSpPr/>
              <p:nvPr/>
            </p:nvSpPr>
            <p:spPr bwMode="auto">
              <a:xfrm>
                <a:off x="3853962" y="3982915"/>
                <a:ext cx="228600" cy="228600"/>
              </a:xfrm>
              <a:prstGeom prst="ellipse">
                <a:avLst/>
              </a:prstGeom>
              <a:solidFill>
                <a:srgbClr val="002060"/>
              </a:soli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2" name="Freeform 11"/>
              <p:cNvSpPr/>
              <p:nvPr/>
            </p:nvSpPr>
            <p:spPr bwMode="auto">
              <a:xfrm>
                <a:off x="2133600" y="3201234"/>
                <a:ext cx="2708031" cy="618895"/>
              </a:xfrm>
              <a:custGeom>
                <a:avLst/>
                <a:gdLst>
                  <a:gd name="connsiteX0" fmla="*/ 0 w 2708031"/>
                  <a:gd name="connsiteY0" fmla="*/ 479812 h 618895"/>
                  <a:gd name="connsiteX1" fmla="*/ 175846 w 2708031"/>
                  <a:gd name="connsiteY1" fmla="*/ 339135 h 618895"/>
                  <a:gd name="connsiteX2" fmla="*/ 363415 w 2708031"/>
                  <a:gd name="connsiteY2" fmla="*/ 10889 h 618895"/>
                  <a:gd name="connsiteX3" fmla="*/ 679938 w 2708031"/>
                  <a:gd name="connsiteY3" fmla="*/ 104674 h 618895"/>
                  <a:gd name="connsiteX4" fmla="*/ 867508 w 2708031"/>
                  <a:gd name="connsiteY4" fmla="*/ 362581 h 618895"/>
                  <a:gd name="connsiteX5" fmla="*/ 1008185 w 2708031"/>
                  <a:gd name="connsiteY5" fmla="*/ 468089 h 618895"/>
                  <a:gd name="connsiteX6" fmla="*/ 1160585 w 2708031"/>
                  <a:gd name="connsiteY6" fmla="*/ 514981 h 618895"/>
                  <a:gd name="connsiteX7" fmla="*/ 1418492 w 2708031"/>
                  <a:gd name="connsiteY7" fmla="*/ 561874 h 618895"/>
                  <a:gd name="connsiteX8" fmla="*/ 1629508 w 2708031"/>
                  <a:gd name="connsiteY8" fmla="*/ 491535 h 618895"/>
                  <a:gd name="connsiteX9" fmla="*/ 1805354 w 2708031"/>
                  <a:gd name="connsiteY9" fmla="*/ 374304 h 618895"/>
                  <a:gd name="connsiteX10" fmla="*/ 2004646 w 2708031"/>
                  <a:gd name="connsiteY10" fmla="*/ 432920 h 618895"/>
                  <a:gd name="connsiteX11" fmla="*/ 2227385 w 2708031"/>
                  <a:gd name="connsiteY11" fmla="*/ 608766 h 618895"/>
                  <a:gd name="connsiteX12" fmla="*/ 2368062 w 2708031"/>
                  <a:gd name="connsiteY12" fmla="*/ 573597 h 618895"/>
                  <a:gd name="connsiteX13" fmla="*/ 2567354 w 2708031"/>
                  <a:gd name="connsiteY13" fmla="*/ 374304 h 618895"/>
                  <a:gd name="connsiteX14" fmla="*/ 2708031 w 2708031"/>
                  <a:gd name="connsiteY14" fmla="*/ 350858 h 618895"/>
                  <a:gd name="connsiteX15" fmla="*/ 2708031 w 2708031"/>
                  <a:gd name="connsiteY15" fmla="*/ 350858 h 618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8031" h="618895">
                    <a:moveTo>
                      <a:pt x="0" y="479812"/>
                    </a:moveTo>
                    <a:cubicBezTo>
                      <a:pt x="57638" y="448550"/>
                      <a:pt x="115277" y="417289"/>
                      <a:pt x="175846" y="339135"/>
                    </a:cubicBezTo>
                    <a:cubicBezTo>
                      <a:pt x="236415" y="260981"/>
                      <a:pt x="279400" y="49966"/>
                      <a:pt x="363415" y="10889"/>
                    </a:cubicBezTo>
                    <a:cubicBezTo>
                      <a:pt x="447430" y="-28188"/>
                      <a:pt x="595923" y="46059"/>
                      <a:pt x="679938" y="104674"/>
                    </a:cubicBezTo>
                    <a:cubicBezTo>
                      <a:pt x="763953" y="163289"/>
                      <a:pt x="812800" y="302012"/>
                      <a:pt x="867508" y="362581"/>
                    </a:cubicBezTo>
                    <a:cubicBezTo>
                      <a:pt x="922216" y="423150"/>
                      <a:pt x="959339" y="442689"/>
                      <a:pt x="1008185" y="468089"/>
                    </a:cubicBezTo>
                    <a:cubicBezTo>
                      <a:pt x="1057031" y="493489"/>
                      <a:pt x="1092201" y="499350"/>
                      <a:pt x="1160585" y="514981"/>
                    </a:cubicBezTo>
                    <a:cubicBezTo>
                      <a:pt x="1228969" y="530612"/>
                      <a:pt x="1340338" y="565782"/>
                      <a:pt x="1418492" y="561874"/>
                    </a:cubicBezTo>
                    <a:cubicBezTo>
                      <a:pt x="1496646" y="557966"/>
                      <a:pt x="1565031" y="522797"/>
                      <a:pt x="1629508" y="491535"/>
                    </a:cubicBezTo>
                    <a:cubicBezTo>
                      <a:pt x="1693985" y="460273"/>
                      <a:pt x="1742831" y="384073"/>
                      <a:pt x="1805354" y="374304"/>
                    </a:cubicBezTo>
                    <a:cubicBezTo>
                      <a:pt x="1867877" y="364535"/>
                      <a:pt x="1934308" y="393843"/>
                      <a:pt x="2004646" y="432920"/>
                    </a:cubicBezTo>
                    <a:cubicBezTo>
                      <a:pt x="2074984" y="471997"/>
                      <a:pt x="2166816" y="585320"/>
                      <a:pt x="2227385" y="608766"/>
                    </a:cubicBezTo>
                    <a:cubicBezTo>
                      <a:pt x="2287954" y="632212"/>
                      <a:pt x="2311401" y="612674"/>
                      <a:pt x="2368062" y="573597"/>
                    </a:cubicBezTo>
                    <a:cubicBezTo>
                      <a:pt x="2424723" y="534520"/>
                      <a:pt x="2510693" y="411427"/>
                      <a:pt x="2567354" y="374304"/>
                    </a:cubicBezTo>
                    <a:cubicBezTo>
                      <a:pt x="2624015" y="337181"/>
                      <a:pt x="2708031" y="350858"/>
                      <a:pt x="2708031" y="350858"/>
                    </a:cubicBezTo>
                    <a:lnTo>
                      <a:pt x="2708031" y="350858"/>
                    </a:lnTo>
                  </a:path>
                </a:pathLst>
              </a:custGeom>
              <a:noFill/>
              <a:ln w="28575">
                <a:solidFill>
                  <a:srgbClr val="0070C0"/>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cxnSp>
            <p:nvCxnSpPr>
              <p:cNvPr id="14" name="Straight Connector 13"/>
              <p:cNvCxnSpPr>
                <a:stCxn id="11" idx="0"/>
              </p:cNvCxnSpPr>
              <p:nvPr/>
            </p:nvCxnSpPr>
            <p:spPr bwMode="auto">
              <a:xfrm flipV="1">
                <a:off x="3968262" y="3393516"/>
                <a:ext cx="0" cy="589399"/>
              </a:xfrm>
              <a:prstGeom prst="line">
                <a:avLst/>
              </a:prstGeom>
              <a:noFill/>
              <a:ln w="19050" cap="flat" cmpd="sng" algn="ctr">
                <a:solidFill>
                  <a:schemeClr val="tx2"/>
                </a:solidFill>
                <a:prstDash val="dash"/>
                <a:round/>
                <a:headEnd type="none" w="med" len="med"/>
                <a:tailEnd type="none" w="med" len="med"/>
              </a:ln>
              <a:effectLst/>
            </p:spPr>
          </p:cxnSp>
          <p:sp>
            <p:nvSpPr>
              <p:cNvPr id="16" name="TextBox 15"/>
              <p:cNvSpPr txBox="1"/>
              <p:nvPr/>
            </p:nvSpPr>
            <p:spPr>
              <a:xfrm>
                <a:off x="2667000" y="4211515"/>
                <a:ext cx="495300" cy="280144"/>
              </a:xfrm>
              <a:prstGeom prst="rect">
                <a:avLst/>
              </a:prstGeom>
              <a:noFill/>
              <a:effectLst/>
            </p:spPr>
            <p:txBody>
              <a:bodyPr wrap="none" lIns="0" tIns="0" rIns="0" bIns="0" rtlCol="0">
                <a:noAutofit/>
              </a:bodyPr>
              <a:lstStyle/>
              <a:p>
                <a:pPr algn="l" eaLnBrk="0" hangingPunct="0">
                  <a:lnSpc>
                    <a:spcPts val="1800"/>
                  </a:lnSpc>
                </a:pPr>
                <a:r>
                  <a:rPr lang="en-US" sz="1600" b="1" dirty="0" smtClean="0">
                    <a:ea typeface="+mn-ea"/>
                    <a:cs typeface="+mn-cs"/>
                  </a:rPr>
                  <a:t>Past</a:t>
                </a:r>
                <a:r>
                  <a:rPr lang="en-US" sz="1400" b="1" dirty="0" smtClean="0">
                    <a:ea typeface="+mn-ea"/>
                    <a:cs typeface="+mn-cs"/>
                  </a:rPr>
                  <a:t> </a:t>
                </a:r>
              </a:p>
            </p:txBody>
          </p:sp>
          <p:sp>
            <p:nvSpPr>
              <p:cNvPr id="17" name="TextBox 16"/>
              <p:cNvSpPr txBox="1"/>
              <p:nvPr/>
            </p:nvSpPr>
            <p:spPr>
              <a:xfrm>
                <a:off x="3720612" y="4211515"/>
                <a:ext cx="495300" cy="280144"/>
              </a:xfrm>
              <a:prstGeom prst="rect">
                <a:avLst/>
              </a:prstGeom>
              <a:noFill/>
              <a:effectLst/>
            </p:spPr>
            <p:txBody>
              <a:bodyPr wrap="none" lIns="0" tIns="0" rIns="0" bIns="0" rtlCol="0">
                <a:noAutofit/>
              </a:bodyPr>
              <a:lstStyle/>
              <a:p>
                <a:pPr algn="l" eaLnBrk="0" hangingPunct="0">
                  <a:lnSpc>
                    <a:spcPts val="1800"/>
                  </a:lnSpc>
                </a:pPr>
                <a:r>
                  <a:rPr lang="en-US" sz="1600" b="1" dirty="0" smtClean="0">
                    <a:ea typeface="+mn-ea"/>
                    <a:cs typeface="+mn-cs"/>
                  </a:rPr>
                  <a:t>Present</a:t>
                </a:r>
                <a:r>
                  <a:rPr lang="en-US" sz="1400" b="1" dirty="0" smtClean="0">
                    <a:ea typeface="+mn-ea"/>
                    <a:cs typeface="+mn-cs"/>
                  </a:rPr>
                  <a:t> </a:t>
                </a:r>
              </a:p>
            </p:txBody>
          </p:sp>
          <p:sp>
            <p:nvSpPr>
              <p:cNvPr id="18" name="TextBox 17"/>
              <p:cNvSpPr txBox="1"/>
              <p:nvPr/>
            </p:nvSpPr>
            <p:spPr>
              <a:xfrm>
                <a:off x="4705350" y="4201512"/>
                <a:ext cx="495300" cy="280144"/>
              </a:xfrm>
              <a:prstGeom prst="rect">
                <a:avLst/>
              </a:prstGeom>
              <a:noFill/>
              <a:effectLst/>
            </p:spPr>
            <p:txBody>
              <a:bodyPr wrap="none" lIns="0" tIns="0" rIns="0" bIns="0" rtlCol="0">
                <a:noAutofit/>
              </a:bodyPr>
              <a:lstStyle/>
              <a:p>
                <a:pPr algn="l" eaLnBrk="0" hangingPunct="0">
                  <a:lnSpc>
                    <a:spcPts val="1800"/>
                  </a:lnSpc>
                </a:pPr>
                <a:r>
                  <a:rPr lang="en-US" sz="1600" b="1" dirty="0" smtClean="0">
                    <a:ea typeface="+mn-ea"/>
                    <a:cs typeface="+mn-cs"/>
                  </a:rPr>
                  <a:t>Future</a:t>
                </a:r>
                <a:endParaRPr lang="en-US" sz="1400" b="1" dirty="0" smtClean="0">
                  <a:ea typeface="+mn-ea"/>
                  <a:cs typeface="+mn-cs"/>
                </a:endParaRPr>
              </a:p>
            </p:txBody>
          </p:sp>
          <p:sp>
            <p:nvSpPr>
              <p:cNvPr id="20" name="TextBox 19"/>
              <p:cNvSpPr txBox="1"/>
              <p:nvPr/>
            </p:nvSpPr>
            <p:spPr>
              <a:xfrm>
                <a:off x="2237642" y="2526928"/>
                <a:ext cx="495300" cy="280144"/>
              </a:xfrm>
              <a:prstGeom prst="rect">
                <a:avLst/>
              </a:prstGeom>
              <a:noFill/>
              <a:effectLst/>
            </p:spPr>
            <p:txBody>
              <a:bodyPr wrap="none" lIns="0" tIns="0" rIns="0" bIns="0" rtlCol="0">
                <a:noAutofit/>
              </a:bodyPr>
              <a:lstStyle/>
              <a:p>
                <a:pPr algn="l" eaLnBrk="0" hangingPunct="0">
                  <a:lnSpc>
                    <a:spcPts val="1800"/>
                  </a:lnSpc>
                </a:pPr>
                <a:r>
                  <a:rPr lang="en-US" sz="1600" b="1" dirty="0" smtClean="0">
                    <a:ea typeface="+mn-ea"/>
                    <a:cs typeface="+mn-cs"/>
                  </a:rPr>
                  <a:t>Water Property</a:t>
                </a:r>
                <a:r>
                  <a:rPr lang="en-US" sz="1400" b="1" dirty="0" smtClean="0">
                    <a:ea typeface="+mn-ea"/>
                    <a:cs typeface="+mn-cs"/>
                  </a:rPr>
                  <a:t> </a:t>
                </a:r>
              </a:p>
            </p:txBody>
          </p:sp>
        </p:grpSp>
      </p:grpSp>
      <p:sp>
        <p:nvSpPr>
          <p:cNvPr id="26" name="Content Placeholder 2"/>
          <p:cNvSpPr txBox="1">
            <a:spLocks/>
          </p:cNvSpPr>
          <p:nvPr/>
        </p:nvSpPr>
        <p:spPr>
          <a:xfrm>
            <a:off x="768630" y="1392651"/>
            <a:ext cx="4196754" cy="2028039"/>
          </a:xfrm>
          <a:prstGeom prst="rect">
            <a:avLst/>
          </a:prstGeom>
        </p:spPr>
        <p:txBody>
          <a:bodyPr lIns="0" tIns="0" rIns="0" bIns="0"/>
          <a:lst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spcBef>
                <a:spcPts val="0"/>
              </a:spcBef>
              <a:spcAft>
                <a:spcPts val="300"/>
              </a:spcAft>
              <a:buNone/>
            </a:pPr>
            <a:r>
              <a:rPr lang="en-US" sz="2000" b="1" dirty="0" smtClean="0"/>
              <a:t>Describe a water property over </a:t>
            </a:r>
            <a:br>
              <a:rPr lang="en-US" sz="2000" b="1" dirty="0" smtClean="0"/>
            </a:br>
            <a:r>
              <a:rPr lang="en-US" sz="2000" b="1" dirty="0" smtClean="0"/>
              <a:t>a domain of space and time</a:t>
            </a:r>
            <a:endParaRPr lang="en-US" sz="2000" b="1" dirty="0"/>
          </a:p>
          <a:p>
            <a:pPr lvl="2">
              <a:lnSpc>
                <a:spcPct val="100000"/>
              </a:lnSpc>
              <a:spcAft>
                <a:spcPts val="300"/>
              </a:spcAft>
              <a:buClr>
                <a:srgbClr val="35AC46"/>
              </a:buClr>
              <a:buFont typeface="Arial"/>
              <a:buChar char="•"/>
            </a:pPr>
            <a:r>
              <a:rPr lang="en-US" sz="2000" dirty="0" smtClean="0">
                <a:solidFill>
                  <a:srgbClr val="000000"/>
                </a:solidFill>
              </a:rPr>
              <a:t>History</a:t>
            </a:r>
          </a:p>
          <a:p>
            <a:pPr lvl="2">
              <a:lnSpc>
                <a:spcPct val="100000"/>
              </a:lnSpc>
              <a:spcAft>
                <a:spcPts val="300"/>
              </a:spcAft>
              <a:buClr>
                <a:srgbClr val="35AC46"/>
              </a:buClr>
              <a:buFont typeface="Arial"/>
              <a:buChar char="•"/>
            </a:pPr>
            <a:r>
              <a:rPr lang="en-US" sz="2000" dirty="0" smtClean="0">
                <a:solidFill>
                  <a:srgbClr val="000000"/>
                </a:solidFill>
              </a:rPr>
              <a:t>Current conditions</a:t>
            </a:r>
          </a:p>
          <a:p>
            <a:pPr lvl="2">
              <a:lnSpc>
                <a:spcPct val="100000"/>
              </a:lnSpc>
              <a:spcAft>
                <a:spcPts val="300"/>
              </a:spcAft>
              <a:buClr>
                <a:srgbClr val="35AC46"/>
              </a:buClr>
              <a:buFont typeface="Arial"/>
              <a:buChar char="•"/>
            </a:pPr>
            <a:r>
              <a:rPr lang="en-US" sz="2000" dirty="0" smtClean="0">
                <a:solidFill>
                  <a:srgbClr val="000000"/>
                </a:solidFill>
              </a:rPr>
              <a:t>Forecasts</a:t>
            </a:r>
            <a:endParaRPr lang="en-US" sz="2000" dirty="0">
              <a:solidFill>
                <a:srgbClr val="000000"/>
              </a:solidFill>
            </a:endParaRPr>
          </a:p>
        </p:txBody>
      </p:sp>
      <p:grpSp>
        <p:nvGrpSpPr>
          <p:cNvPr id="33" name="Group 32"/>
          <p:cNvGrpSpPr/>
          <p:nvPr/>
        </p:nvGrpSpPr>
        <p:grpSpPr>
          <a:xfrm>
            <a:off x="5647661" y="993927"/>
            <a:ext cx="1713598" cy="1167330"/>
            <a:chOff x="2905723" y="2024130"/>
            <a:chExt cx="3520224" cy="2398029"/>
          </a:xfrm>
        </p:grpSpPr>
        <p:sp>
          <p:nvSpPr>
            <p:cNvPr id="34" name="TextBox 33"/>
            <p:cNvSpPr txBox="1"/>
            <p:nvPr/>
          </p:nvSpPr>
          <p:spPr>
            <a:xfrm>
              <a:off x="4923194" y="2791067"/>
              <a:ext cx="1502753" cy="846590"/>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nchor="ctr">
              <a:noAutofit/>
            </a:bodyPr>
            <a:lstStyle/>
            <a:p>
              <a:pPr algn="ctr" eaLnBrk="0" hangingPunct="0"/>
              <a:r>
                <a:rPr lang="en-US" sz="1400" b="1" dirty="0" smtClean="0">
                  <a:solidFill>
                    <a:srgbClr val="000000"/>
                  </a:solidFill>
                  <a:ea typeface="+mn-ea"/>
                  <a:cs typeface="+mn-cs"/>
                </a:rPr>
                <a:t>Sensor</a:t>
              </a:r>
              <a:br>
                <a:rPr lang="en-US" sz="1400" b="1" dirty="0" smtClean="0">
                  <a:solidFill>
                    <a:srgbClr val="000000"/>
                  </a:solidFill>
                  <a:ea typeface="+mn-ea"/>
                  <a:cs typeface="+mn-cs"/>
                </a:rPr>
              </a:br>
              <a:r>
                <a:rPr lang="en-US" sz="1400" b="1" dirty="0" smtClean="0">
                  <a:solidFill>
                    <a:srgbClr val="000000"/>
                  </a:solidFill>
                  <a:ea typeface="+mn-ea"/>
                  <a:cs typeface="+mn-cs"/>
                </a:rPr>
                <a:t>Web</a:t>
              </a:r>
            </a:p>
          </p:txBody>
        </p:sp>
        <p:sp>
          <p:nvSpPr>
            <p:cNvPr id="35" name="TextBox 34"/>
            <p:cNvSpPr txBox="1"/>
            <p:nvPr/>
          </p:nvSpPr>
          <p:spPr>
            <a:xfrm>
              <a:off x="2905723" y="2791067"/>
              <a:ext cx="1502753" cy="846590"/>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nchor="ctr">
              <a:noAutofit/>
            </a:bodyPr>
            <a:lstStyle/>
            <a:p>
              <a:pPr algn="ctr" eaLnBrk="0" hangingPunct="0"/>
              <a:r>
                <a:rPr lang="en-US" sz="1400" b="1" dirty="0" smtClean="0">
                  <a:solidFill>
                    <a:srgbClr val="000000"/>
                  </a:solidFill>
                  <a:ea typeface="+mn-ea"/>
                  <a:cs typeface="+mn-cs"/>
                </a:rPr>
                <a:t>Model</a:t>
              </a:r>
              <a:br>
                <a:rPr lang="en-US" sz="1400" b="1" dirty="0" smtClean="0">
                  <a:solidFill>
                    <a:srgbClr val="000000"/>
                  </a:solidFill>
                  <a:ea typeface="+mn-ea"/>
                  <a:cs typeface="+mn-cs"/>
                </a:rPr>
              </a:br>
              <a:r>
                <a:rPr lang="en-US" sz="1400" b="1" dirty="0" smtClean="0">
                  <a:solidFill>
                    <a:srgbClr val="000000"/>
                  </a:solidFill>
                  <a:ea typeface="+mn-ea"/>
                  <a:cs typeface="+mn-cs"/>
                </a:rPr>
                <a:t>Web</a:t>
              </a:r>
            </a:p>
          </p:txBody>
        </p:sp>
        <p:sp>
          <p:nvSpPr>
            <p:cNvPr id="36" name="Curved Left Arrow 35"/>
            <p:cNvSpPr/>
            <p:nvPr/>
          </p:nvSpPr>
          <p:spPr bwMode="auto">
            <a:xfrm rot="16200000">
              <a:off x="4300379" y="1344054"/>
              <a:ext cx="691202" cy="2051354"/>
            </a:xfrm>
            <a:prstGeom prst="curvedLeftArrow">
              <a:avLst/>
            </a:prstGeom>
            <a:gradFill flip="none" rotWithShape="1">
              <a:gsLst>
                <a:gs pos="90000">
                  <a:srgbClr val="FFAB2F"/>
                </a:gs>
                <a:gs pos="5000">
                  <a:srgbClr val="FFAB2F">
                    <a:alpha val="0"/>
                  </a:srgbClr>
                </a:gs>
              </a:gsLst>
              <a:lin ang="1560000" scaled="0"/>
              <a:tileRect/>
            </a:gradFill>
            <a:ln w="12700" cap="flat" cmpd="sng" algn="ctr">
              <a:gradFill flip="none" rotWithShape="1">
                <a:gsLst>
                  <a:gs pos="100000">
                    <a:schemeClr val="accent3">
                      <a:lumMod val="60000"/>
                      <a:lumOff val="40000"/>
                    </a:schemeClr>
                  </a:gs>
                  <a:gs pos="25000">
                    <a:schemeClr val="accent3">
                      <a:lumMod val="60000"/>
                      <a:lumOff val="40000"/>
                      <a:alpha val="0"/>
                    </a:schemeClr>
                  </a:gs>
                </a:gsLst>
                <a:lin ang="0" scaled="1"/>
                <a:tileRect/>
              </a:gradFill>
              <a:prstDash val="solid"/>
              <a:round/>
              <a:headEnd type="none" w="med" len="med"/>
              <a:tailEnd type="none" w="med" len="med"/>
            </a:ln>
            <a:effectLst/>
          </p:spPr>
          <p:txBody>
            <a:bodyPr vert="horz" wrap="none" lIns="91796" tIns="45898" rIns="91796" bIns="45898" numCol="1" rtlCol="0" anchor="ctr" anchorCtr="0" compatLnSpc="1">
              <a:prstTxWarp prst="textNoShape">
                <a:avLst/>
              </a:prstTxWarp>
            </a:bodyPr>
            <a:lstStyle/>
            <a:p>
              <a:pPr algn="ctr"/>
              <a:endParaRPr lang="en-US" dirty="0">
                <a:solidFill>
                  <a:schemeClr val="bg2"/>
                </a:solidFill>
                <a:latin typeface="Arial" charset="0"/>
                <a:ea typeface="ＭＳ Ｐゴシック" pitchFamily="16" charset="-128"/>
              </a:endParaRPr>
            </a:p>
          </p:txBody>
        </p:sp>
        <p:sp>
          <p:nvSpPr>
            <p:cNvPr id="37" name="Curved Left Arrow 36"/>
            <p:cNvSpPr/>
            <p:nvPr/>
          </p:nvSpPr>
          <p:spPr bwMode="auto">
            <a:xfrm rot="5400000">
              <a:off x="4300379" y="3050884"/>
              <a:ext cx="691201" cy="2051350"/>
            </a:xfrm>
            <a:prstGeom prst="curvedLeftArrow">
              <a:avLst/>
            </a:prstGeom>
            <a:gradFill flip="none" rotWithShape="1">
              <a:gsLst>
                <a:gs pos="90000">
                  <a:srgbClr val="FFAB2F"/>
                </a:gs>
                <a:gs pos="5000">
                  <a:srgbClr val="FFAB2F">
                    <a:alpha val="0"/>
                  </a:srgbClr>
                </a:gs>
              </a:gsLst>
              <a:lin ang="1560000" scaled="0"/>
              <a:tileRect/>
            </a:gradFill>
            <a:ln w="12700" cap="flat" cmpd="sng" algn="ctr">
              <a:gradFill flip="none" rotWithShape="1">
                <a:gsLst>
                  <a:gs pos="100000">
                    <a:schemeClr val="accent3">
                      <a:lumMod val="60000"/>
                      <a:lumOff val="40000"/>
                    </a:schemeClr>
                  </a:gs>
                  <a:gs pos="25000">
                    <a:schemeClr val="accent3">
                      <a:lumMod val="60000"/>
                      <a:lumOff val="40000"/>
                      <a:alpha val="0"/>
                    </a:schemeClr>
                  </a:gs>
                </a:gsLst>
                <a:lin ang="0" scaled="1"/>
                <a:tileRect/>
              </a:gradFill>
              <a:prstDash val="solid"/>
              <a:round/>
              <a:headEnd type="none" w="med" len="med"/>
              <a:tailEnd type="none" w="med" len="med"/>
            </a:ln>
            <a:effectLst/>
          </p:spPr>
          <p:txBody>
            <a:bodyPr vert="horz" wrap="none" lIns="91796" tIns="45898" rIns="91796" bIns="45898" numCol="1" rtlCol="0" anchor="ctr" anchorCtr="0" compatLnSpc="1">
              <a:prstTxWarp prst="textNoShape">
                <a:avLst/>
              </a:prstTxWarp>
            </a:bodyPr>
            <a:lstStyle/>
            <a:p>
              <a:pPr algn="ctr"/>
              <a:endParaRPr lang="en-US" dirty="0">
                <a:solidFill>
                  <a:schemeClr val="bg2"/>
                </a:solidFill>
                <a:latin typeface="Arial" charset="0"/>
                <a:ea typeface="ＭＳ Ｐゴシック" pitchFamily="16" charset="-128"/>
              </a:endParaRPr>
            </a:p>
          </p:txBody>
        </p:sp>
      </p:grpSp>
      <p:sp>
        <p:nvSpPr>
          <p:cNvPr id="38" name="TextBox 37"/>
          <p:cNvSpPr txBox="1"/>
          <p:nvPr/>
        </p:nvSpPr>
        <p:spPr>
          <a:xfrm>
            <a:off x="1339072" y="3356986"/>
            <a:ext cx="2026345" cy="2393635"/>
          </a:xfrm>
          <a:prstGeom prst="rect">
            <a:avLst/>
          </a:prstGeom>
          <a:noFill/>
          <a:effectLst/>
        </p:spPr>
        <p:txBody>
          <a:bodyPr wrap="none" lIns="0" tIns="0" rIns="0" bIns="0" rtlCol="0" anchor="b">
            <a:noAutofit/>
          </a:bodyPr>
          <a:lstStyle/>
          <a:p>
            <a:pPr algn="r" eaLnBrk="0" hangingPunct="0">
              <a:spcAft>
                <a:spcPts val="600"/>
              </a:spcAft>
            </a:pPr>
            <a:r>
              <a:rPr lang="en-US" b="1" dirty="0" smtClean="0"/>
              <a:t>Precipitation</a:t>
            </a:r>
          </a:p>
          <a:p>
            <a:pPr algn="r" eaLnBrk="0" hangingPunct="0">
              <a:spcAft>
                <a:spcPts val="600"/>
              </a:spcAft>
            </a:pPr>
            <a:r>
              <a:rPr lang="en-US" b="1" dirty="0" smtClean="0"/>
              <a:t>Evaporation</a:t>
            </a:r>
          </a:p>
          <a:p>
            <a:pPr algn="r" eaLnBrk="0" hangingPunct="0">
              <a:spcAft>
                <a:spcPts val="600"/>
              </a:spcAft>
            </a:pPr>
            <a:r>
              <a:rPr lang="en-US" b="1" dirty="0" smtClean="0"/>
              <a:t>Transpiration</a:t>
            </a:r>
          </a:p>
          <a:p>
            <a:pPr algn="r" eaLnBrk="0" hangingPunct="0">
              <a:spcAft>
                <a:spcPts val="600"/>
              </a:spcAft>
            </a:pPr>
            <a:r>
              <a:rPr lang="en-US" b="1" dirty="0"/>
              <a:t>Soil Moisture</a:t>
            </a:r>
          </a:p>
          <a:p>
            <a:pPr algn="r" eaLnBrk="0" hangingPunct="0">
              <a:spcAft>
                <a:spcPts val="600"/>
              </a:spcAft>
            </a:pPr>
            <a:r>
              <a:rPr lang="en-US" b="1" dirty="0" err="1"/>
              <a:t>Streamflow</a:t>
            </a:r>
            <a:endParaRPr lang="en-US" b="1" dirty="0"/>
          </a:p>
          <a:p>
            <a:pPr algn="r" eaLnBrk="0" hangingPunct="0">
              <a:spcAft>
                <a:spcPts val="600"/>
              </a:spcAft>
            </a:pPr>
            <a:r>
              <a:rPr lang="en-US" b="1" dirty="0" smtClean="0"/>
              <a:t>Groundwater</a:t>
            </a:r>
          </a:p>
          <a:p>
            <a:pPr algn="r" eaLnBrk="0" hangingPunct="0">
              <a:spcAft>
                <a:spcPts val="600"/>
              </a:spcAft>
            </a:pPr>
            <a:r>
              <a:rPr lang="en-US" b="1" dirty="0" smtClean="0"/>
              <a:t>Reservoirs</a:t>
            </a:r>
            <a:endParaRPr lang="en-US" b="1" dirty="0"/>
          </a:p>
        </p:txBody>
      </p:sp>
    </p:spTree>
    <p:extLst>
      <p:ext uri="{BB962C8B-B14F-4D97-AF65-F5344CB8AC3E}">
        <p14:creationId xmlns:p14="http://schemas.microsoft.com/office/powerpoint/2010/main" val="2511586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3943156" y="2475624"/>
            <a:ext cx="2684092" cy="3567464"/>
            <a:chOff x="3933168" y="1915382"/>
            <a:chExt cx="2579926" cy="3429016"/>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3168" y="1915382"/>
              <a:ext cx="2579926" cy="3429016"/>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8" name="TextBox 7"/>
            <p:cNvSpPr txBox="1"/>
            <p:nvPr/>
          </p:nvSpPr>
          <p:spPr>
            <a:xfrm>
              <a:off x="4042080" y="2661476"/>
              <a:ext cx="1181051" cy="225648"/>
            </a:xfrm>
            <a:prstGeom prst="rect">
              <a:avLst/>
            </a:prstGeom>
            <a:noFill/>
            <a:ln w="19050" cmpd="sng">
              <a:solidFill>
                <a:schemeClr val="tx1"/>
              </a:solidFill>
            </a:ln>
            <a:effectLst/>
          </p:spPr>
          <p:txBody>
            <a:bodyPr wrap="none" lIns="0" tIns="0" rIns="0" bIns="0" rtlCol="0">
              <a:noAutofit/>
            </a:bodyPr>
            <a:lstStyle/>
            <a:p>
              <a:pPr algn="ctr" eaLnBrk="0" hangingPunct="0">
                <a:lnSpc>
                  <a:spcPts val="1800"/>
                </a:lnSpc>
              </a:pPr>
              <a:r>
                <a:rPr lang="en-US" sz="1400" b="1" dirty="0" smtClean="0">
                  <a:solidFill>
                    <a:schemeClr val="tx1">
                      <a:lumMod val="50000"/>
                      <a:lumOff val="50000"/>
                    </a:schemeClr>
                  </a:solidFill>
                  <a:ea typeface="+mn-ea"/>
                  <a:cs typeface="+mn-cs"/>
                </a:rPr>
                <a:t>New Zealand</a:t>
              </a:r>
            </a:p>
          </p:txBody>
        </p:sp>
      </p:grpSp>
      <p:pic>
        <p:nvPicPr>
          <p:cNvPr id="10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8747" y="2904339"/>
            <a:ext cx="1710542" cy="1909762"/>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561555" y="865812"/>
            <a:ext cx="7772400" cy="542925"/>
          </a:xfrm>
        </p:spPr>
        <p:txBody>
          <a:bodyPr/>
          <a:lstStyle/>
          <a:p>
            <a:r>
              <a:rPr lang="en-US" dirty="0" smtClean="0"/>
              <a:t>World Soil Moisture</a:t>
            </a:r>
            <a:br>
              <a:rPr lang="en-US" dirty="0" smtClean="0"/>
            </a:br>
            <a:endParaRPr lang="en-US" dirty="0"/>
          </a:p>
        </p:txBody>
      </p:sp>
      <p:cxnSp>
        <p:nvCxnSpPr>
          <p:cNvPr id="6" name="Straight Arrow Connector 5"/>
          <p:cNvCxnSpPr/>
          <p:nvPr/>
        </p:nvCxnSpPr>
        <p:spPr>
          <a:xfrm flipV="1">
            <a:off x="6078534" y="3486601"/>
            <a:ext cx="961715" cy="641108"/>
          </a:xfrm>
          <a:prstGeom prst="straightConnector1">
            <a:avLst/>
          </a:prstGeom>
          <a:ln w="19050" cmpd="sng">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170386" y="5882673"/>
            <a:ext cx="2284639" cy="523220"/>
          </a:xfrm>
          <a:prstGeom prst="rect">
            <a:avLst/>
          </a:prstGeom>
          <a:noFill/>
        </p:spPr>
        <p:txBody>
          <a:bodyPr wrap="square" rtlCol="0">
            <a:spAutoFit/>
          </a:bodyPr>
          <a:lstStyle/>
          <a:p>
            <a:pPr algn="ctr"/>
            <a:r>
              <a:rPr lang="en-US" sz="1400" dirty="0" smtClean="0"/>
              <a:t>A dryer region with significant seasonality</a:t>
            </a:r>
            <a:endParaRPr lang="en-US" sz="1400" dirty="0"/>
          </a:p>
        </p:txBody>
      </p:sp>
      <p:sp>
        <p:nvSpPr>
          <p:cNvPr id="17" name="TextBox 16"/>
          <p:cNvSpPr txBox="1"/>
          <p:nvPr/>
        </p:nvSpPr>
        <p:spPr>
          <a:xfrm>
            <a:off x="6970977" y="2434631"/>
            <a:ext cx="1733777" cy="461665"/>
          </a:xfrm>
          <a:prstGeom prst="rect">
            <a:avLst/>
          </a:prstGeom>
          <a:noFill/>
        </p:spPr>
        <p:txBody>
          <a:bodyPr wrap="square" rtlCol="0">
            <a:noAutofit/>
          </a:bodyPr>
          <a:lstStyle/>
          <a:p>
            <a:pPr algn="ctr"/>
            <a:r>
              <a:rPr lang="en-US" sz="1200" dirty="0" smtClean="0"/>
              <a:t>Popup on point links to data and chart</a:t>
            </a:r>
            <a:endParaRPr lang="en-US" sz="1200" dirty="0"/>
          </a:p>
        </p:txBody>
      </p:sp>
      <p:pic>
        <p:nvPicPr>
          <p:cNvPr id="5" name="Picture 4" descr="GLDAS netCDF_world.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558" y="2908602"/>
            <a:ext cx="3366002" cy="1629276"/>
          </a:xfrm>
          <a:prstGeom prst="rect">
            <a:avLst/>
          </a:prstGeom>
        </p:spPr>
      </p:pic>
      <p:sp>
        <p:nvSpPr>
          <p:cNvPr id="19" name="Title 1"/>
          <p:cNvSpPr txBox="1">
            <a:spLocks/>
          </p:cNvSpPr>
          <p:nvPr/>
        </p:nvSpPr>
        <p:spPr>
          <a:xfrm>
            <a:off x="685800" y="1118065"/>
            <a:ext cx="8142668" cy="393500"/>
          </a:xfrm>
          <a:prstGeom prst="rect">
            <a:avLst/>
          </a:prstGeom>
        </p:spPr>
        <p:txBody>
          <a:bodyPr vert="horz" lIns="0" tIns="0" rIns="0" bIns="0" rtlCol="0" anchor="t">
            <a:normAutofit fontScale="97500"/>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sz="2000" b="0" dirty="0"/>
              <a:t>from the NASA Global Land Data Assimilation System (GLDAS)</a:t>
            </a:r>
          </a:p>
        </p:txBody>
      </p:sp>
      <p:pic>
        <p:nvPicPr>
          <p:cNvPr id="1030"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64773" y="4935716"/>
            <a:ext cx="3290373" cy="1645187"/>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Lst>
        </p:spPr>
      </p:pic>
      <p:grpSp>
        <p:nvGrpSpPr>
          <p:cNvPr id="9" name="Group 8"/>
          <p:cNvGrpSpPr/>
          <p:nvPr/>
        </p:nvGrpSpPr>
        <p:grpSpPr>
          <a:xfrm>
            <a:off x="685800" y="4888249"/>
            <a:ext cx="3370665" cy="1692653"/>
            <a:chOff x="511296" y="4386677"/>
            <a:chExt cx="3381376" cy="1698032"/>
          </a:xfrm>
        </p:grpSpPr>
        <p:pic>
          <p:nvPicPr>
            <p:cNvPr id="1029"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1296" y="4386677"/>
              <a:ext cx="3381376" cy="1698032"/>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10" name="TextBox 9"/>
            <p:cNvSpPr txBox="1"/>
            <p:nvPr/>
          </p:nvSpPr>
          <p:spPr>
            <a:xfrm>
              <a:off x="810097" y="4491027"/>
              <a:ext cx="2646174" cy="276999"/>
            </a:xfrm>
            <a:prstGeom prst="rect">
              <a:avLst/>
            </a:prstGeom>
            <a:noFill/>
          </p:spPr>
          <p:txBody>
            <a:bodyPr wrap="none" rtlCol="0">
              <a:spAutoFit/>
            </a:bodyPr>
            <a:lstStyle/>
            <a:p>
              <a:r>
                <a:rPr lang="en-US" sz="1200" dirty="0" smtClean="0"/>
                <a:t>A very wet region with little seasonality</a:t>
              </a:r>
              <a:endParaRPr lang="en-US" sz="1200" dirty="0"/>
            </a:p>
          </p:txBody>
        </p:sp>
      </p:grpSp>
      <p:cxnSp>
        <p:nvCxnSpPr>
          <p:cNvPr id="4" name="Straight Arrow Connector 3"/>
          <p:cNvCxnSpPr/>
          <p:nvPr/>
        </p:nvCxnSpPr>
        <p:spPr>
          <a:xfrm flipH="1">
            <a:off x="3896179" y="5422252"/>
            <a:ext cx="517848" cy="308225"/>
          </a:xfrm>
          <a:prstGeom prst="straightConnector1">
            <a:avLst/>
          </a:prstGeom>
          <a:ln w="19050" cmpd="sng">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7138886" y="3634549"/>
            <a:ext cx="653473" cy="1306873"/>
          </a:xfrm>
          <a:prstGeom prst="straightConnector1">
            <a:avLst/>
          </a:prstGeom>
          <a:ln w="19050" cmpd="sng">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85800" y="1873064"/>
            <a:ext cx="7769225" cy="590231"/>
          </a:xfrm>
          <a:prstGeom prst="rect">
            <a:avLst/>
          </a:prstGeom>
          <a:noFill/>
        </p:spPr>
        <p:txBody>
          <a:bodyPr wrap="square" lIns="0" tIns="0" rIns="0" bIns="0" rtlCol="0">
            <a:noAutofit/>
          </a:bodyPr>
          <a:lstStyle/>
          <a:p>
            <a:pPr algn="ctr"/>
            <a:r>
              <a:rPr lang="en-US" sz="1500" dirty="0" smtClean="0"/>
              <a:t>Charts show 3-hourly variation (37,000 values) </a:t>
            </a:r>
            <a:br>
              <a:rPr lang="en-US" sz="1500" dirty="0" smtClean="0"/>
            </a:br>
            <a:r>
              <a:rPr lang="en-US" sz="1500" dirty="0" smtClean="0"/>
              <a:t>of soil water content of the top 1m of soil from 2000 to 2012 </a:t>
            </a:r>
            <a:endParaRPr lang="en-US" sz="1500" dirty="0"/>
          </a:p>
        </p:txBody>
      </p:sp>
      <p:sp>
        <p:nvSpPr>
          <p:cNvPr id="21" name="TextBox 20"/>
          <p:cNvSpPr txBox="1"/>
          <p:nvPr/>
        </p:nvSpPr>
        <p:spPr>
          <a:xfrm>
            <a:off x="0" y="1484602"/>
            <a:ext cx="9144000" cy="310911"/>
          </a:xfrm>
          <a:prstGeom prst="rect">
            <a:avLst/>
          </a:prstGeom>
          <a:solidFill>
            <a:srgbClr val="007AC2"/>
          </a:solidFill>
          <a:ln w="19050" cmpd="sng">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defPPr>
              <a:defRPr lang="en-US"/>
            </a:defPPr>
            <a:lvl1pPr algn="ctr" defTabSz="457200" eaLnBrk="0" fontAlgn="base" hangingPunct="0">
              <a:spcBef>
                <a:spcPct val="0"/>
              </a:spcBef>
              <a:spcAft>
                <a:spcPct val="0"/>
              </a:spcAft>
              <a:defRPr sz="14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300" b="0" dirty="0">
                <a:hlinkClick r:id="rId7"/>
              </a:rPr>
              <a:t>http://www.arcgis.com/home/webmap/viewer.html?webmap=7d6cefdf3f324b55b08c136654e91612</a:t>
            </a:r>
            <a:r>
              <a:rPr lang="en-US" sz="1300" b="0" dirty="0"/>
              <a:t> </a:t>
            </a:r>
          </a:p>
        </p:txBody>
      </p:sp>
      <p:sp>
        <p:nvSpPr>
          <p:cNvPr id="20" name="TextBox 19"/>
          <p:cNvSpPr txBox="1"/>
          <p:nvPr/>
        </p:nvSpPr>
        <p:spPr>
          <a:xfrm>
            <a:off x="5559153" y="5052635"/>
            <a:ext cx="2806302" cy="276999"/>
          </a:xfrm>
          <a:prstGeom prst="rect">
            <a:avLst/>
          </a:prstGeom>
          <a:noFill/>
        </p:spPr>
        <p:txBody>
          <a:bodyPr wrap="none" rtlCol="0">
            <a:spAutoFit/>
          </a:bodyPr>
          <a:lstStyle/>
          <a:p>
            <a:r>
              <a:rPr lang="en-US" sz="1200" dirty="0" smtClean="0"/>
              <a:t>A dryer region with distinct seasonality</a:t>
            </a:r>
            <a:endParaRPr lang="en-US" sz="1200" dirty="0"/>
          </a:p>
        </p:txBody>
      </p:sp>
    </p:spTree>
    <p:extLst>
      <p:ext uri="{BB962C8B-B14F-4D97-AF65-F5344CB8AC3E}">
        <p14:creationId xmlns:p14="http://schemas.microsoft.com/office/powerpoint/2010/main" val="112524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 Scenarios, Use Cases</a:t>
            </a:r>
            <a:endParaRPr lang="en-US" dirty="0"/>
          </a:p>
        </p:txBody>
      </p:sp>
      <p:sp>
        <p:nvSpPr>
          <p:cNvPr id="4" name="Content Placeholder 3"/>
          <p:cNvSpPr>
            <a:spLocks noGrp="1"/>
          </p:cNvSpPr>
          <p:nvPr>
            <p:ph idx="1"/>
          </p:nvPr>
        </p:nvSpPr>
        <p:spPr>
          <a:xfrm>
            <a:off x="368697" y="1514475"/>
            <a:ext cx="8602904" cy="5217220"/>
          </a:xfrm>
        </p:spPr>
        <p:txBody>
          <a:bodyPr/>
          <a:lstStyle/>
          <a:p>
            <a:r>
              <a:rPr lang="en-US" b="1" dirty="0" smtClean="0">
                <a:solidFill>
                  <a:srgbClr val="0000FF"/>
                </a:solidFill>
              </a:rPr>
              <a:t>Regional / national federation </a:t>
            </a:r>
            <a:r>
              <a:rPr lang="en-US" dirty="0" smtClean="0"/>
              <a:t>of time series metadata and water resources data</a:t>
            </a:r>
          </a:p>
          <a:p>
            <a:pPr lvl="1"/>
            <a:r>
              <a:rPr lang="en-US" dirty="0" smtClean="0"/>
              <a:t>Italy</a:t>
            </a:r>
          </a:p>
          <a:p>
            <a:pPr lvl="1"/>
            <a:r>
              <a:rPr lang="en-US" dirty="0" smtClean="0"/>
              <a:t>New Zealand </a:t>
            </a:r>
          </a:p>
          <a:p>
            <a:pPr lvl="1"/>
            <a:r>
              <a:rPr lang="en-US" dirty="0" smtClean="0"/>
              <a:t>Canada</a:t>
            </a:r>
          </a:p>
          <a:p>
            <a:pPr lvl="1"/>
            <a:r>
              <a:rPr lang="en-US" dirty="0" smtClean="0"/>
              <a:t>Latin America</a:t>
            </a:r>
          </a:p>
          <a:p>
            <a:pPr lvl="2"/>
            <a:r>
              <a:rPr lang="en-US" sz="2200" dirty="0" smtClean="0"/>
              <a:t>Dominican Republic</a:t>
            </a:r>
          </a:p>
          <a:p>
            <a:pPr lvl="2"/>
            <a:r>
              <a:rPr lang="en-US" sz="2200" dirty="0" smtClean="0"/>
              <a:t>Nicaragua</a:t>
            </a:r>
          </a:p>
          <a:p>
            <a:pPr lvl="2"/>
            <a:r>
              <a:rPr lang="en-US" sz="2200" dirty="0" smtClean="0"/>
              <a:t>Guatemala</a:t>
            </a:r>
          </a:p>
          <a:p>
            <a:pPr lvl="2"/>
            <a:r>
              <a:rPr lang="en-US" sz="2200" dirty="0" smtClean="0"/>
              <a:t>Honduras</a:t>
            </a:r>
          </a:p>
          <a:p>
            <a:r>
              <a:rPr lang="en-US" b="1" dirty="0" smtClean="0">
                <a:solidFill>
                  <a:srgbClr val="0000FF"/>
                </a:solidFill>
              </a:rPr>
              <a:t>Flooding response </a:t>
            </a:r>
            <a:r>
              <a:rPr lang="en-US" dirty="0" smtClean="0"/>
              <a:t>for hurricane storm surge, flash floods</a:t>
            </a:r>
          </a:p>
        </p:txBody>
      </p:sp>
    </p:spTree>
    <p:extLst>
      <p:ext uri="{BB962C8B-B14F-4D97-AF65-F5344CB8AC3E}">
        <p14:creationId xmlns:p14="http://schemas.microsoft.com/office/powerpoint/2010/main" val="1723641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 SBA progress to date</a:t>
            </a:r>
            <a:endParaRPr lang="en-US" dirty="0"/>
          </a:p>
        </p:txBody>
      </p:sp>
      <p:sp>
        <p:nvSpPr>
          <p:cNvPr id="3" name="Content Placeholder 2"/>
          <p:cNvSpPr>
            <a:spLocks noGrp="1"/>
          </p:cNvSpPr>
          <p:nvPr>
            <p:ph idx="1"/>
          </p:nvPr>
        </p:nvSpPr>
        <p:spPr/>
        <p:txBody>
          <a:bodyPr/>
          <a:lstStyle/>
          <a:p>
            <a:r>
              <a:rPr lang="en-US" dirty="0" err="1" smtClean="0"/>
              <a:t>Silvano</a:t>
            </a:r>
            <a:r>
              <a:rPr lang="en-US" dirty="0" smtClean="0"/>
              <a:t> </a:t>
            </a:r>
            <a:r>
              <a:rPr lang="en-US" dirty="0" err="1" smtClean="0"/>
              <a:t>Pecora</a:t>
            </a:r>
            <a:r>
              <a:rPr lang="en-US" dirty="0" smtClean="0"/>
              <a:t>, Italian regional water agency:</a:t>
            </a:r>
          </a:p>
          <a:p>
            <a:pPr lvl="1"/>
            <a:r>
              <a:rPr lang="en-US" sz="2000" dirty="0" smtClean="0"/>
              <a:t>Leading “sensor web” subgroup of GEOSS Water Services team</a:t>
            </a:r>
          </a:p>
          <a:p>
            <a:pPr lvl="1"/>
            <a:r>
              <a:rPr lang="en-US" sz="2000" dirty="0" smtClean="0"/>
              <a:t>Ported and implemented CUAHSI HIS to Linux/MySQL in Italy</a:t>
            </a:r>
          </a:p>
          <a:p>
            <a:pPr lvl="1"/>
            <a:r>
              <a:rPr lang="en-US" sz="2000" dirty="0" smtClean="0"/>
              <a:t>Coordinating with Stefano </a:t>
            </a:r>
            <a:r>
              <a:rPr lang="en-US" sz="2000" dirty="0" err="1" smtClean="0"/>
              <a:t>Nativi</a:t>
            </a:r>
            <a:r>
              <a:rPr lang="en-US" sz="2000" dirty="0" smtClean="0"/>
              <a:t>, Italy CNR, for integration with GI-CAT and GEOSS Discovery &amp; Access Broker framework</a:t>
            </a:r>
          </a:p>
          <a:p>
            <a:pPr lvl="1"/>
            <a:r>
              <a:rPr lang="en-US" sz="2000" dirty="0" smtClean="0"/>
              <a:t>Implementing CUAHSI HIS throughout all Italian water regions</a:t>
            </a:r>
          </a:p>
          <a:p>
            <a:pPr lvl="1"/>
            <a:r>
              <a:rPr lang="en-US" sz="2000" dirty="0" smtClean="0"/>
              <a:t>Working with </a:t>
            </a:r>
            <a:r>
              <a:rPr lang="en-US" sz="2000" dirty="0" err="1" smtClean="0"/>
              <a:t>USask</a:t>
            </a:r>
            <a:r>
              <a:rPr lang="en-US" sz="2000" dirty="0" smtClean="0"/>
              <a:t> Canada, and New Zealand agencies to encourage consistent practice for federating regional data providers for national picture</a:t>
            </a:r>
            <a:endParaRPr lang="en-US" sz="2000" dirty="0"/>
          </a:p>
        </p:txBody>
      </p:sp>
    </p:spTree>
    <p:extLst>
      <p:ext uri="{BB962C8B-B14F-4D97-AF65-F5344CB8AC3E}">
        <p14:creationId xmlns:p14="http://schemas.microsoft.com/office/powerpoint/2010/main" val="3333398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endParaRPr lang="en-US" sz="1400" b="1" dirty="0">
              <a:solidFill>
                <a:srgbClr val="000000"/>
              </a:solidFill>
            </a:endParaRPr>
          </a:p>
        </p:txBody>
      </p:sp>
      <p:sp>
        <p:nvSpPr>
          <p:cNvPr id="2" name="Title 1"/>
          <p:cNvSpPr>
            <a:spLocks noGrp="1"/>
          </p:cNvSpPr>
          <p:nvPr>
            <p:ph type="title"/>
          </p:nvPr>
        </p:nvSpPr>
        <p:spPr>
          <a:xfrm>
            <a:off x="685800" y="745260"/>
            <a:ext cx="7772400" cy="542925"/>
          </a:xfrm>
        </p:spPr>
        <p:txBody>
          <a:bodyPr/>
          <a:lstStyle/>
          <a:p>
            <a:r>
              <a:rPr lang="en-US" dirty="0" smtClean="0"/>
              <a:t>Italy – 19 regions and 2 provinces</a:t>
            </a:r>
            <a:endParaRPr lang="en-US" dirty="0"/>
          </a:p>
        </p:txBody>
      </p:sp>
      <p:sp>
        <p:nvSpPr>
          <p:cNvPr id="12" name="TextBox 11"/>
          <p:cNvSpPr txBox="1"/>
          <p:nvPr/>
        </p:nvSpPr>
        <p:spPr>
          <a:xfrm>
            <a:off x="1671862" y="5883276"/>
            <a:ext cx="6783163"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pPr defTabSz="914400"/>
            <a:r>
              <a:rPr lang="en-NZ" dirty="0" smtClean="0">
                <a:solidFill>
                  <a:prstClr val="white"/>
                </a:solidFill>
              </a:rPr>
              <a:t>ISPRA is the NIWA of Italy ….</a:t>
            </a:r>
          </a:p>
          <a:p>
            <a:pPr defTabSz="914400"/>
            <a:r>
              <a:rPr lang="en-NZ" dirty="0" smtClean="0">
                <a:solidFill>
                  <a:prstClr val="white"/>
                </a:solidFill>
              </a:rPr>
              <a:t>….Hydrometric measurement was regionalized in 2002</a:t>
            </a:r>
            <a:endParaRPr lang="en-NZ" dirty="0">
              <a:solidFill>
                <a:prstClr val="white"/>
              </a:solidFill>
            </a:endParaRPr>
          </a:p>
        </p:txBody>
      </p:sp>
      <p:sp>
        <p:nvSpPr>
          <p:cNvPr id="6" name="Rectangle 5"/>
          <p:cNvSpPr/>
          <p:nvPr/>
        </p:nvSpPr>
        <p:spPr>
          <a:xfrm>
            <a:off x="359924" y="1537385"/>
            <a:ext cx="4572000" cy="584775"/>
          </a:xfrm>
          <a:prstGeom prst="rect">
            <a:avLst/>
          </a:prstGeom>
        </p:spPr>
        <p:txBody>
          <a:bodyPr>
            <a:spAutoFit/>
          </a:bodyPr>
          <a:lstStyle/>
          <a:p>
            <a:pPr defTabSz="914400"/>
            <a:r>
              <a:rPr lang="en-US" sz="1600" b="1" dirty="0">
                <a:solidFill>
                  <a:prstClr val="white"/>
                </a:solidFill>
              </a:rPr>
              <a:t>National Institute for Environmental Protection and </a:t>
            </a:r>
            <a:r>
              <a:rPr lang="en-US" sz="1600" b="1" dirty="0" smtClean="0">
                <a:solidFill>
                  <a:prstClr val="white"/>
                </a:solidFill>
              </a:rPr>
              <a:t>Research (ISPRA)</a:t>
            </a:r>
            <a:endParaRPr lang="en-US" sz="1600" dirty="0">
              <a:solidFill>
                <a:prstClr val="white"/>
              </a:solidFill>
            </a:endParaRPr>
          </a:p>
        </p:txBody>
      </p:sp>
      <p:pic>
        <p:nvPicPr>
          <p:cNvPr id="3" name="Picture 2"/>
          <p:cNvPicPr>
            <a:picLocks noChangeAspect="1"/>
          </p:cNvPicPr>
          <p:nvPr/>
        </p:nvPicPr>
        <p:blipFill>
          <a:blip r:embed="rId2"/>
          <a:stretch>
            <a:fillRect/>
          </a:stretch>
        </p:blipFill>
        <p:spPr>
          <a:xfrm>
            <a:off x="4217291" y="1650907"/>
            <a:ext cx="3976250" cy="4232369"/>
          </a:xfrm>
          <a:prstGeom prst="rect">
            <a:avLst/>
          </a:prstGeom>
        </p:spPr>
      </p:pic>
      <p:pic>
        <p:nvPicPr>
          <p:cNvPr id="7" name="Picture 6"/>
          <p:cNvPicPr>
            <a:picLocks noChangeAspect="1"/>
          </p:cNvPicPr>
          <p:nvPr/>
        </p:nvPicPr>
        <p:blipFill>
          <a:blip r:embed="rId3"/>
          <a:stretch>
            <a:fillRect/>
          </a:stretch>
        </p:blipFill>
        <p:spPr>
          <a:xfrm>
            <a:off x="415842" y="2238556"/>
            <a:ext cx="2555958" cy="4244917"/>
          </a:xfrm>
          <a:prstGeom prst="rect">
            <a:avLst/>
          </a:prstGeom>
        </p:spPr>
      </p:pic>
      <p:pic>
        <p:nvPicPr>
          <p:cNvPr id="8" name="Picture 8" descr="ISPRA-RGB-BAND"/>
          <p:cNvPicPr>
            <a:picLocks noChangeAspect="1" noChangeArrowheads="1"/>
          </p:cNvPicPr>
          <p:nvPr/>
        </p:nvPicPr>
        <p:blipFill>
          <a:blip r:embed="rId4" cstate="print"/>
          <a:srcRect/>
          <a:stretch>
            <a:fillRect/>
          </a:stretch>
        </p:blipFill>
        <p:spPr bwMode="auto">
          <a:xfrm>
            <a:off x="6330817" y="2121851"/>
            <a:ext cx="2813183" cy="1188720"/>
          </a:xfrm>
          <a:prstGeom prst="rect">
            <a:avLst/>
          </a:prstGeom>
          <a:solidFill>
            <a:schemeClr val="bg1"/>
          </a:solidFill>
          <a:ln w="9525">
            <a:noFill/>
            <a:miter lim="800000"/>
            <a:headEnd/>
            <a:tailEnd/>
          </a:ln>
        </p:spPr>
      </p:pic>
    </p:spTree>
    <p:extLst>
      <p:ext uri="{BB962C8B-B14F-4D97-AF65-F5344CB8AC3E}">
        <p14:creationId xmlns:p14="http://schemas.microsoft.com/office/powerpoint/2010/main" val="464963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4"/>
          <p:cNvPicPr>
            <a:picLocks noChangeAspect="1" noChangeArrowheads="1"/>
          </p:cNvPicPr>
          <p:nvPr/>
        </p:nvPicPr>
        <p:blipFill>
          <a:blip r:embed="rId2"/>
          <a:srcRect/>
          <a:stretch>
            <a:fillRect/>
          </a:stretch>
        </p:blipFill>
        <p:spPr bwMode="auto">
          <a:xfrm>
            <a:off x="1192611" y="1172207"/>
            <a:ext cx="7374653" cy="5530154"/>
          </a:xfrm>
          <a:prstGeom prst="rect">
            <a:avLst/>
          </a:prstGeom>
          <a:noFill/>
          <a:ln w="9525">
            <a:noFill/>
            <a:miter lim="800000"/>
            <a:headEnd/>
            <a:tailEnd/>
          </a:ln>
        </p:spPr>
      </p:pic>
      <p:sp>
        <p:nvSpPr>
          <p:cNvPr id="4" name="Titolo 1"/>
          <p:cNvSpPr>
            <a:spLocks noGrp="1"/>
          </p:cNvSpPr>
          <p:nvPr>
            <p:ph type="title"/>
          </p:nvPr>
        </p:nvSpPr>
        <p:spPr>
          <a:xfrm>
            <a:off x="457200" y="226243"/>
            <a:ext cx="8229600" cy="1371600"/>
          </a:xfrm>
        </p:spPr>
        <p:txBody>
          <a:bodyPr/>
          <a:lstStyle/>
          <a:p>
            <a:pPr>
              <a:defRPr/>
            </a:pPr>
            <a:r>
              <a:rPr lang="it-IT" sz="2800" b="1" kern="1200" dirty="0" smtClean="0">
                <a:solidFill>
                  <a:srgbClr val="007AC2"/>
                </a:solidFill>
                <a:cs typeface="Avenir LT Std 85 Heavy"/>
              </a:rPr>
              <a:t>Water data </a:t>
            </a:r>
            <a:r>
              <a:rPr lang="it-IT" sz="2800" b="1" kern="1200" dirty="0" err="1" smtClean="0">
                <a:solidFill>
                  <a:srgbClr val="007AC2"/>
                </a:solidFill>
                <a:cs typeface="Avenir LT Std 85 Heavy"/>
              </a:rPr>
              <a:t>hub</a:t>
            </a:r>
            <a:r>
              <a:rPr lang="it-IT" sz="2800" b="1" kern="1200" dirty="0" smtClean="0">
                <a:solidFill>
                  <a:srgbClr val="007AC2"/>
                </a:solidFill>
                <a:cs typeface="Avenir LT Std 85 Heavy"/>
              </a:rPr>
              <a:t> in Italy</a:t>
            </a:r>
            <a:endParaRPr lang="en-US" sz="2800" b="1" kern="1200" dirty="0" smtClean="0">
              <a:solidFill>
                <a:srgbClr val="007AC2"/>
              </a:solidFill>
              <a:cs typeface="Avenir LT Std 85 Heavy"/>
            </a:endParaRPr>
          </a:p>
        </p:txBody>
      </p:sp>
    </p:spTree>
    <p:extLst>
      <p:ext uri="{BB962C8B-B14F-4D97-AF65-F5344CB8AC3E}">
        <p14:creationId xmlns:p14="http://schemas.microsoft.com/office/powerpoint/2010/main" val="32505357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1208099" y="1208427"/>
            <a:ext cx="7479049" cy="5397091"/>
          </a:xfrm>
          <a:prstGeom prst="rect">
            <a:avLst/>
          </a:prstGeom>
          <a:noFill/>
          <a:ln w="9525" algn="ctr">
            <a:noFill/>
            <a:miter lim="800000"/>
            <a:headEnd/>
            <a:tailEnd/>
          </a:ln>
        </p:spPr>
      </p:pic>
      <p:sp>
        <p:nvSpPr>
          <p:cNvPr id="3" name="Titolo 1"/>
          <p:cNvSpPr>
            <a:spLocks noGrp="1"/>
          </p:cNvSpPr>
          <p:nvPr>
            <p:ph type="title"/>
          </p:nvPr>
        </p:nvSpPr>
        <p:spPr>
          <a:xfrm>
            <a:off x="457200" y="238605"/>
            <a:ext cx="8229600" cy="1371600"/>
          </a:xfrm>
        </p:spPr>
        <p:txBody>
          <a:bodyPr/>
          <a:lstStyle/>
          <a:p>
            <a:pPr>
              <a:defRPr/>
            </a:pPr>
            <a:r>
              <a:rPr lang="it-IT" kern="1200" dirty="0">
                <a:solidFill>
                  <a:srgbClr val="007AC2"/>
                </a:solidFill>
                <a:cs typeface="Avenir LT Std 85 Heavy"/>
              </a:rPr>
              <a:t>Water data </a:t>
            </a:r>
            <a:r>
              <a:rPr lang="it-IT" kern="1200" dirty="0" err="1">
                <a:solidFill>
                  <a:srgbClr val="007AC2"/>
                </a:solidFill>
                <a:cs typeface="Avenir LT Std 85 Heavy"/>
              </a:rPr>
              <a:t>hub</a:t>
            </a:r>
            <a:r>
              <a:rPr lang="it-IT" kern="1200" dirty="0">
                <a:solidFill>
                  <a:srgbClr val="007AC2"/>
                </a:solidFill>
                <a:cs typeface="Avenir LT Std 85 Heavy"/>
              </a:rPr>
              <a:t> in </a:t>
            </a:r>
            <a:r>
              <a:rPr lang="it-IT" kern="1200" dirty="0" err="1">
                <a:solidFill>
                  <a:srgbClr val="007AC2"/>
                </a:solidFill>
                <a:cs typeface="Avenir LT Std 85 Heavy"/>
              </a:rPr>
              <a:t>Italy</a:t>
            </a:r>
            <a:endParaRPr lang="en-US" sz="2800" b="1" kern="1200" dirty="0" smtClean="0">
              <a:solidFill>
                <a:srgbClr val="007AC2"/>
              </a:solidFill>
              <a:cs typeface="Avenir LT Std 85 Heavy"/>
            </a:endParaRPr>
          </a:p>
        </p:txBody>
      </p:sp>
    </p:spTree>
    <p:extLst>
      <p:ext uri="{BB962C8B-B14F-4D97-AF65-F5344CB8AC3E}">
        <p14:creationId xmlns:p14="http://schemas.microsoft.com/office/powerpoint/2010/main" val="10773341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45260"/>
            <a:ext cx="7772400" cy="542925"/>
          </a:xfrm>
        </p:spPr>
        <p:txBody>
          <a:bodyPr/>
          <a:lstStyle/>
          <a:p>
            <a:r>
              <a:rPr lang="en-US" dirty="0" smtClean="0"/>
              <a:t>Canada hub from </a:t>
            </a:r>
            <a:r>
              <a:rPr lang="en-US" dirty="0" err="1" smtClean="0"/>
              <a:t>USask</a:t>
            </a:r>
            <a:r>
              <a:rPr lang="en-US" dirty="0" smtClean="0"/>
              <a:t>-GIWS</a:t>
            </a:r>
            <a:endParaRPr lang="en-US" dirty="0"/>
          </a:p>
        </p:txBody>
      </p:sp>
      <p:pic>
        <p:nvPicPr>
          <p:cNvPr id="3" name="Picture 2"/>
          <p:cNvPicPr>
            <a:picLocks noChangeAspect="1"/>
          </p:cNvPicPr>
          <p:nvPr/>
        </p:nvPicPr>
        <p:blipFill>
          <a:blip r:embed="rId2"/>
          <a:stretch>
            <a:fillRect/>
          </a:stretch>
        </p:blipFill>
        <p:spPr>
          <a:xfrm>
            <a:off x="955977" y="1320671"/>
            <a:ext cx="7502223" cy="5396538"/>
          </a:xfrm>
          <a:prstGeom prst="rect">
            <a:avLst/>
          </a:prstGeom>
        </p:spPr>
      </p:pic>
    </p:spTree>
    <p:extLst>
      <p:ext uri="{BB962C8B-B14F-4D97-AF65-F5344CB8AC3E}">
        <p14:creationId xmlns:p14="http://schemas.microsoft.com/office/powerpoint/2010/main" val="1540704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endParaRPr>
          </a:p>
        </p:txBody>
      </p:sp>
      <p:sp>
        <p:nvSpPr>
          <p:cNvPr id="2" name="Title 1"/>
          <p:cNvSpPr>
            <a:spLocks noGrp="1"/>
          </p:cNvSpPr>
          <p:nvPr>
            <p:ph type="title"/>
          </p:nvPr>
        </p:nvSpPr>
        <p:spPr>
          <a:xfrm>
            <a:off x="685800" y="760750"/>
            <a:ext cx="7772400" cy="542925"/>
          </a:xfrm>
        </p:spPr>
        <p:txBody>
          <a:bodyPr/>
          <a:lstStyle/>
          <a:p>
            <a:r>
              <a:rPr lang="en-US" dirty="0" smtClean="0"/>
              <a:t>New Zealand – 16 regions</a:t>
            </a:r>
            <a:endParaRPr lang="en-US" dirty="0"/>
          </a:p>
        </p:txBody>
      </p:sp>
      <p:sp>
        <p:nvSpPr>
          <p:cNvPr id="10" name="TextBox 9"/>
          <p:cNvSpPr txBox="1"/>
          <p:nvPr/>
        </p:nvSpPr>
        <p:spPr>
          <a:xfrm>
            <a:off x="2604246" y="1568758"/>
            <a:ext cx="6463554" cy="553998"/>
          </a:xfrm>
          <a:prstGeom prst="rect">
            <a:avLst/>
          </a:prstGeom>
          <a:noFill/>
        </p:spPr>
        <p:txBody>
          <a:bodyPr wrap="square" lIns="0" tIns="0" rIns="0" bIns="0" rtlCol="0">
            <a:spAutoFit/>
          </a:bodyPr>
          <a:lstStyle/>
          <a:p>
            <a:r>
              <a:rPr lang="en-US" b="1" dirty="0">
                <a:solidFill>
                  <a:srgbClr val="5EB4E6">
                    <a:lumMod val="20000"/>
                    <a:lumOff val="80000"/>
                  </a:srgbClr>
                </a:solidFill>
              </a:rPr>
              <a:t>NIWA</a:t>
            </a:r>
            <a:r>
              <a:rPr lang="en-US" dirty="0">
                <a:solidFill>
                  <a:srgbClr val="5EB4E6">
                    <a:lumMod val="20000"/>
                    <a:lumOff val="80000"/>
                  </a:srgbClr>
                </a:solidFill>
              </a:rPr>
              <a:t> operates about 20% of 1300 hydrometric stations </a:t>
            </a:r>
            <a:br>
              <a:rPr lang="en-US" dirty="0">
                <a:solidFill>
                  <a:srgbClr val="5EB4E6">
                    <a:lumMod val="20000"/>
                    <a:lumOff val="80000"/>
                  </a:srgbClr>
                </a:solidFill>
              </a:rPr>
            </a:br>
            <a:r>
              <a:rPr lang="en-US" dirty="0">
                <a:solidFill>
                  <a:srgbClr val="5EB4E6">
                    <a:lumMod val="20000"/>
                    <a:lumOff val="80000"/>
                  </a:srgbClr>
                </a:solidFill>
              </a:rPr>
              <a:t>Regional authorities operate about 80% of stations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87790"/>
            <a:ext cx="1677108" cy="526928"/>
          </a:xfrm>
          <a:prstGeom prst="rect">
            <a:avLst/>
          </a:prstGeom>
          <a:noFill/>
          <a:ln w="19050" cmpd="sng">
            <a:solidFill>
              <a:schemeClr val="accent4">
                <a:lumMod val="60000"/>
                <a:lumOff val="4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1671862" y="5883276"/>
            <a:ext cx="6783163"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r>
              <a:rPr lang="en-NZ" dirty="0">
                <a:solidFill>
                  <a:prstClr val="white"/>
                </a:solidFill>
              </a:rPr>
              <a:t>Develop a federated </a:t>
            </a:r>
            <a:r>
              <a:rPr lang="en-NZ" dirty="0" smtClean="0">
                <a:solidFill>
                  <a:prstClr val="white"/>
                </a:solidFill>
              </a:rPr>
              <a:t>hydrological information infrastructure . . .</a:t>
            </a:r>
            <a:endParaRPr lang="en-NZ" dirty="0">
              <a:solidFill>
                <a:prstClr val="white"/>
              </a:solidFill>
            </a:endParaRPr>
          </a:p>
          <a:p>
            <a:r>
              <a:rPr lang="en-NZ" dirty="0">
                <a:solidFill>
                  <a:prstClr val="white"/>
                </a:solidFill>
              </a:rPr>
              <a:t>                    </a:t>
            </a:r>
            <a:r>
              <a:rPr lang="en-NZ" dirty="0" smtClean="0">
                <a:solidFill>
                  <a:prstClr val="white"/>
                </a:solidFill>
              </a:rPr>
              <a:t>. . . linking nationally and regionally collected data</a:t>
            </a:r>
            <a:endParaRPr lang="en-NZ" dirty="0">
              <a:solidFill>
                <a:prstClr val="white"/>
              </a:solidFill>
            </a:endParaRPr>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4274" y="2303297"/>
            <a:ext cx="2583949" cy="3429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438400"/>
            <a:ext cx="3038475" cy="2924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98654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untitled.bmp"/>
          <p:cNvPicPr>
            <a:picLocks noChangeAspect="1"/>
          </p:cNvPicPr>
          <p:nvPr/>
        </p:nvPicPr>
        <p:blipFill>
          <a:blip r:embed="rId2"/>
          <a:stretch>
            <a:fillRect/>
          </a:stretch>
        </p:blipFill>
        <p:spPr>
          <a:xfrm>
            <a:off x="87777" y="1502479"/>
            <a:ext cx="9025247" cy="5076701"/>
          </a:xfrm>
          <a:prstGeom prst="rect">
            <a:avLst/>
          </a:prstGeom>
        </p:spPr>
      </p:pic>
      <p:sp>
        <p:nvSpPr>
          <p:cNvPr id="3" name="Titolo 1"/>
          <p:cNvSpPr>
            <a:spLocks noGrp="1"/>
          </p:cNvSpPr>
          <p:nvPr>
            <p:ph type="title"/>
          </p:nvPr>
        </p:nvSpPr>
        <p:spPr>
          <a:xfrm>
            <a:off x="457200" y="285075"/>
            <a:ext cx="8229600" cy="1371600"/>
          </a:xfrm>
        </p:spPr>
        <p:txBody>
          <a:bodyPr/>
          <a:lstStyle/>
          <a:p>
            <a:pPr>
              <a:defRPr/>
            </a:pPr>
            <a:r>
              <a:rPr lang="it-IT" sz="2800" b="1" kern="1200" dirty="0" err="1" smtClean="0">
                <a:solidFill>
                  <a:srgbClr val="007AC2"/>
                </a:solidFill>
                <a:cs typeface="Avenir LT Std 85 Heavy"/>
              </a:rPr>
              <a:t>Interoperability</a:t>
            </a:r>
            <a:r>
              <a:rPr lang="it-IT" sz="2800" b="1" kern="1200" dirty="0" smtClean="0">
                <a:solidFill>
                  <a:srgbClr val="007AC2"/>
                </a:solidFill>
                <a:cs typeface="Avenir LT Std 85 Heavy"/>
              </a:rPr>
              <a:t> </a:t>
            </a:r>
            <a:r>
              <a:rPr lang="it-IT" sz="2800" b="1" kern="1200" dirty="0" err="1" smtClean="0">
                <a:solidFill>
                  <a:srgbClr val="007AC2"/>
                </a:solidFill>
                <a:cs typeface="Avenir LT Std 85 Heavy"/>
              </a:rPr>
              <a:t>by</a:t>
            </a:r>
            <a:r>
              <a:rPr lang="it-IT" sz="2800" b="1" kern="1200" dirty="0" smtClean="0">
                <a:solidFill>
                  <a:srgbClr val="007AC2"/>
                </a:solidFill>
                <a:cs typeface="Avenir LT Std 85 Heavy"/>
              </a:rPr>
              <a:t> </a:t>
            </a:r>
            <a:r>
              <a:rPr lang="it-IT" sz="2800" b="1" kern="1200" dirty="0" err="1" smtClean="0">
                <a:solidFill>
                  <a:srgbClr val="007AC2"/>
                </a:solidFill>
                <a:cs typeface="Avenir LT Std 85 Heavy"/>
              </a:rPr>
              <a:t>WorldView</a:t>
            </a:r>
            <a:r>
              <a:rPr lang="it-IT" sz="2800" b="1" kern="1200" dirty="0" smtClean="0">
                <a:solidFill>
                  <a:srgbClr val="007AC2"/>
                </a:solidFill>
                <a:cs typeface="Avenir LT Std 85 Heavy"/>
              </a:rPr>
              <a:t> client</a:t>
            </a:r>
            <a:endParaRPr lang="en-US" sz="2800" b="1" kern="1200" dirty="0" smtClean="0">
              <a:solidFill>
                <a:srgbClr val="007AC2"/>
              </a:solidFill>
              <a:cs typeface="Avenir LT Std 85 Heavy"/>
            </a:endParaRPr>
          </a:p>
        </p:txBody>
      </p:sp>
    </p:spTree>
    <p:extLst>
      <p:ext uri="{BB962C8B-B14F-4D97-AF65-F5344CB8AC3E}">
        <p14:creationId xmlns:p14="http://schemas.microsoft.com/office/powerpoint/2010/main" val="28161658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Significant issues, lessons learned</a:t>
            </a:r>
            <a:endParaRPr lang="en-US" dirty="0"/>
          </a:p>
        </p:txBody>
      </p:sp>
      <p:sp>
        <p:nvSpPr>
          <p:cNvPr id="3" name="Content Placeholder 2"/>
          <p:cNvSpPr>
            <a:spLocks noGrp="1"/>
          </p:cNvSpPr>
          <p:nvPr>
            <p:ph idx="1"/>
          </p:nvPr>
        </p:nvSpPr>
        <p:spPr>
          <a:xfrm>
            <a:off x="685799" y="1381125"/>
            <a:ext cx="7917105" cy="4933950"/>
          </a:xfrm>
        </p:spPr>
        <p:txBody>
          <a:bodyPr/>
          <a:lstStyle/>
          <a:p>
            <a:r>
              <a:rPr lang="en-US" dirty="0" smtClean="0"/>
              <a:t>GEOSS Common Infrastructure (GCI) integration needs work</a:t>
            </a:r>
          </a:p>
          <a:p>
            <a:pPr lvl="1"/>
            <a:r>
              <a:rPr lang="en-US" sz="2000" dirty="0" smtClean="0"/>
              <a:t>GEOSS Clearinghouse harvests metadata from resources registered in the GEOSS Components and Services Registry (CSR) </a:t>
            </a:r>
          </a:p>
          <a:p>
            <a:pPr lvl="1"/>
            <a:r>
              <a:rPr lang="en-US" sz="2000" dirty="0" smtClean="0"/>
              <a:t>GEO Discovery and Access Broker (DAB) provides syntactic &amp; semantic mediation services, and can work with resources found via Clearinghouse or registered directly with DAB</a:t>
            </a:r>
          </a:p>
          <a:p>
            <a:pPr lvl="1"/>
            <a:r>
              <a:rPr lang="en-US" sz="2000" dirty="0" smtClean="0"/>
              <a:t>GEOSS Clearinghouse does not provide full support for </a:t>
            </a:r>
            <a:br>
              <a:rPr lang="en-US" sz="2000" dirty="0" smtClean="0"/>
            </a:br>
            <a:r>
              <a:rPr lang="en-US" sz="2000" dirty="0" smtClean="0"/>
              <a:t>non-ISO type resources, </a:t>
            </a:r>
            <a:r>
              <a:rPr lang="en-US" sz="2000" dirty="0" err="1" smtClean="0"/>
              <a:t>eg</a:t>
            </a:r>
            <a:r>
              <a:rPr lang="en-US" sz="2000" dirty="0" smtClean="0"/>
              <a:t>, THREDDS, OPeNDAP; these must be registered directly in DAB</a:t>
            </a:r>
          </a:p>
          <a:p>
            <a:pPr lvl="1"/>
            <a:r>
              <a:rPr lang="en-US" sz="2000" dirty="0" smtClean="0"/>
              <a:t>But resources should not be registered in both CSR and DAB, to avoid redundant metadata capture (not synchronized)</a:t>
            </a:r>
          </a:p>
          <a:p>
            <a:r>
              <a:rPr lang="en-US" dirty="0" smtClean="0"/>
              <a:t>This is fairly recent issue; GEO Standards &amp; Interoperability Forum (SIF) exploring</a:t>
            </a:r>
            <a:r>
              <a:rPr lang="en-US" dirty="0" smtClean="0">
                <a:solidFill>
                  <a:srgbClr val="000090"/>
                </a:solidFill>
              </a:rPr>
              <a:t> </a:t>
            </a:r>
            <a:r>
              <a:rPr lang="en-US" sz="1800" dirty="0" smtClean="0">
                <a:solidFill>
                  <a:srgbClr val="000090"/>
                </a:solidFill>
              </a:rPr>
              <a:t>[GEO IN-03 task?]</a:t>
            </a:r>
            <a:endParaRPr lang="en-US" sz="1200" dirty="0" smtClean="0">
              <a:solidFill>
                <a:srgbClr val="000090"/>
              </a:solidFill>
            </a:endParaRPr>
          </a:p>
        </p:txBody>
      </p:sp>
    </p:spTree>
    <p:extLst>
      <p:ext uri="{BB962C8B-B14F-4D97-AF65-F5344CB8AC3E}">
        <p14:creationId xmlns:p14="http://schemas.microsoft.com/office/powerpoint/2010/main" val="3329961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more info…</a:t>
            </a:r>
            <a:endParaRPr lang="en-US" dirty="0"/>
          </a:p>
        </p:txBody>
      </p:sp>
      <p:sp>
        <p:nvSpPr>
          <p:cNvPr id="3" name="Content Placeholder 2"/>
          <p:cNvSpPr>
            <a:spLocks noGrp="1"/>
          </p:cNvSpPr>
          <p:nvPr>
            <p:ph idx="1"/>
          </p:nvPr>
        </p:nvSpPr>
        <p:spPr/>
        <p:txBody>
          <a:bodyPr/>
          <a:lstStyle/>
          <a:p>
            <a:pPr marL="0" indent="0">
              <a:buNone/>
            </a:pPr>
            <a:r>
              <a:rPr lang="en-US" dirty="0" smtClean="0"/>
              <a:t>Wiki hosted by UAB CREAF</a:t>
            </a:r>
            <a:br>
              <a:rPr lang="en-US" dirty="0" smtClean="0"/>
            </a:br>
            <a:r>
              <a:rPr lang="en-US" sz="2000" dirty="0" smtClean="0">
                <a:hlinkClick r:id="rId2"/>
              </a:rPr>
              <a:t>http</a:t>
            </a:r>
            <a:r>
              <a:rPr lang="en-US" sz="2000" dirty="0">
                <a:hlinkClick r:id="rId2"/>
              </a:rPr>
              <a:t>://twiki.grumets.uab.es/twiki/bin/view/AIP6/</a:t>
            </a:r>
            <a:r>
              <a:rPr lang="en-US" sz="2000" dirty="0" smtClean="0">
                <a:hlinkClick r:id="rId2"/>
              </a:rPr>
              <a:t>WaterSBATopic</a:t>
            </a:r>
            <a:endParaRPr lang="en-US" sz="2000" dirty="0" smtClean="0"/>
          </a:p>
          <a:p>
            <a:r>
              <a:rPr lang="en-US" dirty="0" smtClean="0"/>
              <a:t>Proposed outline of work; meeting notes</a:t>
            </a:r>
          </a:p>
          <a:p>
            <a:r>
              <a:rPr lang="en-US" dirty="0" smtClean="0"/>
              <a:t>Prep for target event: </a:t>
            </a:r>
            <a:br>
              <a:rPr lang="en-US" dirty="0" smtClean="0"/>
            </a:br>
            <a:r>
              <a:rPr lang="en-US" dirty="0" smtClean="0"/>
              <a:t>GEO Summit, 14-17 January 2014, Geneva</a:t>
            </a:r>
          </a:p>
          <a:p>
            <a:pPr lvl="1"/>
            <a:r>
              <a:rPr lang="en-US" dirty="0" smtClean="0"/>
              <a:t>Ministerial Showcase (closed session)</a:t>
            </a:r>
          </a:p>
          <a:p>
            <a:pPr lvl="1"/>
            <a:r>
              <a:rPr lang="en-US" dirty="0" smtClean="0"/>
              <a:t>Demos, scenarios, use cases, servers/client apps</a:t>
            </a:r>
          </a:p>
          <a:p>
            <a:pPr lvl="1"/>
            <a:r>
              <a:rPr lang="en-US" dirty="0" smtClean="0">
                <a:hlinkClick r:id="rId3"/>
              </a:rPr>
              <a:t>AIP6 </a:t>
            </a:r>
            <a:r>
              <a:rPr lang="en-US" dirty="0">
                <a:hlinkClick r:id="rId3"/>
              </a:rPr>
              <a:t>Client-Server Interoperability </a:t>
            </a:r>
            <a:r>
              <a:rPr lang="en-US" dirty="0" smtClean="0">
                <a:hlinkClick r:id="rId3"/>
              </a:rPr>
              <a:t>Matrix</a:t>
            </a:r>
            <a:endParaRPr lang="en-US" dirty="0" smtClean="0"/>
          </a:p>
          <a:p>
            <a:pPr lvl="1"/>
            <a:r>
              <a:rPr lang="en-US" dirty="0" err="1" smtClean="0">
                <a:hlinkClick r:id="rId4"/>
              </a:rPr>
              <a:t>Powerpoint</a:t>
            </a:r>
            <a:r>
              <a:rPr lang="en-US" dirty="0" smtClean="0">
                <a:hlinkClick r:id="rId4"/>
              </a:rPr>
              <a:t> </a:t>
            </a:r>
            <a:r>
              <a:rPr lang="en-US" dirty="0">
                <a:hlinkClick r:id="rId4"/>
              </a:rPr>
              <a:t>template and capture guidelines for AIP-6 demo videos</a:t>
            </a:r>
            <a:endParaRPr lang="en-US" dirty="0"/>
          </a:p>
        </p:txBody>
      </p:sp>
    </p:spTree>
    <p:extLst>
      <p:ext uri="{BB962C8B-B14F-4D97-AF65-F5344CB8AC3E}">
        <p14:creationId xmlns:p14="http://schemas.microsoft.com/office/powerpoint/2010/main" val="2159392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mmunities communicati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291" y="2169970"/>
            <a:ext cx="8456585" cy="4688030"/>
          </a:xfrm>
          <a:prstGeom prst="rect">
            <a:avLst/>
          </a:prstGeom>
        </p:spPr>
      </p:pic>
      <p:sp>
        <p:nvSpPr>
          <p:cNvPr id="2" name="Title 1"/>
          <p:cNvSpPr>
            <a:spLocks noGrp="1"/>
          </p:cNvSpPr>
          <p:nvPr>
            <p:ph type="title"/>
          </p:nvPr>
        </p:nvSpPr>
        <p:spPr>
          <a:xfrm>
            <a:off x="407019" y="851379"/>
            <a:ext cx="4533811" cy="2289899"/>
          </a:xfrm>
        </p:spPr>
        <p:txBody>
          <a:bodyPr/>
          <a:lstStyle/>
          <a:p>
            <a:r>
              <a:rPr lang="en-US" dirty="0" smtClean="0"/>
              <a:t>Thanks!</a:t>
            </a:r>
            <a:br>
              <a:rPr lang="en-US" dirty="0" smtClean="0"/>
            </a:br>
            <a:r>
              <a:rPr lang="en-US" dirty="0"/>
              <a:t/>
            </a:r>
            <a:br>
              <a:rPr lang="en-US" dirty="0"/>
            </a:br>
            <a:r>
              <a:rPr lang="en-US" sz="2000" dirty="0" smtClean="0"/>
              <a:t>David Arctur</a:t>
            </a:r>
            <a:br>
              <a:rPr lang="en-US" sz="2000" dirty="0" smtClean="0"/>
            </a:br>
            <a:r>
              <a:rPr lang="en-US" sz="2000" dirty="0" smtClean="0">
                <a:solidFill>
                  <a:srgbClr val="008000"/>
                </a:solidFill>
              </a:rPr>
              <a:t>Open Geospatial Consortium</a:t>
            </a:r>
            <a:r>
              <a:rPr lang="en-US" sz="2000" dirty="0" smtClean="0"/>
              <a:t/>
            </a:r>
            <a:br>
              <a:rPr lang="en-US" sz="2000" dirty="0" smtClean="0"/>
            </a:br>
            <a:r>
              <a:rPr lang="en-US" sz="2000" dirty="0" smtClean="0"/>
              <a:t>University of Texas at Austin</a:t>
            </a:r>
            <a:br>
              <a:rPr lang="en-US" sz="2000" dirty="0" smtClean="0"/>
            </a:br>
            <a:r>
              <a:rPr lang="en-US" sz="2000" dirty="0" err="1" smtClean="0"/>
              <a:t>david.arctur@utexas.edu</a:t>
            </a:r>
            <a:endParaRPr lang="en-US" sz="2000" dirty="0"/>
          </a:p>
        </p:txBody>
      </p:sp>
    </p:spTree>
    <p:extLst>
      <p:ext uri="{BB962C8B-B14F-4D97-AF65-F5344CB8AC3E}">
        <p14:creationId xmlns:p14="http://schemas.microsoft.com/office/powerpoint/2010/main" val="1803048244"/>
      </p:ext>
    </p:extLst>
  </p:cSld>
  <p:clrMapOvr>
    <a:masterClrMapping/>
  </p:clrMapOvr>
</p:sld>
</file>

<file path=ppt/theme/theme1.xml><?xml version="1.0" encoding="utf-8"?>
<a:theme xmlns:a="http://schemas.openxmlformats.org/drawingml/2006/main" name="GEO_powerpointtemplate">
  <a:themeElements>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EO_powerpoin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lnDef>
  </a:objectDefaults>
  <a:extraClrSchemeLst>
    <a:extraClrScheme>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O_powerpoint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O_powerpoint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O_powerpoint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O_powerpoint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O_powerpoint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O_powerpoint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O_powerpoint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O_powerpoint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O_powerpoint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O_powerpoint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O_powerpoint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1155</TotalTime>
  <Words>1636</Words>
  <Application>Microsoft Macintosh PowerPoint</Application>
  <PresentationFormat>On-screen Show (4:3)</PresentationFormat>
  <Paragraphs>195</Paragraphs>
  <Slides>29</Slides>
  <Notes>7</Notes>
  <HiddenSlides>2</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GEO_powerpointtemplate</vt:lpstr>
      <vt:lpstr>AIP-6 Water SBA GEOSS Water Services (GWS) Progress Update</vt:lpstr>
      <vt:lpstr>PowerPoint Presentation</vt:lpstr>
      <vt:lpstr>PowerPoint Presentation</vt:lpstr>
      <vt:lpstr>AIP-6 GEOSS Water Services</vt:lpstr>
      <vt:lpstr>Importance of regional / national data federation</vt:lpstr>
      <vt:lpstr>AIP-6 GEOSS Water Services</vt:lpstr>
      <vt:lpstr>Water Time Series Services Stack</vt:lpstr>
      <vt:lpstr>Global Earth Observation System of Systems (GEOSS) http://earthobservations.org  -  http://www.geoportal.org/ </vt:lpstr>
      <vt:lpstr>For quick discovery &amp; access</vt:lpstr>
      <vt:lpstr>PowerPoint Presentation</vt:lpstr>
      <vt:lpstr>AIP-5 Architecture and Interaction</vt:lpstr>
      <vt:lpstr>AIP-5 Architecture and Interaction</vt:lpstr>
      <vt:lpstr>AIP-6 GEOSS Water Services Team</vt:lpstr>
      <vt:lpstr>AIP-6 Thematic Goals – 1 </vt:lpstr>
      <vt:lpstr>AIP-6 Thematic Goals – 2 </vt:lpstr>
      <vt:lpstr>Project Output: enabling Thematic Maps of water information anyone can find &amp; use</vt:lpstr>
      <vt:lpstr>Global Water Maps</vt:lpstr>
      <vt:lpstr>World Soil Moisture </vt:lpstr>
      <vt:lpstr>Demonstration Scenarios, Use Cases</vt:lpstr>
      <vt:lpstr>Water SBA progress to date</vt:lpstr>
      <vt:lpstr>Italy – 19 regions and 2 provinces</vt:lpstr>
      <vt:lpstr>Water data hub in Italy</vt:lpstr>
      <vt:lpstr>Water data hub in Italy</vt:lpstr>
      <vt:lpstr>Canada hub from USask-GIWS</vt:lpstr>
      <vt:lpstr>New Zealand – 16 regions</vt:lpstr>
      <vt:lpstr>Interoperability by WorldView client</vt:lpstr>
      <vt:lpstr>Significant issues, lessons learned</vt:lpstr>
      <vt:lpstr>For more info…</vt:lpstr>
      <vt:lpstr>Thanks!  David Arctur Open Geospatial Consortium University of Texas at Austin david.arctur@utexas.edu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Arctur</dc:creator>
  <cp:lastModifiedBy>David Arctur</cp:lastModifiedBy>
  <cp:revision>95</cp:revision>
  <dcterms:created xsi:type="dcterms:W3CDTF">2013-03-18T22:09:28Z</dcterms:created>
  <dcterms:modified xsi:type="dcterms:W3CDTF">2013-09-23T10:16:10Z</dcterms:modified>
</cp:coreProperties>
</file>