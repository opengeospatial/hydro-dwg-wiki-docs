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15"/>
  </p:notesMasterIdLst>
  <p:handoutMasterIdLst>
    <p:handoutMasterId r:id="rId16"/>
  </p:handoutMasterIdLst>
  <p:sldIdLst>
    <p:sldId id="256" r:id="rId2"/>
    <p:sldId id="260" r:id="rId3"/>
    <p:sldId id="261" r:id="rId4"/>
    <p:sldId id="265" r:id="rId5"/>
    <p:sldId id="262" r:id="rId6"/>
    <p:sldId id="263" r:id="rId7"/>
    <p:sldId id="264" r:id="rId8"/>
    <p:sldId id="269" r:id="rId9"/>
    <p:sldId id="266" r:id="rId10"/>
    <p:sldId id="270" r:id="rId11"/>
    <p:sldId id="267" r:id="rId12"/>
    <p:sldId id="268" r:id="rId13"/>
    <p:sldId id="271" r:id="rId14"/>
  </p:sldIdLst>
  <p:sldSz cx="9144000" cy="6858000" type="screen4x3"/>
  <p:notesSz cx="6904038" cy="9220200"/>
  <p:defaultTextStyle>
    <a:defPPr>
      <a:defRPr lang="en-US"/>
    </a:defPPr>
    <a:lvl1pPr algn="l" rtl="0" fontAlgn="base">
      <a:spcBef>
        <a:spcPct val="0"/>
      </a:spcBef>
      <a:spcAft>
        <a:spcPct val="0"/>
      </a:spcAft>
      <a:defRPr sz="1000" b="1" kern="1200">
        <a:solidFill>
          <a:schemeClr val="tx1"/>
        </a:solidFill>
        <a:latin typeface="CG Times"/>
        <a:ea typeface="MS PGothic" pitchFamily="34" charset="-128"/>
        <a:cs typeface="Arial" pitchFamily="34" charset="0"/>
      </a:defRPr>
    </a:lvl1pPr>
    <a:lvl2pPr marL="457200" algn="l" rtl="0" fontAlgn="base">
      <a:spcBef>
        <a:spcPct val="0"/>
      </a:spcBef>
      <a:spcAft>
        <a:spcPct val="0"/>
      </a:spcAft>
      <a:defRPr sz="1000" b="1" kern="1200">
        <a:solidFill>
          <a:schemeClr val="tx1"/>
        </a:solidFill>
        <a:latin typeface="CG Times"/>
        <a:ea typeface="MS PGothic" pitchFamily="34" charset="-128"/>
        <a:cs typeface="Arial" pitchFamily="34" charset="0"/>
      </a:defRPr>
    </a:lvl2pPr>
    <a:lvl3pPr marL="914400" algn="l" rtl="0" fontAlgn="base">
      <a:spcBef>
        <a:spcPct val="0"/>
      </a:spcBef>
      <a:spcAft>
        <a:spcPct val="0"/>
      </a:spcAft>
      <a:defRPr sz="1000" b="1" kern="1200">
        <a:solidFill>
          <a:schemeClr val="tx1"/>
        </a:solidFill>
        <a:latin typeface="CG Times"/>
        <a:ea typeface="MS PGothic" pitchFamily="34" charset="-128"/>
        <a:cs typeface="Arial" pitchFamily="34" charset="0"/>
      </a:defRPr>
    </a:lvl3pPr>
    <a:lvl4pPr marL="1371600" algn="l" rtl="0" fontAlgn="base">
      <a:spcBef>
        <a:spcPct val="0"/>
      </a:spcBef>
      <a:spcAft>
        <a:spcPct val="0"/>
      </a:spcAft>
      <a:defRPr sz="1000" b="1" kern="1200">
        <a:solidFill>
          <a:schemeClr val="tx1"/>
        </a:solidFill>
        <a:latin typeface="CG Times"/>
        <a:ea typeface="MS PGothic" pitchFamily="34" charset="-128"/>
        <a:cs typeface="Arial" pitchFamily="34" charset="0"/>
      </a:defRPr>
    </a:lvl4pPr>
    <a:lvl5pPr marL="1828800" algn="l" rtl="0" fontAlgn="base">
      <a:spcBef>
        <a:spcPct val="0"/>
      </a:spcBef>
      <a:spcAft>
        <a:spcPct val="0"/>
      </a:spcAft>
      <a:defRPr sz="1000" b="1" kern="1200">
        <a:solidFill>
          <a:schemeClr val="tx1"/>
        </a:solidFill>
        <a:latin typeface="CG Times"/>
        <a:ea typeface="MS PGothic" pitchFamily="34" charset="-128"/>
        <a:cs typeface="Arial" pitchFamily="34" charset="0"/>
      </a:defRPr>
    </a:lvl5pPr>
    <a:lvl6pPr marL="2286000" algn="l" defTabSz="914400" rtl="0" eaLnBrk="1" latinLnBrk="0" hangingPunct="1">
      <a:defRPr sz="1000" b="1" kern="1200">
        <a:solidFill>
          <a:schemeClr val="tx1"/>
        </a:solidFill>
        <a:latin typeface="CG Times"/>
        <a:ea typeface="MS PGothic" pitchFamily="34" charset="-128"/>
        <a:cs typeface="Arial" pitchFamily="34" charset="0"/>
      </a:defRPr>
    </a:lvl6pPr>
    <a:lvl7pPr marL="2743200" algn="l" defTabSz="914400" rtl="0" eaLnBrk="1" latinLnBrk="0" hangingPunct="1">
      <a:defRPr sz="1000" b="1" kern="1200">
        <a:solidFill>
          <a:schemeClr val="tx1"/>
        </a:solidFill>
        <a:latin typeface="CG Times"/>
        <a:ea typeface="MS PGothic" pitchFamily="34" charset="-128"/>
        <a:cs typeface="Arial" pitchFamily="34" charset="0"/>
      </a:defRPr>
    </a:lvl7pPr>
    <a:lvl8pPr marL="3200400" algn="l" defTabSz="914400" rtl="0" eaLnBrk="1" latinLnBrk="0" hangingPunct="1">
      <a:defRPr sz="1000" b="1" kern="1200">
        <a:solidFill>
          <a:schemeClr val="tx1"/>
        </a:solidFill>
        <a:latin typeface="CG Times"/>
        <a:ea typeface="MS PGothic" pitchFamily="34" charset="-128"/>
        <a:cs typeface="Arial" pitchFamily="34" charset="0"/>
      </a:defRPr>
    </a:lvl8pPr>
    <a:lvl9pPr marL="3657600" algn="l" defTabSz="914400" rtl="0" eaLnBrk="1" latinLnBrk="0" hangingPunct="1">
      <a:defRPr sz="1000" b="1" kern="1200">
        <a:solidFill>
          <a:schemeClr val="tx1"/>
        </a:solidFill>
        <a:latin typeface="CG Times"/>
        <a:ea typeface="MS PGothic" pitchFamily="34" charset="-128"/>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6600"/>
    <a:srgbClr val="000066"/>
    <a:srgbClr val="FFFF99"/>
    <a:srgbClr val="969696"/>
    <a:srgbClr val="CCFFFF"/>
    <a:srgbClr val="5C090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3" d="100"/>
          <a:sy n="93" d="100"/>
        </p:scale>
        <p:origin x="-156" y="-90"/>
      </p:cViewPr>
      <p:guideLst>
        <p:guide orient="horz" pos="211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47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3" name="Rectangle 3"/>
          <p:cNvSpPr>
            <a:spLocks noGrp="1" noChangeArrowheads="1"/>
          </p:cNvSpPr>
          <p:nvPr>
            <p:ph type="dt" sz="quarter"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414724" name="Rectangle 4"/>
          <p:cNvSpPr>
            <a:spLocks noGrp="1" noChangeArrowheads="1"/>
          </p:cNvSpPr>
          <p:nvPr>
            <p:ph type="ftr" sz="quarter" idx="2"/>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5" name="Rectangle 5"/>
          <p:cNvSpPr>
            <a:spLocks noGrp="1" noChangeArrowheads="1"/>
          </p:cNvSpPr>
          <p:nvPr>
            <p:ph type="sldNum" sz="quarter" idx="3"/>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cs typeface="+mn-cs"/>
              </a:defRPr>
            </a:lvl1pPr>
          </a:lstStyle>
          <a:p>
            <a:pPr>
              <a:defRPr/>
            </a:pPr>
            <a:fld id="{13B37AE5-5225-4789-8835-731D8170E410}" type="slidenum">
              <a:rPr lang="en-US"/>
              <a:pPr>
                <a:defRPr/>
              </a:pPr>
              <a:t>‹#›</a:t>
            </a:fld>
            <a:endParaRPr lang="en-US"/>
          </a:p>
        </p:txBody>
      </p:sp>
    </p:spTree>
    <p:extLst>
      <p:ext uri="{BB962C8B-B14F-4D97-AF65-F5344CB8AC3E}">
        <p14:creationId xmlns:p14="http://schemas.microsoft.com/office/powerpoint/2010/main" val="12426416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1147763" y="692150"/>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20750" y="4379913"/>
            <a:ext cx="5062538" cy="4148137"/>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p>
            <a:pPr lvl="0"/>
            <a:r>
              <a:rPr lang="en-US" noProof="0" smtClean="0"/>
              <a:t>Click to edit Master text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5126" name="Rectangle 6"/>
          <p:cNvSpPr>
            <a:spLocks noGrp="1" noChangeArrowheads="1"/>
          </p:cNvSpPr>
          <p:nvPr>
            <p:ph type="ftr" sz="quarter" idx="4"/>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cs typeface="+mn-cs"/>
              </a:defRPr>
            </a:lvl1pPr>
          </a:lstStyle>
          <a:p>
            <a:pPr>
              <a:defRPr/>
            </a:pPr>
            <a:fld id="{8CCAD8EB-12A4-4C18-93C0-4BADCB13BDEA}" type="slidenum">
              <a:rPr lang="en-US"/>
              <a:pPr>
                <a:defRPr/>
              </a:pPr>
              <a:t>‹#›</a:t>
            </a:fld>
            <a:endParaRPr lang="en-US"/>
          </a:p>
        </p:txBody>
      </p:sp>
    </p:spTree>
    <p:extLst>
      <p:ext uri="{BB962C8B-B14F-4D97-AF65-F5344CB8AC3E}">
        <p14:creationId xmlns:p14="http://schemas.microsoft.com/office/powerpoint/2010/main" val="16068257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xfrm>
            <a:off x="-14336713" y="-11895138"/>
            <a:ext cx="16794163" cy="12595226"/>
          </a:xfrm>
          <a:ln/>
        </p:spPr>
      </p:sp>
      <p:sp>
        <p:nvSpPr>
          <p:cNvPr id="3" name="Notes Placeholder 2"/>
          <p:cNvSpPr>
            <a:spLocks noGrp="1"/>
          </p:cNvSpPr>
          <p:nvPr>
            <p:ph type="body" idx="1"/>
          </p:nvPr>
        </p:nvSpPr>
        <p:spPr/>
        <p:txBody>
          <a:bodyPr/>
          <a:lstStyle/>
          <a:p>
            <a:pPr>
              <a:defRPr/>
            </a:pPr>
            <a:r>
              <a:rPr lang="en-NZ" dirty="0" smtClean="0"/>
              <a:t>In almost all GEO benefit areas New Zealand situation is that monitoring is carried out:</a:t>
            </a:r>
          </a:p>
          <a:p>
            <a:pPr>
              <a:buFontTx/>
              <a:buChar char="•"/>
              <a:defRPr/>
            </a:pPr>
            <a:r>
              <a:rPr lang="en-NZ" dirty="0" smtClean="0">
                <a:latin typeface="Arial" charset="0"/>
              </a:rPr>
              <a:t> by Different agencies</a:t>
            </a:r>
          </a:p>
          <a:p>
            <a:pPr>
              <a:buFontTx/>
              <a:buChar char="•"/>
              <a:defRPr/>
            </a:pPr>
            <a:r>
              <a:rPr lang="en-NZ" dirty="0" smtClean="0">
                <a:latin typeface="Arial" charset="0"/>
              </a:rPr>
              <a:t> for Different projects</a:t>
            </a:r>
          </a:p>
          <a:p>
            <a:pPr>
              <a:buFontTx/>
              <a:buChar char="•"/>
              <a:defRPr/>
            </a:pPr>
            <a:r>
              <a:rPr lang="en-NZ" dirty="0" smtClean="0">
                <a:latin typeface="Arial" charset="0"/>
              </a:rPr>
              <a:t> for Different objectives</a:t>
            </a:r>
          </a:p>
          <a:p>
            <a:pPr>
              <a:buFontTx/>
              <a:buChar char="•"/>
              <a:defRPr/>
            </a:pPr>
            <a:r>
              <a:rPr lang="en-NZ" dirty="0" smtClean="0">
                <a:latin typeface="Arial" charset="0"/>
              </a:rPr>
              <a:t> by Different monitoring networks</a:t>
            </a:r>
          </a:p>
          <a:p>
            <a:pPr>
              <a:buFontTx/>
              <a:buChar char="•"/>
              <a:defRPr/>
            </a:pPr>
            <a:r>
              <a:rPr lang="en-NZ" dirty="0" smtClean="0">
                <a:latin typeface="Arial" charset="0"/>
              </a:rPr>
              <a:t> to Different standards</a:t>
            </a:r>
          </a:p>
          <a:p>
            <a:pPr>
              <a:buFontTx/>
              <a:buChar char="•"/>
              <a:defRPr/>
            </a:pPr>
            <a:endParaRPr lang="en-NZ" dirty="0" smtClean="0">
              <a:latin typeface="Arial" charset="0"/>
            </a:endParaRPr>
          </a:p>
          <a:p>
            <a:pPr>
              <a:defRPr/>
            </a:pPr>
            <a:r>
              <a:rPr lang="en-NZ" dirty="0" smtClean="0">
                <a:latin typeface="Arial" charset="0"/>
              </a:rPr>
              <a:t>This makes data sharing difficult because of:</a:t>
            </a:r>
          </a:p>
          <a:p>
            <a:pPr marL="171450" indent="-171450">
              <a:buFont typeface="Arial" pitchFamily="34" charset="0"/>
              <a:buChar char="•"/>
              <a:defRPr/>
            </a:pPr>
            <a:r>
              <a:rPr lang="en-NZ" dirty="0" smtClean="0">
                <a:latin typeface="Arial" charset="0"/>
              </a:rPr>
              <a:t>Varying IP / legal issues</a:t>
            </a:r>
          </a:p>
          <a:p>
            <a:pPr marL="171450" indent="-171450">
              <a:buFont typeface="Arial" pitchFamily="34" charset="0"/>
              <a:buChar char="•"/>
              <a:defRPr/>
            </a:pPr>
            <a:r>
              <a:rPr lang="en-NZ" dirty="0" smtClean="0">
                <a:latin typeface="Arial" charset="0"/>
              </a:rPr>
              <a:t>Documentation issues (no standard)</a:t>
            </a:r>
          </a:p>
          <a:p>
            <a:pPr marL="171450" indent="-171450">
              <a:buFont typeface="Arial" pitchFamily="34" charset="0"/>
              <a:buChar char="•"/>
              <a:defRPr/>
            </a:pPr>
            <a:r>
              <a:rPr lang="en-NZ" dirty="0" smtClean="0">
                <a:latin typeface="Arial" charset="0"/>
              </a:rPr>
              <a:t>Data Standard Issues (collected to differing standards, not comparable)</a:t>
            </a:r>
          </a:p>
          <a:p>
            <a:pPr marL="171450" indent="-171450">
              <a:buFont typeface="Arial" pitchFamily="34" charset="0"/>
              <a:buChar char="•"/>
              <a:defRPr/>
            </a:pPr>
            <a:r>
              <a:rPr lang="en-NZ" dirty="0" smtClean="0">
                <a:latin typeface="Arial" charset="0"/>
              </a:rPr>
              <a:t>Observations not homogenized according to objective</a:t>
            </a:r>
            <a:endParaRPr lang="en-GB" dirty="0" smtClean="0">
              <a:latin typeface="Arial" charset="0"/>
            </a:endParaRPr>
          </a:p>
          <a:p>
            <a:pPr>
              <a:defRPr/>
            </a:pPr>
            <a:endParaRPr lang="en-NZ"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p:nvSpPr>
        <p:spPr bwMode="auto">
          <a:xfrm>
            <a:off x="8739188" y="214313"/>
            <a:ext cx="746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a:ea typeface="MS PGothic" pitchFamily="34" charset="-128"/>
              </a:defRPr>
            </a:lvl1pPr>
            <a:lvl2pPr marL="742950" indent="-285750" eaLnBrk="0" hangingPunct="0">
              <a:defRPr sz="1000" b="1">
                <a:solidFill>
                  <a:schemeClr val="tx1"/>
                </a:solidFill>
                <a:latin typeface="CG Times"/>
                <a:ea typeface="MS PGothic" pitchFamily="34" charset="-128"/>
              </a:defRPr>
            </a:lvl2pPr>
            <a:lvl3pPr marL="1143000" indent="-228600" eaLnBrk="0" hangingPunct="0">
              <a:defRPr sz="1000" b="1">
                <a:solidFill>
                  <a:schemeClr val="tx1"/>
                </a:solidFill>
                <a:latin typeface="CG Times"/>
                <a:ea typeface="MS PGothic" pitchFamily="34" charset="-128"/>
              </a:defRPr>
            </a:lvl3pPr>
            <a:lvl4pPr marL="1600200" indent="-228600" eaLnBrk="0" hangingPunct="0">
              <a:defRPr sz="1000" b="1">
                <a:solidFill>
                  <a:schemeClr val="tx1"/>
                </a:solidFill>
                <a:latin typeface="CG Times"/>
                <a:ea typeface="MS PGothic" pitchFamily="34" charset="-128"/>
              </a:defRPr>
            </a:lvl4pPr>
            <a:lvl5pPr marL="2057400" indent="-228600" eaLnBrk="0" hangingPunct="0">
              <a:defRPr sz="1000" b="1">
                <a:solidFill>
                  <a:schemeClr val="tx1"/>
                </a:solidFill>
                <a:latin typeface="CG Times"/>
                <a:ea typeface="MS PGothic" pitchFamily="34" charset="-128"/>
              </a:defRPr>
            </a:lvl5pPr>
            <a:lvl6pPr marL="2514600" indent="-228600" eaLnBrk="0" fontAlgn="base" hangingPunct="0">
              <a:spcBef>
                <a:spcPct val="0"/>
              </a:spcBef>
              <a:spcAft>
                <a:spcPct val="0"/>
              </a:spcAft>
              <a:defRPr sz="1000" b="1">
                <a:solidFill>
                  <a:schemeClr val="tx1"/>
                </a:solidFill>
                <a:latin typeface="CG Times"/>
                <a:ea typeface="MS PGothic" pitchFamily="34" charset="-128"/>
              </a:defRPr>
            </a:lvl6pPr>
            <a:lvl7pPr marL="2971800" indent="-228600" eaLnBrk="0" fontAlgn="base" hangingPunct="0">
              <a:spcBef>
                <a:spcPct val="0"/>
              </a:spcBef>
              <a:spcAft>
                <a:spcPct val="0"/>
              </a:spcAft>
              <a:defRPr sz="1000" b="1">
                <a:solidFill>
                  <a:schemeClr val="tx1"/>
                </a:solidFill>
                <a:latin typeface="CG Times"/>
                <a:ea typeface="MS PGothic" pitchFamily="34" charset="-128"/>
              </a:defRPr>
            </a:lvl7pPr>
            <a:lvl8pPr marL="3429000" indent="-228600" eaLnBrk="0" fontAlgn="base" hangingPunct="0">
              <a:spcBef>
                <a:spcPct val="0"/>
              </a:spcBef>
              <a:spcAft>
                <a:spcPct val="0"/>
              </a:spcAft>
              <a:defRPr sz="1000" b="1">
                <a:solidFill>
                  <a:schemeClr val="tx1"/>
                </a:solidFill>
                <a:latin typeface="CG Times"/>
                <a:ea typeface="MS PGothic" pitchFamily="34" charset="-128"/>
              </a:defRPr>
            </a:lvl8pPr>
            <a:lvl9pPr marL="3886200" indent="-228600" eaLnBrk="0" fontAlgn="base" hangingPunct="0">
              <a:spcBef>
                <a:spcPct val="0"/>
              </a:spcBef>
              <a:spcAft>
                <a:spcPct val="0"/>
              </a:spcAft>
              <a:defRPr sz="1000" b="1">
                <a:solidFill>
                  <a:schemeClr val="tx1"/>
                </a:solidFill>
                <a:latin typeface="CG Times"/>
                <a:ea typeface="MS PGothic" pitchFamily="34" charset="-128"/>
              </a:defRPr>
            </a:lvl9pPr>
          </a:lstStyle>
          <a:p>
            <a:pPr>
              <a:defRPr/>
            </a:pPr>
            <a:r>
              <a:rPr lang="en-US" sz="800" smtClean="0">
                <a:solidFill>
                  <a:srgbClr val="FFFFFF"/>
                </a:solidFill>
                <a:latin typeface="Arial" pitchFamily="34" charset="0"/>
                <a:cs typeface="+mn-cs"/>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Picture 7.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1000" y="6096000"/>
            <a:ext cx="138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p:cNvSpPr txBox="1">
            <a:spLocks noChangeArrowheads="1"/>
          </p:cNvSpPr>
          <p:nvPr userDrawn="1"/>
        </p:nvSpPr>
        <p:spPr bwMode="auto">
          <a:xfrm>
            <a:off x="3733800" y="1371600"/>
            <a:ext cx="1570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a:ea typeface="MS PGothic" pitchFamily="34" charset="-128"/>
              </a:defRPr>
            </a:lvl1pPr>
            <a:lvl2pPr marL="742950" indent="-285750" eaLnBrk="0" hangingPunct="0">
              <a:defRPr sz="1000" b="1">
                <a:solidFill>
                  <a:schemeClr val="tx1"/>
                </a:solidFill>
                <a:latin typeface="CG Times"/>
                <a:ea typeface="MS PGothic" pitchFamily="34" charset="-128"/>
              </a:defRPr>
            </a:lvl2pPr>
            <a:lvl3pPr marL="1143000" indent="-228600" eaLnBrk="0" hangingPunct="0">
              <a:defRPr sz="1000" b="1">
                <a:solidFill>
                  <a:schemeClr val="tx1"/>
                </a:solidFill>
                <a:latin typeface="CG Times"/>
                <a:ea typeface="MS PGothic" pitchFamily="34" charset="-128"/>
              </a:defRPr>
            </a:lvl3pPr>
            <a:lvl4pPr marL="1600200" indent="-228600" eaLnBrk="0" hangingPunct="0">
              <a:defRPr sz="1000" b="1">
                <a:solidFill>
                  <a:schemeClr val="tx1"/>
                </a:solidFill>
                <a:latin typeface="CG Times"/>
                <a:ea typeface="MS PGothic" pitchFamily="34" charset="-128"/>
              </a:defRPr>
            </a:lvl4pPr>
            <a:lvl5pPr marL="2057400" indent="-228600" eaLnBrk="0" hangingPunct="0">
              <a:defRPr sz="1000" b="1">
                <a:solidFill>
                  <a:schemeClr val="tx1"/>
                </a:solidFill>
                <a:latin typeface="CG Times"/>
                <a:ea typeface="MS PGothic" pitchFamily="34" charset="-128"/>
              </a:defRPr>
            </a:lvl5pPr>
            <a:lvl6pPr marL="2514600" indent="-228600" eaLnBrk="0" fontAlgn="base" hangingPunct="0">
              <a:spcBef>
                <a:spcPct val="0"/>
              </a:spcBef>
              <a:spcAft>
                <a:spcPct val="0"/>
              </a:spcAft>
              <a:defRPr sz="1000" b="1">
                <a:solidFill>
                  <a:schemeClr val="tx1"/>
                </a:solidFill>
                <a:latin typeface="CG Times"/>
                <a:ea typeface="MS PGothic" pitchFamily="34" charset="-128"/>
              </a:defRPr>
            </a:lvl6pPr>
            <a:lvl7pPr marL="2971800" indent="-228600" eaLnBrk="0" fontAlgn="base" hangingPunct="0">
              <a:spcBef>
                <a:spcPct val="0"/>
              </a:spcBef>
              <a:spcAft>
                <a:spcPct val="0"/>
              </a:spcAft>
              <a:defRPr sz="1000" b="1">
                <a:solidFill>
                  <a:schemeClr val="tx1"/>
                </a:solidFill>
                <a:latin typeface="CG Times"/>
                <a:ea typeface="MS PGothic" pitchFamily="34" charset="-128"/>
              </a:defRPr>
            </a:lvl7pPr>
            <a:lvl8pPr marL="3429000" indent="-228600" eaLnBrk="0" fontAlgn="base" hangingPunct="0">
              <a:spcBef>
                <a:spcPct val="0"/>
              </a:spcBef>
              <a:spcAft>
                <a:spcPct val="0"/>
              </a:spcAft>
              <a:defRPr sz="1000" b="1">
                <a:solidFill>
                  <a:schemeClr val="tx1"/>
                </a:solidFill>
                <a:latin typeface="CG Times"/>
                <a:ea typeface="MS PGothic" pitchFamily="34" charset="-128"/>
              </a:defRPr>
            </a:lvl8pPr>
            <a:lvl9pPr marL="3886200" indent="-228600" eaLnBrk="0" fontAlgn="base" hangingPunct="0">
              <a:spcBef>
                <a:spcPct val="0"/>
              </a:spcBef>
              <a:spcAft>
                <a:spcPct val="0"/>
              </a:spcAft>
              <a:defRPr sz="1000" b="1">
                <a:solidFill>
                  <a:schemeClr val="tx1"/>
                </a:solidFill>
                <a:latin typeface="CG Times"/>
                <a:ea typeface="MS PGothic" pitchFamily="34" charset="-128"/>
              </a:defRPr>
            </a:lvl9pPr>
          </a:lstStyle>
          <a:p>
            <a:pPr algn="ctr">
              <a:defRPr/>
            </a:pPr>
            <a:r>
              <a:rPr lang="en-US" smtClean="0">
                <a:latin typeface="Arial" pitchFamily="34" charset="0"/>
                <a:cs typeface="+mn-cs"/>
              </a:rPr>
              <a:t>Hosted and Sponsored by</a:t>
            </a:r>
          </a:p>
        </p:txBody>
      </p:sp>
      <p:pic>
        <p:nvPicPr>
          <p:cNvPr id="8"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67138" y="1616075"/>
            <a:ext cx="1490662" cy="15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3875" name="Rectangle 3"/>
          <p:cNvSpPr>
            <a:spLocks noGrp="1" noChangeArrowheads="1"/>
          </p:cNvSpPr>
          <p:nvPr>
            <p:ph type="ctrTitle"/>
          </p:nvPr>
        </p:nvSpPr>
        <p:spPr>
          <a:xfrm>
            <a:off x="762000" y="3276600"/>
            <a:ext cx="7772400" cy="1143000"/>
          </a:xfrm>
        </p:spPr>
        <p:txBody>
          <a:bodyPr/>
          <a:lstStyle>
            <a:lvl1pPr>
              <a:defRPr sz="3200">
                <a:latin typeface="Arial Black" pitchFamily="34" charset="0"/>
              </a:defRPr>
            </a:lvl1pPr>
          </a:lstStyle>
          <a:p>
            <a:r>
              <a:rPr lang="en-US" dirty="0" smtClean="0"/>
              <a:t>Click to edit Master title style</a:t>
            </a:r>
            <a:endParaRPr lang="en-US" dirty="0"/>
          </a:p>
        </p:txBody>
      </p:sp>
      <p:sp>
        <p:nvSpPr>
          <p:cNvPr id="463876" name="Rectangle 4"/>
          <p:cNvSpPr>
            <a:spLocks noGrp="1" noChangeArrowheads="1"/>
          </p:cNvSpPr>
          <p:nvPr>
            <p:ph type="subTitle" idx="1"/>
          </p:nvPr>
        </p:nvSpPr>
        <p:spPr>
          <a:xfrm>
            <a:off x="1447800" y="4572000"/>
            <a:ext cx="6400800" cy="1371600"/>
          </a:xfrm>
        </p:spPr>
        <p:txBody>
          <a:bodyPr/>
          <a:lstStyle>
            <a:lvl1pPr marL="0" indent="0" algn="ctr">
              <a:buFontTx/>
              <a:buNone/>
              <a:defRPr sz="1800">
                <a:solidFill>
                  <a:srgbClr val="092E5C"/>
                </a:solidFill>
              </a:defRPr>
            </a:lvl1pPr>
          </a:lstStyle>
          <a:p>
            <a:r>
              <a:rPr lang="en-US" dirty="0" smtClean="0"/>
              <a:t>Click to edit Master subtitle style</a:t>
            </a:r>
            <a:endParaRPr lang="en-US" dirty="0"/>
          </a:p>
        </p:txBody>
      </p:sp>
      <p:sp>
        <p:nvSpPr>
          <p:cNvPr id="9" name="Rectangle 2"/>
          <p:cNvSpPr>
            <a:spLocks noGrp="1" noChangeArrowheads="1"/>
          </p:cNvSpPr>
          <p:nvPr>
            <p:ph type="ftr" sz="quarter" idx="10"/>
          </p:nvPr>
        </p:nvSpPr>
        <p:spPr>
          <a:xfrm>
            <a:off x="3009900" y="6400800"/>
            <a:ext cx="3276600" cy="304800"/>
          </a:xfrm>
        </p:spPr>
        <p:txBody>
          <a:bodyPr/>
          <a:lstStyle>
            <a:lvl1pPr>
              <a:defRPr>
                <a:effectLst>
                  <a:outerShdw blurRad="38100" dist="38100" dir="2700000" algn="tl">
                    <a:srgbClr val="C0C0C0"/>
                  </a:outerShdw>
                </a:effectLst>
              </a:defRPr>
            </a:lvl1pPr>
          </a:lstStyle>
          <a:p>
            <a:pPr>
              <a:defRPr/>
            </a:pPr>
            <a:r>
              <a:rPr lang="en-US"/>
              <a:t>Copyright © 2012 Open Geospatial Consortium</a:t>
            </a:r>
          </a:p>
        </p:txBody>
      </p:sp>
    </p:spTree>
    <p:extLst>
      <p:ext uri="{BB962C8B-B14F-4D97-AF65-F5344CB8AC3E}">
        <p14:creationId xmlns:p14="http://schemas.microsoft.com/office/powerpoint/2010/main" val="2653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75341FA5-CA5D-4D00-B019-6FB219CB415C}" type="slidenum">
              <a:rPr lang="en-US"/>
              <a:pPr>
                <a:defRPr/>
              </a:pPr>
              <a:t>‹#›</a:t>
            </a:fld>
            <a:endParaRPr lang="en-US"/>
          </a:p>
        </p:txBody>
      </p:sp>
    </p:spTree>
    <p:extLst>
      <p:ext uri="{BB962C8B-B14F-4D97-AF65-F5344CB8AC3E}">
        <p14:creationId xmlns:p14="http://schemas.microsoft.com/office/powerpoint/2010/main" val="1353777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B6C14BF2-7FE9-469E-9D65-BA96B6BDAA82}" type="slidenum">
              <a:rPr lang="en-US"/>
              <a:pPr>
                <a:defRPr/>
              </a:pPr>
              <a:t>‹#›</a:t>
            </a:fld>
            <a:endParaRPr lang="en-US"/>
          </a:p>
        </p:txBody>
      </p:sp>
    </p:spTree>
    <p:extLst>
      <p:ext uri="{BB962C8B-B14F-4D97-AF65-F5344CB8AC3E}">
        <p14:creationId xmlns:p14="http://schemas.microsoft.com/office/powerpoint/2010/main" val="3490857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AA1C15F7-1F71-487A-8459-2ABDE75A2746}" type="slidenum">
              <a:rPr lang="en-US"/>
              <a:pPr>
                <a:defRPr/>
              </a:pPr>
              <a:t>‹#›</a:t>
            </a:fld>
            <a:endParaRPr lang="en-US"/>
          </a:p>
        </p:txBody>
      </p:sp>
    </p:spTree>
    <p:extLst>
      <p:ext uri="{BB962C8B-B14F-4D97-AF65-F5344CB8AC3E}">
        <p14:creationId xmlns:p14="http://schemas.microsoft.com/office/powerpoint/2010/main" val="556206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8" name="Rectangle 6"/>
          <p:cNvSpPr>
            <a:spLocks noGrp="1" noChangeArrowheads="1"/>
          </p:cNvSpPr>
          <p:nvPr>
            <p:ph type="sldNum" sz="quarter" idx="11"/>
          </p:nvPr>
        </p:nvSpPr>
        <p:spPr>
          <a:ln/>
        </p:spPr>
        <p:txBody>
          <a:bodyPr/>
          <a:lstStyle>
            <a:lvl1pPr>
              <a:defRPr/>
            </a:lvl1pPr>
          </a:lstStyle>
          <a:p>
            <a:pPr>
              <a:defRPr/>
            </a:pPr>
            <a:fld id="{B78E78DF-41C7-4BA9-A3AB-51051D782802}" type="slidenum">
              <a:rPr lang="en-US"/>
              <a:pPr>
                <a:defRPr/>
              </a:pPr>
              <a:t>‹#›</a:t>
            </a:fld>
            <a:endParaRPr lang="en-US"/>
          </a:p>
        </p:txBody>
      </p:sp>
    </p:spTree>
    <p:extLst>
      <p:ext uri="{BB962C8B-B14F-4D97-AF65-F5344CB8AC3E}">
        <p14:creationId xmlns:p14="http://schemas.microsoft.com/office/powerpoint/2010/main" val="3852248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4" name="Rectangle 6"/>
          <p:cNvSpPr>
            <a:spLocks noGrp="1" noChangeArrowheads="1"/>
          </p:cNvSpPr>
          <p:nvPr>
            <p:ph type="sldNum" sz="quarter" idx="11"/>
          </p:nvPr>
        </p:nvSpPr>
        <p:spPr>
          <a:ln/>
        </p:spPr>
        <p:txBody>
          <a:bodyPr/>
          <a:lstStyle>
            <a:lvl1pPr>
              <a:defRPr/>
            </a:lvl1pPr>
          </a:lstStyle>
          <a:p>
            <a:pPr>
              <a:defRPr/>
            </a:pPr>
            <a:fld id="{8D29BDDB-3C28-4E7F-8E76-C5F772FA9D82}" type="slidenum">
              <a:rPr lang="en-US"/>
              <a:pPr>
                <a:defRPr/>
              </a:pPr>
              <a:t>‹#›</a:t>
            </a:fld>
            <a:endParaRPr lang="en-US"/>
          </a:p>
        </p:txBody>
      </p:sp>
    </p:spTree>
    <p:extLst>
      <p:ext uri="{BB962C8B-B14F-4D97-AF65-F5344CB8AC3E}">
        <p14:creationId xmlns:p14="http://schemas.microsoft.com/office/powerpoint/2010/main" val="4178356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3" name="Rectangle 6"/>
          <p:cNvSpPr>
            <a:spLocks noGrp="1" noChangeArrowheads="1"/>
          </p:cNvSpPr>
          <p:nvPr>
            <p:ph type="sldNum" sz="quarter" idx="11"/>
          </p:nvPr>
        </p:nvSpPr>
        <p:spPr>
          <a:ln/>
        </p:spPr>
        <p:txBody>
          <a:bodyPr/>
          <a:lstStyle>
            <a:lvl1pPr>
              <a:defRPr/>
            </a:lvl1pPr>
          </a:lstStyle>
          <a:p>
            <a:pPr>
              <a:defRPr/>
            </a:pPr>
            <a:fld id="{18745D2A-9E9D-4CAD-94D4-59228FEBB7F4}" type="slidenum">
              <a:rPr lang="en-US"/>
              <a:pPr>
                <a:defRPr/>
              </a:pPr>
              <a:t>‹#›</a:t>
            </a:fld>
            <a:endParaRPr lang="en-US"/>
          </a:p>
        </p:txBody>
      </p:sp>
    </p:spTree>
    <p:extLst>
      <p:ext uri="{BB962C8B-B14F-4D97-AF65-F5344CB8AC3E}">
        <p14:creationId xmlns:p14="http://schemas.microsoft.com/office/powerpoint/2010/main" val="3564399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51BD4859-964C-4056-A86E-11C251C896FF}" type="slidenum">
              <a:rPr lang="en-US"/>
              <a:pPr>
                <a:defRPr/>
              </a:pPr>
              <a:t>‹#›</a:t>
            </a:fld>
            <a:endParaRPr lang="en-US"/>
          </a:p>
        </p:txBody>
      </p:sp>
    </p:spTree>
    <p:extLst>
      <p:ext uri="{BB962C8B-B14F-4D97-AF65-F5344CB8AC3E}">
        <p14:creationId xmlns:p14="http://schemas.microsoft.com/office/powerpoint/2010/main" val="3301097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4F52CF98-FB96-4A08-BBB0-459E2E906DD2}" type="slidenum">
              <a:rPr lang="en-US"/>
              <a:pPr>
                <a:defRPr/>
              </a:pPr>
              <a:t>‹#›</a:t>
            </a:fld>
            <a:endParaRPr lang="en-US"/>
          </a:p>
        </p:txBody>
      </p:sp>
    </p:spTree>
    <p:extLst>
      <p:ext uri="{BB962C8B-B14F-4D97-AF65-F5344CB8AC3E}">
        <p14:creationId xmlns:p14="http://schemas.microsoft.com/office/powerpoint/2010/main" val="4125825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59E98046-8009-426F-A8C4-F9D0AF66F83A}" type="slidenum">
              <a:rPr lang="en-US"/>
              <a:pPr>
                <a:defRPr/>
              </a:pPr>
              <a:t>‹#›</a:t>
            </a:fld>
            <a:endParaRPr lang="en-US"/>
          </a:p>
        </p:txBody>
      </p:sp>
    </p:spTree>
    <p:extLst>
      <p:ext uri="{BB962C8B-B14F-4D97-AF65-F5344CB8AC3E}">
        <p14:creationId xmlns:p14="http://schemas.microsoft.com/office/powerpoint/2010/main" val="4209004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6497CCD5-ACF8-478E-91E5-78D7F74EC453}" type="slidenum">
              <a:rPr lang="en-US"/>
              <a:pPr>
                <a:defRPr/>
              </a:pPr>
              <a:t>‹#›</a:t>
            </a:fld>
            <a:endParaRPr lang="en-US"/>
          </a:p>
        </p:txBody>
      </p:sp>
    </p:spTree>
    <p:extLst>
      <p:ext uri="{BB962C8B-B14F-4D97-AF65-F5344CB8AC3E}">
        <p14:creationId xmlns:p14="http://schemas.microsoft.com/office/powerpoint/2010/main" val="2641431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62852" name="Rectangle 4"/>
          <p:cNvSpPr>
            <a:spLocks noGrp="1" noChangeArrowheads="1"/>
          </p:cNvSpPr>
          <p:nvPr>
            <p:ph type="ftr" sz="quarter" idx="3"/>
          </p:nvPr>
        </p:nvSpPr>
        <p:spPr bwMode="auto">
          <a:xfrm>
            <a:off x="2973388" y="6553200"/>
            <a:ext cx="3200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a:solidFill>
                  <a:srgbClr val="092E5C"/>
                </a:solidFill>
                <a:latin typeface="Arial" pitchFamily="34" charset="0"/>
                <a:cs typeface="+mn-cs"/>
              </a:defRPr>
            </a:lvl1pPr>
          </a:lstStyle>
          <a:p>
            <a:pPr>
              <a:defRPr/>
            </a:pPr>
            <a:r>
              <a:rPr lang="en-US"/>
              <a:t>Copyright © 2012 Open Geospatial Consortium</a:t>
            </a:r>
          </a:p>
        </p:txBody>
      </p:sp>
      <p:sp>
        <p:nvSpPr>
          <p:cNvPr id="462853" name="Text Box 5"/>
          <p:cNvSpPr txBox="1">
            <a:spLocks noChangeArrowheads="1"/>
          </p:cNvSpPr>
          <p:nvPr/>
        </p:nvSpPr>
        <p:spPr bwMode="auto">
          <a:xfrm>
            <a:off x="-1539875" y="3059113"/>
            <a:ext cx="184150" cy="304800"/>
          </a:xfrm>
          <a:prstGeom prst="rect">
            <a:avLst/>
          </a:prstGeom>
          <a:noFill/>
          <a:ln w="9525">
            <a:noFill/>
            <a:miter lim="800000"/>
            <a:headEnd/>
            <a:tailEnd/>
          </a:ln>
          <a:effectLst/>
        </p:spPr>
        <p:txBody>
          <a:bodyPr wrap="none">
            <a:spAutoFit/>
          </a:bodyPr>
          <a:lstStyle/>
          <a:p>
            <a:pPr eaLnBrk="0" hangingPunct="0">
              <a:defRPr/>
            </a:pPr>
            <a:endParaRPr lang="en-US" sz="1400">
              <a:effectLst>
                <a:outerShdw blurRad="38100" dist="38100" dir="2700000" algn="tl">
                  <a:srgbClr val="C0C0C0"/>
                </a:outerShdw>
              </a:effectLst>
              <a:latin typeface="Arial" charset="0"/>
              <a:ea typeface="+mn-ea"/>
              <a:cs typeface="+mn-cs"/>
            </a:endParaRP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pitchFamily="34" charset="0"/>
                <a:cs typeface="+mn-cs"/>
              </a:defRPr>
            </a:lvl1pPr>
          </a:lstStyle>
          <a:p>
            <a:pPr>
              <a:defRPr/>
            </a:pPr>
            <a:fld id="{5E46B6B3-7BB3-43B1-9B62-32D52693D177}" type="slidenum">
              <a:rPr lang="en-US"/>
              <a:pPr>
                <a:defRPr/>
              </a:pPr>
              <a:t>‹#›</a:t>
            </a:fld>
            <a:endParaRPr lang="en-US"/>
          </a:p>
        </p:txBody>
      </p:sp>
      <p:sp>
        <p:nvSpPr>
          <p:cNvPr id="1032" name="Text Box 16"/>
          <p:cNvSpPr txBox="1">
            <a:spLocks noChangeArrowheads="1"/>
          </p:cNvSpPr>
          <p:nvPr/>
        </p:nvSpPr>
        <p:spPr bwMode="auto">
          <a:xfrm>
            <a:off x="333375" y="6219825"/>
            <a:ext cx="11572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000" b="1">
                <a:solidFill>
                  <a:schemeClr val="tx1"/>
                </a:solidFill>
                <a:latin typeface="CG Times"/>
                <a:ea typeface="MS PGothic" pitchFamily="34" charset="-128"/>
              </a:defRPr>
            </a:lvl1pPr>
            <a:lvl2pPr marL="742950" indent="-285750" eaLnBrk="0" hangingPunct="0">
              <a:defRPr sz="1000" b="1">
                <a:solidFill>
                  <a:schemeClr val="tx1"/>
                </a:solidFill>
                <a:latin typeface="CG Times"/>
                <a:ea typeface="MS PGothic" pitchFamily="34" charset="-128"/>
              </a:defRPr>
            </a:lvl2pPr>
            <a:lvl3pPr marL="1143000" indent="-228600" eaLnBrk="0" hangingPunct="0">
              <a:defRPr sz="1000" b="1">
                <a:solidFill>
                  <a:schemeClr val="tx1"/>
                </a:solidFill>
                <a:latin typeface="CG Times"/>
                <a:ea typeface="MS PGothic" pitchFamily="34" charset="-128"/>
              </a:defRPr>
            </a:lvl3pPr>
            <a:lvl4pPr marL="1600200" indent="-228600" eaLnBrk="0" hangingPunct="0">
              <a:defRPr sz="1000" b="1">
                <a:solidFill>
                  <a:schemeClr val="tx1"/>
                </a:solidFill>
                <a:latin typeface="CG Times"/>
                <a:ea typeface="MS PGothic" pitchFamily="34" charset="-128"/>
              </a:defRPr>
            </a:lvl4pPr>
            <a:lvl5pPr marL="2057400" indent="-228600" eaLnBrk="0" hangingPunct="0">
              <a:defRPr sz="1000" b="1">
                <a:solidFill>
                  <a:schemeClr val="tx1"/>
                </a:solidFill>
                <a:latin typeface="CG Times"/>
                <a:ea typeface="MS PGothic" pitchFamily="34" charset="-128"/>
              </a:defRPr>
            </a:lvl5pPr>
            <a:lvl6pPr marL="2514600" indent="-228600" eaLnBrk="0" fontAlgn="base" hangingPunct="0">
              <a:spcBef>
                <a:spcPct val="0"/>
              </a:spcBef>
              <a:spcAft>
                <a:spcPct val="0"/>
              </a:spcAft>
              <a:defRPr sz="1000" b="1">
                <a:solidFill>
                  <a:schemeClr val="tx1"/>
                </a:solidFill>
                <a:latin typeface="CG Times"/>
                <a:ea typeface="MS PGothic" pitchFamily="34" charset="-128"/>
              </a:defRPr>
            </a:lvl6pPr>
            <a:lvl7pPr marL="2971800" indent="-228600" eaLnBrk="0" fontAlgn="base" hangingPunct="0">
              <a:spcBef>
                <a:spcPct val="0"/>
              </a:spcBef>
              <a:spcAft>
                <a:spcPct val="0"/>
              </a:spcAft>
              <a:defRPr sz="1000" b="1">
                <a:solidFill>
                  <a:schemeClr val="tx1"/>
                </a:solidFill>
                <a:latin typeface="CG Times"/>
                <a:ea typeface="MS PGothic" pitchFamily="34" charset="-128"/>
              </a:defRPr>
            </a:lvl7pPr>
            <a:lvl8pPr marL="3429000" indent="-228600" eaLnBrk="0" fontAlgn="base" hangingPunct="0">
              <a:spcBef>
                <a:spcPct val="0"/>
              </a:spcBef>
              <a:spcAft>
                <a:spcPct val="0"/>
              </a:spcAft>
              <a:defRPr sz="1000" b="1">
                <a:solidFill>
                  <a:schemeClr val="tx1"/>
                </a:solidFill>
                <a:latin typeface="CG Times"/>
                <a:ea typeface="MS PGothic" pitchFamily="34" charset="-128"/>
              </a:defRPr>
            </a:lvl8pPr>
            <a:lvl9pPr marL="3886200" indent="-228600" eaLnBrk="0" fontAlgn="base" hangingPunct="0">
              <a:spcBef>
                <a:spcPct val="0"/>
              </a:spcBef>
              <a:spcAft>
                <a:spcPct val="0"/>
              </a:spcAft>
              <a:defRPr sz="1000" b="1">
                <a:solidFill>
                  <a:schemeClr val="tx1"/>
                </a:solidFill>
                <a:latin typeface="CG Times"/>
                <a:ea typeface="MS PGothic" pitchFamily="34" charset="-128"/>
              </a:defRPr>
            </a:lvl9pPr>
          </a:lstStyle>
          <a:p>
            <a:pPr>
              <a:defRPr/>
            </a:pPr>
            <a:r>
              <a:rPr lang="en-US" sz="4000" smtClean="0">
                <a:solidFill>
                  <a:schemeClr val="tx2"/>
                </a:solidFill>
                <a:latin typeface="Times New Roman" pitchFamily="18" charset="0"/>
                <a:cs typeface="+mn-cs"/>
              </a:rPr>
              <a:t>OGC</a:t>
            </a:r>
          </a:p>
        </p:txBody>
      </p:sp>
      <p:sp>
        <p:nvSpPr>
          <p:cNvPr id="1033" name="Text Box 20"/>
          <p:cNvSpPr txBox="1">
            <a:spLocks noChangeArrowheads="1"/>
          </p:cNvSpPr>
          <p:nvPr/>
        </p:nvSpPr>
        <p:spPr bwMode="auto">
          <a:xfrm>
            <a:off x="1498600" y="6270625"/>
            <a:ext cx="936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a:ea typeface="MS PGothic" pitchFamily="34" charset="-128"/>
              </a:defRPr>
            </a:lvl1pPr>
            <a:lvl2pPr marL="742950" indent="-285750" eaLnBrk="0" hangingPunct="0">
              <a:defRPr sz="1000" b="1">
                <a:solidFill>
                  <a:schemeClr val="tx1"/>
                </a:solidFill>
                <a:latin typeface="CG Times"/>
                <a:ea typeface="MS PGothic" pitchFamily="34" charset="-128"/>
              </a:defRPr>
            </a:lvl2pPr>
            <a:lvl3pPr marL="1143000" indent="-228600" eaLnBrk="0" hangingPunct="0">
              <a:defRPr sz="1000" b="1">
                <a:solidFill>
                  <a:schemeClr val="tx1"/>
                </a:solidFill>
                <a:latin typeface="CG Times"/>
                <a:ea typeface="MS PGothic" pitchFamily="34" charset="-128"/>
              </a:defRPr>
            </a:lvl3pPr>
            <a:lvl4pPr marL="1600200" indent="-228600" eaLnBrk="0" hangingPunct="0">
              <a:defRPr sz="1000" b="1">
                <a:solidFill>
                  <a:schemeClr val="tx1"/>
                </a:solidFill>
                <a:latin typeface="CG Times"/>
                <a:ea typeface="MS PGothic" pitchFamily="34" charset="-128"/>
              </a:defRPr>
            </a:lvl4pPr>
            <a:lvl5pPr marL="2057400" indent="-228600" eaLnBrk="0" hangingPunct="0">
              <a:defRPr sz="1000" b="1">
                <a:solidFill>
                  <a:schemeClr val="tx1"/>
                </a:solidFill>
                <a:latin typeface="CG Times"/>
                <a:ea typeface="MS PGothic" pitchFamily="34" charset="-128"/>
              </a:defRPr>
            </a:lvl5pPr>
            <a:lvl6pPr marL="2514600" indent="-228600" eaLnBrk="0" fontAlgn="base" hangingPunct="0">
              <a:spcBef>
                <a:spcPct val="0"/>
              </a:spcBef>
              <a:spcAft>
                <a:spcPct val="0"/>
              </a:spcAft>
              <a:defRPr sz="1000" b="1">
                <a:solidFill>
                  <a:schemeClr val="tx1"/>
                </a:solidFill>
                <a:latin typeface="CG Times"/>
                <a:ea typeface="MS PGothic" pitchFamily="34" charset="-128"/>
              </a:defRPr>
            </a:lvl6pPr>
            <a:lvl7pPr marL="2971800" indent="-228600" eaLnBrk="0" fontAlgn="base" hangingPunct="0">
              <a:spcBef>
                <a:spcPct val="0"/>
              </a:spcBef>
              <a:spcAft>
                <a:spcPct val="0"/>
              </a:spcAft>
              <a:defRPr sz="1000" b="1">
                <a:solidFill>
                  <a:schemeClr val="tx1"/>
                </a:solidFill>
                <a:latin typeface="CG Times"/>
                <a:ea typeface="MS PGothic" pitchFamily="34" charset="-128"/>
              </a:defRPr>
            </a:lvl7pPr>
            <a:lvl8pPr marL="3429000" indent="-228600" eaLnBrk="0" fontAlgn="base" hangingPunct="0">
              <a:spcBef>
                <a:spcPct val="0"/>
              </a:spcBef>
              <a:spcAft>
                <a:spcPct val="0"/>
              </a:spcAft>
              <a:defRPr sz="1000" b="1">
                <a:solidFill>
                  <a:schemeClr val="tx1"/>
                </a:solidFill>
                <a:latin typeface="CG Times"/>
                <a:ea typeface="MS PGothic" pitchFamily="34" charset="-128"/>
              </a:defRPr>
            </a:lvl8pPr>
            <a:lvl9pPr marL="3886200" indent="-228600" eaLnBrk="0" fontAlgn="base" hangingPunct="0">
              <a:spcBef>
                <a:spcPct val="0"/>
              </a:spcBef>
              <a:spcAft>
                <a:spcPct val="0"/>
              </a:spcAft>
              <a:defRPr sz="1000" b="1">
                <a:solidFill>
                  <a:schemeClr val="tx1"/>
                </a:solidFill>
                <a:latin typeface="CG Times"/>
                <a:ea typeface="MS PGothic" pitchFamily="34" charset="-128"/>
              </a:defRPr>
            </a:lvl9pPr>
          </a:lstStyle>
          <a:p>
            <a:pPr>
              <a:defRPr/>
            </a:pPr>
            <a:r>
              <a:rPr lang="en-US" smtClean="0">
                <a:solidFill>
                  <a:schemeClr val="tx2"/>
                </a:solidFill>
                <a:latin typeface="Arial" pitchFamily="34" charset="0"/>
                <a:cs typeface="+mn-cs"/>
              </a:rPr>
              <a:t>®</a:t>
            </a:r>
          </a:p>
        </p:txBody>
      </p:sp>
    </p:spTree>
  </p:cSld>
  <p:clrMap bg1="lt1" tx1="dk1" bg2="lt2" tx2="dk2" accent1="accent1" accent2="accent2" accent3="accent3" accent4="accent4" accent5="accent5" accent6="accent6" hlink="hlink" folHlink="folHlink"/>
  <p:sldLayoutIdLst>
    <p:sldLayoutId id="2147483726"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iming>
    <p:tnLst>
      <p:par>
        <p:cTn id="1" dur="indefinite" restart="never" nodeType="tmRoot"/>
      </p:par>
    </p:tnLst>
  </p:timing>
  <p:hf sldNum="0" hdr="0" dt="0"/>
  <p:txStyles>
    <p:titleStyle>
      <a:lvl1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MS PGothic" pitchFamily="34" charset="-128"/>
          <a:cs typeface="+mj-cs"/>
        </a:defRPr>
      </a:lvl1pPr>
      <a:lvl2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defRPr>
      </a:lvl2pPr>
      <a:lvl3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defRPr>
      </a:lvl3pPr>
      <a:lvl4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defRPr>
      </a:lvl4pPr>
      <a:lvl5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defRPr>
      </a:lvl5pPr>
      <a:lvl6pPr marL="4572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2"/>
          </a:solidFill>
          <a:latin typeface="+mn-lt"/>
          <a:ea typeface="MS PGothic" pitchFamily="34" charset="-128"/>
          <a:cs typeface="+mn-cs"/>
        </a:defRPr>
      </a:lvl1pPr>
      <a:lvl2pPr marL="569913" indent="-222250" algn="l" rtl="0" eaLnBrk="0" fontAlgn="base" hangingPunct="0">
        <a:spcBef>
          <a:spcPct val="20000"/>
        </a:spcBef>
        <a:spcAft>
          <a:spcPct val="0"/>
        </a:spcAft>
        <a:buClr>
          <a:srgbClr val="092E5C"/>
        </a:buClr>
        <a:buChar char="–"/>
        <a:defRPr sz="2000">
          <a:solidFill>
            <a:schemeClr val="tx2"/>
          </a:solidFill>
          <a:latin typeface="+mn-lt"/>
          <a:ea typeface="MS PGothic" pitchFamily="34" charset="-128"/>
        </a:defRPr>
      </a:lvl2pPr>
      <a:lvl3pPr marL="912813" indent="-228600" algn="l" rtl="0" eaLnBrk="0" fontAlgn="base" hangingPunct="0">
        <a:spcBef>
          <a:spcPct val="20000"/>
        </a:spcBef>
        <a:spcAft>
          <a:spcPct val="0"/>
        </a:spcAft>
        <a:buClr>
          <a:srgbClr val="092E5C"/>
        </a:buClr>
        <a:buChar char="•"/>
        <a:defRPr>
          <a:solidFill>
            <a:schemeClr val="tx2"/>
          </a:solidFill>
          <a:latin typeface="+mn-lt"/>
          <a:ea typeface="MS PGothic" pitchFamily="34" charset="-128"/>
        </a:defRPr>
      </a:lvl3pPr>
      <a:lvl4pPr marL="12557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defRPr>
      </a:lvl4pPr>
      <a:lvl5pPr marL="15986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defRPr>
      </a:lvl5pPr>
      <a:lvl6pPr marL="2055813" indent="-228600" algn="l" rtl="0" eaLnBrk="0" fontAlgn="base" hangingPunct="0">
        <a:spcBef>
          <a:spcPct val="20000"/>
        </a:spcBef>
        <a:spcAft>
          <a:spcPct val="0"/>
        </a:spcAft>
        <a:buClr>
          <a:srgbClr val="092E5C"/>
        </a:buClr>
        <a:buChar char="»"/>
        <a:defRPr sz="1600">
          <a:solidFill>
            <a:schemeClr val="tx2"/>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2"/>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2"/>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hyperlink" Target="http://www.gi-forum.org/" TargetMode="Externa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hyperlink" Target="http://www.smart-project.info/" TargetMode="External"/><Relationship Id="rId5" Type="http://schemas.openxmlformats.org/officeDocument/2006/relationships/image" Target="../media/image19.jpeg"/><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0.png"/><Relationship Id="rId7" Type="http://schemas.openxmlformats.org/officeDocument/2006/relationships/hyperlink" Target="http://os2020.org.nz/" TargetMode="External"/><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hyperlink" Target="http://data.govt.nz/" TargetMode="External"/><Relationship Id="rId5" Type="http://schemas.openxmlformats.org/officeDocument/2006/relationships/hyperlink" Target="http://geodata.govt.nz/" TargetMode="External"/><Relationship Id="rId4" Type="http://schemas.openxmlformats.org/officeDocument/2006/relationships/hyperlink" Target="http://ei.niwa.co.nz/" TargetMode="External"/><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p:cNvSpPr>
            <a:spLocks noGrp="1" noChangeArrowheads="1"/>
          </p:cNvSpPr>
          <p:nvPr>
            <p:ph type="ctrTitle"/>
          </p:nvPr>
        </p:nvSpPr>
        <p:spPr>
          <a:xfrm>
            <a:off x="609600" y="3505200"/>
            <a:ext cx="7772400" cy="1143000"/>
          </a:xfrm>
        </p:spPr>
        <p:txBody>
          <a:bodyPr/>
          <a:lstStyle/>
          <a:p>
            <a:pPr>
              <a:defRPr/>
            </a:pPr>
            <a:r>
              <a:rPr lang="en-NZ" sz="2800" b="1" dirty="0">
                <a:latin typeface="Verdana" pitchFamily="32" charset="0"/>
                <a:cs typeface="Arial Unicode MS" pitchFamily="32" charset="0"/>
              </a:rPr>
              <a:t>Initiatives </a:t>
            </a:r>
            <a:br>
              <a:rPr lang="en-NZ" sz="2800" b="1" dirty="0">
                <a:latin typeface="Verdana" pitchFamily="32" charset="0"/>
                <a:cs typeface="Arial Unicode MS" pitchFamily="32" charset="0"/>
              </a:rPr>
            </a:br>
            <a:r>
              <a:rPr lang="en-NZ" sz="2800" b="1" dirty="0">
                <a:latin typeface="Verdana" pitchFamily="32" charset="0"/>
                <a:cs typeface="Arial Unicode MS" pitchFamily="32" charset="0"/>
              </a:rPr>
              <a:t>in</a:t>
            </a:r>
            <a:br>
              <a:rPr lang="en-NZ" sz="2800" b="1" dirty="0">
                <a:latin typeface="Verdana" pitchFamily="32" charset="0"/>
                <a:cs typeface="Arial Unicode MS" pitchFamily="32" charset="0"/>
              </a:rPr>
            </a:br>
            <a:r>
              <a:rPr lang="en-NZ" sz="2800" b="1" i="1" dirty="0">
                <a:latin typeface="Verdana" pitchFamily="32" charset="0"/>
                <a:cs typeface="Arial Unicode MS" pitchFamily="32" charset="0"/>
              </a:rPr>
              <a:t>Interoperability in New Zealand</a:t>
            </a:r>
            <a:endParaRPr lang="en-US" sz="2800" dirty="0" smtClean="0"/>
          </a:p>
        </p:txBody>
      </p:sp>
      <p:sp>
        <p:nvSpPr>
          <p:cNvPr id="3075" name="Rectangle 3"/>
          <p:cNvSpPr>
            <a:spLocks noGrp="1" noChangeArrowheads="1"/>
          </p:cNvSpPr>
          <p:nvPr>
            <p:ph type="subTitle" idx="1"/>
          </p:nvPr>
        </p:nvSpPr>
        <p:spPr>
          <a:xfrm>
            <a:off x="1444625" y="4724400"/>
            <a:ext cx="6400800" cy="1757363"/>
          </a:xfrm>
        </p:spPr>
        <p:txBody>
          <a:bodyPr/>
          <a:lstStyle/>
          <a:p>
            <a:r>
              <a:rPr lang="en-US" sz="2000" smtClean="0">
                <a:cs typeface="Arial" pitchFamily="34" charset="0"/>
              </a:rPr>
              <a:t>80th OGC Technical Committee</a:t>
            </a:r>
          </a:p>
          <a:p>
            <a:r>
              <a:rPr lang="en-US" sz="2000" smtClean="0">
                <a:cs typeface="Arial" pitchFamily="34" charset="0"/>
              </a:rPr>
              <a:t>Austin, Texas (USA)</a:t>
            </a:r>
          </a:p>
          <a:p>
            <a:r>
              <a:rPr lang="en-US" sz="2000" smtClean="0">
                <a:cs typeface="Arial" pitchFamily="34" charset="0"/>
              </a:rPr>
              <a:t>Jochen Schmidt, NIWA, New Zealand</a:t>
            </a:r>
          </a:p>
          <a:p>
            <a:r>
              <a:rPr lang="en-US" sz="2000" smtClean="0">
                <a:cs typeface="Arial" pitchFamily="34" charset="0"/>
              </a:rPr>
              <a:t>Alexander Kmoch, GNS, New Zealand</a:t>
            </a:r>
          </a:p>
          <a:p>
            <a:r>
              <a:rPr lang="en-US" sz="2000" smtClean="0">
                <a:cs typeface="Arial" pitchFamily="34" charset="0"/>
              </a:rPr>
              <a:t>March 21</a:t>
            </a:r>
            <a:r>
              <a:rPr lang="en-US" sz="2000" baseline="30000" smtClean="0">
                <a:cs typeface="Arial" pitchFamily="34" charset="0"/>
              </a:rPr>
              <a:t>st</a:t>
            </a:r>
            <a:r>
              <a:rPr lang="en-US" sz="2000" smtClean="0">
                <a:cs typeface="Arial" pitchFamily="34" charset="0"/>
              </a:rPr>
              <a:t>, 2012</a:t>
            </a:r>
            <a:endParaRPr lang="en-US" smtClean="0"/>
          </a:p>
        </p:txBody>
      </p:sp>
      <p:sp>
        <p:nvSpPr>
          <p:cNvPr id="2" name="Footer Placeholder 1"/>
          <p:cNvSpPr>
            <a:spLocks noGrp="1"/>
          </p:cNvSpPr>
          <p:nvPr>
            <p:ph type="ftr" sz="quarter" idx="10"/>
          </p:nvPr>
        </p:nvSpPr>
        <p:spPr/>
        <p:txBody>
          <a:bodyPr/>
          <a:lstStyle/>
          <a:p>
            <a:pPr>
              <a:defRPr/>
            </a:pPr>
            <a:r>
              <a:rPr lang="en-US"/>
              <a:t>Copyright © 2012 Open Geospatial Consortium</a:t>
            </a:r>
          </a:p>
        </p:txBody>
      </p:sp>
      <p:pic>
        <p:nvPicPr>
          <p:cNvPr id="3077"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1905000"/>
            <a:ext cx="2466975" cy="18494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8" name="Picture 6" descr="https://encrypted-tbn0.google.com/images?q=tbn:ANd9GcQN1kp0wO5JcxELZBsyIqXcKoorhIzb7fhmVkmhDhGyI6wFBHOv"/>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600" y="3225800"/>
            <a:ext cx="990600"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6375" y="4953000"/>
            <a:ext cx="1319213"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p:cNvSpPr>
            <a:spLocks noGrp="1" noChangeArrowheads="1"/>
          </p:cNvSpPr>
          <p:nvPr>
            <p:ph type="title"/>
          </p:nvPr>
        </p:nvSpPr>
        <p:spPr>
          <a:xfrm>
            <a:off x="231775" y="533400"/>
            <a:ext cx="8683625" cy="685800"/>
          </a:xfrm>
          <a:extLst>
            <a:ext uri="{909E8E84-426E-40DD-AFC4-6F175D3DCCD1}">
              <a14:hiddenFill xmlns:a14="http://schemas.microsoft.com/office/drawing/2010/main">
                <a:solidFill>
                  <a:srgbClr val="FFFFFF"/>
                </a:solidFill>
              </a14:hiddenFill>
            </a:ext>
          </a:extLst>
        </p:spPr>
        <p:txBody>
          <a:bodyPr/>
          <a:lstStyle/>
          <a:p>
            <a:pPr>
              <a:defRPr/>
            </a:pPr>
            <a:r>
              <a:rPr lang="en-NZ" b="1" dirty="0" smtClean="0">
                <a:latin typeface="Verdana" pitchFamily="32" charset="0"/>
                <a:cs typeface="Arial Unicode MS" pitchFamily="32" charset="0"/>
              </a:rPr>
              <a:t>Initiatives </a:t>
            </a:r>
            <a:br>
              <a:rPr lang="en-NZ" b="1" dirty="0" smtClean="0">
                <a:latin typeface="Verdana" pitchFamily="32" charset="0"/>
                <a:cs typeface="Arial Unicode MS" pitchFamily="32" charset="0"/>
              </a:rPr>
            </a:br>
            <a:r>
              <a:rPr lang="en-NZ" b="1" dirty="0" smtClean="0">
                <a:latin typeface="Verdana" pitchFamily="32" charset="0"/>
                <a:cs typeface="Arial Unicode MS" pitchFamily="32" charset="0"/>
              </a:rPr>
              <a:t>into</a:t>
            </a:r>
            <a:br>
              <a:rPr lang="en-NZ" b="1" dirty="0" smtClean="0">
                <a:latin typeface="Verdana" pitchFamily="32" charset="0"/>
                <a:cs typeface="Arial Unicode MS" pitchFamily="32" charset="0"/>
              </a:rPr>
            </a:br>
            <a:r>
              <a:rPr lang="en-NZ" b="1" i="1" dirty="0" smtClean="0">
                <a:latin typeface="Verdana" pitchFamily="32" charset="0"/>
                <a:cs typeface="Arial Unicode MS" pitchFamily="32" charset="0"/>
              </a:rPr>
              <a:t>Interoperability in New Zealand</a:t>
            </a:r>
            <a:endParaRPr lang="en-US" dirty="0" smtClean="0">
              <a:effectLst/>
            </a:endParaRPr>
          </a:p>
        </p:txBody>
      </p:sp>
      <p:sp>
        <p:nvSpPr>
          <p:cNvPr id="4099" name="Rectangle 1027"/>
          <p:cNvSpPr>
            <a:spLocks noGrp="1" noChangeArrowheads="1"/>
          </p:cNvSpPr>
          <p:nvPr>
            <p:ph type="body" idx="1"/>
          </p:nvPr>
        </p:nvSpPr>
        <p:spPr>
          <a:xfrm>
            <a:off x="346075" y="1828800"/>
            <a:ext cx="8458200" cy="4341813"/>
          </a:xfrm>
        </p:spPr>
        <p:txBody>
          <a:bodyPr/>
          <a:lstStyle/>
          <a:p>
            <a:r>
              <a:rPr lang="en-US" smtClean="0"/>
              <a:t>NZ: Heterogeneous environment in terms of legislation, governance, management (</a:t>
            </a:r>
            <a:r>
              <a:rPr lang="en-US" b="1" smtClean="0"/>
              <a:t>freedom!</a:t>
            </a:r>
            <a:r>
              <a:rPr lang="en-US" smtClean="0"/>
              <a:t>).</a:t>
            </a:r>
          </a:p>
          <a:p>
            <a:r>
              <a:rPr lang="en-US" smtClean="0"/>
              <a:t>Lead to a diversity of information system used across the country.</a:t>
            </a:r>
          </a:p>
          <a:p>
            <a:r>
              <a:rPr lang="en-US" smtClean="0"/>
              <a:t>BIG PUSH since ~4 years to make information better accessible (particular freshwater). </a:t>
            </a:r>
          </a:p>
          <a:p>
            <a:r>
              <a:rPr lang="en-US" smtClean="0"/>
              <a:t>Lots of ducks are running around (portals build, statements made, etc.). </a:t>
            </a:r>
          </a:p>
          <a:p>
            <a:r>
              <a:rPr lang="en-US" smtClean="0"/>
              <a:t>Since about ~2 years more engagement with OGC etc. through various organizations – seems ducks getting in a row? </a:t>
            </a:r>
          </a:p>
        </p:txBody>
      </p:sp>
      <p:sp>
        <p:nvSpPr>
          <p:cNvPr id="4100" name="Footer Placeholder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a:ea typeface="MS PGothic" pitchFamily="34" charset="-128"/>
              </a:defRPr>
            </a:lvl1pPr>
            <a:lvl2pPr marL="742950" indent="-285750" eaLnBrk="0" hangingPunct="0">
              <a:defRPr sz="1000" b="1">
                <a:solidFill>
                  <a:schemeClr val="tx1"/>
                </a:solidFill>
                <a:latin typeface="CG Times"/>
                <a:ea typeface="MS PGothic" pitchFamily="34" charset="-128"/>
              </a:defRPr>
            </a:lvl2pPr>
            <a:lvl3pPr marL="1143000" indent="-228600" eaLnBrk="0" hangingPunct="0">
              <a:defRPr sz="1000" b="1">
                <a:solidFill>
                  <a:schemeClr val="tx1"/>
                </a:solidFill>
                <a:latin typeface="CG Times"/>
                <a:ea typeface="MS PGothic" pitchFamily="34" charset="-128"/>
              </a:defRPr>
            </a:lvl3pPr>
            <a:lvl4pPr marL="1600200" indent="-228600" eaLnBrk="0" hangingPunct="0">
              <a:defRPr sz="1000" b="1">
                <a:solidFill>
                  <a:schemeClr val="tx1"/>
                </a:solidFill>
                <a:latin typeface="CG Times"/>
                <a:ea typeface="MS PGothic" pitchFamily="34" charset="-128"/>
              </a:defRPr>
            </a:lvl4pPr>
            <a:lvl5pPr marL="2057400" indent="-228600" eaLnBrk="0" hangingPunct="0">
              <a:defRPr sz="1000" b="1">
                <a:solidFill>
                  <a:schemeClr val="tx1"/>
                </a:solidFill>
                <a:latin typeface="CG Times"/>
                <a:ea typeface="MS PGothic" pitchFamily="34" charset="-128"/>
              </a:defRPr>
            </a:lvl5pPr>
            <a:lvl6pPr marL="2514600" indent="-228600" eaLnBrk="0" fontAlgn="base" hangingPunct="0">
              <a:spcBef>
                <a:spcPct val="0"/>
              </a:spcBef>
              <a:spcAft>
                <a:spcPct val="0"/>
              </a:spcAft>
              <a:defRPr sz="1000" b="1">
                <a:solidFill>
                  <a:schemeClr val="tx1"/>
                </a:solidFill>
                <a:latin typeface="CG Times"/>
                <a:ea typeface="MS PGothic" pitchFamily="34" charset="-128"/>
              </a:defRPr>
            </a:lvl6pPr>
            <a:lvl7pPr marL="2971800" indent="-228600" eaLnBrk="0" fontAlgn="base" hangingPunct="0">
              <a:spcBef>
                <a:spcPct val="0"/>
              </a:spcBef>
              <a:spcAft>
                <a:spcPct val="0"/>
              </a:spcAft>
              <a:defRPr sz="1000" b="1">
                <a:solidFill>
                  <a:schemeClr val="tx1"/>
                </a:solidFill>
                <a:latin typeface="CG Times"/>
                <a:ea typeface="MS PGothic" pitchFamily="34" charset="-128"/>
              </a:defRPr>
            </a:lvl7pPr>
            <a:lvl8pPr marL="3429000" indent="-228600" eaLnBrk="0" fontAlgn="base" hangingPunct="0">
              <a:spcBef>
                <a:spcPct val="0"/>
              </a:spcBef>
              <a:spcAft>
                <a:spcPct val="0"/>
              </a:spcAft>
              <a:defRPr sz="1000" b="1">
                <a:solidFill>
                  <a:schemeClr val="tx1"/>
                </a:solidFill>
                <a:latin typeface="CG Times"/>
                <a:ea typeface="MS PGothic" pitchFamily="34" charset="-128"/>
              </a:defRPr>
            </a:lvl8pPr>
            <a:lvl9pPr marL="3886200" indent="-228600" eaLnBrk="0" fontAlgn="base" hangingPunct="0">
              <a:spcBef>
                <a:spcPct val="0"/>
              </a:spcBef>
              <a:spcAft>
                <a:spcPct val="0"/>
              </a:spcAft>
              <a:defRPr sz="1000" b="1">
                <a:solidFill>
                  <a:schemeClr val="tx1"/>
                </a:solidFill>
                <a:latin typeface="CG Times"/>
                <a:ea typeface="MS PGothic" pitchFamily="34" charset="-128"/>
              </a:defRPr>
            </a:lvl9pPr>
          </a:lstStyle>
          <a:p>
            <a:r>
              <a:rPr lang="en-US" sz="900" b="0" smtClean="0">
                <a:solidFill>
                  <a:srgbClr val="092E5C"/>
                </a:solidFill>
                <a:latin typeface="Arial" pitchFamily="34" charset="0"/>
              </a:rPr>
              <a:t>Copyright © 2012 Open Geospatial Consortium</a:t>
            </a:r>
          </a:p>
        </p:txBody>
      </p:sp>
      <p:pic>
        <p:nvPicPr>
          <p:cNvPr id="4101" name="Picture 5" descr="C:\Documents and Settings\schmidtj\Local Settings\Temporary Internet Files\Content.IE5\NU9ETOMD\MC90038371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154739">
            <a:off x="8067675" y="3352800"/>
            <a:ext cx="787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6" descr="C:\Documents and Settings\schmidtj\Local Settings\Temporary Internet Files\Content.IE5\NU9ETOMD\MC90038371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7400" y="5867400"/>
            <a:ext cx="5286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7" descr="C:\Documents and Settings\schmidtj\Local Settings\Temporary Internet Files\Content.IE5\NU9ETOMD\MC90038371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5867400"/>
            <a:ext cx="5286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Picture 8" descr="C:\Documents and Settings\schmidtj\Local Settings\Temporary Internet Files\Content.IE5\NU9ETOMD\MC90038371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6600" y="5867400"/>
            <a:ext cx="5286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2"/>
          <p:cNvSpPr>
            <a:spLocks noGrp="1"/>
          </p:cNvSpPr>
          <p:nvPr>
            <p:ph type="title"/>
          </p:nvPr>
        </p:nvSpPr>
        <p:spPr/>
        <p:txBody>
          <a:bodyPr/>
          <a:lstStyle/>
          <a:p>
            <a:pPr>
              <a:defRPr/>
            </a:pPr>
            <a:r>
              <a:rPr lang="en-NZ" smtClean="0"/>
              <a:t>New Zealand (hydrological) monitoring </a:t>
            </a:r>
          </a:p>
        </p:txBody>
      </p:sp>
      <p:sp>
        <p:nvSpPr>
          <p:cNvPr id="5123" name="Content Placeholder 3"/>
          <p:cNvSpPr>
            <a:spLocks noGrp="1"/>
          </p:cNvSpPr>
          <p:nvPr>
            <p:ph idx="1"/>
          </p:nvPr>
        </p:nvSpPr>
        <p:spPr>
          <a:xfrm>
            <a:off x="468313" y="1674813"/>
            <a:ext cx="4321175" cy="4573587"/>
          </a:xfrm>
        </p:spPr>
        <p:txBody>
          <a:bodyPr/>
          <a:lstStyle/>
          <a:p>
            <a:pPr marL="457200" indent="-457200"/>
            <a:r>
              <a:rPr lang="en-NZ" sz="2000" smtClean="0"/>
              <a:t>Variety of stakeholders – Regional Councils, Energy Companies, NIWA. </a:t>
            </a:r>
          </a:p>
          <a:p>
            <a:pPr marL="457200" indent="-457200"/>
            <a:r>
              <a:rPr lang="en-NZ" sz="2000" smtClean="0"/>
              <a:t>Variable in space, varying densities, e.g. Auckland very well sampled whereas Alpine areas (where most of water  / energy is coming from) under sampled.</a:t>
            </a:r>
          </a:p>
          <a:p>
            <a:pPr marL="457200" indent="-457200"/>
            <a:r>
              <a:rPr lang="en-NZ" sz="2000" smtClean="0"/>
              <a:t>Done for varying objectives and therefore to varying standards using varying technologies (sensors, telemetry, etc.).</a:t>
            </a:r>
          </a:p>
          <a:p>
            <a:pPr marL="457200" indent="-457200"/>
            <a:endParaRPr lang="en-NZ" sz="2000" smtClean="0"/>
          </a:p>
        </p:txBody>
      </p:sp>
      <p:pic>
        <p:nvPicPr>
          <p:cNvPr id="51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5238" y="1595438"/>
            <a:ext cx="3879850" cy="486568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0" y="0"/>
            <a:ext cx="9144000" cy="838200"/>
          </a:xfrm>
        </p:spPr>
        <p:txBody>
          <a:bodyPr/>
          <a:lstStyle/>
          <a:p>
            <a:pPr eaLnBrk="1" hangingPunct="1">
              <a:defRPr/>
            </a:pPr>
            <a:r>
              <a:rPr lang="en-NZ" dirty="0" smtClean="0"/>
              <a:t>Different Organisations – Different networks – Different databases – different delivery systems</a:t>
            </a:r>
          </a:p>
        </p:txBody>
      </p:sp>
      <p:pic>
        <p:nvPicPr>
          <p:cNvPr id="614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35438" y="2808288"/>
            <a:ext cx="4979987" cy="26987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295400"/>
            <a:ext cx="4879975" cy="2643188"/>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7088" y="3168650"/>
            <a:ext cx="5224462" cy="28289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13138" y="1584325"/>
            <a:ext cx="5026025" cy="2722563"/>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152400"/>
            <a:ext cx="9144000" cy="457200"/>
          </a:xfrm>
        </p:spPr>
        <p:txBody>
          <a:bodyPr/>
          <a:lstStyle/>
          <a:p>
            <a:pPr>
              <a:defRPr/>
            </a:pPr>
            <a:r>
              <a:rPr lang="en-NZ" sz="2900" smtClean="0"/>
              <a:t>NZ environmental monitoring situation</a:t>
            </a:r>
            <a:endParaRPr lang="en-GB" sz="2900" smtClean="0"/>
          </a:p>
        </p:txBody>
      </p:sp>
      <p:grpSp>
        <p:nvGrpSpPr>
          <p:cNvPr id="7171" name="Group 3"/>
          <p:cNvGrpSpPr>
            <a:grpSpLocks/>
          </p:cNvGrpSpPr>
          <p:nvPr/>
        </p:nvGrpSpPr>
        <p:grpSpPr bwMode="auto">
          <a:xfrm>
            <a:off x="3581400" y="5410200"/>
            <a:ext cx="1752600" cy="1371600"/>
            <a:chOff x="528" y="3312"/>
            <a:chExt cx="1104" cy="864"/>
          </a:xfrm>
        </p:grpSpPr>
        <p:sp>
          <p:nvSpPr>
            <p:cNvPr id="7216" name="Oval 4"/>
            <p:cNvSpPr>
              <a:spLocks noChangeArrowheads="1"/>
            </p:cNvSpPr>
            <p:nvPr/>
          </p:nvSpPr>
          <p:spPr bwMode="auto">
            <a:xfrm>
              <a:off x="576" y="374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7" name="Oval 5"/>
            <p:cNvSpPr>
              <a:spLocks noChangeArrowheads="1"/>
            </p:cNvSpPr>
            <p:nvPr/>
          </p:nvSpPr>
          <p:spPr bwMode="auto">
            <a:xfrm>
              <a:off x="912" y="340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8" name="Oval 6"/>
            <p:cNvSpPr>
              <a:spLocks noChangeArrowheads="1"/>
            </p:cNvSpPr>
            <p:nvPr/>
          </p:nvSpPr>
          <p:spPr bwMode="auto">
            <a:xfrm>
              <a:off x="1008" y="398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9" name="Oval 7"/>
            <p:cNvSpPr>
              <a:spLocks noChangeArrowheads="1"/>
            </p:cNvSpPr>
            <p:nvPr/>
          </p:nvSpPr>
          <p:spPr bwMode="auto">
            <a:xfrm>
              <a:off x="1152" y="374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20" name="Oval 8"/>
            <p:cNvSpPr>
              <a:spLocks noChangeArrowheads="1"/>
            </p:cNvSpPr>
            <p:nvPr/>
          </p:nvSpPr>
          <p:spPr bwMode="auto">
            <a:xfrm>
              <a:off x="1488" y="412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21" name="Oval 9"/>
            <p:cNvSpPr>
              <a:spLocks noChangeArrowheads="1"/>
            </p:cNvSpPr>
            <p:nvPr/>
          </p:nvSpPr>
          <p:spPr bwMode="auto">
            <a:xfrm>
              <a:off x="1440" y="374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22" name="Oval 10"/>
            <p:cNvSpPr>
              <a:spLocks noChangeArrowheads="1"/>
            </p:cNvSpPr>
            <p:nvPr/>
          </p:nvSpPr>
          <p:spPr bwMode="auto">
            <a:xfrm>
              <a:off x="1248" y="340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23" name="Oval 11"/>
            <p:cNvSpPr>
              <a:spLocks noChangeArrowheads="1"/>
            </p:cNvSpPr>
            <p:nvPr/>
          </p:nvSpPr>
          <p:spPr bwMode="auto">
            <a:xfrm>
              <a:off x="528" y="33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24" name="Oval 12"/>
            <p:cNvSpPr>
              <a:spLocks noChangeArrowheads="1"/>
            </p:cNvSpPr>
            <p:nvPr/>
          </p:nvSpPr>
          <p:spPr bwMode="auto">
            <a:xfrm>
              <a:off x="1584"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7172" name="Group 13"/>
          <p:cNvGrpSpPr>
            <a:grpSpLocks/>
          </p:cNvGrpSpPr>
          <p:nvPr/>
        </p:nvGrpSpPr>
        <p:grpSpPr bwMode="auto">
          <a:xfrm>
            <a:off x="4876800" y="5105400"/>
            <a:ext cx="1752600" cy="1371600"/>
            <a:chOff x="528" y="3312"/>
            <a:chExt cx="1104" cy="864"/>
          </a:xfrm>
        </p:grpSpPr>
        <p:sp>
          <p:nvSpPr>
            <p:cNvPr id="7207" name="Oval 14"/>
            <p:cNvSpPr>
              <a:spLocks noChangeArrowheads="1"/>
            </p:cNvSpPr>
            <p:nvPr/>
          </p:nvSpPr>
          <p:spPr bwMode="auto">
            <a:xfrm>
              <a:off x="576" y="3744"/>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8" name="Oval 15"/>
            <p:cNvSpPr>
              <a:spLocks noChangeArrowheads="1"/>
            </p:cNvSpPr>
            <p:nvPr/>
          </p:nvSpPr>
          <p:spPr bwMode="auto">
            <a:xfrm>
              <a:off x="912" y="3408"/>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9" name="Oval 16"/>
            <p:cNvSpPr>
              <a:spLocks noChangeArrowheads="1"/>
            </p:cNvSpPr>
            <p:nvPr/>
          </p:nvSpPr>
          <p:spPr bwMode="auto">
            <a:xfrm>
              <a:off x="1008" y="3984"/>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0" name="Oval 17"/>
            <p:cNvSpPr>
              <a:spLocks noChangeArrowheads="1"/>
            </p:cNvSpPr>
            <p:nvPr/>
          </p:nvSpPr>
          <p:spPr bwMode="auto">
            <a:xfrm>
              <a:off x="1152" y="3744"/>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1" name="Oval 18"/>
            <p:cNvSpPr>
              <a:spLocks noChangeArrowheads="1"/>
            </p:cNvSpPr>
            <p:nvPr/>
          </p:nvSpPr>
          <p:spPr bwMode="auto">
            <a:xfrm>
              <a:off x="1488" y="4128"/>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2" name="Oval 19"/>
            <p:cNvSpPr>
              <a:spLocks noChangeArrowheads="1"/>
            </p:cNvSpPr>
            <p:nvPr/>
          </p:nvSpPr>
          <p:spPr bwMode="auto">
            <a:xfrm>
              <a:off x="1440" y="3744"/>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3" name="Oval 20"/>
            <p:cNvSpPr>
              <a:spLocks noChangeArrowheads="1"/>
            </p:cNvSpPr>
            <p:nvPr/>
          </p:nvSpPr>
          <p:spPr bwMode="auto">
            <a:xfrm>
              <a:off x="1248" y="3408"/>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4" name="Oval 21"/>
            <p:cNvSpPr>
              <a:spLocks noChangeArrowheads="1"/>
            </p:cNvSpPr>
            <p:nvPr/>
          </p:nvSpPr>
          <p:spPr bwMode="auto">
            <a:xfrm>
              <a:off x="528" y="3312"/>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15" name="Oval 22"/>
            <p:cNvSpPr>
              <a:spLocks noChangeArrowheads="1"/>
            </p:cNvSpPr>
            <p:nvPr/>
          </p:nvSpPr>
          <p:spPr bwMode="auto">
            <a:xfrm>
              <a:off x="1584" y="3360"/>
              <a:ext cx="48" cy="48"/>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7173" name="Group 23"/>
          <p:cNvGrpSpPr>
            <a:grpSpLocks/>
          </p:cNvGrpSpPr>
          <p:nvPr/>
        </p:nvGrpSpPr>
        <p:grpSpPr bwMode="auto">
          <a:xfrm>
            <a:off x="6096000" y="5029200"/>
            <a:ext cx="1752600" cy="1371600"/>
            <a:chOff x="528" y="3312"/>
            <a:chExt cx="1104" cy="864"/>
          </a:xfrm>
        </p:grpSpPr>
        <p:sp>
          <p:nvSpPr>
            <p:cNvPr id="7198" name="Oval 24"/>
            <p:cNvSpPr>
              <a:spLocks noChangeArrowheads="1"/>
            </p:cNvSpPr>
            <p:nvPr/>
          </p:nvSpPr>
          <p:spPr bwMode="auto">
            <a:xfrm>
              <a:off x="576" y="3744"/>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9" name="Oval 25"/>
            <p:cNvSpPr>
              <a:spLocks noChangeArrowheads="1"/>
            </p:cNvSpPr>
            <p:nvPr/>
          </p:nvSpPr>
          <p:spPr bwMode="auto">
            <a:xfrm>
              <a:off x="912" y="3408"/>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0" name="Oval 26"/>
            <p:cNvSpPr>
              <a:spLocks noChangeArrowheads="1"/>
            </p:cNvSpPr>
            <p:nvPr/>
          </p:nvSpPr>
          <p:spPr bwMode="auto">
            <a:xfrm>
              <a:off x="1008" y="3984"/>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1" name="Oval 27"/>
            <p:cNvSpPr>
              <a:spLocks noChangeArrowheads="1"/>
            </p:cNvSpPr>
            <p:nvPr/>
          </p:nvSpPr>
          <p:spPr bwMode="auto">
            <a:xfrm>
              <a:off x="1152" y="3744"/>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2" name="Oval 28"/>
            <p:cNvSpPr>
              <a:spLocks noChangeArrowheads="1"/>
            </p:cNvSpPr>
            <p:nvPr/>
          </p:nvSpPr>
          <p:spPr bwMode="auto">
            <a:xfrm>
              <a:off x="1488" y="4128"/>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3" name="Oval 29"/>
            <p:cNvSpPr>
              <a:spLocks noChangeArrowheads="1"/>
            </p:cNvSpPr>
            <p:nvPr/>
          </p:nvSpPr>
          <p:spPr bwMode="auto">
            <a:xfrm>
              <a:off x="1440" y="3744"/>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4" name="Oval 30"/>
            <p:cNvSpPr>
              <a:spLocks noChangeArrowheads="1"/>
            </p:cNvSpPr>
            <p:nvPr/>
          </p:nvSpPr>
          <p:spPr bwMode="auto">
            <a:xfrm>
              <a:off x="1248" y="3408"/>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5" name="Oval 31"/>
            <p:cNvSpPr>
              <a:spLocks noChangeArrowheads="1"/>
            </p:cNvSpPr>
            <p:nvPr/>
          </p:nvSpPr>
          <p:spPr bwMode="auto">
            <a:xfrm>
              <a:off x="528" y="3312"/>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206" name="Oval 32"/>
            <p:cNvSpPr>
              <a:spLocks noChangeArrowheads="1"/>
            </p:cNvSpPr>
            <p:nvPr/>
          </p:nvSpPr>
          <p:spPr bwMode="auto">
            <a:xfrm>
              <a:off x="1584" y="3360"/>
              <a:ext cx="48" cy="4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7174" name="Group 33"/>
          <p:cNvGrpSpPr>
            <a:grpSpLocks/>
          </p:cNvGrpSpPr>
          <p:nvPr/>
        </p:nvGrpSpPr>
        <p:grpSpPr bwMode="auto">
          <a:xfrm>
            <a:off x="7010400" y="5257800"/>
            <a:ext cx="1752600" cy="1371600"/>
            <a:chOff x="528" y="3312"/>
            <a:chExt cx="1104" cy="864"/>
          </a:xfrm>
        </p:grpSpPr>
        <p:sp>
          <p:nvSpPr>
            <p:cNvPr id="7189" name="Oval 34"/>
            <p:cNvSpPr>
              <a:spLocks noChangeArrowheads="1"/>
            </p:cNvSpPr>
            <p:nvPr/>
          </p:nvSpPr>
          <p:spPr bwMode="auto">
            <a:xfrm>
              <a:off x="576" y="37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0" name="Oval 35"/>
            <p:cNvSpPr>
              <a:spLocks noChangeArrowheads="1"/>
            </p:cNvSpPr>
            <p:nvPr/>
          </p:nvSpPr>
          <p:spPr bwMode="auto">
            <a:xfrm>
              <a:off x="912" y="340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1" name="Oval 36"/>
            <p:cNvSpPr>
              <a:spLocks noChangeArrowheads="1"/>
            </p:cNvSpPr>
            <p:nvPr/>
          </p:nvSpPr>
          <p:spPr bwMode="auto">
            <a:xfrm>
              <a:off x="1008" y="398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2" name="Oval 37"/>
            <p:cNvSpPr>
              <a:spLocks noChangeArrowheads="1"/>
            </p:cNvSpPr>
            <p:nvPr/>
          </p:nvSpPr>
          <p:spPr bwMode="auto">
            <a:xfrm>
              <a:off x="1152" y="37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3" name="Oval 38"/>
            <p:cNvSpPr>
              <a:spLocks noChangeArrowheads="1"/>
            </p:cNvSpPr>
            <p:nvPr/>
          </p:nvSpPr>
          <p:spPr bwMode="auto">
            <a:xfrm>
              <a:off x="1488" y="412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4" name="Oval 39"/>
            <p:cNvSpPr>
              <a:spLocks noChangeArrowheads="1"/>
            </p:cNvSpPr>
            <p:nvPr/>
          </p:nvSpPr>
          <p:spPr bwMode="auto">
            <a:xfrm>
              <a:off x="1440" y="37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5" name="Oval 40"/>
            <p:cNvSpPr>
              <a:spLocks noChangeArrowheads="1"/>
            </p:cNvSpPr>
            <p:nvPr/>
          </p:nvSpPr>
          <p:spPr bwMode="auto">
            <a:xfrm>
              <a:off x="1248" y="340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6" name="Oval 41"/>
            <p:cNvSpPr>
              <a:spLocks noChangeArrowheads="1"/>
            </p:cNvSpPr>
            <p:nvPr/>
          </p:nvSpPr>
          <p:spPr bwMode="auto">
            <a:xfrm>
              <a:off x="528" y="331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97" name="Oval 42"/>
            <p:cNvSpPr>
              <a:spLocks noChangeArrowheads="1"/>
            </p:cNvSpPr>
            <p:nvPr/>
          </p:nvSpPr>
          <p:spPr bwMode="auto">
            <a:xfrm>
              <a:off x="1584" y="336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
        <p:nvSpPr>
          <p:cNvPr id="7175" name="Text Box 43"/>
          <p:cNvSpPr txBox="1">
            <a:spLocks noChangeArrowheads="1"/>
          </p:cNvSpPr>
          <p:nvPr/>
        </p:nvSpPr>
        <p:spPr bwMode="auto">
          <a:xfrm>
            <a:off x="0" y="4751388"/>
            <a:ext cx="4800600" cy="187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9" tIns="45719" rIns="91439" bIns="45719">
            <a:spAutoFit/>
          </a:bodyPr>
          <a:lstStyle>
            <a:lvl1pPr defTabSz="1016000" eaLnBrk="0" hangingPunct="0">
              <a:defRPr sz="1000" b="1">
                <a:solidFill>
                  <a:schemeClr val="tx1"/>
                </a:solidFill>
                <a:latin typeface="CG Times"/>
                <a:ea typeface="MS PGothic" pitchFamily="34" charset="-128"/>
              </a:defRPr>
            </a:lvl1pPr>
            <a:lvl2pPr marL="742950" indent="-285750" defTabSz="1016000" eaLnBrk="0" hangingPunct="0">
              <a:defRPr sz="1000" b="1">
                <a:solidFill>
                  <a:schemeClr val="tx1"/>
                </a:solidFill>
                <a:latin typeface="CG Times"/>
                <a:ea typeface="MS PGothic" pitchFamily="34" charset="-128"/>
              </a:defRPr>
            </a:lvl2pPr>
            <a:lvl3pPr marL="1143000" indent="-228600" defTabSz="1016000" eaLnBrk="0" hangingPunct="0">
              <a:defRPr sz="1000" b="1">
                <a:solidFill>
                  <a:schemeClr val="tx1"/>
                </a:solidFill>
                <a:latin typeface="CG Times"/>
                <a:ea typeface="MS PGothic" pitchFamily="34" charset="-128"/>
              </a:defRPr>
            </a:lvl3pPr>
            <a:lvl4pPr marL="1600200" indent="-228600" defTabSz="1016000" eaLnBrk="0" hangingPunct="0">
              <a:defRPr sz="1000" b="1">
                <a:solidFill>
                  <a:schemeClr val="tx1"/>
                </a:solidFill>
                <a:latin typeface="CG Times"/>
                <a:ea typeface="MS PGothic" pitchFamily="34" charset="-128"/>
              </a:defRPr>
            </a:lvl4pPr>
            <a:lvl5pPr marL="2057400" indent="-228600" defTabSz="1016000" eaLnBrk="0" hangingPunct="0">
              <a:defRPr sz="1000" b="1">
                <a:solidFill>
                  <a:schemeClr val="tx1"/>
                </a:solidFill>
                <a:latin typeface="CG Times"/>
                <a:ea typeface="MS PGothic" pitchFamily="34" charset="-128"/>
              </a:defRPr>
            </a:lvl5pPr>
            <a:lvl6pPr marL="2514600" indent="-228600" defTabSz="1016000" eaLnBrk="0" fontAlgn="base" hangingPunct="0">
              <a:spcBef>
                <a:spcPct val="0"/>
              </a:spcBef>
              <a:spcAft>
                <a:spcPct val="0"/>
              </a:spcAft>
              <a:defRPr sz="1000" b="1">
                <a:solidFill>
                  <a:schemeClr val="tx1"/>
                </a:solidFill>
                <a:latin typeface="CG Times"/>
                <a:ea typeface="MS PGothic" pitchFamily="34" charset="-128"/>
              </a:defRPr>
            </a:lvl6pPr>
            <a:lvl7pPr marL="2971800" indent="-228600" defTabSz="1016000" eaLnBrk="0" fontAlgn="base" hangingPunct="0">
              <a:spcBef>
                <a:spcPct val="0"/>
              </a:spcBef>
              <a:spcAft>
                <a:spcPct val="0"/>
              </a:spcAft>
              <a:defRPr sz="1000" b="1">
                <a:solidFill>
                  <a:schemeClr val="tx1"/>
                </a:solidFill>
                <a:latin typeface="CG Times"/>
                <a:ea typeface="MS PGothic" pitchFamily="34" charset="-128"/>
              </a:defRPr>
            </a:lvl7pPr>
            <a:lvl8pPr marL="3429000" indent="-228600" defTabSz="1016000" eaLnBrk="0" fontAlgn="base" hangingPunct="0">
              <a:spcBef>
                <a:spcPct val="0"/>
              </a:spcBef>
              <a:spcAft>
                <a:spcPct val="0"/>
              </a:spcAft>
              <a:defRPr sz="1000" b="1">
                <a:solidFill>
                  <a:schemeClr val="tx1"/>
                </a:solidFill>
                <a:latin typeface="CG Times"/>
                <a:ea typeface="MS PGothic" pitchFamily="34" charset="-128"/>
              </a:defRPr>
            </a:lvl8pPr>
            <a:lvl9pPr marL="3886200" indent="-228600" defTabSz="1016000" eaLnBrk="0" fontAlgn="base" hangingPunct="0">
              <a:spcBef>
                <a:spcPct val="0"/>
              </a:spcBef>
              <a:spcAft>
                <a:spcPct val="0"/>
              </a:spcAft>
              <a:defRPr sz="1000" b="1">
                <a:solidFill>
                  <a:schemeClr val="tx1"/>
                </a:solidFill>
                <a:latin typeface="CG Times"/>
                <a:ea typeface="MS PGothic" pitchFamily="34" charset="-128"/>
              </a:defRPr>
            </a:lvl9pPr>
          </a:lstStyle>
          <a:p>
            <a:pPr eaLnBrk="1" hangingPunct="1"/>
            <a:r>
              <a:rPr lang="en-NZ">
                <a:latin typeface="Arial" pitchFamily="34" charset="0"/>
                <a:ea typeface="MS Gothic"/>
                <a:cs typeface="MS Gothic"/>
              </a:rPr>
              <a:t>NZ environmental monitoring – situation</a:t>
            </a:r>
          </a:p>
          <a:p>
            <a:pPr eaLnBrk="1" hangingPunct="1"/>
            <a:r>
              <a:rPr lang="en-NZ">
                <a:latin typeface="Arial" pitchFamily="34" charset="0"/>
                <a:ea typeface="MS Gothic"/>
                <a:cs typeface="MS Gothic"/>
              </a:rPr>
              <a:t> </a:t>
            </a:r>
          </a:p>
          <a:p>
            <a:pPr eaLnBrk="1" hangingPunct="1">
              <a:buFontTx/>
              <a:buChar char="•"/>
            </a:pPr>
            <a:r>
              <a:rPr lang="en-NZ" sz="1600">
                <a:latin typeface="Arial" pitchFamily="34" charset="0"/>
                <a:ea typeface="MS Gothic"/>
                <a:cs typeface="MS Gothic"/>
              </a:rPr>
              <a:t> Different agencies</a:t>
            </a:r>
          </a:p>
          <a:p>
            <a:pPr eaLnBrk="1" hangingPunct="1">
              <a:buFontTx/>
              <a:buChar char="•"/>
            </a:pPr>
            <a:r>
              <a:rPr lang="en-NZ" sz="1600">
                <a:latin typeface="Arial" pitchFamily="34" charset="0"/>
                <a:ea typeface="MS Gothic"/>
                <a:cs typeface="MS Gothic"/>
              </a:rPr>
              <a:t> Different projects</a:t>
            </a:r>
          </a:p>
          <a:p>
            <a:pPr eaLnBrk="1" hangingPunct="1">
              <a:buFontTx/>
              <a:buChar char="•"/>
            </a:pPr>
            <a:r>
              <a:rPr lang="en-NZ" sz="1600">
                <a:latin typeface="Arial" pitchFamily="34" charset="0"/>
                <a:ea typeface="MS Gothic"/>
                <a:cs typeface="MS Gothic"/>
              </a:rPr>
              <a:t> Different objectives</a:t>
            </a:r>
          </a:p>
          <a:p>
            <a:pPr eaLnBrk="1" hangingPunct="1">
              <a:buFontTx/>
              <a:buChar char="•"/>
            </a:pPr>
            <a:r>
              <a:rPr lang="en-NZ" sz="1600">
                <a:latin typeface="Arial" pitchFamily="34" charset="0"/>
                <a:ea typeface="MS Gothic"/>
                <a:cs typeface="MS Gothic"/>
              </a:rPr>
              <a:t> Different monitoring networks</a:t>
            </a:r>
          </a:p>
          <a:p>
            <a:pPr eaLnBrk="1" hangingPunct="1">
              <a:buFontTx/>
              <a:buChar char="•"/>
            </a:pPr>
            <a:r>
              <a:rPr lang="en-NZ" sz="1600">
                <a:latin typeface="Arial" pitchFamily="34" charset="0"/>
                <a:ea typeface="MS Gothic"/>
                <a:cs typeface="MS Gothic"/>
              </a:rPr>
              <a:t> Different standards</a:t>
            </a:r>
            <a:endParaRPr lang="en-GB" sz="1600">
              <a:latin typeface="Arial" pitchFamily="34" charset="0"/>
              <a:ea typeface="MS Gothic"/>
              <a:cs typeface="MS Gothic"/>
            </a:endParaRPr>
          </a:p>
        </p:txBody>
      </p:sp>
      <p:sp>
        <p:nvSpPr>
          <p:cNvPr id="7176" name="Text Box 44"/>
          <p:cNvSpPr txBox="1">
            <a:spLocks noChangeArrowheads="1"/>
          </p:cNvSpPr>
          <p:nvPr/>
        </p:nvSpPr>
        <p:spPr bwMode="auto">
          <a:xfrm>
            <a:off x="76200" y="1016000"/>
            <a:ext cx="3189288"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9" tIns="45719" rIns="91439" bIns="45719">
            <a:spAutoFit/>
          </a:bodyPr>
          <a:lstStyle>
            <a:lvl1pPr defTabSz="1016000" eaLnBrk="0" hangingPunct="0">
              <a:defRPr sz="1000" b="1">
                <a:solidFill>
                  <a:schemeClr val="tx1"/>
                </a:solidFill>
                <a:latin typeface="CG Times"/>
                <a:ea typeface="MS PGothic" pitchFamily="34" charset="-128"/>
              </a:defRPr>
            </a:lvl1pPr>
            <a:lvl2pPr marL="508000" defTabSz="1016000" eaLnBrk="0" hangingPunct="0">
              <a:defRPr sz="1000" b="1">
                <a:solidFill>
                  <a:schemeClr val="tx1"/>
                </a:solidFill>
                <a:latin typeface="CG Times"/>
                <a:ea typeface="MS PGothic" pitchFamily="34" charset="-128"/>
              </a:defRPr>
            </a:lvl2pPr>
            <a:lvl3pPr marL="1143000" indent="-228600" defTabSz="1016000" eaLnBrk="0" hangingPunct="0">
              <a:defRPr sz="1000" b="1">
                <a:solidFill>
                  <a:schemeClr val="tx1"/>
                </a:solidFill>
                <a:latin typeface="CG Times"/>
                <a:ea typeface="MS PGothic" pitchFamily="34" charset="-128"/>
              </a:defRPr>
            </a:lvl3pPr>
            <a:lvl4pPr marL="1600200" indent="-228600" defTabSz="1016000" eaLnBrk="0" hangingPunct="0">
              <a:defRPr sz="1000" b="1">
                <a:solidFill>
                  <a:schemeClr val="tx1"/>
                </a:solidFill>
                <a:latin typeface="CG Times"/>
                <a:ea typeface="MS PGothic" pitchFamily="34" charset="-128"/>
              </a:defRPr>
            </a:lvl4pPr>
            <a:lvl5pPr marL="2057400" indent="-228600" defTabSz="1016000" eaLnBrk="0" hangingPunct="0">
              <a:defRPr sz="1000" b="1">
                <a:solidFill>
                  <a:schemeClr val="tx1"/>
                </a:solidFill>
                <a:latin typeface="CG Times"/>
                <a:ea typeface="MS PGothic" pitchFamily="34" charset="-128"/>
              </a:defRPr>
            </a:lvl5pPr>
            <a:lvl6pPr marL="2514600" indent="-228600" defTabSz="1016000" eaLnBrk="0" fontAlgn="base" hangingPunct="0">
              <a:spcBef>
                <a:spcPct val="0"/>
              </a:spcBef>
              <a:spcAft>
                <a:spcPct val="0"/>
              </a:spcAft>
              <a:defRPr sz="1000" b="1">
                <a:solidFill>
                  <a:schemeClr val="tx1"/>
                </a:solidFill>
                <a:latin typeface="CG Times"/>
                <a:ea typeface="MS PGothic" pitchFamily="34" charset="-128"/>
              </a:defRPr>
            </a:lvl6pPr>
            <a:lvl7pPr marL="2971800" indent="-228600" defTabSz="1016000" eaLnBrk="0" fontAlgn="base" hangingPunct="0">
              <a:spcBef>
                <a:spcPct val="0"/>
              </a:spcBef>
              <a:spcAft>
                <a:spcPct val="0"/>
              </a:spcAft>
              <a:defRPr sz="1000" b="1">
                <a:solidFill>
                  <a:schemeClr val="tx1"/>
                </a:solidFill>
                <a:latin typeface="CG Times"/>
                <a:ea typeface="MS PGothic" pitchFamily="34" charset="-128"/>
              </a:defRPr>
            </a:lvl7pPr>
            <a:lvl8pPr marL="3429000" indent="-228600" defTabSz="1016000" eaLnBrk="0" fontAlgn="base" hangingPunct="0">
              <a:spcBef>
                <a:spcPct val="0"/>
              </a:spcBef>
              <a:spcAft>
                <a:spcPct val="0"/>
              </a:spcAft>
              <a:defRPr sz="1000" b="1">
                <a:solidFill>
                  <a:schemeClr val="tx1"/>
                </a:solidFill>
                <a:latin typeface="CG Times"/>
                <a:ea typeface="MS PGothic" pitchFamily="34" charset="-128"/>
              </a:defRPr>
            </a:lvl8pPr>
            <a:lvl9pPr marL="3886200" indent="-228600" defTabSz="1016000" eaLnBrk="0" fontAlgn="base" hangingPunct="0">
              <a:spcBef>
                <a:spcPct val="0"/>
              </a:spcBef>
              <a:spcAft>
                <a:spcPct val="0"/>
              </a:spcAft>
              <a:defRPr sz="1000" b="1">
                <a:solidFill>
                  <a:schemeClr val="tx1"/>
                </a:solidFill>
                <a:latin typeface="CG Times"/>
                <a:ea typeface="MS PGothic" pitchFamily="34" charset="-128"/>
              </a:defRPr>
            </a:lvl9pPr>
          </a:lstStyle>
          <a:p>
            <a:pPr eaLnBrk="1" hangingPunct="1"/>
            <a:r>
              <a:rPr lang="en-NZ">
                <a:latin typeface="Arial" pitchFamily="34" charset="0"/>
                <a:ea typeface="MS Gothic"/>
                <a:cs typeface="MS Gothic"/>
              </a:rPr>
              <a:t>Vision: consistent NZ Monitoring and Reporting</a:t>
            </a:r>
          </a:p>
          <a:p>
            <a:pPr eaLnBrk="1" hangingPunct="1"/>
            <a:endParaRPr lang="en-NZ">
              <a:latin typeface="Arial" pitchFamily="34" charset="0"/>
              <a:ea typeface="MS Gothic"/>
              <a:cs typeface="MS Gothic"/>
            </a:endParaRPr>
          </a:p>
          <a:p>
            <a:pPr eaLnBrk="1" hangingPunct="1">
              <a:buFontTx/>
              <a:buChar char="•"/>
            </a:pPr>
            <a:r>
              <a:rPr lang="en-NZ" sz="1600">
                <a:latin typeface="Arial" pitchFamily="34" charset="0"/>
                <a:ea typeface="MS Gothic"/>
                <a:cs typeface="MS Gothic"/>
              </a:rPr>
              <a:t> How is data made shareable?</a:t>
            </a:r>
          </a:p>
          <a:p>
            <a:pPr lvl="1" eaLnBrk="1" hangingPunct="1">
              <a:buFontTx/>
              <a:buChar char="•"/>
            </a:pPr>
            <a:r>
              <a:rPr lang="en-NZ" sz="1600">
                <a:latin typeface="Arial" pitchFamily="34" charset="0"/>
                <a:ea typeface="MS Gothic"/>
                <a:cs typeface="MS Gothic"/>
              </a:rPr>
              <a:t> procedures/standards</a:t>
            </a:r>
          </a:p>
          <a:p>
            <a:pPr lvl="1" eaLnBrk="1" hangingPunct="1">
              <a:buFontTx/>
              <a:buChar char="•"/>
            </a:pPr>
            <a:r>
              <a:rPr lang="en-NZ" sz="1600">
                <a:latin typeface="Arial" pitchFamily="34" charset="0"/>
                <a:ea typeface="MS Gothic"/>
                <a:cs typeface="MS Gothic"/>
              </a:rPr>
              <a:t> IP / legal</a:t>
            </a:r>
          </a:p>
          <a:p>
            <a:pPr lvl="1" eaLnBrk="1" hangingPunct="1">
              <a:buFontTx/>
              <a:buChar char="•"/>
            </a:pPr>
            <a:endParaRPr lang="en-NZ" sz="1600">
              <a:latin typeface="Arial" pitchFamily="34" charset="0"/>
              <a:ea typeface="MS Gothic"/>
              <a:cs typeface="MS Gothic"/>
            </a:endParaRPr>
          </a:p>
          <a:p>
            <a:pPr eaLnBrk="1" hangingPunct="1">
              <a:buFontTx/>
              <a:buChar char="•"/>
            </a:pPr>
            <a:r>
              <a:rPr lang="en-NZ" sz="1600">
                <a:latin typeface="Arial" pitchFamily="34" charset="0"/>
                <a:ea typeface="MS Gothic"/>
                <a:cs typeface="MS Gothic"/>
              </a:rPr>
              <a:t> How is data documented?</a:t>
            </a:r>
          </a:p>
          <a:p>
            <a:pPr lvl="1" eaLnBrk="1" hangingPunct="1">
              <a:buFontTx/>
              <a:buChar char="•"/>
            </a:pPr>
            <a:r>
              <a:rPr lang="en-NZ" sz="1600">
                <a:latin typeface="Arial" pitchFamily="34" charset="0"/>
                <a:ea typeface="MS Gothic"/>
                <a:cs typeface="MS Gothic"/>
              </a:rPr>
              <a:t> procedures/standards</a:t>
            </a:r>
          </a:p>
          <a:p>
            <a:pPr lvl="1" eaLnBrk="1" hangingPunct="1">
              <a:buFontTx/>
              <a:buChar char="•"/>
            </a:pPr>
            <a:endParaRPr lang="en-NZ" sz="1600">
              <a:latin typeface="Arial" pitchFamily="34" charset="0"/>
              <a:ea typeface="MS Gothic"/>
              <a:cs typeface="MS Gothic"/>
            </a:endParaRPr>
          </a:p>
          <a:p>
            <a:pPr eaLnBrk="1" hangingPunct="1">
              <a:buFontTx/>
              <a:buChar char="•"/>
            </a:pPr>
            <a:r>
              <a:rPr lang="en-NZ" sz="1600">
                <a:latin typeface="Arial" pitchFamily="34" charset="0"/>
                <a:ea typeface="MS Gothic"/>
                <a:cs typeface="MS Gothic"/>
              </a:rPr>
              <a:t> How is data collected?</a:t>
            </a:r>
          </a:p>
          <a:p>
            <a:pPr lvl="1" eaLnBrk="1" hangingPunct="1">
              <a:buFontTx/>
              <a:buChar char="•"/>
            </a:pPr>
            <a:r>
              <a:rPr lang="en-NZ" sz="1600">
                <a:latin typeface="Arial" pitchFamily="34" charset="0"/>
                <a:ea typeface="MS Gothic"/>
                <a:cs typeface="MS Gothic"/>
              </a:rPr>
              <a:t>  procedures/standards</a:t>
            </a:r>
          </a:p>
          <a:p>
            <a:pPr lvl="1" eaLnBrk="1" hangingPunct="1">
              <a:buFontTx/>
              <a:buChar char="•"/>
            </a:pPr>
            <a:endParaRPr lang="en-NZ" sz="1600">
              <a:latin typeface="Arial" pitchFamily="34" charset="0"/>
              <a:ea typeface="MS Gothic"/>
              <a:cs typeface="MS Gothic"/>
            </a:endParaRPr>
          </a:p>
          <a:p>
            <a:pPr eaLnBrk="1" hangingPunct="1">
              <a:buFontTx/>
              <a:buChar char="•"/>
            </a:pPr>
            <a:r>
              <a:rPr lang="en-NZ" sz="1600">
                <a:latin typeface="Arial" pitchFamily="34" charset="0"/>
                <a:ea typeface="MS Gothic"/>
                <a:cs typeface="MS Gothic"/>
              </a:rPr>
              <a:t> What is important?</a:t>
            </a:r>
          </a:p>
          <a:p>
            <a:pPr lvl="1" eaLnBrk="1" hangingPunct="1">
              <a:buFontTx/>
              <a:buChar char="•"/>
            </a:pPr>
            <a:r>
              <a:rPr lang="en-NZ" sz="1600">
                <a:latin typeface="Arial" pitchFamily="34" charset="0"/>
                <a:ea typeface="MS Gothic"/>
                <a:cs typeface="MS Gothic"/>
              </a:rPr>
              <a:t> for different objectives?</a:t>
            </a:r>
          </a:p>
          <a:p>
            <a:pPr lvl="1" eaLnBrk="1" hangingPunct="1">
              <a:buFontTx/>
              <a:buChar char="•"/>
            </a:pPr>
            <a:r>
              <a:rPr lang="en-NZ" sz="1600">
                <a:latin typeface="Arial" pitchFamily="34" charset="0"/>
                <a:ea typeface="MS Gothic"/>
                <a:cs typeface="MS Gothic"/>
              </a:rPr>
              <a:t> “filtering” necessary?</a:t>
            </a:r>
            <a:endParaRPr lang="en-GB" sz="1600">
              <a:latin typeface="Arial" pitchFamily="34" charset="0"/>
              <a:ea typeface="MS Gothic"/>
              <a:cs typeface="MS Gothic"/>
            </a:endParaRPr>
          </a:p>
        </p:txBody>
      </p:sp>
      <p:grpSp>
        <p:nvGrpSpPr>
          <p:cNvPr id="7177" name="Group 45"/>
          <p:cNvGrpSpPr>
            <a:grpSpLocks/>
          </p:cNvGrpSpPr>
          <p:nvPr/>
        </p:nvGrpSpPr>
        <p:grpSpPr bwMode="auto">
          <a:xfrm>
            <a:off x="4114800" y="1752600"/>
            <a:ext cx="3886200" cy="2286000"/>
            <a:chOff x="528" y="3312"/>
            <a:chExt cx="1104" cy="864"/>
          </a:xfrm>
        </p:grpSpPr>
        <p:sp>
          <p:nvSpPr>
            <p:cNvPr id="7180" name="Oval 46"/>
            <p:cNvSpPr>
              <a:spLocks noChangeArrowheads="1"/>
            </p:cNvSpPr>
            <p:nvPr/>
          </p:nvSpPr>
          <p:spPr bwMode="auto">
            <a:xfrm>
              <a:off x="576" y="3744"/>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81" name="Oval 47"/>
            <p:cNvSpPr>
              <a:spLocks noChangeArrowheads="1"/>
            </p:cNvSpPr>
            <p:nvPr/>
          </p:nvSpPr>
          <p:spPr bwMode="auto">
            <a:xfrm>
              <a:off x="912" y="3408"/>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82" name="Oval 48"/>
            <p:cNvSpPr>
              <a:spLocks noChangeArrowheads="1"/>
            </p:cNvSpPr>
            <p:nvPr/>
          </p:nvSpPr>
          <p:spPr bwMode="auto">
            <a:xfrm>
              <a:off x="1008" y="3984"/>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83" name="Oval 49"/>
            <p:cNvSpPr>
              <a:spLocks noChangeArrowheads="1"/>
            </p:cNvSpPr>
            <p:nvPr/>
          </p:nvSpPr>
          <p:spPr bwMode="auto">
            <a:xfrm>
              <a:off x="1152" y="3744"/>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84" name="Oval 50"/>
            <p:cNvSpPr>
              <a:spLocks noChangeArrowheads="1"/>
            </p:cNvSpPr>
            <p:nvPr/>
          </p:nvSpPr>
          <p:spPr bwMode="auto">
            <a:xfrm>
              <a:off x="1488" y="4128"/>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85" name="Oval 51"/>
            <p:cNvSpPr>
              <a:spLocks noChangeArrowheads="1"/>
            </p:cNvSpPr>
            <p:nvPr/>
          </p:nvSpPr>
          <p:spPr bwMode="auto">
            <a:xfrm>
              <a:off x="1440" y="3744"/>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86" name="Oval 52"/>
            <p:cNvSpPr>
              <a:spLocks noChangeArrowheads="1"/>
            </p:cNvSpPr>
            <p:nvPr/>
          </p:nvSpPr>
          <p:spPr bwMode="auto">
            <a:xfrm>
              <a:off x="1248" y="3408"/>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87" name="Oval 53"/>
            <p:cNvSpPr>
              <a:spLocks noChangeArrowheads="1"/>
            </p:cNvSpPr>
            <p:nvPr/>
          </p:nvSpPr>
          <p:spPr bwMode="auto">
            <a:xfrm>
              <a:off x="528" y="3312"/>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188" name="Oval 54"/>
            <p:cNvSpPr>
              <a:spLocks noChangeArrowheads="1"/>
            </p:cNvSpPr>
            <p:nvPr/>
          </p:nvSpPr>
          <p:spPr bwMode="auto">
            <a:xfrm>
              <a:off x="1584" y="3360"/>
              <a:ext cx="48" cy="48"/>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
        <p:nvSpPr>
          <p:cNvPr id="7178" name="AutoShape 55"/>
          <p:cNvSpPr>
            <a:spLocks noChangeArrowheads="1"/>
          </p:cNvSpPr>
          <p:nvPr/>
        </p:nvSpPr>
        <p:spPr bwMode="auto">
          <a:xfrm>
            <a:off x="5105400" y="4343400"/>
            <a:ext cx="1981200" cy="457200"/>
          </a:xfrm>
          <a:prstGeom prst="up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82296" tIns="41148" rIns="82296" bIns="41148" anchor="ctr"/>
          <a:lstStyle/>
          <a:p>
            <a:endParaRPr lang="en-NZ"/>
          </a:p>
        </p:txBody>
      </p:sp>
      <p:sp>
        <p:nvSpPr>
          <p:cNvPr id="2" name="TextBox 1"/>
          <p:cNvSpPr txBox="1"/>
          <p:nvPr/>
        </p:nvSpPr>
        <p:spPr>
          <a:xfrm>
            <a:off x="5789613" y="2060575"/>
            <a:ext cx="1487487" cy="1570038"/>
          </a:xfrm>
          <a:prstGeom prst="rect">
            <a:avLst/>
          </a:prstGeom>
          <a:noFill/>
        </p:spPr>
        <p:txBody>
          <a:bodyPr>
            <a:spAutoFit/>
          </a:bodyPr>
          <a:lstStyle/>
          <a:p>
            <a:pPr>
              <a:defRPr/>
            </a:pPr>
            <a:r>
              <a:rPr lang="en-NZ" sz="9600" dirty="0">
                <a:solidFill>
                  <a:schemeClr val="tx1">
                    <a:lumMod val="75000"/>
                    <a:lumOff val="25000"/>
                  </a:schemeClr>
                </a:solidFill>
                <a:cs typeface="+mn-cs"/>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539750" y="-76200"/>
            <a:ext cx="7772400" cy="1144588"/>
          </a:xfrm>
        </p:spPr>
        <p:txBody>
          <a:bodyPr/>
          <a:lstStyle/>
          <a:p>
            <a:pPr eaLnBrk="1" hangingPunct="1">
              <a:defRPr/>
            </a:pPr>
            <a:r>
              <a:rPr lang="en-NZ" dirty="0" smtClean="0"/>
              <a:t>Consistent National Environmental Monitoring and Reporting</a:t>
            </a:r>
          </a:p>
        </p:txBody>
      </p:sp>
      <p:sp>
        <p:nvSpPr>
          <p:cNvPr id="3" name="Content Placeholder 2"/>
          <p:cNvSpPr>
            <a:spLocks noGrp="1"/>
          </p:cNvSpPr>
          <p:nvPr>
            <p:ph sz="half" idx="1"/>
          </p:nvPr>
        </p:nvSpPr>
        <p:spPr>
          <a:xfrm>
            <a:off x="323850" y="2139950"/>
            <a:ext cx="3817938" cy="4116388"/>
          </a:xfrm>
        </p:spPr>
        <p:txBody>
          <a:bodyPr/>
          <a:lstStyle/>
          <a:p>
            <a:pPr marL="0" indent="0" eaLnBrk="1" hangingPunct="1">
              <a:buFontTx/>
              <a:buNone/>
              <a:defRPr/>
            </a:pPr>
            <a:r>
              <a:rPr lang="en-NZ" dirty="0" smtClean="0">
                <a:cs typeface="Arial" pitchFamily="34" charset="0"/>
              </a:rPr>
              <a:t>Issues:</a:t>
            </a:r>
          </a:p>
          <a:p>
            <a:pPr marL="308607" indent="-308607" eaLnBrk="1" hangingPunct="1">
              <a:defRPr/>
            </a:pPr>
            <a:r>
              <a:rPr lang="en-NZ" dirty="0" smtClean="0">
                <a:cs typeface="Arial" pitchFamily="34" charset="0"/>
              </a:rPr>
              <a:t>Different agencies</a:t>
            </a:r>
          </a:p>
          <a:p>
            <a:pPr marL="308607" indent="-308607" eaLnBrk="1" hangingPunct="1">
              <a:defRPr/>
            </a:pPr>
            <a:r>
              <a:rPr lang="en-NZ" dirty="0" smtClean="0">
                <a:cs typeface="Arial" pitchFamily="34" charset="0"/>
              </a:rPr>
              <a:t>Different projects</a:t>
            </a:r>
          </a:p>
          <a:p>
            <a:pPr marL="308607" indent="-308607" eaLnBrk="1" hangingPunct="1">
              <a:defRPr/>
            </a:pPr>
            <a:r>
              <a:rPr lang="en-NZ" dirty="0" smtClean="0">
                <a:cs typeface="Arial" pitchFamily="34" charset="0"/>
              </a:rPr>
              <a:t>Different objectives</a:t>
            </a:r>
          </a:p>
          <a:p>
            <a:pPr marL="308607" indent="-308607" eaLnBrk="1" hangingPunct="1">
              <a:defRPr/>
            </a:pPr>
            <a:r>
              <a:rPr lang="en-NZ" dirty="0" smtClean="0">
                <a:cs typeface="Arial" pitchFamily="34" charset="0"/>
              </a:rPr>
              <a:t>Different monitoring networks</a:t>
            </a:r>
          </a:p>
          <a:p>
            <a:pPr marL="308607" indent="-308607" eaLnBrk="1" hangingPunct="1">
              <a:defRPr/>
            </a:pPr>
            <a:r>
              <a:rPr lang="en-NZ" dirty="0" smtClean="0">
                <a:cs typeface="Arial" pitchFamily="34" charset="0"/>
              </a:rPr>
              <a:t>Different standards</a:t>
            </a:r>
            <a:endParaRPr lang="en-GB" dirty="0" smtClean="0">
              <a:cs typeface="Arial" pitchFamily="34" charset="0"/>
            </a:endParaRPr>
          </a:p>
          <a:p>
            <a:pPr marL="308607" indent="-308607" eaLnBrk="1" hangingPunct="1">
              <a:defRPr/>
            </a:pPr>
            <a:endParaRPr lang="en-NZ" dirty="0" smtClean="0">
              <a:cs typeface="Arial" pitchFamily="34" charset="0"/>
            </a:endParaRPr>
          </a:p>
          <a:p>
            <a:pPr marL="308607" indent="-308607" eaLnBrk="1" hangingPunct="1">
              <a:defRPr/>
            </a:pPr>
            <a:endParaRPr lang="en-NZ" dirty="0" smtClean="0">
              <a:cs typeface="Arial" pitchFamily="34" charset="0"/>
            </a:endParaRPr>
          </a:p>
        </p:txBody>
      </p:sp>
      <p:sp>
        <p:nvSpPr>
          <p:cNvPr id="4" name="Content Placeholder 3"/>
          <p:cNvSpPr>
            <a:spLocks noGrp="1"/>
          </p:cNvSpPr>
          <p:nvPr>
            <p:ph sz="half" idx="2"/>
          </p:nvPr>
        </p:nvSpPr>
        <p:spPr>
          <a:xfrm>
            <a:off x="4814888" y="2187575"/>
            <a:ext cx="4581525" cy="4116388"/>
          </a:xfrm>
        </p:spPr>
        <p:txBody>
          <a:bodyPr/>
          <a:lstStyle/>
          <a:p>
            <a:pPr marL="0" indent="0" eaLnBrk="1" hangingPunct="1">
              <a:buFontTx/>
              <a:buNone/>
              <a:defRPr/>
            </a:pPr>
            <a:r>
              <a:rPr lang="en-NZ" dirty="0" smtClean="0"/>
              <a:t>Challenges:</a:t>
            </a:r>
          </a:p>
          <a:p>
            <a:pPr marL="308607" indent="-308607" eaLnBrk="1" hangingPunct="1">
              <a:defRPr/>
            </a:pPr>
            <a:r>
              <a:rPr lang="en-NZ" dirty="0" smtClean="0"/>
              <a:t>National Consistency in Monitoring</a:t>
            </a:r>
          </a:p>
          <a:p>
            <a:pPr marL="308607" indent="-308607" eaLnBrk="1" hangingPunct="1">
              <a:defRPr/>
            </a:pPr>
            <a:r>
              <a:rPr lang="en-NZ" dirty="0" smtClean="0"/>
              <a:t>Mandate?</a:t>
            </a:r>
          </a:p>
          <a:p>
            <a:pPr marL="308607" indent="-308607" eaLnBrk="1" hangingPunct="1">
              <a:defRPr/>
            </a:pPr>
            <a:r>
              <a:rPr lang="en-NZ" dirty="0" smtClean="0"/>
              <a:t>Resources?  </a:t>
            </a:r>
          </a:p>
          <a:p>
            <a:pPr marL="308607" indent="-308607" eaLnBrk="1" hangingPunct="1">
              <a:defRPr/>
            </a:pPr>
            <a:r>
              <a:rPr lang="en-NZ" b="1" dirty="0" smtClean="0"/>
              <a:t>Agreement!</a:t>
            </a:r>
          </a:p>
        </p:txBody>
      </p:sp>
      <p:pic>
        <p:nvPicPr>
          <p:cNvPr id="8197" name="Picture 2" descr="C:\Documents and Settings\schmidtj\Local Settings\Temporary Internet Files\Content.IE5\20HSCEDX\MP900442432[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1725" y="5373688"/>
            <a:ext cx="1363663"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1341438"/>
            <a:ext cx="3573462" cy="50371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3" name="Title 1"/>
          <p:cNvSpPr>
            <a:spLocks noGrp="1"/>
          </p:cNvSpPr>
          <p:nvPr>
            <p:ph type="title"/>
          </p:nvPr>
        </p:nvSpPr>
        <p:spPr>
          <a:xfrm>
            <a:off x="0" y="57150"/>
            <a:ext cx="9144000" cy="850900"/>
          </a:xfrm>
        </p:spPr>
        <p:txBody>
          <a:bodyPr/>
          <a:lstStyle/>
          <a:p>
            <a:pPr>
              <a:defRPr/>
            </a:pPr>
            <a:r>
              <a:rPr lang="en-NZ" sz="3600" smtClean="0"/>
              <a:t>Government got attention of the problem!</a:t>
            </a:r>
            <a:br>
              <a:rPr lang="en-NZ" sz="3600" smtClean="0"/>
            </a:br>
            <a:r>
              <a:rPr lang="en-NZ" sz="2800" smtClean="0"/>
              <a:t>Proposal for an Environmental Reporting Bill</a:t>
            </a:r>
          </a:p>
        </p:txBody>
      </p:sp>
      <p:sp>
        <p:nvSpPr>
          <p:cNvPr id="4" name="Content Placeholder 3"/>
          <p:cNvSpPr>
            <a:spLocks noGrp="1"/>
          </p:cNvSpPr>
          <p:nvPr>
            <p:ph idx="1"/>
          </p:nvPr>
        </p:nvSpPr>
        <p:spPr>
          <a:xfrm>
            <a:off x="250825" y="1570038"/>
            <a:ext cx="5329238" cy="4522787"/>
          </a:xfrm>
        </p:spPr>
        <p:txBody>
          <a:bodyPr/>
          <a:lstStyle/>
          <a:p>
            <a:r>
              <a:rPr lang="en-NZ" sz="1600" b="1" smtClean="0"/>
              <a:t>Identified Issues:</a:t>
            </a:r>
          </a:p>
          <a:p>
            <a:r>
              <a:rPr lang="en-NZ" sz="1600" smtClean="0"/>
              <a:t>There is a </a:t>
            </a:r>
            <a:r>
              <a:rPr lang="en-NZ" sz="1600" b="1" smtClean="0"/>
              <a:t>lack of statutory obligation </a:t>
            </a:r>
            <a:r>
              <a:rPr lang="en-NZ" sz="1600" smtClean="0"/>
              <a:t>in New Zealand requiring regular and independent state of the environment reporting.</a:t>
            </a:r>
          </a:p>
          <a:p>
            <a:r>
              <a:rPr lang="en-NZ" sz="1600" b="1" smtClean="0"/>
              <a:t>Inconsistent</a:t>
            </a:r>
            <a:r>
              <a:rPr lang="en-NZ" sz="1600" smtClean="0"/>
              <a:t> regional state of the environment </a:t>
            </a:r>
            <a:r>
              <a:rPr lang="en-NZ" sz="1600" b="1" smtClean="0"/>
              <a:t>monitoring programmes</a:t>
            </a:r>
            <a:r>
              <a:rPr lang="en-NZ" sz="1600" smtClean="0"/>
              <a:t>.</a:t>
            </a:r>
          </a:p>
          <a:p>
            <a:r>
              <a:rPr lang="en-NZ" sz="1600" b="1" smtClean="0"/>
              <a:t>Proposed Actions:</a:t>
            </a:r>
          </a:p>
          <a:p>
            <a:pPr>
              <a:buFontTx/>
              <a:buAutoNum type="arabicPeriod"/>
            </a:pPr>
            <a:r>
              <a:rPr lang="en-NZ" sz="1600" smtClean="0"/>
              <a:t>give the PCE an </a:t>
            </a:r>
            <a:r>
              <a:rPr lang="en-NZ" sz="1600" b="1" smtClean="0"/>
              <a:t>explicit role </a:t>
            </a:r>
            <a:r>
              <a:rPr lang="en-NZ" sz="1600" smtClean="0"/>
              <a:t>under the Environment Act1986 by requiring five-yearly reports on the state of the environment</a:t>
            </a:r>
          </a:p>
          <a:p>
            <a:pPr>
              <a:buFontTx/>
              <a:buAutoNum type="arabicPeriod"/>
            </a:pPr>
            <a:r>
              <a:rPr lang="en-NZ" sz="1600" b="1" smtClean="0"/>
              <a:t>expand</a:t>
            </a:r>
            <a:r>
              <a:rPr lang="en-NZ" sz="1600" smtClean="0"/>
              <a:t> regulation-making powers under section 360 of the </a:t>
            </a:r>
            <a:r>
              <a:rPr lang="en-NZ" sz="1600" b="1" smtClean="0"/>
              <a:t>RMA to improve the consistency </a:t>
            </a:r>
            <a:r>
              <a:rPr lang="en-NZ" sz="1600" smtClean="0"/>
              <a:t>of state of the environment monitoring statistics at the local level. This could be supported by the application of the Official Statistics System principles and protocols, particularly in the area of quality and related standards.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84213" y="3175"/>
            <a:ext cx="7772400" cy="1144588"/>
          </a:xfrm>
        </p:spPr>
        <p:txBody>
          <a:bodyPr/>
          <a:lstStyle/>
          <a:p>
            <a:pPr>
              <a:defRPr/>
            </a:pPr>
            <a:r>
              <a:rPr lang="en-NZ" dirty="0" smtClean="0"/>
              <a:t>Relevant national projects</a:t>
            </a:r>
          </a:p>
        </p:txBody>
      </p:sp>
      <p:sp>
        <p:nvSpPr>
          <p:cNvPr id="31747" name="Content Placeholder 2"/>
          <p:cNvSpPr>
            <a:spLocks noGrp="1"/>
          </p:cNvSpPr>
          <p:nvPr>
            <p:ph idx="1"/>
          </p:nvPr>
        </p:nvSpPr>
        <p:spPr>
          <a:xfrm>
            <a:off x="250825" y="1981200"/>
            <a:ext cx="8675688" cy="4124325"/>
          </a:xfrm>
        </p:spPr>
        <p:txBody>
          <a:bodyPr/>
          <a:lstStyle/>
          <a:p>
            <a:pPr>
              <a:defRPr/>
            </a:pPr>
            <a:r>
              <a:rPr lang="en-NZ" dirty="0" smtClean="0">
                <a:solidFill>
                  <a:srgbClr val="000000"/>
                </a:solidFill>
                <a:latin typeface="Calibri" pitchFamily="34" charset="0"/>
              </a:rPr>
              <a:t>National Environmental Monitoring </a:t>
            </a:r>
            <a:r>
              <a:rPr lang="en-NZ" dirty="0">
                <a:solidFill>
                  <a:srgbClr val="000000"/>
                </a:solidFill>
                <a:latin typeface="Calibri" pitchFamily="34" charset="0"/>
              </a:rPr>
              <a:t>Qualification </a:t>
            </a:r>
            <a:r>
              <a:rPr lang="en-NZ" dirty="0" smtClean="0">
                <a:solidFill>
                  <a:srgbClr val="000000"/>
                </a:solidFill>
                <a:latin typeface="Calibri" pitchFamily="34" charset="0"/>
              </a:rPr>
              <a:t>		</a:t>
            </a:r>
            <a:r>
              <a:rPr lang="en-NZ" b="1" dirty="0" smtClean="0">
                <a:solidFill>
                  <a:srgbClr val="000000"/>
                </a:solidFill>
                <a:latin typeface="Calibri" pitchFamily="34" charset="0"/>
              </a:rPr>
              <a:t>NEMQ</a:t>
            </a:r>
          </a:p>
          <a:p>
            <a:pPr>
              <a:defRPr/>
            </a:pPr>
            <a:r>
              <a:rPr lang="en-NZ" dirty="0" smtClean="0">
                <a:solidFill>
                  <a:srgbClr val="000000"/>
                </a:solidFill>
                <a:latin typeface="Calibri" pitchFamily="34" charset="0"/>
              </a:rPr>
              <a:t>National Environmental Monitoring </a:t>
            </a:r>
            <a:r>
              <a:rPr lang="en-NZ" dirty="0">
                <a:solidFill>
                  <a:srgbClr val="000000"/>
                </a:solidFill>
                <a:latin typeface="Calibri" pitchFamily="34" charset="0"/>
              </a:rPr>
              <a:t>Standards 	</a:t>
            </a:r>
            <a:r>
              <a:rPr lang="en-NZ" dirty="0" smtClean="0">
                <a:solidFill>
                  <a:srgbClr val="000000"/>
                </a:solidFill>
                <a:latin typeface="Calibri" pitchFamily="34" charset="0"/>
              </a:rPr>
              <a:t>	</a:t>
            </a:r>
            <a:r>
              <a:rPr lang="en-NZ" b="1" dirty="0" smtClean="0">
                <a:solidFill>
                  <a:srgbClr val="000000"/>
                </a:solidFill>
                <a:latin typeface="Calibri" pitchFamily="34" charset="0"/>
              </a:rPr>
              <a:t>NEMS</a:t>
            </a:r>
          </a:p>
          <a:p>
            <a:pPr>
              <a:defRPr/>
            </a:pPr>
            <a:r>
              <a:rPr lang="en-NZ" dirty="0" smtClean="0">
                <a:solidFill>
                  <a:srgbClr val="000000"/>
                </a:solidFill>
                <a:latin typeface="Calibri" pitchFamily="34" charset="0"/>
              </a:rPr>
              <a:t>National Environmental Monitoring and Reporting	</a:t>
            </a:r>
            <a:r>
              <a:rPr lang="en-NZ" b="1" dirty="0" smtClean="0">
                <a:solidFill>
                  <a:srgbClr val="000000"/>
                </a:solidFill>
                <a:latin typeface="Calibri" pitchFamily="34" charset="0"/>
              </a:rPr>
              <a:t>NEMAR</a:t>
            </a:r>
          </a:p>
          <a:p>
            <a:pPr>
              <a:defRPr/>
            </a:pPr>
            <a:endParaRPr lang="en-NZ" b="1" dirty="0" smtClean="0">
              <a:solidFill>
                <a:srgbClr val="000000"/>
              </a:solidFill>
              <a:latin typeface="Calibri" pitchFamily="34" charset="0"/>
            </a:endParaRPr>
          </a:p>
          <a:p>
            <a:pPr marL="0" indent="0">
              <a:buFontTx/>
              <a:buNone/>
              <a:defRPr/>
            </a:pPr>
            <a:r>
              <a:rPr lang="en-NZ" b="1" dirty="0" smtClean="0">
                <a:solidFill>
                  <a:srgbClr val="000000"/>
                </a:solidFill>
                <a:latin typeface="Calibri" pitchFamily="34" charset="0"/>
              </a:rPr>
              <a:t>Lead by Local Authorities, Ministry for Environment, NIWA, Industry</a:t>
            </a:r>
          </a:p>
          <a:p>
            <a:pPr>
              <a:defRPr/>
            </a:pPr>
            <a:endParaRPr lang="en-NZ" b="1" dirty="0" smtClean="0">
              <a:solidFill>
                <a:srgbClr val="000000"/>
              </a:solidFill>
              <a:latin typeface="Calibri" pitchFamily="34" charset="0"/>
            </a:endParaRPr>
          </a:p>
          <a:p>
            <a:pPr>
              <a:defRPr/>
            </a:pPr>
            <a:endParaRPr lang="en-NZ"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defRPr/>
            </a:pPr>
            <a:r>
              <a:rPr lang="en-NZ" smtClean="0"/>
              <a:t>The Challenge </a:t>
            </a:r>
          </a:p>
        </p:txBody>
      </p:sp>
      <p:sp>
        <p:nvSpPr>
          <p:cNvPr id="11267" name="Subtitle 2"/>
          <p:cNvSpPr>
            <a:spLocks noGrp="1"/>
          </p:cNvSpPr>
          <p:nvPr>
            <p:ph idx="1"/>
          </p:nvPr>
        </p:nvSpPr>
        <p:spPr>
          <a:xfrm>
            <a:off x="346075" y="2514600"/>
            <a:ext cx="8458200" cy="1371600"/>
          </a:xfrm>
        </p:spPr>
        <p:txBody>
          <a:bodyPr/>
          <a:lstStyle/>
          <a:p>
            <a:pPr marL="0" indent="0" algn="ctr" eaLnBrk="1" hangingPunct="1">
              <a:buFontTx/>
              <a:buNone/>
            </a:pPr>
            <a:r>
              <a:rPr lang="en-NZ" smtClean="0">
                <a:solidFill>
                  <a:schemeClr val="tx1"/>
                </a:solidFill>
              </a:rPr>
              <a:t>Develop a federated information infrastructure which allows easy sharing of environmental information based on community standards. </a:t>
            </a:r>
          </a:p>
        </p:txBody>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3988" y="4876800"/>
            <a:ext cx="13716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2" name="Title 1"/>
          <p:cNvSpPr>
            <a:spLocks noGrp="1"/>
          </p:cNvSpPr>
          <p:nvPr>
            <p:ph type="title"/>
          </p:nvPr>
        </p:nvSpPr>
        <p:spPr>
          <a:xfrm>
            <a:off x="0" y="76200"/>
            <a:ext cx="9144000" cy="576263"/>
          </a:xfrm>
        </p:spPr>
        <p:txBody>
          <a:bodyPr/>
          <a:lstStyle/>
          <a:p>
            <a:pPr>
              <a:defRPr/>
            </a:pPr>
            <a:r>
              <a:rPr lang="en-NZ" dirty="0" smtClean="0"/>
              <a:t>(Some) current NZ Interoperability initiatives</a:t>
            </a:r>
          </a:p>
        </p:txBody>
      </p:sp>
      <p:sp>
        <p:nvSpPr>
          <p:cNvPr id="12292" name="Content Placeholder 2"/>
          <p:cNvSpPr>
            <a:spLocks noGrp="1"/>
          </p:cNvSpPr>
          <p:nvPr>
            <p:ph idx="1"/>
          </p:nvPr>
        </p:nvSpPr>
        <p:spPr>
          <a:xfrm>
            <a:off x="12700" y="1339850"/>
            <a:ext cx="9324975" cy="5594350"/>
          </a:xfrm>
        </p:spPr>
        <p:txBody>
          <a:bodyPr/>
          <a:lstStyle/>
          <a:p>
            <a:r>
              <a:rPr lang="en-NZ" sz="2000" smtClean="0"/>
              <a:t>NZ Geospatial Strategy – NZ Geospatial Office + others.</a:t>
            </a:r>
          </a:p>
          <a:p>
            <a:r>
              <a:rPr lang="en-NZ" sz="2000" smtClean="0"/>
              <a:t>NZ SDI Cookbook – NZ Geospatial Office.</a:t>
            </a:r>
          </a:p>
          <a:p>
            <a:r>
              <a:rPr lang="en-NZ" sz="2000" smtClean="0"/>
              <a:t>BOI / Oceans &amp; Coasts Portal – NIWA/LINZ </a:t>
            </a:r>
          </a:p>
          <a:p>
            <a:r>
              <a:rPr lang="en-NZ" sz="2000" smtClean="0"/>
              <a:t>Government “Open Data” =&gt; Catalogues</a:t>
            </a:r>
          </a:p>
          <a:p>
            <a:pPr lvl="1"/>
            <a:r>
              <a:rPr lang="en-NZ" smtClean="0"/>
              <a:t>geodata.govt.nz, data.govt.nz, ei.niwa.co.nz</a:t>
            </a:r>
          </a:p>
          <a:p>
            <a:r>
              <a:rPr lang="en-NZ" sz="2000" smtClean="0"/>
              <a:t>Various Data Cataloguing exercises across the sector.</a:t>
            </a:r>
          </a:p>
          <a:p>
            <a:r>
              <a:rPr lang="en-NZ" sz="2000" smtClean="0"/>
              <a:t>NZ deployment station catalogue (WFS) – NIWA.</a:t>
            </a:r>
          </a:p>
          <a:p>
            <a:r>
              <a:rPr lang="en-NZ" sz="2000" smtClean="0"/>
              <a:t>IMOS-NIWA collaboration – NZ marine data through THREDDS/CSW.</a:t>
            </a:r>
          </a:p>
          <a:p>
            <a:r>
              <a:rPr lang="en-NZ" sz="2000" smtClean="0"/>
              <a:t>Groundwater interoperability SMART – GNS, Hilltop</a:t>
            </a:r>
          </a:p>
          <a:p>
            <a:r>
              <a:rPr lang="en-NZ" sz="2000" smtClean="0"/>
              <a:t>Regional Council SOS – Waikato, Kisters, Hilltop</a:t>
            </a:r>
          </a:p>
          <a:p>
            <a:r>
              <a:rPr lang="en-NZ" sz="2000" smtClean="0"/>
              <a:t>CSIRO SISS / SOS workshops in Wellington – NIWA, NZGO, LCR, GNS</a:t>
            </a:r>
          </a:p>
          <a:p>
            <a:r>
              <a:rPr lang="en-NZ" sz="2000" smtClean="0"/>
              <a:t>NIWA experiments with SOS – MapServer, Kisters, CSIRO</a:t>
            </a:r>
          </a:p>
          <a:p>
            <a:r>
              <a:rPr lang="en-NZ" sz="2000" smtClean="0"/>
              <a:t>Biodiversity Interoperability – NIWA, LCR, Regional Councils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descr="C:\blub\akmoch-svn\trunk\unigis\Master Thesis Materials\01_formal\z_gis gns header simp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81600"/>
            <a:ext cx="91440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an 40"/>
          <p:cNvSpPr/>
          <p:nvPr/>
        </p:nvSpPr>
        <p:spPr>
          <a:xfrm>
            <a:off x="5818188" y="4151313"/>
            <a:ext cx="1493837" cy="1820862"/>
          </a:xfrm>
          <a:prstGeom prst="can">
            <a:avLst/>
          </a:prstGeom>
          <a:solidFill>
            <a:srgbClr val="558AA9"/>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a:p>
        </p:txBody>
      </p:sp>
      <p:sp>
        <p:nvSpPr>
          <p:cNvPr id="5" name="Cloud 38"/>
          <p:cNvSpPr/>
          <p:nvPr/>
        </p:nvSpPr>
        <p:spPr>
          <a:xfrm>
            <a:off x="3276600" y="3505200"/>
            <a:ext cx="5334000" cy="463550"/>
          </a:xfrm>
          <a:prstGeom prst="cloud">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dirty="0">
                <a:solidFill>
                  <a:schemeClr val="bg1">
                    <a:lumMod val="65000"/>
                  </a:schemeClr>
                </a:solidFill>
              </a:rPr>
              <a:t>Internet</a:t>
            </a:r>
          </a:p>
        </p:txBody>
      </p:sp>
      <p:sp>
        <p:nvSpPr>
          <p:cNvPr id="6" name="Rectangle 1785"/>
          <p:cNvSpPr/>
          <p:nvPr/>
        </p:nvSpPr>
        <p:spPr>
          <a:xfrm>
            <a:off x="4795838" y="696913"/>
            <a:ext cx="2417762" cy="1593850"/>
          </a:xfrm>
          <a:prstGeom prst="rect">
            <a:avLst/>
          </a:prstGeom>
          <a:solidFill>
            <a:schemeClr val="bg1"/>
          </a:solidFill>
          <a:ln w="19050">
            <a:solidFill>
              <a:srgbClr val="558AA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a:latin typeface="Tahoma" pitchFamily="34" charset="0"/>
              <a:ea typeface="Tahoma" pitchFamily="34" charset="0"/>
              <a:cs typeface="Tahoma" pitchFamily="34" charset="0"/>
            </a:endParaRPr>
          </a:p>
        </p:txBody>
      </p:sp>
      <p:sp>
        <p:nvSpPr>
          <p:cNvPr id="8" name="Rectangle 1789"/>
          <p:cNvSpPr/>
          <p:nvPr/>
        </p:nvSpPr>
        <p:spPr>
          <a:xfrm>
            <a:off x="2819400" y="2471738"/>
            <a:ext cx="5568950" cy="881062"/>
          </a:xfrm>
          <a:prstGeom prst="rect">
            <a:avLst/>
          </a:prstGeom>
          <a:solidFill>
            <a:schemeClr val="bg1"/>
          </a:solidFill>
          <a:ln w="19050">
            <a:solidFill>
              <a:srgbClr val="558AA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sz="1600" dirty="0">
              <a:solidFill>
                <a:schemeClr val="tx1"/>
              </a:solidFill>
              <a:latin typeface="Tahoma" pitchFamily="34" charset="0"/>
              <a:ea typeface="Tahoma" pitchFamily="34" charset="0"/>
              <a:cs typeface="Tahoma" pitchFamily="34" charset="0"/>
            </a:endParaRPr>
          </a:p>
        </p:txBody>
      </p:sp>
      <p:sp>
        <p:nvSpPr>
          <p:cNvPr id="13319" name="Rectangle 39"/>
          <p:cNvSpPr>
            <a:spLocks noChangeArrowheads="1"/>
          </p:cNvSpPr>
          <p:nvPr/>
        </p:nvSpPr>
        <p:spPr bwMode="auto">
          <a:xfrm>
            <a:off x="5918200" y="4167188"/>
            <a:ext cx="1358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sz="1600"/>
              <a:t>Spatial Data</a:t>
            </a:r>
          </a:p>
        </p:txBody>
      </p:sp>
      <p:sp>
        <p:nvSpPr>
          <p:cNvPr id="10" name="Rectangle 1794"/>
          <p:cNvSpPr/>
          <p:nvPr/>
        </p:nvSpPr>
        <p:spPr>
          <a:xfrm>
            <a:off x="5965825" y="5453063"/>
            <a:ext cx="1287463" cy="207962"/>
          </a:xfrm>
          <a:prstGeom prst="rect">
            <a:avLst/>
          </a:prstGeom>
          <a:solidFill>
            <a:schemeClr val="bg1"/>
          </a:solidFill>
          <a:ln>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SOS</a:t>
            </a:r>
          </a:p>
        </p:txBody>
      </p:sp>
      <p:sp>
        <p:nvSpPr>
          <p:cNvPr id="11" name="Rectangle 1795"/>
          <p:cNvSpPr/>
          <p:nvPr/>
        </p:nvSpPr>
        <p:spPr>
          <a:xfrm>
            <a:off x="5927725" y="4868863"/>
            <a:ext cx="1285875" cy="207962"/>
          </a:xfrm>
          <a:prstGeom prst="rect">
            <a:avLst/>
          </a:prstGeom>
          <a:solidFill>
            <a:schemeClr val="bg1"/>
          </a:solidFill>
          <a:ln>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CSW</a:t>
            </a:r>
          </a:p>
        </p:txBody>
      </p:sp>
      <p:sp>
        <p:nvSpPr>
          <p:cNvPr id="12" name="Rectangle 1796"/>
          <p:cNvSpPr/>
          <p:nvPr/>
        </p:nvSpPr>
        <p:spPr>
          <a:xfrm>
            <a:off x="5927725" y="5157788"/>
            <a:ext cx="1285875" cy="207962"/>
          </a:xfrm>
          <a:prstGeom prst="rect">
            <a:avLst/>
          </a:prstGeom>
          <a:solidFill>
            <a:schemeClr val="bg1"/>
          </a:solidFill>
          <a:ln>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WMS/WFS/WCS</a:t>
            </a:r>
          </a:p>
        </p:txBody>
      </p:sp>
      <p:sp>
        <p:nvSpPr>
          <p:cNvPr id="13323" name="Rectangle 41"/>
          <p:cNvSpPr>
            <a:spLocks noChangeArrowheads="1"/>
          </p:cNvSpPr>
          <p:nvPr/>
        </p:nvSpPr>
        <p:spPr bwMode="auto">
          <a:xfrm>
            <a:off x="4371975" y="4943475"/>
            <a:ext cx="10953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a:t>Data </a:t>
            </a:r>
          </a:p>
          <a:p>
            <a:r>
              <a:rPr lang="de-DE"/>
              <a:t>Sources</a:t>
            </a:r>
          </a:p>
        </p:txBody>
      </p:sp>
      <p:sp>
        <p:nvSpPr>
          <p:cNvPr id="13324" name="Rectangle 42"/>
          <p:cNvSpPr>
            <a:spLocks noChangeArrowheads="1"/>
          </p:cNvSpPr>
          <p:nvPr/>
        </p:nvSpPr>
        <p:spPr bwMode="auto">
          <a:xfrm>
            <a:off x="2914650" y="2503488"/>
            <a:ext cx="2747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de-DE" sz="1400">
                <a:latin typeface="Tahoma" pitchFamily="34" charset="0"/>
                <a:cs typeface="Tahoma" pitchFamily="34" charset="0"/>
              </a:rPr>
              <a:t>SMART- GeoPortal Software</a:t>
            </a:r>
          </a:p>
        </p:txBody>
      </p:sp>
      <p:sp>
        <p:nvSpPr>
          <p:cNvPr id="15" name="Rectangle 1810"/>
          <p:cNvSpPr/>
          <p:nvPr/>
        </p:nvSpPr>
        <p:spPr>
          <a:xfrm>
            <a:off x="2906713" y="2913063"/>
            <a:ext cx="1285875" cy="300037"/>
          </a:xfrm>
          <a:prstGeom prst="rect">
            <a:avLst/>
          </a:prstGeom>
          <a:solidFill>
            <a:schemeClr val="bg1"/>
          </a:solidFill>
          <a:ln w="19050">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Registry Service</a:t>
            </a:r>
          </a:p>
        </p:txBody>
      </p:sp>
      <p:sp>
        <p:nvSpPr>
          <p:cNvPr id="16" name="Rectangle 1811"/>
          <p:cNvSpPr/>
          <p:nvPr/>
        </p:nvSpPr>
        <p:spPr>
          <a:xfrm>
            <a:off x="4244975" y="2913063"/>
            <a:ext cx="1287463" cy="300037"/>
          </a:xfrm>
          <a:prstGeom prst="rect">
            <a:avLst/>
          </a:prstGeom>
          <a:solidFill>
            <a:schemeClr val="bg1"/>
          </a:solidFill>
          <a:ln w="19050">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Discovery Service</a:t>
            </a:r>
          </a:p>
        </p:txBody>
      </p:sp>
      <p:sp>
        <p:nvSpPr>
          <p:cNvPr id="17" name="Rectangle 1812"/>
          <p:cNvSpPr/>
          <p:nvPr/>
        </p:nvSpPr>
        <p:spPr>
          <a:xfrm>
            <a:off x="5584825" y="2913063"/>
            <a:ext cx="660400" cy="300037"/>
          </a:xfrm>
          <a:prstGeom prst="rect">
            <a:avLst/>
          </a:prstGeom>
          <a:solidFill>
            <a:schemeClr val="bg1"/>
          </a:solidFill>
          <a:ln w="19050">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View</a:t>
            </a:r>
          </a:p>
        </p:txBody>
      </p:sp>
      <p:sp>
        <p:nvSpPr>
          <p:cNvPr id="18" name="Rectangle 1813"/>
          <p:cNvSpPr/>
          <p:nvPr/>
        </p:nvSpPr>
        <p:spPr>
          <a:xfrm>
            <a:off x="6297613" y="2913063"/>
            <a:ext cx="812800" cy="300037"/>
          </a:xfrm>
          <a:prstGeom prst="rect">
            <a:avLst/>
          </a:prstGeom>
          <a:solidFill>
            <a:schemeClr val="bg1"/>
          </a:solidFill>
          <a:ln w="19050">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Download</a:t>
            </a:r>
          </a:p>
        </p:txBody>
      </p:sp>
      <p:sp>
        <p:nvSpPr>
          <p:cNvPr id="19" name="Rectangle 1814"/>
          <p:cNvSpPr/>
          <p:nvPr/>
        </p:nvSpPr>
        <p:spPr>
          <a:xfrm>
            <a:off x="7162800" y="2913063"/>
            <a:ext cx="1225550" cy="300037"/>
          </a:xfrm>
          <a:prstGeom prst="rect">
            <a:avLst/>
          </a:prstGeom>
          <a:solidFill>
            <a:schemeClr val="bg1"/>
          </a:solidFill>
          <a:ln w="19050">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Transformation</a:t>
            </a:r>
          </a:p>
        </p:txBody>
      </p:sp>
      <p:sp>
        <p:nvSpPr>
          <p:cNvPr id="21" name="Rectangle 1816"/>
          <p:cNvSpPr/>
          <p:nvPr/>
        </p:nvSpPr>
        <p:spPr>
          <a:xfrm>
            <a:off x="5918200" y="4589463"/>
            <a:ext cx="1287463" cy="207962"/>
          </a:xfrm>
          <a:prstGeom prst="rect">
            <a:avLst/>
          </a:prstGeom>
          <a:solidFill>
            <a:schemeClr val="bg1"/>
          </a:solidFill>
          <a:ln>
            <a:solidFill>
              <a:srgbClr val="558AA9"/>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fontAlgn="auto">
              <a:spcBef>
                <a:spcPts val="0"/>
              </a:spcBef>
              <a:spcAft>
                <a:spcPts val="0"/>
              </a:spcAft>
              <a:defRPr/>
            </a:pPr>
            <a:r>
              <a:rPr lang="de-DE" sz="1200" dirty="0">
                <a:solidFill>
                  <a:schemeClr val="tx1"/>
                </a:solidFill>
                <a:latin typeface="Tahoma" pitchFamily="34" charset="0"/>
                <a:ea typeface="Tahoma" pitchFamily="34" charset="0"/>
                <a:cs typeface="Tahoma" pitchFamily="34" charset="0"/>
              </a:rPr>
              <a:t>Web Site / </a:t>
            </a:r>
            <a:r>
              <a:rPr lang="de-DE" sz="1200" dirty="0" err="1">
                <a:solidFill>
                  <a:schemeClr val="tx1"/>
                </a:solidFill>
                <a:latin typeface="Tahoma" pitchFamily="34" charset="0"/>
                <a:ea typeface="Tahoma" pitchFamily="34" charset="0"/>
                <a:cs typeface="Tahoma" pitchFamily="34" charset="0"/>
              </a:rPr>
              <a:t>Maps</a:t>
            </a:r>
            <a:endParaRPr lang="de-DE" sz="1200" dirty="0">
              <a:solidFill>
                <a:schemeClr val="tx1"/>
              </a:solidFill>
              <a:latin typeface="Tahoma" pitchFamily="34" charset="0"/>
              <a:ea typeface="Tahoma" pitchFamily="34" charset="0"/>
              <a:cs typeface="Tahoma" pitchFamily="34" charset="0"/>
            </a:endParaRPr>
          </a:p>
        </p:txBody>
      </p:sp>
      <p:cxnSp>
        <p:nvCxnSpPr>
          <p:cNvPr id="22" name="Straight Connector 44"/>
          <p:cNvCxnSpPr/>
          <p:nvPr/>
        </p:nvCxnSpPr>
        <p:spPr>
          <a:xfrm>
            <a:off x="5992813" y="3225800"/>
            <a:ext cx="0" cy="952500"/>
          </a:xfrm>
          <a:prstGeom prst="line">
            <a:avLst/>
          </a:prstGeom>
          <a:ln w="28575">
            <a:solidFill>
              <a:srgbClr val="558AA9"/>
            </a:solidFill>
          </a:ln>
        </p:spPr>
        <p:style>
          <a:lnRef idx="1">
            <a:schemeClr val="accent1"/>
          </a:lnRef>
          <a:fillRef idx="0">
            <a:schemeClr val="accent1"/>
          </a:fillRef>
          <a:effectRef idx="0">
            <a:schemeClr val="accent1"/>
          </a:effectRef>
          <a:fontRef idx="minor">
            <a:schemeClr val="tx1"/>
          </a:fontRef>
        </p:style>
      </p:cxnSp>
      <p:cxnSp>
        <p:nvCxnSpPr>
          <p:cNvPr id="23" name="Straight Connector 1819"/>
          <p:cNvCxnSpPr/>
          <p:nvPr/>
        </p:nvCxnSpPr>
        <p:spPr>
          <a:xfrm>
            <a:off x="6948488" y="3235325"/>
            <a:ext cx="0" cy="900113"/>
          </a:xfrm>
          <a:prstGeom prst="line">
            <a:avLst/>
          </a:prstGeom>
          <a:ln w="28575">
            <a:solidFill>
              <a:srgbClr val="558AA9"/>
            </a:solidFill>
          </a:ln>
        </p:spPr>
        <p:style>
          <a:lnRef idx="1">
            <a:schemeClr val="accent1"/>
          </a:lnRef>
          <a:fillRef idx="0">
            <a:schemeClr val="accent1"/>
          </a:fillRef>
          <a:effectRef idx="0">
            <a:schemeClr val="accent1"/>
          </a:effectRef>
          <a:fontRef idx="minor">
            <a:schemeClr val="tx1"/>
          </a:fontRef>
        </p:style>
      </p:cxnSp>
      <p:sp>
        <p:nvSpPr>
          <p:cNvPr id="25" name="Can 1824"/>
          <p:cNvSpPr/>
          <p:nvPr/>
        </p:nvSpPr>
        <p:spPr>
          <a:xfrm>
            <a:off x="3313113" y="4167188"/>
            <a:ext cx="1492250" cy="1804987"/>
          </a:xfrm>
          <a:prstGeom prst="can">
            <a:avLst/>
          </a:prstGeom>
          <a:solidFill>
            <a:srgbClr val="558AA9"/>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sz="1600" dirty="0"/>
              <a:t>multiple </a:t>
            </a:r>
            <a:r>
              <a:rPr lang="de-DE" sz="1600" dirty="0" err="1"/>
              <a:t>data</a:t>
            </a:r>
            <a:endParaRPr lang="de-DE" sz="1600" dirty="0"/>
          </a:p>
          <a:p>
            <a:pPr algn="ctr" fontAlgn="auto">
              <a:spcBef>
                <a:spcPts val="0"/>
              </a:spcBef>
              <a:spcAft>
                <a:spcPts val="0"/>
              </a:spcAft>
              <a:defRPr/>
            </a:pPr>
            <a:r>
              <a:rPr lang="de-DE" sz="1600" dirty="0" err="1"/>
              <a:t>sources</a:t>
            </a:r>
            <a:r>
              <a:rPr lang="de-DE" sz="1600" dirty="0"/>
              <a:t>, </a:t>
            </a:r>
            <a:r>
              <a:rPr lang="de-DE" sz="1600" dirty="0" err="1"/>
              <a:t>local</a:t>
            </a:r>
            <a:r>
              <a:rPr lang="de-DE" sz="1600" dirty="0"/>
              <a:t> </a:t>
            </a:r>
            <a:r>
              <a:rPr lang="de-DE" sz="1600" dirty="0" err="1"/>
              <a:t>repository</a:t>
            </a:r>
            <a:r>
              <a:rPr lang="de-DE" sz="1600" dirty="0"/>
              <a:t>+ </a:t>
            </a:r>
            <a:r>
              <a:rPr lang="de-DE" sz="1600" dirty="0" err="1"/>
              <a:t>other</a:t>
            </a:r>
            <a:r>
              <a:rPr lang="de-DE" sz="1600" dirty="0"/>
              <a:t> OGC </a:t>
            </a:r>
            <a:r>
              <a:rPr lang="de-DE" sz="1600" dirty="0" err="1"/>
              <a:t>services</a:t>
            </a:r>
            <a:r>
              <a:rPr lang="de-DE" sz="1600" dirty="0"/>
              <a:t>)</a:t>
            </a:r>
          </a:p>
        </p:txBody>
      </p:sp>
      <p:cxnSp>
        <p:nvCxnSpPr>
          <p:cNvPr id="26" name="Straight Connector 1826"/>
          <p:cNvCxnSpPr/>
          <p:nvPr/>
        </p:nvCxnSpPr>
        <p:spPr>
          <a:xfrm>
            <a:off x="4084638" y="3240088"/>
            <a:ext cx="0" cy="900112"/>
          </a:xfrm>
          <a:prstGeom prst="line">
            <a:avLst/>
          </a:prstGeom>
          <a:ln w="28575">
            <a:solidFill>
              <a:srgbClr val="558AA9"/>
            </a:solidFill>
          </a:ln>
        </p:spPr>
        <p:style>
          <a:lnRef idx="1">
            <a:schemeClr val="accent1"/>
          </a:lnRef>
          <a:fillRef idx="0">
            <a:schemeClr val="accent1"/>
          </a:fillRef>
          <a:effectRef idx="0">
            <a:schemeClr val="accent1"/>
          </a:effectRef>
          <a:fontRef idx="minor">
            <a:schemeClr val="tx1"/>
          </a:fontRef>
        </p:style>
      </p:cxnSp>
      <p:pic>
        <p:nvPicPr>
          <p:cNvPr id="133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7300" y="881063"/>
            <a:ext cx="190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Diamond 52"/>
          <p:cNvSpPr/>
          <p:nvPr/>
        </p:nvSpPr>
        <p:spPr>
          <a:xfrm>
            <a:off x="5246688" y="1920875"/>
            <a:ext cx="1512887" cy="914400"/>
          </a:xfrm>
          <a:prstGeom prst="diamond">
            <a:avLst/>
          </a:prstGeom>
          <a:solidFill>
            <a:schemeClr val="bg1"/>
          </a:solidFill>
          <a:ln w="19050">
            <a:solidFill>
              <a:srgbClr val="558AA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fontAlgn="auto">
              <a:spcBef>
                <a:spcPts val="0"/>
              </a:spcBef>
              <a:spcAft>
                <a:spcPts val="0"/>
              </a:spcAft>
              <a:defRPr/>
            </a:pPr>
            <a:r>
              <a:rPr lang="de-DE" sz="1600" dirty="0">
                <a:solidFill>
                  <a:schemeClr val="tx1"/>
                </a:solidFill>
                <a:latin typeface="Tahoma" pitchFamily="34" charset="0"/>
                <a:ea typeface="Tahoma" pitchFamily="34" charset="0"/>
                <a:cs typeface="Tahoma" pitchFamily="34" charset="0"/>
              </a:rPr>
              <a:t>CSW</a:t>
            </a:r>
          </a:p>
        </p:txBody>
      </p:sp>
      <p:pic>
        <p:nvPicPr>
          <p:cNvPr id="13337" name="Picture 2" descr="http://cite.opengeospatial.org/files/bluebreeze_lo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000" y="2420938"/>
            <a:ext cx="3556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8" name="Picture 2" descr="http://bloggonaut.net/wp-content/uploads/2008/06/firefox-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3200" y="819150"/>
            <a:ext cx="476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9" name="Title 1"/>
          <p:cNvSpPr txBox="1">
            <a:spLocks/>
          </p:cNvSpPr>
          <p:nvPr/>
        </p:nvSpPr>
        <p:spPr bwMode="auto">
          <a:xfrm>
            <a:off x="133350" y="33338"/>
            <a:ext cx="4481513"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1000" b="1">
                <a:solidFill>
                  <a:schemeClr val="tx1"/>
                </a:solidFill>
                <a:latin typeface="CG Times"/>
                <a:ea typeface="MS PGothic" pitchFamily="34" charset="-128"/>
              </a:defRPr>
            </a:lvl1pPr>
            <a:lvl2pPr marL="742950" indent="-285750" eaLnBrk="0" hangingPunct="0">
              <a:defRPr sz="1000" b="1">
                <a:solidFill>
                  <a:schemeClr val="tx1"/>
                </a:solidFill>
                <a:latin typeface="CG Times"/>
                <a:ea typeface="MS PGothic" pitchFamily="34" charset="-128"/>
              </a:defRPr>
            </a:lvl2pPr>
            <a:lvl3pPr marL="1143000" indent="-228600" eaLnBrk="0" hangingPunct="0">
              <a:defRPr sz="1000" b="1">
                <a:solidFill>
                  <a:schemeClr val="tx1"/>
                </a:solidFill>
                <a:latin typeface="CG Times"/>
                <a:ea typeface="MS PGothic" pitchFamily="34" charset="-128"/>
              </a:defRPr>
            </a:lvl3pPr>
            <a:lvl4pPr marL="1600200" indent="-228600" eaLnBrk="0" hangingPunct="0">
              <a:defRPr sz="1000" b="1">
                <a:solidFill>
                  <a:schemeClr val="tx1"/>
                </a:solidFill>
                <a:latin typeface="CG Times"/>
                <a:ea typeface="MS PGothic" pitchFamily="34" charset="-128"/>
              </a:defRPr>
            </a:lvl4pPr>
            <a:lvl5pPr marL="2057400" indent="-228600" eaLnBrk="0" hangingPunct="0">
              <a:defRPr sz="1000" b="1">
                <a:solidFill>
                  <a:schemeClr val="tx1"/>
                </a:solidFill>
                <a:latin typeface="CG Times"/>
                <a:ea typeface="MS PGothic" pitchFamily="34" charset="-128"/>
              </a:defRPr>
            </a:lvl5pPr>
            <a:lvl6pPr marL="2514600" indent="-228600" eaLnBrk="0" fontAlgn="base" hangingPunct="0">
              <a:spcBef>
                <a:spcPct val="0"/>
              </a:spcBef>
              <a:spcAft>
                <a:spcPct val="0"/>
              </a:spcAft>
              <a:defRPr sz="1000" b="1">
                <a:solidFill>
                  <a:schemeClr val="tx1"/>
                </a:solidFill>
                <a:latin typeface="CG Times"/>
                <a:ea typeface="MS PGothic" pitchFamily="34" charset="-128"/>
              </a:defRPr>
            </a:lvl6pPr>
            <a:lvl7pPr marL="2971800" indent="-228600" eaLnBrk="0" fontAlgn="base" hangingPunct="0">
              <a:spcBef>
                <a:spcPct val="0"/>
              </a:spcBef>
              <a:spcAft>
                <a:spcPct val="0"/>
              </a:spcAft>
              <a:defRPr sz="1000" b="1">
                <a:solidFill>
                  <a:schemeClr val="tx1"/>
                </a:solidFill>
                <a:latin typeface="CG Times"/>
                <a:ea typeface="MS PGothic" pitchFamily="34" charset="-128"/>
              </a:defRPr>
            </a:lvl7pPr>
            <a:lvl8pPr marL="3429000" indent="-228600" eaLnBrk="0" fontAlgn="base" hangingPunct="0">
              <a:spcBef>
                <a:spcPct val="0"/>
              </a:spcBef>
              <a:spcAft>
                <a:spcPct val="0"/>
              </a:spcAft>
              <a:defRPr sz="1000" b="1">
                <a:solidFill>
                  <a:schemeClr val="tx1"/>
                </a:solidFill>
                <a:latin typeface="CG Times"/>
                <a:ea typeface="MS PGothic" pitchFamily="34" charset="-128"/>
              </a:defRPr>
            </a:lvl8pPr>
            <a:lvl9pPr marL="3886200" indent="-228600" eaLnBrk="0" fontAlgn="base" hangingPunct="0">
              <a:spcBef>
                <a:spcPct val="0"/>
              </a:spcBef>
              <a:spcAft>
                <a:spcPct val="0"/>
              </a:spcAft>
              <a:defRPr sz="1000" b="1">
                <a:solidFill>
                  <a:schemeClr val="tx1"/>
                </a:solidFill>
                <a:latin typeface="CG Times"/>
                <a:ea typeface="MS PGothic" pitchFamily="34" charset="-128"/>
              </a:defRPr>
            </a:lvl9pPr>
          </a:lstStyle>
          <a:p>
            <a:pPr eaLnBrk="1" hangingPunct="1"/>
            <a:r>
              <a:rPr lang="de-DE" sz="4400">
                <a:latin typeface="Arial" pitchFamily="34" charset="0"/>
              </a:rPr>
              <a:t/>
            </a:r>
            <a:br>
              <a:rPr lang="de-DE" sz="4400">
                <a:latin typeface="Arial" pitchFamily="34" charset="0"/>
              </a:rPr>
            </a:br>
            <a:endParaRPr lang="de-DE" sz="1800">
              <a:latin typeface="Arial" pitchFamily="34" charset="0"/>
            </a:endParaRPr>
          </a:p>
        </p:txBody>
      </p:sp>
      <p:sp>
        <p:nvSpPr>
          <p:cNvPr id="2" name="Title 1"/>
          <p:cNvSpPr>
            <a:spLocks noGrp="1"/>
          </p:cNvSpPr>
          <p:nvPr>
            <p:ph type="title"/>
          </p:nvPr>
        </p:nvSpPr>
        <p:spPr>
          <a:xfrm>
            <a:off x="152400" y="133350"/>
            <a:ext cx="8683625" cy="685800"/>
          </a:xfrm>
        </p:spPr>
        <p:txBody>
          <a:bodyPr/>
          <a:lstStyle/>
          <a:p>
            <a:pPr>
              <a:defRPr/>
            </a:pPr>
            <a:r>
              <a:rPr lang="de-DE" b="1" dirty="0">
                <a:cs typeface="Arial" pitchFamily="34" charset="0"/>
              </a:rPr>
              <a:t>SMART Project</a:t>
            </a:r>
            <a:endParaRPr lang="en-NZ" dirty="0"/>
          </a:p>
        </p:txBody>
      </p:sp>
      <p:sp>
        <p:nvSpPr>
          <p:cNvPr id="3" name="Content Placeholder 2"/>
          <p:cNvSpPr>
            <a:spLocks noGrp="1"/>
          </p:cNvSpPr>
          <p:nvPr>
            <p:ph idx="1"/>
          </p:nvPr>
        </p:nvSpPr>
        <p:spPr>
          <a:xfrm>
            <a:off x="76200" y="1281113"/>
            <a:ext cx="4762500" cy="4891087"/>
          </a:xfrm>
        </p:spPr>
        <p:txBody>
          <a:bodyPr/>
          <a:lstStyle/>
          <a:p>
            <a:pPr marL="0" indent="0" fontAlgn="auto">
              <a:spcAft>
                <a:spcPts val="0"/>
              </a:spcAft>
              <a:buFontTx/>
              <a:buNone/>
              <a:defRPr/>
            </a:pPr>
            <a:r>
              <a:rPr lang="de-DE" sz="1800" dirty="0">
                <a:cs typeface="Arial" pitchFamily="34" charset="0"/>
                <a:hlinkClick r:id="rId6"/>
              </a:rPr>
              <a:t>www.smart-project.info</a:t>
            </a:r>
            <a:endParaRPr lang="de-DE" sz="1800" dirty="0">
              <a:cs typeface="Arial" pitchFamily="34" charset="0"/>
            </a:endParaRPr>
          </a:p>
          <a:p>
            <a:pPr fontAlgn="auto">
              <a:spcAft>
                <a:spcPts val="0"/>
              </a:spcAft>
              <a:defRPr/>
            </a:pPr>
            <a:r>
              <a:rPr lang="de-DE" sz="1800" dirty="0" smtClean="0">
                <a:cs typeface="Arial" pitchFamily="34" charset="0"/>
              </a:rPr>
              <a:t>Aquifer </a:t>
            </a:r>
            <a:r>
              <a:rPr lang="de-DE" sz="1800" dirty="0">
                <a:cs typeface="Arial" pitchFamily="34" charset="0"/>
              </a:rPr>
              <a:t>characterisation, groundwater volume change, hydraulic properties, water age, groundwater-surface water </a:t>
            </a:r>
            <a:r>
              <a:rPr lang="de-DE" sz="1800" dirty="0" smtClean="0">
                <a:cs typeface="Arial" pitchFamily="34" charset="0"/>
              </a:rPr>
              <a:t>interaction</a:t>
            </a:r>
          </a:p>
          <a:p>
            <a:pPr fontAlgn="auto">
              <a:spcAft>
                <a:spcPts val="0"/>
              </a:spcAft>
              <a:defRPr/>
            </a:pPr>
            <a:r>
              <a:rPr lang="de-DE" sz="1800" dirty="0" smtClean="0">
                <a:cs typeface="Arial" pitchFamily="34" charset="0"/>
              </a:rPr>
              <a:t>Data </a:t>
            </a:r>
            <a:r>
              <a:rPr lang="de-DE" sz="1800" dirty="0">
                <a:cs typeface="Arial" pitchFamily="34" charset="0"/>
              </a:rPr>
              <a:t>will be published</a:t>
            </a:r>
            <a:br>
              <a:rPr lang="de-DE" sz="1800" dirty="0">
                <a:cs typeface="Arial" pitchFamily="34" charset="0"/>
              </a:rPr>
            </a:br>
            <a:r>
              <a:rPr lang="de-DE" sz="1800" dirty="0">
                <a:cs typeface="Arial" pitchFamily="34" charset="0"/>
              </a:rPr>
              <a:t>in groundwater </a:t>
            </a:r>
            <a:r>
              <a:rPr lang="de-DE" sz="1800" dirty="0" smtClean="0">
                <a:cs typeface="Arial" pitchFamily="34" charset="0"/>
              </a:rPr>
              <a:t>portal</a:t>
            </a:r>
          </a:p>
          <a:p>
            <a:pPr fontAlgn="auto">
              <a:spcAft>
                <a:spcPts val="0"/>
              </a:spcAft>
              <a:defRPr/>
            </a:pPr>
            <a:r>
              <a:rPr lang="de-DE" sz="1800" dirty="0" smtClean="0">
                <a:cs typeface="Arial" pitchFamily="34" charset="0"/>
              </a:rPr>
              <a:t>prototype </a:t>
            </a:r>
            <a:r>
              <a:rPr lang="de-DE" sz="1800" dirty="0">
                <a:cs typeface="Arial" pitchFamily="34" charset="0"/>
              </a:rPr>
              <a:t>presentation</a:t>
            </a:r>
            <a:br>
              <a:rPr lang="de-DE" sz="1800" dirty="0">
                <a:cs typeface="Arial" pitchFamily="34" charset="0"/>
              </a:rPr>
            </a:br>
            <a:r>
              <a:rPr lang="de-DE" sz="1800" dirty="0">
                <a:cs typeface="Arial" pitchFamily="34" charset="0"/>
              </a:rPr>
              <a:t>July 2012 at GI_Forum</a:t>
            </a:r>
            <a:br>
              <a:rPr lang="de-DE" sz="1800" dirty="0">
                <a:cs typeface="Arial" pitchFamily="34" charset="0"/>
              </a:rPr>
            </a:br>
            <a:r>
              <a:rPr lang="de-DE" sz="1800" dirty="0">
                <a:cs typeface="Arial" pitchFamily="34" charset="0"/>
              </a:rPr>
              <a:t>conference (</a:t>
            </a:r>
            <a:r>
              <a:rPr lang="de-DE" sz="1800" dirty="0" smtClean="0">
                <a:cs typeface="Arial" pitchFamily="34" charset="0"/>
                <a:hlinkClick r:id="rId7"/>
              </a:rPr>
              <a:t>gi-forum.org</a:t>
            </a:r>
            <a:r>
              <a:rPr lang="de-DE" sz="1800" dirty="0" smtClean="0">
                <a:cs typeface="Arial" pitchFamily="34" charset="0"/>
              </a:rPr>
              <a:t>)</a:t>
            </a:r>
          </a:p>
          <a:p>
            <a:pPr fontAlgn="auto">
              <a:spcAft>
                <a:spcPts val="0"/>
              </a:spcAft>
              <a:defRPr/>
            </a:pPr>
            <a:r>
              <a:rPr lang="de-DE" sz="1800" dirty="0" smtClean="0">
                <a:cs typeface="Arial" pitchFamily="34" charset="0"/>
              </a:rPr>
              <a:t>Recent </a:t>
            </a:r>
            <a:r>
              <a:rPr lang="de-DE" sz="1800" dirty="0">
                <a:cs typeface="Arial" pitchFamily="34" charset="0"/>
              </a:rPr>
              <a:t>research</a:t>
            </a:r>
            <a:br>
              <a:rPr lang="de-DE" sz="1800" dirty="0">
                <a:cs typeface="Arial" pitchFamily="34" charset="0"/>
              </a:rPr>
            </a:br>
            <a:r>
              <a:rPr lang="de-DE" sz="1800" dirty="0">
                <a:cs typeface="Arial" pitchFamily="34" charset="0"/>
              </a:rPr>
              <a:t>to publish NGMP data </a:t>
            </a:r>
            <a:br>
              <a:rPr lang="de-DE" sz="1800" dirty="0">
                <a:cs typeface="Arial" pitchFamily="34" charset="0"/>
              </a:rPr>
            </a:br>
            <a:r>
              <a:rPr lang="de-DE" sz="1800" dirty="0">
                <a:cs typeface="Arial" pitchFamily="34" charset="0"/>
              </a:rPr>
              <a:t>as SOS / WaterML</a:t>
            </a:r>
            <a:br>
              <a:rPr lang="de-DE" sz="1800" dirty="0">
                <a:cs typeface="Arial" pitchFamily="34" charset="0"/>
              </a:rPr>
            </a:br>
            <a:r>
              <a:rPr lang="de-DE" sz="1800" dirty="0">
                <a:cs typeface="Arial" pitchFamily="34" charset="0"/>
              </a:rPr>
              <a:t>(National Groundwater </a:t>
            </a:r>
            <a:br>
              <a:rPr lang="de-DE" sz="1800" dirty="0">
                <a:cs typeface="Arial" pitchFamily="34" charset="0"/>
              </a:rPr>
            </a:br>
            <a:r>
              <a:rPr lang="de-DE" sz="1800" dirty="0">
                <a:cs typeface="Arial" pitchFamily="34" charset="0"/>
              </a:rPr>
              <a:t>Monitoring Program)</a:t>
            </a:r>
          </a:p>
          <a:p>
            <a:pPr marL="0" indent="0">
              <a:buFontTx/>
              <a:buNone/>
              <a:defRPr/>
            </a:pPr>
            <a:endParaRPr lang="en-NZ" sz="1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250825" y="92075"/>
            <a:ext cx="8675688" cy="669925"/>
          </a:xfrm>
        </p:spPr>
        <p:txBody>
          <a:bodyPr/>
          <a:lstStyle/>
          <a:p>
            <a:pPr>
              <a:defRPr/>
            </a:pPr>
            <a:r>
              <a:rPr lang="en-NZ" dirty="0" smtClean="0"/>
              <a:t>New NIWA Interoperability Architecture</a:t>
            </a:r>
          </a:p>
        </p:txBody>
      </p:sp>
      <p:sp>
        <p:nvSpPr>
          <p:cNvPr id="4" name="Can 1824"/>
          <p:cNvSpPr/>
          <p:nvPr/>
        </p:nvSpPr>
        <p:spPr>
          <a:xfrm>
            <a:off x="-28575" y="3897313"/>
            <a:ext cx="1287463" cy="1970087"/>
          </a:xfrm>
          <a:prstGeom prst="can">
            <a:avLst/>
          </a:prstGeom>
          <a:solidFill>
            <a:srgbClr val="E717A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sz="1600" dirty="0">
                <a:solidFill>
                  <a:schemeClr val="tx1"/>
                </a:solidFill>
              </a:rPr>
              <a:t>NIWA </a:t>
            </a:r>
            <a:endParaRPr lang="de-DE" sz="1600" dirty="0">
              <a:solidFill>
                <a:schemeClr val="tx1"/>
              </a:solidFill>
            </a:endParaRPr>
          </a:p>
          <a:p>
            <a:pPr algn="ctr" fontAlgn="auto">
              <a:spcBef>
                <a:spcPts val="0"/>
              </a:spcBef>
              <a:spcAft>
                <a:spcPts val="0"/>
              </a:spcAft>
              <a:defRPr/>
            </a:pPr>
            <a:r>
              <a:rPr lang="de-DE" sz="1600" dirty="0">
                <a:solidFill>
                  <a:schemeClr val="tx1"/>
                </a:solidFill>
              </a:rPr>
              <a:t>d</a:t>
            </a:r>
            <a:r>
              <a:rPr lang="de-DE" sz="1600" dirty="0">
                <a:solidFill>
                  <a:schemeClr val="tx1"/>
                </a:solidFill>
              </a:rPr>
              <a:t>ata </a:t>
            </a:r>
            <a:r>
              <a:rPr lang="de-DE" sz="1600" dirty="0">
                <a:solidFill>
                  <a:schemeClr val="tx1"/>
                </a:solidFill>
              </a:rPr>
              <a:t>&amp; </a:t>
            </a:r>
            <a:r>
              <a:rPr lang="de-DE" sz="1600" dirty="0">
                <a:solidFill>
                  <a:schemeClr val="tx1"/>
                </a:solidFill>
              </a:rPr>
              <a:t>services catalogue</a:t>
            </a:r>
          </a:p>
          <a:p>
            <a:pPr algn="ctr" fontAlgn="auto">
              <a:spcBef>
                <a:spcPts val="0"/>
              </a:spcBef>
              <a:spcAft>
                <a:spcPts val="0"/>
              </a:spcAft>
              <a:defRPr/>
            </a:pPr>
            <a:r>
              <a:rPr lang="de-DE" sz="1600" dirty="0">
                <a:solidFill>
                  <a:schemeClr val="tx1"/>
                </a:solidFill>
              </a:rPr>
              <a:t>DC</a:t>
            </a:r>
            <a:endParaRPr lang="de-DE" sz="1600" dirty="0">
              <a:solidFill>
                <a:schemeClr val="tx1"/>
              </a:solidFill>
            </a:endParaRPr>
          </a:p>
        </p:txBody>
      </p:sp>
      <p:sp>
        <p:nvSpPr>
          <p:cNvPr id="5" name="Can 1824"/>
          <p:cNvSpPr/>
          <p:nvPr/>
        </p:nvSpPr>
        <p:spPr>
          <a:xfrm>
            <a:off x="1258888" y="3897313"/>
            <a:ext cx="1512887" cy="1970087"/>
          </a:xfrm>
          <a:prstGeom prst="can">
            <a:avLst/>
          </a:prstGeom>
          <a:solidFill>
            <a:srgbClr val="924EB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sz="1600" dirty="0">
                <a:solidFill>
                  <a:schemeClr val="tx1"/>
                </a:solidFill>
              </a:rPr>
              <a:t>NIWA </a:t>
            </a:r>
            <a:endParaRPr lang="de-DE" sz="1600" dirty="0">
              <a:solidFill>
                <a:schemeClr val="tx1"/>
              </a:solidFill>
            </a:endParaRPr>
          </a:p>
          <a:p>
            <a:pPr algn="ctr" fontAlgn="auto">
              <a:spcBef>
                <a:spcPts val="0"/>
              </a:spcBef>
              <a:spcAft>
                <a:spcPts val="0"/>
              </a:spcAft>
              <a:defRPr/>
            </a:pPr>
            <a:r>
              <a:rPr lang="de-DE" sz="1600" dirty="0">
                <a:solidFill>
                  <a:schemeClr val="tx1"/>
                </a:solidFill>
              </a:rPr>
              <a:t>station information management system SIMS</a:t>
            </a:r>
            <a:endParaRPr lang="de-DE" sz="1600" dirty="0">
              <a:solidFill>
                <a:schemeClr val="tx1"/>
              </a:solidFill>
            </a:endParaRPr>
          </a:p>
        </p:txBody>
      </p:sp>
      <p:sp>
        <p:nvSpPr>
          <p:cNvPr id="6" name="Can 1824"/>
          <p:cNvSpPr/>
          <p:nvPr/>
        </p:nvSpPr>
        <p:spPr>
          <a:xfrm>
            <a:off x="4067175" y="3897313"/>
            <a:ext cx="1296988" cy="1970087"/>
          </a:xfrm>
          <a:prstGeom prst="can">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sz="1600" dirty="0">
                <a:solidFill>
                  <a:schemeClr val="tx1"/>
                </a:solidFill>
              </a:rPr>
              <a:t>NIWA </a:t>
            </a:r>
            <a:endParaRPr lang="de-DE" sz="1600" dirty="0">
              <a:solidFill>
                <a:schemeClr val="tx1"/>
              </a:solidFill>
            </a:endParaRPr>
          </a:p>
          <a:p>
            <a:pPr algn="ctr" fontAlgn="auto">
              <a:spcBef>
                <a:spcPts val="0"/>
              </a:spcBef>
              <a:spcAft>
                <a:spcPts val="0"/>
              </a:spcAft>
              <a:defRPr/>
            </a:pPr>
            <a:r>
              <a:rPr lang="de-DE" sz="1600" dirty="0">
                <a:solidFill>
                  <a:schemeClr val="tx1"/>
                </a:solidFill>
              </a:rPr>
              <a:t>(bio-)</a:t>
            </a:r>
            <a:endParaRPr lang="de-DE" sz="1600" dirty="0">
              <a:solidFill>
                <a:schemeClr val="tx1"/>
              </a:solidFill>
            </a:endParaRPr>
          </a:p>
          <a:p>
            <a:pPr algn="ctr" fontAlgn="auto">
              <a:spcBef>
                <a:spcPts val="0"/>
              </a:spcBef>
              <a:spcAft>
                <a:spcPts val="0"/>
              </a:spcAft>
              <a:defRPr/>
            </a:pPr>
            <a:r>
              <a:rPr lang="de-DE" sz="1600" dirty="0">
                <a:solidFill>
                  <a:schemeClr val="tx1"/>
                </a:solidFill>
              </a:rPr>
              <a:t>observationdatabase</a:t>
            </a:r>
            <a:endParaRPr lang="de-DE" sz="1600" dirty="0">
              <a:solidFill>
                <a:schemeClr val="tx1"/>
              </a:solidFill>
            </a:endParaRPr>
          </a:p>
          <a:p>
            <a:pPr algn="ctr" fontAlgn="auto">
              <a:spcBef>
                <a:spcPts val="0"/>
              </a:spcBef>
              <a:spcAft>
                <a:spcPts val="0"/>
              </a:spcAft>
              <a:defRPr/>
            </a:pPr>
            <a:r>
              <a:rPr lang="de-DE" sz="1600" dirty="0">
                <a:solidFill>
                  <a:schemeClr val="tx1"/>
                </a:solidFill>
              </a:rPr>
              <a:t>NEMO</a:t>
            </a:r>
          </a:p>
        </p:txBody>
      </p:sp>
      <p:sp>
        <p:nvSpPr>
          <p:cNvPr id="7" name="Can 1824"/>
          <p:cNvSpPr/>
          <p:nvPr/>
        </p:nvSpPr>
        <p:spPr>
          <a:xfrm>
            <a:off x="2771775" y="3897313"/>
            <a:ext cx="1295400" cy="1970087"/>
          </a:xfrm>
          <a:prstGeom prst="can">
            <a:avLst/>
          </a:prstGeom>
          <a:solidFill>
            <a:srgbClr val="558AA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sz="1600" dirty="0">
                <a:solidFill>
                  <a:schemeClr val="tx1"/>
                </a:solidFill>
              </a:rPr>
              <a:t>NIWA Taxonomic Reference Systems</a:t>
            </a:r>
          </a:p>
          <a:p>
            <a:pPr algn="ctr" fontAlgn="auto">
              <a:spcBef>
                <a:spcPts val="0"/>
              </a:spcBef>
              <a:spcAft>
                <a:spcPts val="0"/>
              </a:spcAft>
              <a:defRPr/>
            </a:pPr>
            <a:r>
              <a:rPr lang="de-DE" sz="1600" dirty="0">
                <a:solidFill>
                  <a:schemeClr val="tx1"/>
                </a:solidFill>
              </a:rPr>
              <a:t>TRS</a:t>
            </a:r>
          </a:p>
        </p:txBody>
      </p:sp>
      <p:sp>
        <p:nvSpPr>
          <p:cNvPr id="8" name="Can 1824"/>
          <p:cNvSpPr/>
          <p:nvPr/>
        </p:nvSpPr>
        <p:spPr>
          <a:xfrm>
            <a:off x="5334000" y="3897313"/>
            <a:ext cx="1212850" cy="1970087"/>
          </a:xfrm>
          <a:prstGeom prst="can">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sz="1600" dirty="0">
                <a:solidFill>
                  <a:schemeClr val="tx1"/>
                </a:solidFill>
              </a:rPr>
              <a:t>NIWA climate database CLIDB</a:t>
            </a:r>
          </a:p>
        </p:txBody>
      </p:sp>
      <p:sp>
        <p:nvSpPr>
          <p:cNvPr id="9" name="Can 1824"/>
          <p:cNvSpPr/>
          <p:nvPr/>
        </p:nvSpPr>
        <p:spPr>
          <a:xfrm>
            <a:off x="6546850" y="3897313"/>
            <a:ext cx="1338263" cy="1970087"/>
          </a:xfrm>
          <a:prstGeom prst="ca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sz="1600" dirty="0">
                <a:solidFill>
                  <a:schemeClr val="tx1"/>
                </a:solidFill>
              </a:rPr>
              <a:t>NIWA freshwater database </a:t>
            </a:r>
            <a:r>
              <a:rPr lang="de-DE" sz="1600" dirty="0">
                <a:solidFill>
                  <a:schemeClr val="tx1"/>
                </a:solidFill>
              </a:rPr>
              <a:t>WRA</a:t>
            </a:r>
            <a:endParaRPr lang="de-DE" sz="1600" dirty="0">
              <a:solidFill>
                <a:schemeClr val="tx1"/>
              </a:solidFill>
            </a:endParaRPr>
          </a:p>
        </p:txBody>
      </p:sp>
      <p:sp>
        <p:nvSpPr>
          <p:cNvPr id="10" name="Can 1824"/>
          <p:cNvSpPr/>
          <p:nvPr/>
        </p:nvSpPr>
        <p:spPr>
          <a:xfrm>
            <a:off x="7885113" y="3897313"/>
            <a:ext cx="1258887" cy="1970087"/>
          </a:xfrm>
          <a:prstGeom prst="can">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de-DE" sz="1600" dirty="0">
                <a:solidFill>
                  <a:schemeClr val="tx1"/>
                </a:solidFill>
              </a:rPr>
              <a:t>NIWA marine database MarineDB</a:t>
            </a:r>
          </a:p>
        </p:txBody>
      </p:sp>
      <p:grpSp>
        <p:nvGrpSpPr>
          <p:cNvPr id="14346" name="Group 13"/>
          <p:cNvGrpSpPr>
            <a:grpSpLocks/>
          </p:cNvGrpSpPr>
          <p:nvPr/>
        </p:nvGrpSpPr>
        <p:grpSpPr bwMode="auto">
          <a:xfrm>
            <a:off x="107950" y="2543175"/>
            <a:ext cx="1512888" cy="914400"/>
            <a:chOff x="1583559" y="2391322"/>
            <a:chExt cx="1512887" cy="914400"/>
          </a:xfrm>
        </p:grpSpPr>
        <p:sp>
          <p:nvSpPr>
            <p:cNvPr id="12" name="Diamond 52"/>
            <p:cNvSpPr/>
            <p:nvPr/>
          </p:nvSpPr>
          <p:spPr>
            <a:xfrm>
              <a:off x="1583559" y="2391322"/>
              <a:ext cx="1512887" cy="914400"/>
            </a:xfrm>
            <a:prstGeom prst="diamond">
              <a:avLst/>
            </a:prstGeom>
            <a:solidFill>
              <a:schemeClr val="bg1"/>
            </a:solidFill>
            <a:ln w="19050">
              <a:solidFill>
                <a:srgbClr val="558AA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fontAlgn="auto">
                <a:spcBef>
                  <a:spcPts val="0"/>
                </a:spcBef>
                <a:spcAft>
                  <a:spcPts val="0"/>
                </a:spcAft>
                <a:defRPr/>
              </a:pPr>
              <a:r>
                <a:rPr lang="de-DE" sz="1600" dirty="0">
                  <a:solidFill>
                    <a:schemeClr val="tx1"/>
                  </a:solidFill>
                  <a:latin typeface="Tahoma" pitchFamily="34" charset="0"/>
                  <a:ea typeface="Tahoma" pitchFamily="34" charset="0"/>
                  <a:cs typeface="Tahoma" pitchFamily="34" charset="0"/>
                </a:rPr>
                <a:t>CSW</a:t>
              </a:r>
            </a:p>
          </p:txBody>
        </p:sp>
        <p:pic>
          <p:nvPicPr>
            <p:cNvPr id="14360" name="Picture 2" descr="http://cite.opengeospatial.org/files/bluebreeze_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871" y="2891385"/>
              <a:ext cx="3556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47" name="Group 14"/>
          <p:cNvGrpSpPr>
            <a:grpSpLocks/>
          </p:cNvGrpSpPr>
          <p:nvPr/>
        </p:nvGrpSpPr>
        <p:grpSpPr bwMode="auto">
          <a:xfrm>
            <a:off x="1871663" y="2543175"/>
            <a:ext cx="1512887" cy="914400"/>
            <a:chOff x="1583559" y="2391322"/>
            <a:chExt cx="1512887" cy="914400"/>
          </a:xfrm>
        </p:grpSpPr>
        <p:sp>
          <p:nvSpPr>
            <p:cNvPr id="16" name="Diamond 52"/>
            <p:cNvSpPr/>
            <p:nvPr/>
          </p:nvSpPr>
          <p:spPr>
            <a:xfrm>
              <a:off x="1583559" y="2391322"/>
              <a:ext cx="1512887" cy="914400"/>
            </a:xfrm>
            <a:prstGeom prst="diamond">
              <a:avLst/>
            </a:prstGeom>
            <a:solidFill>
              <a:schemeClr val="bg1"/>
            </a:solidFill>
            <a:ln w="19050">
              <a:solidFill>
                <a:srgbClr val="558AA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fontAlgn="auto">
                <a:spcBef>
                  <a:spcPts val="0"/>
                </a:spcBef>
                <a:spcAft>
                  <a:spcPts val="0"/>
                </a:spcAft>
                <a:defRPr/>
              </a:pPr>
              <a:r>
                <a:rPr lang="de-DE" sz="1600" dirty="0">
                  <a:solidFill>
                    <a:schemeClr val="tx1"/>
                  </a:solidFill>
                  <a:latin typeface="Tahoma" pitchFamily="34" charset="0"/>
                  <a:ea typeface="Tahoma" pitchFamily="34" charset="0"/>
                  <a:cs typeface="Tahoma" pitchFamily="34" charset="0"/>
                </a:rPr>
                <a:t>WFS</a:t>
              </a:r>
            </a:p>
          </p:txBody>
        </p:sp>
        <p:pic>
          <p:nvPicPr>
            <p:cNvPr id="14358" name="Picture 2" descr="http://cite.opengeospatial.org/files/bluebreeze_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871" y="2891385"/>
              <a:ext cx="3556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48" name="Group 17"/>
          <p:cNvGrpSpPr>
            <a:grpSpLocks/>
          </p:cNvGrpSpPr>
          <p:nvPr/>
        </p:nvGrpSpPr>
        <p:grpSpPr bwMode="auto">
          <a:xfrm>
            <a:off x="3671888" y="2543175"/>
            <a:ext cx="1512887" cy="914400"/>
            <a:chOff x="1583559" y="2391322"/>
            <a:chExt cx="1512887" cy="914400"/>
          </a:xfrm>
        </p:grpSpPr>
        <p:sp>
          <p:nvSpPr>
            <p:cNvPr id="19" name="Diamond 52"/>
            <p:cNvSpPr/>
            <p:nvPr/>
          </p:nvSpPr>
          <p:spPr>
            <a:xfrm>
              <a:off x="1583559" y="2391322"/>
              <a:ext cx="1512887" cy="914400"/>
            </a:xfrm>
            <a:prstGeom prst="diamond">
              <a:avLst/>
            </a:prstGeom>
            <a:solidFill>
              <a:schemeClr val="bg1"/>
            </a:solidFill>
            <a:ln w="19050">
              <a:solidFill>
                <a:srgbClr val="558AA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fontAlgn="auto">
                <a:spcBef>
                  <a:spcPts val="0"/>
                </a:spcBef>
                <a:spcAft>
                  <a:spcPts val="0"/>
                </a:spcAft>
                <a:defRPr/>
              </a:pPr>
              <a:r>
                <a:rPr lang="de-DE" sz="1600" dirty="0">
                  <a:solidFill>
                    <a:schemeClr val="tx1"/>
                  </a:solidFill>
                  <a:latin typeface="Tahoma" pitchFamily="34" charset="0"/>
                  <a:ea typeface="Tahoma" pitchFamily="34" charset="0"/>
                  <a:cs typeface="Tahoma" pitchFamily="34" charset="0"/>
                </a:rPr>
                <a:t>SOS</a:t>
              </a:r>
            </a:p>
          </p:txBody>
        </p:sp>
        <p:pic>
          <p:nvPicPr>
            <p:cNvPr id="14356" name="Picture 2" descr="http://cite.opengeospatial.org/files/bluebreeze_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871" y="2891385"/>
              <a:ext cx="3556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 name="Diamond 52"/>
          <p:cNvSpPr/>
          <p:nvPr/>
        </p:nvSpPr>
        <p:spPr bwMode="auto">
          <a:xfrm>
            <a:off x="5472113" y="2586038"/>
            <a:ext cx="1512887" cy="914400"/>
          </a:xfrm>
          <a:prstGeom prst="diamond">
            <a:avLst/>
          </a:prstGeom>
          <a:solidFill>
            <a:schemeClr val="bg1"/>
          </a:solidFill>
          <a:ln w="19050">
            <a:solidFill>
              <a:srgbClr val="558AA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fontAlgn="auto">
              <a:spcBef>
                <a:spcPts val="0"/>
              </a:spcBef>
              <a:spcAft>
                <a:spcPts val="0"/>
              </a:spcAft>
              <a:defRPr/>
            </a:pPr>
            <a:r>
              <a:rPr lang="de-DE" sz="1600" dirty="0">
                <a:solidFill>
                  <a:schemeClr val="tx1"/>
                </a:solidFill>
                <a:latin typeface="Tahoma" pitchFamily="34" charset="0"/>
                <a:ea typeface="Tahoma" pitchFamily="34" charset="0"/>
                <a:cs typeface="Tahoma" pitchFamily="34" charset="0"/>
              </a:rPr>
              <a:t>GBIF??</a:t>
            </a:r>
          </a:p>
        </p:txBody>
      </p:sp>
      <p:pic>
        <p:nvPicPr>
          <p:cNvPr id="14350"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0" y="6021388"/>
            <a:ext cx="3505200" cy="8397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51" name="TextBox 1"/>
          <p:cNvSpPr txBox="1">
            <a:spLocks noChangeArrowheads="1"/>
          </p:cNvSpPr>
          <p:nvPr/>
        </p:nvSpPr>
        <p:spPr bwMode="auto">
          <a:xfrm>
            <a:off x="2819400" y="957263"/>
            <a:ext cx="320992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000" b="1">
                <a:solidFill>
                  <a:schemeClr val="tx1"/>
                </a:solidFill>
                <a:latin typeface="CG Times"/>
                <a:ea typeface="MS PGothic" pitchFamily="34" charset="-128"/>
              </a:defRPr>
            </a:lvl1pPr>
            <a:lvl2pPr marL="742950" indent="-285750" eaLnBrk="0" hangingPunct="0">
              <a:defRPr sz="1000" b="1">
                <a:solidFill>
                  <a:schemeClr val="tx1"/>
                </a:solidFill>
                <a:latin typeface="CG Times"/>
                <a:ea typeface="MS PGothic" pitchFamily="34" charset="-128"/>
              </a:defRPr>
            </a:lvl2pPr>
            <a:lvl3pPr marL="1143000" indent="-228600" eaLnBrk="0" hangingPunct="0">
              <a:defRPr sz="1000" b="1">
                <a:solidFill>
                  <a:schemeClr val="tx1"/>
                </a:solidFill>
                <a:latin typeface="CG Times"/>
                <a:ea typeface="MS PGothic" pitchFamily="34" charset="-128"/>
              </a:defRPr>
            </a:lvl3pPr>
            <a:lvl4pPr marL="1600200" indent="-228600" eaLnBrk="0" hangingPunct="0">
              <a:defRPr sz="1000" b="1">
                <a:solidFill>
                  <a:schemeClr val="tx1"/>
                </a:solidFill>
                <a:latin typeface="CG Times"/>
                <a:ea typeface="MS PGothic" pitchFamily="34" charset="-128"/>
              </a:defRPr>
            </a:lvl4pPr>
            <a:lvl5pPr marL="2057400" indent="-228600" eaLnBrk="0" hangingPunct="0">
              <a:defRPr sz="1000" b="1">
                <a:solidFill>
                  <a:schemeClr val="tx1"/>
                </a:solidFill>
                <a:latin typeface="CG Times"/>
                <a:ea typeface="MS PGothic" pitchFamily="34" charset="-128"/>
              </a:defRPr>
            </a:lvl5pPr>
            <a:lvl6pPr marL="2514600" indent="-228600" eaLnBrk="0" fontAlgn="base" hangingPunct="0">
              <a:spcBef>
                <a:spcPct val="0"/>
              </a:spcBef>
              <a:spcAft>
                <a:spcPct val="0"/>
              </a:spcAft>
              <a:defRPr sz="1000" b="1">
                <a:solidFill>
                  <a:schemeClr val="tx1"/>
                </a:solidFill>
                <a:latin typeface="CG Times"/>
                <a:ea typeface="MS PGothic" pitchFamily="34" charset="-128"/>
              </a:defRPr>
            </a:lvl6pPr>
            <a:lvl7pPr marL="2971800" indent="-228600" eaLnBrk="0" fontAlgn="base" hangingPunct="0">
              <a:spcBef>
                <a:spcPct val="0"/>
              </a:spcBef>
              <a:spcAft>
                <a:spcPct val="0"/>
              </a:spcAft>
              <a:defRPr sz="1000" b="1">
                <a:solidFill>
                  <a:schemeClr val="tx1"/>
                </a:solidFill>
                <a:latin typeface="CG Times"/>
                <a:ea typeface="MS PGothic" pitchFamily="34" charset="-128"/>
              </a:defRPr>
            </a:lvl7pPr>
            <a:lvl8pPr marL="3429000" indent="-228600" eaLnBrk="0" fontAlgn="base" hangingPunct="0">
              <a:spcBef>
                <a:spcPct val="0"/>
              </a:spcBef>
              <a:spcAft>
                <a:spcPct val="0"/>
              </a:spcAft>
              <a:defRPr sz="1000" b="1">
                <a:solidFill>
                  <a:schemeClr val="tx1"/>
                </a:solidFill>
                <a:latin typeface="CG Times"/>
                <a:ea typeface="MS PGothic" pitchFamily="34" charset="-128"/>
              </a:defRPr>
            </a:lvl8pPr>
            <a:lvl9pPr marL="3886200" indent="-228600" eaLnBrk="0" fontAlgn="base" hangingPunct="0">
              <a:spcBef>
                <a:spcPct val="0"/>
              </a:spcBef>
              <a:spcAft>
                <a:spcPct val="0"/>
              </a:spcAft>
              <a:defRPr sz="1000" b="1">
                <a:solidFill>
                  <a:schemeClr val="tx1"/>
                </a:solidFill>
                <a:latin typeface="CG Times"/>
                <a:ea typeface="MS PGothic" pitchFamily="34" charset="-128"/>
              </a:defRPr>
            </a:lvl9pPr>
          </a:lstStyle>
          <a:p>
            <a:pPr eaLnBrk="1" hangingPunct="1"/>
            <a:r>
              <a:rPr lang="en-NZ" sz="2000">
                <a:latin typeface="Arial Black" pitchFamily="34" charset="0"/>
                <a:hlinkClick r:id="rId4"/>
              </a:rPr>
              <a:t>http://ei.niwa.co.nz</a:t>
            </a:r>
            <a:endParaRPr lang="en-NZ" sz="2000">
              <a:latin typeface="Arial Black" pitchFamily="34" charset="0"/>
            </a:endParaRPr>
          </a:p>
          <a:p>
            <a:pPr eaLnBrk="1" hangingPunct="1"/>
            <a:r>
              <a:rPr lang="en-NZ" sz="2000">
                <a:latin typeface="Arial Black" pitchFamily="34" charset="0"/>
                <a:hlinkClick r:id="rId5"/>
              </a:rPr>
              <a:t>http://geodata.govt.nz</a:t>
            </a:r>
            <a:endParaRPr lang="en-NZ" sz="2000">
              <a:latin typeface="Arial Black" pitchFamily="34" charset="0"/>
            </a:endParaRPr>
          </a:p>
          <a:p>
            <a:pPr eaLnBrk="1" hangingPunct="1"/>
            <a:r>
              <a:rPr lang="en-NZ" sz="2000">
                <a:latin typeface="Arial Black" pitchFamily="34" charset="0"/>
                <a:hlinkClick r:id="rId6"/>
              </a:rPr>
              <a:t>http://data.govt.nz</a:t>
            </a:r>
            <a:endParaRPr lang="en-NZ" sz="2000">
              <a:latin typeface="Arial Black" pitchFamily="34" charset="0"/>
            </a:endParaRPr>
          </a:p>
          <a:p>
            <a:pPr eaLnBrk="1" hangingPunct="1"/>
            <a:r>
              <a:rPr lang="en-NZ" sz="2000">
                <a:latin typeface="Arial Black" pitchFamily="34" charset="0"/>
                <a:hlinkClick r:id="rId7"/>
              </a:rPr>
              <a:t>http://os2020.org.nz</a:t>
            </a:r>
            <a:endParaRPr lang="en-NZ" sz="2000">
              <a:latin typeface="Arial Black" pitchFamily="34" charset="0"/>
            </a:endParaRPr>
          </a:p>
          <a:p>
            <a:pPr eaLnBrk="1" hangingPunct="1"/>
            <a:r>
              <a:rPr lang="en-NZ" sz="2000">
                <a:latin typeface="Arial Black" pitchFamily="34" charset="0"/>
              </a:rPr>
              <a:t>…</a:t>
            </a:r>
          </a:p>
          <a:p>
            <a:pPr eaLnBrk="1" hangingPunct="1"/>
            <a:endParaRPr lang="en-NZ" sz="2000">
              <a:latin typeface="Arial Black" pitchFamily="34" charset="0"/>
            </a:endParaRPr>
          </a:p>
        </p:txBody>
      </p:sp>
      <p:sp>
        <p:nvSpPr>
          <p:cNvPr id="24" name="Diamond 52"/>
          <p:cNvSpPr/>
          <p:nvPr/>
        </p:nvSpPr>
        <p:spPr bwMode="auto">
          <a:xfrm>
            <a:off x="7162800" y="2597150"/>
            <a:ext cx="1993900" cy="914400"/>
          </a:xfrm>
          <a:prstGeom prst="diamond">
            <a:avLst/>
          </a:prstGeom>
          <a:solidFill>
            <a:schemeClr val="bg1"/>
          </a:solidFill>
          <a:ln w="19050">
            <a:solidFill>
              <a:srgbClr val="558AA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fontAlgn="auto">
              <a:spcBef>
                <a:spcPts val="0"/>
              </a:spcBef>
              <a:spcAft>
                <a:spcPts val="0"/>
              </a:spcAft>
              <a:defRPr/>
            </a:pPr>
            <a:r>
              <a:rPr lang="de-DE" sz="1600" dirty="0">
                <a:solidFill>
                  <a:schemeClr val="tx1"/>
                </a:solidFill>
                <a:latin typeface="Tahoma" pitchFamily="34" charset="0"/>
                <a:ea typeface="Tahoma" pitchFamily="34" charset="0"/>
                <a:cs typeface="Tahoma" pitchFamily="34" charset="0"/>
              </a:rPr>
              <a:t>THREDDS</a:t>
            </a:r>
            <a:endParaRPr lang="de-DE" sz="1600" dirty="0">
              <a:solidFill>
                <a:schemeClr val="tx1"/>
              </a:solidFill>
              <a:latin typeface="Tahoma" pitchFamily="34" charset="0"/>
              <a:ea typeface="Tahoma" pitchFamily="34" charset="0"/>
              <a:cs typeface="Tahoma" pitchFamily="34" charset="0"/>
            </a:endParaRPr>
          </a:p>
        </p:txBody>
      </p:sp>
      <p:pic>
        <p:nvPicPr>
          <p:cNvPr id="14353" name="Picture 23" descr="THREDDS (Thematic Realtime Environmental Distributed Data Services)"/>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20038" y="2967038"/>
            <a:ext cx="595312"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4" name="Picture 25" descr="gbif.or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11863" y="3081338"/>
            <a:ext cx="431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NZ" sz="2800" dirty="0" smtClean="0"/>
              <a:t>Vision: Environmental Information from anywhere, available anytime, enabled through standards </a:t>
            </a:r>
            <a:endParaRPr lang="en-NZ" sz="2800" dirty="0"/>
          </a:p>
        </p:txBody>
      </p:sp>
      <p:sp>
        <p:nvSpPr>
          <p:cNvPr id="1536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a:ea typeface="MS PGothic" pitchFamily="34" charset="-128"/>
              </a:defRPr>
            </a:lvl1pPr>
            <a:lvl2pPr marL="742950" indent="-285750" eaLnBrk="0" hangingPunct="0">
              <a:defRPr sz="1000" b="1">
                <a:solidFill>
                  <a:schemeClr val="tx1"/>
                </a:solidFill>
                <a:latin typeface="CG Times"/>
                <a:ea typeface="MS PGothic" pitchFamily="34" charset="-128"/>
              </a:defRPr>
            </a:lvl2pPr>
            <a:lvl3pPr marL="1143000" indent="-228600" eaLnBrk="0" hangingPunct="0">
              <a:defRPr sz="1000" b="1">
                <a:solidFill>
                  <a:schemeClr val="tx1"/>
                </a:solidFill>
                <a:latin typeface="CG Times"/>
                <a:ea typeface="MS PGothic" pitchFamily="34" charset="-128"/>
              </a:defRPr>
            </a:lvl3pPr>
            <a:lvl4pPr marL="1600200" indent="-228600" eaLnBrk="0" hangingPunct="0">
              <a:defRPr sz="1000" b="1">
                <a:solidFill>
                  <a:schemeClr val="tx1"/>
                </a:solidFill>
                <a:latin typeface="CG Times"/>
                <a:ea typeface="MS PGothic" pitchFamily="34" charset="-128"/>
              </a:defRPr>
            </a:lvl4pPr>
            <a:lvl5pPr marL="2057400" indent="-228600" eaLnBrk="0" hangingPunct="0">
              <a:defRPr sz="1000" b="1">
                <a:solidFill>
                  <a:schemeClr val="tx1"/>
                </a:solidFill>
                <a:latin typeface="CG Times"/>
                <a:ea typeface="MS PGothic" pitchFamily="34" charset="-128"/>
              </a:defRPr>
            </a:lvl5pPr>
            <a:lvl6pPr marL="2514600" indent="-228600" eaLnBrk="0" fontAlgn="base" hangingPunct="0">
              <a:spcBef>
                <a:spcPct val="0"/>
              </a:spcBef>
              <a:spcAft>
                <a:spcPct val="0"/>
              </a:spcAft>
              <a:defRPr sz="1000" b="1">
                <a:solidFill>
                  <a:schemeClr val="tx1"/>
                </a:solidFill>
                <a:latin typeface="CG Times"/>
                <a:ea typeface="MS PGothic" pitchFamily="34" charset="-128"/>
              </a:defRPr>
            </a:lvl6pPr>
            <a:lvl7pPr marL="2971800" indent="-228600" eaLnBrk="0" fontAlgn="base" hangingPunct="0">
              <a:spcBef>
                <a:spcPct val="0"/>
              </a:spcBef>
              <a:spcAft>
                <a:spcPct val="0"/>
              </a:spcAft>
              <a:defRPr sz="1000" b="1">
                <a:solidFill>
                  <a:schemeClr val="tx1"/>
                </a:solidFill>
                <a:latin typeface="CG Times"/>
                <a:ea typeface="MS PGothic" pitchFamily="34" charset="-128"/>
              </a:defRPr>
            </a:lvl7pPr>
            <a:lvl8pPr marL="3429000" indent="-228600" eaLnBrk="0" fontAlgn="base" hangingPunct="0">
              <a:spcBef>
                <a:spcPct val="0"/>
              </a:spcBef>
              <a:spcAft>
                <a:spcPct val="0"/>
              </a:spcAft>
              <a:defRPr sz="1000" b="1">
                <a:solidFill>
                  <a:schemeClr val="tx1"/>
                </a:solidFill>
                <a:latin typeface="CG Times"/>
                <a:ea typeface="MS PGothic" pitchFamily="34" charset="-128"/>
              </a:defRPr>
            </a:lvl8pPr>
            <a:lvl9pPr marL="3886200" indent="-228600" eaLnBrk="0" fontAlgn="base" hangingPunct="0">
              <a:spcBef>
                <a:spcPct val="0"/>
              </a:spcBef>
              <a:spcAft>
                <a:spcPct val="0"/>
              </a:spcAft>
              <a:defRPr sz="1000" b="1">
                <a:solidFill>
                  <a:schemeClr val="tx1"/>
                </a:solidFill>
                <a:latin typeface="CG Times"/>
                <a:ea typeface="MS PGothic" pitchFamily="34" charset="-128"/>
              </a:defRPr>
            </a:lvl9pPr>
          </a:lstStyle>
          <a:p>
            <a:r>
              <a:rPr lang="en-US" sz="900" b="0" smtClean="0">
                <a:solidFill>
                  <a:srgbClr val="092E5C"/>
                </a:solidFill>
                <a:latin typeface="Arial" pitchFamily="34" charset="0"/>
              </a:rPr>
              <a:t>Copyright © 2012 Open Geospatial Consortium</a:t>
            </a:r>
          </a:p>
        </p:txBody>
      </p:sp>
      <p:pic>
        <p:nvPicPr>
          <p:cNvPr id="1536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71600"/>
            <a:ext cx="4703763"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8013" y="3641725"/>
            <a:ext cx="3935412" cy="321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703763" y="1066800"/>
            <a:ext cx="4440237" cy="3540125"/>
          </a:xfrm>
          <a:prstGeom prst="rect">
            <a:avLst/>
          </a:prstGeom>
          <a:noFill/>
        </p:spPr>
        <p:txBody>
          <a:bodyPr>
            <a:spAutoFit/>
          </a:bodyPr>
          <a:lstStyle/>
          <a:p>
            <a:pPr marL="171450" indent="-171450">
              <a:buFont typeface="Arial" pitchFamily="34" charset="0"/>
              <a:buChar char="•"/>
              <a:defRPr/>
            </a:pPr>
            <a:r>
              <a:rPr lang="en-NZ" sz="1600" b="0" dirty="0">
                <a:latin typeface="Verdana" pitchFamily="34" charset="0"/>
                <a:cs typeface="+mn-cs"/>
              </a:rPr>
              <a:t>Services provided through standards (CSW, WFS, SOS?, GBIF?).</a:t>
            </a:r>
          </a:p>
          <a:p>
            <a:pPr marL="171450" indent="-171450">
              <a:buFont typeface="Arial" pitchFamily="34" charset="0"/>
              <a:buChar char="•"/>
              <a:defRPr/>
            </a:pPr>
            <a:r>
              <a:rPr lang="en-NZ" sz="1600" b="0" dirty="0">
                <a:latin typeface="Verdana" pitchFamily="34" charset="0"/>
                <a:cs typeface="+mn-cs"/>
              </a:rPr>
              <a:t>Geospatial, temporal, contextual discovery.</a:t>
            </a:r>
          </a:p>
          <a:p>
            <a:pPr marL="171450" indent="-171450">
              <a:buFont typeface="Arial" pitchFamily="34" charset="0"/>
              <a:buChar char="•"/>
              <a:defRPr/>
            </a:pPr>
            <a:r>
              <a:rPr lang="en-NZ" sz="1600" b="0" dirty="0">
                <a:latin typeface="Verdana" pitchFamily="34" charset="0"/>
                <a:cs typeface="+mn-cs"/>
              </a:rPr>
              <a:t>Information visualisation components.</a:t>
            </a:r>
          </a:p>
          <a:p>
            <a:pPr marL="171450" indent="-171450">
              <a:buFont typeface="Arial" pitchFamily="34" charset="0"/>
              <a:buChar char="•"/>
              <a:defRPr/>
            </a:pPr>
            <a:r>
              <a:rPr lang="en-NZ" sz="1600" b="0" dirty="0">
                <a:latin typeface="Verdana" pitchFamily="34" charset="0"/>
                <a:cs typeface="+mn-cs"/>
              </a:rPr>
              <a:t>Geospatial, temporal, contextual selection.</a:t>
            </a:r>
          </a:p>
          <a:p>
            <a:pPr marL="171450" indent="-171450">
              <a:buFont typeface="Arial" pitchFamily="34" charset="0"/>
              <a:buChar char="•"/>
              <a:defRPr/>
            </a:pPr>
            <a:r>
              <a:rPr lang="en-NZ" sz="1600" b="0" dirty="0">
                <a:latin typeface="Verdana" pitchFamily="34" charset="0"/>
                <a:cs typeface="+mn-cs"/>
              </a:rPr>
              <a:t>Data provided through community standards.</a:t>
            </a:r>
          </a:p>
          <a:p>
            <a:pPr marL="171450" indent="-171450">
              <a:buFont typeface="Arial" pitchFamily="34" charset="0"/>
              <a:buChar char="•"/>
              <a:defRPr/>
            </a:pPr>
            <a:r>
              <a:rPr lang="en-NZ" sz="1600" b="0" dirty="0">
                <a:latin typeface="Verdana" pitchFamily="34" charset="0"/>
                <a:cs typeface="+mn-cs"/>
              </a:rPr>
              <a:t>Report &amp; Download options.</a:t>
            </a:r>
          </a:p>
          <a:p>
            <a:pPr marL="171450" indent="-171450">
              <a:buFont typeface="Arial" pitchFamily="34" charset="0"/>
              <a:buChar char="•"/>
              <a:defRPr/>
            </a:pPr>
            <a:endParaRPr lang="en-NZ" sz="1600" b="0" dirty="0">
              <a:latin typeface="Verdana" pitchFamily="34" charset="0"/>
              <a:cs typeface="+mn-cs"/>
            </a:endParaRPr>
          </a:p>
          <a:p>
            <a:pPr marL="171450" indent="-171450">
              <a:buFont typeface="Arial" pitchFamily="34" charset="0"/>
              <a:buChar char="•"/>
              <a:defRPr/>
            </a:pPr>
            <a:endParaRPr lang="en-NZ" sz="1600" b="0" dirty="0">
              <a:latin typeface="Verdana" pitchFamily="34" charset="0"/>
              <a:cs typeface="+mn-cs"/>
            </a:endParaRPr>
          </a:p>
          <a:p>
            <a:pPr marL="171450" indent="-171450">
              <a:buFont typeface="Arial" pitchFamily="34" charset="0"/>
              <a:buChar char="•"/>
              <a:defRPr/>
            </a:pPr>
            <a:endParaRPr lang="en-NZ" sz="1600" b="0" dirty="0">
              <a:latin typeface="Verdana" pitchFamily="34" charset="0"/>
              <a:cs typeface="+mn-cs"/>
            </a:endParaRPr>
          </a:p>
          <a:p>
            <a:pPr>
              <a:defRPr/>
            </a:pPr>
            <a:endParaRPr lang="en-NZ" sz="1600" b="0" dirty="0">
              <a:latin typeface="Verdana" pitchFamily="34" charset="0"/>
              <a:cs typeface="+mn-cs"/>
            </a:endParaRPr>
          </a:p>
        </p:txBody>
      </p:sp>
    </p:spTree>
  </p:cSld>
  <p:clrMapOvr>
    <a:masterClrMapping/>
  </p:clrMapOvr>
</p:sld>
</file>

<file path=ppt/theme/theme1.xml><?xml version="1.0" encoding="utf-8"?>
<a:theme xmlns:a="http://schemas.openxmlformats.org/drawingml/2006/main" name="OGC_PowerPoint_Template">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969696"/>
          </a:solidFill>
          <a:prstDash val="solid"/>
          <a:round/>
          <a:headEnd type="stealth" w="med" len="lg"/>
          <a:tailEnd type="none" w="med" len="med"/>
        </a:ln>
        <a:effectLst/>
      </a:spPr>
      <a:bodyPr vert="horz" wrap="none" lIns="0" tIns="45720" rIns="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CG Times" charset="0"/>
          </a:defRPr>
        </a:defPPr>
      </a:lstStyle>
    </a:spDef>
    <a:lnDef>
      <a:spPr bwMode="auto">
        <a:xfrm>
          <a:off x="0" y="0"/>
          <a:ext cx="1" cy="1"/>
        </a:xfrm>
        <a:custGeom>
          <a:avLst/>
          <a:gdLst/>
          <a:ahLst/>
          <a:cxnLst/>
          <a:rect l="0" t="0" r="0" b="0"/>
          <a:pathLst/>
        </a:custGeom>
        <a:noFill/>
        <a:ln w="9525" cap="flat" cmpd="sng" algn="ctr">
          <a:solidFill>
            <a:srgbClr val="969696"/>
          </a:solidFill>
          <a:prstDash val="solid"/>
          <a:round/>
          <a:headEnd type="stealth" w="med" len="lg"/>
          <a:tailEnd type="none" w="med" len="med"/>
        </a:ln>
        <a:effectLst/>
      </a:spPr>
      <a:bodyPr vert="horz" wrap="none" lIns="0" tIns="45720" rIns="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CG Times" charset="0"/>
          </a:defRPr>
        </a:defPPr>
      </a:lstStyle>
    </a:ln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C:\Users\CARLAN~1\AppData\Local\Temp\OGC_PowerPoint_Template.pot</Template>
  <TotalTime>229</TotalTime>
  <Words>821</Words>
  <Application>Microsoft Office PowerPoint</Application>
  <PresentationFormat>On-screen Show (4:3)</PresentationFormat>
  <Paragraphs>155</Paragraphs>
  <Slides>13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CG Times</vt:lpstr>
      <vt:lpstr>MS PGothic</vt:lpstr>
      <vt:lpstr>Arial</vt:lpstr>
      <vt:lpstr>Times New Roman</vt:lpstr>
      <vt:lpstr>Verdana</vt:lpstr>
      <vt:lpstr>Arial Unicode MS</vt:lpstr>
      <vt:lpstr>Arial Black</vt:lpstr>
      <vt:lpstr>MS Gothic</vt:lpstr>
      <vt:lpstr>Calibri</vt:lpstr>
      <vt:lpstr>Tahoma</vt:lpstr>
      <vt:lpstr>OGC_PowerPoint_Template</vt:lpstr>
      <vt:lpstr>Initiatives  in Interoperability in New Zealand</vt:lpstr>
      <vt:lpstr>Initiatives  into Interoperability in New Zealand</vt:lpstr>
      <vt:lpstr>New Zealand (hydrological) monitoring </vt:lpstr>
      <vt:lpstr>Different Organisations – Different networks – Different databases – different delivery systems</vt:lpstr>
      <vt:lpstr>NZ environmental monitoring situation</vt:lpstr>
      <vt:lpstr>Consistent National Environmental Monitoring and Reporting</vt:lpstr>
      <vt:lpstr>Government got attention of the problem! Proposal for an Environmental Reporting Bill</vt:lpstr>
      <vt:lpstr>Relevant national projects</vt:lpstr>
      <vt:lpstr>The Challenge </vt:lpstr>
      <vt:lpstr>(Some) current NZ Interoperability initiatives</vt:lpstr>
      <vt:lpstr>SMART Project</vt:lpstr>
      <vt:lpstr>New NIWA Interoperability Architecture</vt:lpstr>
      <vt:lpstr>Vision: Environmental Information from anywhere, available anytime, enabled through standards </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mpp</dc:subject>
  <dc:creator>Carl Reed</dc:creator>
  <cp:lastModifiedBy>schmidtj</cp:lastModifiedBy>
  <cp:revision>43</cp:revision>
  <cp:lastPrinted>2003-02-03T21:59:32Z</cp:lastPrinted>
  <dcterms:created xsi:type="dcterms:W3CDTF">2009-10-20T16:54:31Z</dcterms:created>
  <dcterms:modified xsi:type="dcterms:W3CDTF">2012-03-20T19:03:22Z</dcterms:modified>
</cp:coreProperties>
</file>