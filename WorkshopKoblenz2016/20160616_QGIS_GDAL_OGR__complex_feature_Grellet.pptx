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336" r:id="rId3"/>
    <p:sldId id="365" r:id="rId4"/>
    <p:sldId id="350" r:id="rId5"/>
    <p:sldId id="351" r:id="rId6"/>
    <p:sldId id="361" r:id="rId7"/>
    <p:sldId id="355" r:id="rId8"/>
    <p:sldId id="354" r:id="rId9"/>
    <p:sldId id="353" r:id="rId10"/>
    <p:sldId id="356" r:id="rId11"/>
    <p:sldId id="357" r:id="rId12"/>
    <p:sldId id="358" r:id="rId13"/>
    <p:sldId id="359" r:id="rId14"/>
    <p:sldId id="360" r:id="rId15"/>
    <p:sldId id="362" r:id="rId16"/>
    <p:sldId id="363" r:id="rId17"/>
    <p:sldId id="364" r:id="rId18"/>
    <p:sldId id="341" r:id="rId19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D9D"/>
    <a:srgbClr val="81FA26"/>
    <a:srgbClr val="3A7A8F"/>
    <a:srgbClr val="33B3B3"/>
    <a:srgbClr val="FF9218"/>
    <a:srgbClr val="66CC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 autoAdjust="0"/>
    <p:restoredTop sz="94660"/>
  </p:normalViewPr>
  <p:slideViewPr>
    <p:cSldViewPr>
      <p:cViewPr varScale="1">
        <p:scale>
          <a:sx n="70" d="100"/>
          <a:sy n="70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33DA42C1-DA04-4DF4-9561-6734786B60B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8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B814575C-EC0B-41C9-B019-DBF56983308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403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14575C-EC0B-41C9-B019-DBF56983308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1295400"/>
            <a:ext cx="6781800" cy="3657600"/>
          </a:xfrm>
        </p:spPr>
        <p:txBody>
          <a:bodyPr anchor="ctr"/>
          <a:lstStyle>
            <a:lvl1pPr algn="r">
              <a:defRPr sz="4800"/>
            </a:lvl1pPr>
          </a:lstStyle>
          <a:p>
            <a:pPr lvl="0"/>
            <a:r>
              <a:rPr lang="fr-FR" noProof="0" smtClean="0"/>
              <a:t>Modifiez le style du titre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5943600"/>
            <a:ext cx="5638800" cy="609600"/>
          </a:xfrm>
        </p:spPr>
        <p:txBody>
          <a:bodyPr anchor="b"/>
          <a:lstStyle>
            <a:lvl1pPr marL="0" indent="0">
              <a:buFontTx/>
              <a:buNone/>
              <a:defRPr sz="1400" b="0"/>
            </a:lvl1pPr>
          </a:lstStyle>
          <a:p>
            <a:pPr lvl="0"/>
            <a:r>
              <a:rPr lang="fr-FR" noProof="0" smtClean="0"/>
              <a:t>Modifiez le style des sous-titres du masque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3276600" cy="304800"/>
          </a:xfrm>
        </p:spPr>
        <p:txBody>
          <a:bodyPr/>
          <a:lstStyle>
            <a:lvl1pPr>
              <a:defRPr sz="1200"/>
            </a:lvl1pPr>
          </a:lstStyle>
          <a:p>
            <a:fld id="{EE027328-AF77-497C-ACAD-8DD8AF08CB0A}" type="datetime2">
              <a:rPr lang="fr-FR"/>
              <a:pPr/>
              <a:t>vendredi 17 juin 2016</a:t>
            </a:fld>
            <a:endParaRPr lang="fr-FR" sz="1400" b="1">
              <a:latin typeface="Times" pitchFamily="18" charset="0"/>
            </a:endParaRPr>
          </a:p>
        </p:txBody>
      </p:sp>
      <p:pic>
        <p:nvPicPr>
          <p:cNvPr id="9231" name="Picture 15" descr="&#10;Frise_ppt.jpg            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50" y="312738"/>
            <a:ext cx="4121150" cy="4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BRGM_log_RVB_OK copie.jpg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70563"/>
            <a:ext cx="1789113" cy="70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5AB3EA-ADE0-4DAC-886B-C474BD3B74C9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0D72CD9-A247-4912-BFD1-6E7DD107D632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8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7F15F1-95A7-480A-93BA-F5FD77EB9451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831642F-9A48-476C-99F7-D190911CE8F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7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06513" y="1371600"/>
            <a:ext cx="315595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14863" y="1371600"/>
            <a:ext cx="3157537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0D768-9D44-4F1D-AB4C-30062714F841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99C49C-0F7F-4892-8C9F-2489845673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2C0F16-C17B-41DE-8A41-13698432514E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24A3869-0C3F-48B4-BF30-FA0B0CAF76E5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09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00CE75-BC77-4048-AEA4-67E97F4FE482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BC7B207C-E62C-450C-94B6-2933A15854D7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4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43201-3636-4836-83C0-B4A164E5CFF0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8BE5DAE-9109-41E9-9FDA-B6443877C9A8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76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53A83A-948B-468D-AE19-439E5E979F57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D3AB18ED-EFE1-4A75-BFF8-7D666CB0A9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0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F81C03-1E9F-4C84-8AA5-5562DCD7DC1B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78FF34B-A223-46E3-86FB-AE793176ECEB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0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FDE939-39C1-4072-8C85-D4C6F1488AD8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CB5D8D-255A-405C-996C-ADEFAC9F27B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4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924550" y="304800"/>
            <a:ext cx="1847850" cy="5562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5391150" cy="55626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C81A7E-17B3-4235-AD93-75E60B0CE9A4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FC03FE9A-3C6D-4CEC-AEBF-253148A92F6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513" y="1371600"/>
            <a:ext cx="6465887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162800" y="6248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fr-FR" sz="2400" b="0">
              <a:latin typeface="Times" pitchFamily="18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fld id="{E6C32AE2-FEE4-4828-889E-8EB2ED0CF187}" type="datetime2">
              <a:rPr lang="fr-FR"/>
              <a:pPr/>
              <a:t>vendredi 17 juin 2016</a:t>
            </a:fld>
            <a:endParaRPr lang="fr-F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" y="6248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8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A7A8F"/>
                </a:solidFill>
              </a:defRPr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326A04FC-8C6F-47C1-801A-7B666C11534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&gt;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–"/>
        <a:defRPr sz="16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nspire.ec.europa.eu/schemas/ef/4.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4623048" cy="304800"/>
          </a:xfrm>
        </p:spPr>
        <p:txBody>
          <a:bodyPr/>
          <a:lstStyle/>
          <a:p>
            <a:r>
              <a:rPr lang="en-US" dirty="0" smtClean="0"/>
              <a:t>OGC Hydro DWG Workshop </a:t>
            </a:r>
            <a:r>
              <a:rPr lang="en-US" dirty="0"/>
              <a:t>2016 – </a:t>
            </a:r>
            <a:r>
              <a:rPr lang="en-US" dirty="0" smtClean="0"/>
              <a:t> Koblenz – 2016-06-16</a:t>
            </a:r>
            <a:endParaRPr lang="fr-FR" sz="1400" b="1" dirty="0">
              <a:latin typeface="Times" pitchFamily="18" charset="0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15616" y="1700808"/>
            <a:ext cx="6997824" cy="2376264"/>
          </a:xfrm>
        </p:spPr>
        <p:txBody>
          <a:bodyPr/>
          <a:lstStyle/>
          <a:p>
            <a:pPr algn="ctr"/>
            <a:r>
              <a:rPr lang="en-US" sz="3600" dirty="0"/>
              <a:t>	</a:t>
            </a:r>
            <a:r>
              <a:rPr lang="en-US" sz="3600" dirty="0" smtClean="0"/>
              <a:t>Supporting GML </a:t>
            </a:r>
            <a:r>
              <a:rPr lang="en-US" sz="3600" dirty="0" smtClean="0"/>
              <a:t>application compliant complex </a:t>
            </a:r>
            <a:r>
              <a:rPr lang="en-US" sz="3600" dirty="0" smtClean="0"/>
              <a:t>features in </a:t>
            </a:r>
            <a:r>
              <a:rPr lang="en-US" sz="3600" dirty="0"/>
              <a:t>QGIS and </a:t>
            </a:r>
            <a:r>
              <a:rPr lang="en-US" sz="3600" dirty="0" smtClean="0"/>
              <a:t>beyond</a:t>
            </a:r>
            <a:endParaRPr lang="fr-FR" sz="1600" dirty="0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BRGM – </a:t>
            </a:r>
            <a:r>
              <a:rPr lang="fr-FR" dirty="0" err="1" smtClean="0"/>
              <a:t>S.Grellet</a:t>
            </a:r>
            <a:endParaRPr lang="fr-FR" dirty="0" smtClean="0"/>
          </a:p>
        </p:txBody>
      </p:sp>
      <p:pic>
        <p:nvPicPr>
          <p:cNvPr id="67591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5591175"/>
            <a:ext cx="205740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Overall</a:t>
            </a:r>
            <a:r>
              <a:rPr lang="fr-FR" dirty="0" smtClean="0"/>
              <a:t> </a:t>
            </a:r>
            <a:r>
              <a:rPr lang="fr-FR" dirty="0" err="1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sp>
        <p:nvSpPr>
          <p:cNvPr id="2" name="Flèche courbée vers le haut 1"/>
          <p:cNvSpPr/>
          <p:nvPr/>
        </p:nvSpPr>
        <p:spPr bwMode="auto">
          <a:xfrm rot="5068084">
            <a:off x="2179639" y="2083006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388874" y="1124744"/>
            <a:ext cx="1767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DATA</a:t>
            </a:r>
            <a:endParaRPr lang="fr-FR" sz="2800" dirty="0"/>
          </a:p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359534" y="2691699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CLIENT</a:t>
            </a:r>
            <a:endParaRPr lang="fr-FR" sz="2800" dirty="0"/>
          </a:p>
          <a:p>
            <a:endParaRPr lang="fr-FR" dirty="0"/>
          </a:p>
        </p:txBody>
      </p:sp>
      <p:sp>
        <p:nvSpPr>
          <p:cNvPr id="11" name="Flèche courbée vers le haut 10"/>
          <p:cNvSpPr/>
          <p:nvPr/>
        </p:nvSpPr>
        <p:spPr bwMode="auto">
          <a:xfrm rot="15753556">
            <a:off x="4838345" y="1904313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105227" y="1871271"/>
            <a:ext cx="404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?</a:t>
            </a:r>
            <a:endParaRPr lang="fr-FR" sz="2800" dirty="0"/>
          </a:p>
          <a:p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2051725" y="3356992"/>
            <a:ext cx="563968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smtClean="0"/>
              <a:t>«</a:t>
            </a:r>
            <a:r>
              <a:rPr lang="fr-FR" sz="2000" i="1" dirty="0" smtClean="0"/>
              <a:t> </a:t>
            </a:r>
            <a:r>
              <a:rPr lang="fr-FR" sz="2000" i="1" dirty="0" err="1" smtClean="0"/>
              <a:t>another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approach</a:t>
            </a:r>
            <a:r>
              <a:rPr lang="fr-FR" sz="2000" i="1" dirty="0" smtClean="0"/>
              <a:t> to </a:t>
            </a:r>
            <a:r>
              <a:rPr lang="fr-FR" sz="2000" i="1" dirty="0" err="1" smtClean="0"/>
              <a:t>demonstrate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smtClean="0"/>
              <a:t>the </a:t>
            </a:r>
            <a:r>
              <a:rPr lang="fr-FR" sz="2000" i="1" dirty="0" err="1" smtClean="0"/>
              <a:t>usefulenessof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interoperable</a:t>
            </a:r>
            <a:r>
              <a:rPr lang="fr-FR" sz="2000" i="1" dirty="0" smtClean="0"/>
              <a:t> standards</a:t>
            </a:r>
            <a:r>
              <a:rPr lang="fr-FR" sz="2000" dirty="0" smtClean="0"/>
              <a:t> » 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o</a:t>
            </a:r>
            <a:r>
              <a:rPr lang="fr-FR" sz="2000" dirty="0" smtClean="0"/>
              <a:t>r</a:t>
            </a:r>
          </a:p>
          <a:p>
            <a:pPr algn="ctr"/>
            <a:endParaRPr lang="fr-FR" sz="2000" dirty="0" smtClean="0"/>
          </a:p>
          <a:p>
            <a:pPr algn="ctr"/>
            <a:r>
              <a:rPr lang="fr-FR" sz="2000" dirty="0" smtClean="0"/>
              <a:t>« </a:t>
            </a:r>
            <a:r>
              <a:rPr lang="fr-FR" sz="2000" i="1" dirty="0" err="1" smtClean="0"/>
              <a:t>having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something</a:t>
            </a:r>
            <a:r>
              <a:rPr lang="fr-FR" sz="2000" i="1" dirty="0" smtClean="0"/>
              <a:t> to show to </a:t>
            </a:r>
            <a:r>
              <a:rPr lang="fr-FR" sz="2000" i="1" dirty="0" err="1" smtClean="0"/>
              <a:t>those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err="1" smtClean="0"/>
              <a:t>who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consider</a:t>
            </a:r>
            <a:r>
              <a:rPr lang="fr-FR" sz="2000" i="1" dirty="0" smtClean="0"/>
              <a:t> XML </a:t>
            </a:r>
            <a:r>
              <a:rPr lang="fr-FR" sz="2000" i="1" dirty="0" err="1" smtClean="0"/>
              <a:t>is</a:t>
            </a:r>
            <a:r>
              <a:rPr lang="fr-FR" sz="2000" i="1" dirty="0" smtClean="0"/>
              <a:t> not sexy</a:t>
            </a:r>
            <a:r>
              <a:rPr lang="fr-FR" sz="2000" dirty="0" smtClean="0"/>
              <a:t> »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654769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Overall</a:t>
            </a:r>
            <a:r>
              <a:rPr lang="fr-FR" dirty="0" smtClean="0"/>
              <a:t> </a:t>
            </a:r>
            <a:r>
              <a:rPr lang="fr-FR" dirty="0" err="1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Few applications are able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handle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GML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flows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compliant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an application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Appart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hardcoded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Initial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idea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 correct xml content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points to its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(s )</a:t>
            </a:r>
          </a:p>
          <a:p>
            <a:pPr lvl="1">
              <a:buFont typeface="Symbol"/>
              <a:buChar char="Þ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Can we generate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database structure from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declared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 ?</a:t>
            </a:r>
          </a:p>
          <a:p>
            <a:pPr lvl="1">
              <a:buFont typeface="Symbol"/>
              <a:buChar char="Þ"/>
            </a:pP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Having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generic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solution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hardcoded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configuration ?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6412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Overall</a:t>
            </a:r>
            <a:r>
              <a:rPr lang="fr-FR" dirty="0" smtClean="0"/>
              <a:t> </a:t>
            </a:r>
            <a:r>
              <a:rPr lang="fr-FR" dirty="0" err="1"/>
              <a:t>c</a:t>
            </a:r>
            <a:r>
              <a:rPr lang="fr-FR" dirty="0" err="1" smtClean="0"/>
              <a:t>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Proof Of Concept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Desktop open source application : QGIS</a:t>
            </a: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Use case : 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Ground Water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quantity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monitoring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Reading data, not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writing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Flows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WFS 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Piezometers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Monitoring Facility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theme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Aquifer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Inspire Geology-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Hydrogeology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GWML2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SOS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WaterML2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Project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started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2015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QGIS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commiters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7" name="images7"/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932040" y="5888922"/>
            <a:ext cx="1296144" cy="7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609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Technological</a:t>
            </a:r>
            <a:r>
              <a:rPr lang="fr-FR" dirty="0" smtClean="0"/>
              <a:t> </a:t>
            </a:r>
            <a:r>
              <a:rPr lang="fr-FR" dirty="0" err="1" smtClean="0"/>
              <a:t>choices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Input : XML File or URL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Solution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handle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XML types</a:t>
            </a:r>
          </a:p>
          <a:p>
            <a:pPr lvl="1"/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Xerces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(C++) : supports “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API”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and esp. “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post-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-validation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infoset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information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thus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types)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-&gt; Object model conversion 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Synthesis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(C++) and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PyXB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(Python)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PyXB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XML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parsing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caching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Well-formed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XML = minimum.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Degraded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mode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for ‘non-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xml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‘Content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negociation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’ 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xlink:href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codeLists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test on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vocabulary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registry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Sandre, …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5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3872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Technological</a:t>
            </a:r>
            <a:r>
              <a:rPr lang="fr-FR" dirty="0" smtClean="0"/>
              <a:t> </a:t>
            </a:r>
            <a:r>
              <a:rPr lang="fr-FR" dirty="0" err="1" smtClean="0"/>
              <a:t>choices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PostGIS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 / </a:t>
            </a:r>
            <a:r>
              <a:rPr lang="fr-FR" u="sng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SpatialLite</a:t>
            </a:r>
            <a:endParaRPr lang="fr-FR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Simplification /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flatening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parameter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Respecting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application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Types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Referential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integrity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087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Results</a:t>
            </a:r>
            <a:r>
              <a:rPr lang="fr-FR" dirty="0" smtClean="0"/>
              <a:t> – data content </a:t>
            </a:r>
            <a:r>
              <a:rPr lang="fr-FR" dirty="0" err="1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21308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Monitoring Facility 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piezometers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7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339" y="1484784"/>
            <a:ext cx="4048125" cy="5692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790256" y="1575550"/>
            <a:ext cx="3886200" cy="3014662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175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fr-FR" sz="2000" dirty="0">
                <a:solidFill>
                  <a:srgbClr val="004494"/>
                </a:solidFill>
              </a:rPr>
              <a:t>Environmental Monitoring Facilities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3214" y="4843363"/>
            <a:ext cx="3905250" cy="1177925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175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fr-FR" sz="2000" dirty="0">
                <a:solidFill>
                  <a:srgbClr val="004494"/>
                </a:solidFill>
              </a:rPr>
              <a:t>ISO 19156:2011</a:t>
            </a:r>
          </a:p>
          <a:p>
            <a:pPr algn="ctr" eaLnBrk="1" hangingPunct="1"/>
            <a:r>
              <a:rPr lang="en-US" altLang="fr-FR" sz="2000" dirty="0">
                <a:solidFill>
                  <a:srgbClr val="004494"/>
                </a:solidFill>
              </a:rPr>
              <a:t>Observations and Measurements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859338" y="5949280"/>
            <a:ext cx="1889126" cy="10350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175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algn="l" eaLnBrk="0" hangingPunct="0">
              <a:spcBef>
                <a:spcPct val="0"/>
              </a:spcBef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600" b="1">
                <a:solidFill>
                  <a:srgbClr val="FFD624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fr-FR" sz="1600" dirty="0" smtClean="0">
                <a:solidFill>
                  <a:srgbClr val="004494"/>
                </a:solidFill>
              </a:rPr>
              <a:t>INSPIRE </a:t>
            </a:r>
            <a:r>
              <a:rPr lang="en-US" altLang="fr-FR" sz="1600" dirty="0">
                <a:solidFill>
                  <a:srgbClr val="004494"/>
                </a:solidFill>
              </a:rPr>
              <a:t>O&amp;M </a:t>
            </a:r>
            <a:r>
              <a:rPr lang="en-US" altLang="fr-FR" sz="1600" dirty="0" smtClean="0">
                <a:solidFill>
                  <a:srgbClr val="004494"/>
                </a:solidFill>
              </a:rPr>
              <a:t>extensions</a:t>
            </a:r>
            <a:endParaRPr lang="en-US" altLang="fr-FR" sz="1600" dirty="0">
              <a:solidFill>
                <a:srgbClr val="004494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580112" y="2852936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971600" y="1772816"/>
            <a:ext cx="33329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hlinkClick r:id="rId4"/>
              </a:rPr>
              <a:t>http://inspire.ec.europa.eu/schemas/ef/4.0/</a:t>
            </a:r>
            <a:r>
              <a:rPr lang="fr-FR" dirty="0" smtClean="0"/>
              <a:t> </a:t>
            </a:r>
            <a:endParaRPr lang="fr-FR" dirty="0"/>
          </a:p>
        </p:txBody>
      </p:sp>
      <p:grpSp>
        <p:nvGrpSpPr>
          <p:cNvPr id="19" name="Groupe 18"/>
          <p:cNvGrpSpPr/>
          <p:nvPr/>
        </p:nvGrpSpPr>
        <p:grpSpPr>
          <a:xfrm>
            <a:off x="1619672" y="4479503"/>
            <a:ext cx="3672408" cy="461665"/>
            <a:chOff x="1619672" y="4479503"/>
            <a:chExt cx="3672408" cy="461665"/>
          </a:xfrm>
        </p:grpSpPr>
        <p:sp>
          <p:nvSpPr>
            <p:cNvPr id="14" name="Ellipse 13"/>
            <p:cNvSpPr/>
            <p:nvPr/>
          </p:nvSpPr>
          <p:spPr bwMode="auto">
            <a:xfrm>
              <a:off x="4788024" y="4549100"/>
              <a:ext cx="504056" cy="288032"/>
            </a:xfrm>
            <a:prstGeom prst="ellipse">
              <a:avLst/>
            </a:pr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1619672" y="4479503"/>
              <a:ext cx="17427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0" dirty="0" err="1" smtClean="0"/>
                <a:t>hasObservation</a:t>
              </a:r>
              <a:r>
                <a:rPr lang="fr-FR" b="0" dirty="0" smtClean="0"/>
                <a:t>: </a:t>
              </a:r>
            </a:p>
            <a:p>
              <a:r>
                <a:rPr lang="fr-FR" b="0" dirty="0" smtClean="0"/>
                <a:t>Link </a:t>
              </a:r>
              <a:r>
                <a:rPr lang="fr-FR" b="0" dirty="0" err="1" smtClean="0"/>
                <a:t>from</a:t>
              </a:r>
              <a:r>
                <a:rPr lang="fr-FR" b="0" dirty="0" smtClean="0"/>
                <a:t> WFS to SOS</a:t>
              </a:r>
              <a:endParaRPr lang="fr-FR" b="0" dirty="0"/>
            </a:p>
          </p:txBody>
        </p:sp>
        <p:cxnSp>
          <p:nvCxnSpPr>
            <p:cNvPr id="17" name="Connecteur droit avec flèche 16"/>
            <p:cNvCxnSpPr>
              <a:stCxn id="15" idx="3"/>
              <a:endCxn id="14" idx="2"/>
            </p:cNvCxnSpPr>
            <p:nvPr/>
          </p:nvCxnSpPr>
          <p:spPr bwMode="auto">
            <a:xfrm flipV="1">
              <a:off x="3362457" y="4693116"/>
              <a:ext cx="1425567" cy="1722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389387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Results</a:t>
            </a:r>
            <a:r>
              <a:rPr lang="fr-FR" dirty="0" smtClean="0"/>
              <a:t> – plugin modes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XML: handling the XML file as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additionnal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intelligence on top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Xpath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geometry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ies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 information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Ability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handle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hlink:href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Identification of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Relational database : creating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database structure in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SpatialLite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Maximum table merging depth parameter : dynamic flattening </a:t>
            </a:r>
          </a:p>
          <a:p>
            <a:pPr lvl="1">
              <a:buFont typeface="Symbol"/>
              <a:buChar char="Þ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adjust the verbosity of the resulting database structure</a:t>
            </a:r>
          </a:p>
          <a:p>
            <a:pPr marL="914400" lvl="2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‘Merge unitary sequences’ : for Attributes with max cardinality * in the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but only present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once in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xml</a:t>
            </a:r>
          </a:p>
          <a:p>
            <a:pPr lvl="1">
              <a:buFont typeface="Symbol"/>
              <a:buChar char="Þ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avoid un-necessary additional tables</a:t>
            </a:r>
          </a:p>
          <a:p>
            <a:pPr lvl="2">
              <a:buFont typeface="Symbol"/>
              <a:buChar char="Þ"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022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7778" y="1556792"/>
            <a:ext cx="81153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Results</a:t>
            </a:r>
            <a:r>
              <a:rPr lang="fr-FR" dirty="0" smtClean="0"/>
              <a:t> – XML Mode 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31640" y="1020117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On WFS flow</a:t>
            </a: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9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47"/>
          <a:stretch/>
        </p:blipFill>
        <p:spPr bwMode="auto">
          <a:xfrm>
            <a:off x="3634236" y="404664"/>
            <a:ext cx="6626396" cy="53211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3131840" y="404664"/>
            <a:ext cx="502396" cy="5321140"/>
            <a:chOff x="3131840" y="404664"/>
            <a:chExt cx="502396" cy="5321140"/>
          </a:xfrm>
        </p:grpSpPr>
        <p:cxnSp>
          <p:nvCxnSpPr>
            <p:cNvPr id="3" name="Connecteur droit 2"/>
            <p:cNvCxnSpPr/>
            <p:nvPr/>
          </p:nvCxnSpPr>
          <p:spPr bwMode="auto">
            <a:xfrm flipH="1">
              <a:off x="3203848" y="404664"/>
              <a:ext cx="430388" cy="2376264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Connecteur droit 12"/>
            <p:cNvCxnSpPr/>
            <p:nvPr/>
          </p:nvCxnSpPr>
          <p:spPr bwMode="auto">
            <a:xfrm flipH="1" flipV="1">
              <a:off x="3203848" y="2933328"/>
              <a:ext cx="430388" cy="2792476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Ellipse 6"/>
            <p:cNvSpPr/>
            <p:nvPr/>
          </p:nvSpPr>
          <p:spPr bwMode="auto">
            <a:xfrm>
              <a:off x="3131840" y="2708920"/>
              <a:ext cx="502396" cy="296416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3923928" y="2204864"/>
            <a:ext cx="6336704" cy="4708236"/>
            <a:chOff x="3923928" y="2204864"/>
            <a:chExt cx="6336704" cy="4708236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9882" y="5150975"/>
              <a:ext cx="6000750" cy="1762125"/>
            </a:xfrm>
            <a:prstGeom prst="rect">
              <a:avLst/>
            </a:prstGeom>
            <a:noFill/>
            <a:ln w="31750">
              <a:solidFill>
                <a:srgbClr val="00B05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Rectangle 8"/>
            <p:cNvSpPr/>
            <p:nvPr/>
          </p:nvSpPr>
          <p:spPr bwMode="auto">
            <a:xfrm>
              <a:off x="3923928" y="2204864"/>
              <a:ext cx="5832648" cy="360040"/>
            </a:xfrm>
            <a:prstGeom prst="rect">
              <a:avLst/>
            </a:prstGeom>
            <a:noFill/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2" name="Connecteur droit 11"/>
            <p:cNvCxnSpPr>
              <a:stCxn id="9" idx="2"/>
              <a:endCxn id="1028" idx="0"/>
            </p:cNvCxnSpPr>
            <p:nvPr/>
          </p:nvCxnSpPr>
          <p:spPr bwMode="auto">
            <a:xfrm>
              <a:off x="6840252" y="2564904"/>
              <a:ext cx="420005" cy="2586071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20627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XML Mode 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On SOS flow</a:t>
            </a: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10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8"/>
          <a:stretch/>
        </p:blipFill>
        <p:spPr bwMode="auto">
          <a:xfrm>
            <a:off x="-108520" y="1556792"/>
            <a:ext cx="5664544" cy="2955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oupe 12"/>
          <p:cNvGrpSpPr/>
          <p:nvPr/>
        </p:nvGrpSpPr>
        <p:grpSpPr>
          <a:xfrm>
            <a:off x="2051720" y="2876514"/>
            <a:ext cx="7092280" cy="3981486"/>
            <a:chOff x="2051720" y="2876514"/>
            <a:chExt cx="7092280" cy="3981486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714" y="2876514"/>
              <a:ext cx="5091286" cy="39814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 bwMode="auto">
            <a:xfrm>
              <a:off x="2051720" y="3861048"/>
              <a:ext cx="216024" cy="216024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" name="Connecteur droit 4"/>
            <p:cNvCxnSpPr>
              <a:stCxn id="3" idx="0"/>
            </p:cNvCxnSpPr>
            <p:nvPr/>
          </p:nvCxnSpPr>
          <p:spPr bwMode="auto">
            <a:xfrm flipV="1">
              <a:off x="2159732" y="2876514"/>
              <a:ext cx="1892982" cy="984534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Connecteur droit 11"/>
            <p:cNvCxnSpPr>
              <a:stCxn id="3" idx="2"/>
            </p:cNvCxnSpPr>
            <p:nvPr/>
          </p:nvCxnSpPr>
          <p:spPr bwMode="auto">
            <a:xfrm>
              <a:off x="2159732" y="4077072"/>
              <a:ext cx="1892982" cy="2664296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6478456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</a:t>
            </a:r>
            <a:r>
              <a:rPr lang="fr-FR" dirty="0" err="1" smtClean="0"/>
              <a:t>Relational</a:t>
            </a:r>
            <a:r>
              <a:rPr lang="fr-FR" dirty="0" smtClean="0"/>
              <a:t> </a:t>
            </a:r>
            <a:r>
              <a:rPr lang="fr-FR" dirty="0" err="1" smtClean="0"/>
              <a:t>database</a:t>
            </a:r>
            <a:r>
              <a:rPr lang="fr-FR" dirty="0" smtClean="0"/>
              <a:t> Mode 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WFS flow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11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278" y="1628800"/>
            <a:ext cx="6559106" cy="4857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19109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Mode 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x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WFS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QGIS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ease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navigation 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44824"/>
            <a:ext cx="8324987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9931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Mode 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SOS flow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Data structure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whithin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Manager</a:t>
            </a: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" t="4039" r="36574" b="39902"/>
          <a:stretch/>
        </p:blipFill>
        <p:spPr bwMode="auto">
          <a:xfrm>
            <a:off x="467544" y="2276872"/>
            <a:ext cx="8195571" cy="418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5219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–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Mode 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: SOS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flow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Data content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here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deploy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plugins 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colleagues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analyse trends, correct values, … </a:t>
            </a: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/>
              <a:buChar char="Þ"/>
            </a:pPr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" t="4160" r="28571" b="42081"/>
          <a:stretch/>
        </p:blipFill>
        <p:spPr bwMode="auto">
          <a:xfrm>
            <a:off x="395536" y="2708920"/>
            <a:ext cx="8352928" cy="362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58954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Further</a:t>
            </a:r>
            <a:r>
              <a:rPr lang="fr-FR" dirty="0" smtClean="0"/>
              <a:t> test </a:t>
            </a:r>
            <a:r>
              <a:rPr lang="fr-FR" dirty="0" err="1" smtClean="0"/>
              <a:t>results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/>
              <a:t>Data structure </a:t>
            </a:r>
            <a:r>
              <a:rPr lang="fr-FR" dirty="0" err="1" smtClean="0"/>
              <a:t>generation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quite</a:t>
            </a:r>
            <a:r>
              <a:rPr lang="fr-FR" dirty="0" smtClean="0"/>
              <a:t> </a:t>
            </a:r>
            <a:r>
              <a:rPr lang="fr-FR" dirty="0" err="1" smtClean="0"/>
              <a:t>fast</a:t>
            </a:r>
            <a:r>
              <a:rPr lang="fr-FR" dirty="0" smtClean="0"/>
              <a:t> on </a:t>
            </a:r>
            <a:r>
              <a:rPr lang="fr-FR" dirty="0" err="1" smtClean="0"/>
              <a:t>reasonable</a:t>
            </a:r>
            <a:r>
              <a:rPr lang="fr-FR" dirty="0" smtClean="0"/>
              <a:t> </a:t>
            </a:r>
            <a:r>
              <a:rPr lang="fr-FR" dirty="0" err="1" smtClean="0"/>
              <a:t>datasets</a:t>
            </a:r>
            <a:endParaRPr lang="fr-FR" dirty="0" smtClean="0"/>
          </a:p>
          <a:p>
            <a:pPr lvl="1"/>
            <a:r>
              <a:rPr lang="fr-FR" dirty="0" err="1" smtClean="0"/>
              <a:t>Matter</a:t>
            </a:r>
            <a:r>
              <a:rPr lang="fr-FR" dirty="0" smtClean="0"/>
              <a:t> of seconds</a:t>
            </a:r>
          </a:p>
          <a:p>
            <a:endParaRPr lang="fr-FR" dirty="0"/>
          </a:p>
          <a:p>
            <a:r>
              <a:rPr lang="fr-FR" dirty="0" err="1" smtClean="0"/>
              <a:t>Tested</a:t>
            </a:r>
            <a:r>
              <a:rPr lang="fr-FR" dirty="0" smtClean="0"/>
              <a:t> on </a:t>
            </a:r>
            <a:r>
              <a:rPr lang="fr-FR" dirty="0" err="1" smtClean="0"/>
              <a:t>others</a:t>
            </a:r>
            <a:r>
              <a:rPr lang="fr-FR" dirty="0" smtClean="0"/>
              <a:t> application </a:t>
            </a:r>
            <a:r>
              <a:rPr lang="fr-FR" dirty="0" err="1" smtClean="0"/>
              <a:t>schema</a:t>
            </a:r>
            <a:r>
              <a:rPr lang="fr-FR" dirty="0" smtClean="0"/>
              <a:t> </a:t>
            </a:r>
            <a:r>
              <a:rPr lang="fr-FR" dirty="0" err="1" smtClean="0"/>
              <a:t>compliant</a:t>
            </a:r>
            <a:r>
              <a:rPr lang="fr-FR" dirty="0" smtClean="0"/>
              <a:t> </a:t>
            </a:r>
            <a:r>
              <a:rPr lang="fr-FR" dirty="0" err="1" smtClean="0"/>
              <a:t>dataflows</a:t>
            </a:r>
            <a:endParaRPr lang="fr-FR" dirty="0" smtClean="0"/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Geology 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European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Geological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Data Infrastructure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Inspire Geology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GeoSciML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V4</a:t>
            </a: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Mineral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Minerals4EU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Mineral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Works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quite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for a POC</a:t>
            </a:r>
          </a:p>
          <a:p>
            <a:pPr lvl="1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modes have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utility</a:t>
            </a:r>
          </a:p>
          <a:p>
            <a:pPr lvl="1">
              <a:buFont typeface="Symbol"/>
              <a:buChar char="Þ"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2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15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523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steps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/>
              <a:t>1a°/ </a:t>
            </a:r>
            <a:r>
              <a:rPr lang="fr-FR" dirty="0" err="1" smtClean="0"/>
              <a:t>Publish</a:t>
            </a:r>
            <a:r>
              <a:rPr lang="fr-FR" dirty="0" smtClean="0"/>
              <a:t> the plugin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Name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: ‘QGIS GML Application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Toolbox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 the official QGIS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repository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1b°/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Gather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feedbacks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HydroDWG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GeoSciML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….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Inspire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 pitchFamily="18" charset="2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Have people use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>
              <a:buFont typeface="Symbol" pitchFamily="18" charset="2"/>
              <a:buChar char="Þ"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137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steps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/>
              <a:t>2°/ </a:t>
            </a:r>
            <a:r>
              <a:rPr lang="fr-FR" dirty="0" err="1" smtClean="0"/>
              <a:t>Enhance</a:t>
            </a:r>
            <a:r>
              <a:rPr lang="fr-FR" dirty="0" smtClean="0"/>
              <a:t> the </a:t>
            </a:r>
            <a:r>
              <a:rPr lang="fr-FR" dirty="0" err="1" smtClean="0"/>
              <a:t>work</a:t>
            </a:r>
            <a:r>
              <a:rPr lang="fr-FR" dirty="0" smtClean="0"/>
              <a:t> (</a:t>
            </a:r>
            <a:r>
              <a:rPr lang="fr-FR" dirty="0" err="1" smtClean="0"/>
              <a:t>whishlist</a:t>
            </a:r>
            <a:r>
              <a:rPr lang="fr-FR" dirty="0" smtClean="0"/>
              <a:t>)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Port the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GDAL/OGR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Enable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application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compliant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writing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Improve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UI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Add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useful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widget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Hydrogeologists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…)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Symbol" pitchFamily="18" charset="2"/>
              <a:buChar char="Þ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Nothing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code is Inspire specific so this work could be useful to the overall OGC community.</a:t>
            </a:r>
          </a:p>
          <a:p>
            <a:pPr>
              <a:buFont typeface="Symbol" pitchFamily="18" charset="2"/>
              <a:buChar char="Þ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Have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structures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contribute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Study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under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COPERNICUS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umbrella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INSPIRE data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consumption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/use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QGIS</a:t>
            </a: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17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255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70409" y="1124744"/>
            <a:ext cx="7441951" cy="4495800"/>
          </a:xfrm>
          <a:noFill/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s.grellet@brgm.fr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</a:t>
            </a:r>
            <a:r>
              <a:rPr lang="en-US" dirty="0" smtClean="0"/>
              <a:t>2016-06-16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012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_PowerPoint_BRGM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ème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Modèle_PowerPoint_BRGM</Template>
  <TotalTime>6254</TotalTime>
  <Words>811</Words>
  <Application>Microsoft Office PowerPoint</Application>
  <PresentationFormat>Affichage à l'écran (4:3)</PresentationFormat>
  <Paragraphs>220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Modèle_PowerPoint_BRGM</vt:lpstr>
      <vt:lpstr> Supporting GML application compliant complex features in QGIS and beyond</vt:lpstr>
      <vt:lpstr>Overall context</vt:lpstr>
      <vt:lpstr>Overall context</vt:lpstr>
      <vt:lpstr>Overall context</vt:lpstr>
      <vt:lpstr>Technological choices</vt:lpstr>
      <vt:lpstr>Technological choices</vt:lpstr>
      <vt:lpstr>Results – data content context</vt:lpstr>
      <vt:lpstr>Results – plugin modes</vt:lpstr>
      <vt:lpstr>Results – XML Mode </vt:lpstr>
      <vt:lpstr>Results – XML Mode </vt:lpstr>
      <vt:lpstr>Results – Relational database Mode </vt:lpstr>
      <vt:lpstr>Results – Relational database Mode </vt:lpstr>
      <vt:lpstr>Results – Relational database Mode </vt:lpstr>
      <vt:lpstr>Results – Relational database Mode </vt:lpstr>
      <vt:lpstr>Further test results</vt:lpstr>
      <vt:lpstr>Next steps</vt:lpstr>
      <vt:lpstr>Next steps</vt:lpstr>
      <vt:lpstr>Thank you</vt:lpstr>
    </vt:vector>
  </TitlesOfParts>
  <Company>BRGM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  exemple de réalisation</dc:title>
  <dc:creator>J.J.Serrano</dc:creator>
  <cp:lastModifiedBy>Grellet Sylvain</cp:lastModifiedBy>
  <cp:revision>733</cp:revision>
  <cp:lastPrinted>2014-02-12T08:10:37Z</cp:lastPrinted>
  <dcterms:created xsi:type="dcterms:W3CDTF">2013-06-19T08:50:55Z</dcterms:created>
  <dcterms:modified xsi:type="dcterms:W3CDTF">2016-06-17T09:46:52Z</dcterms:modified>
</cp:coreProperties>
</file>