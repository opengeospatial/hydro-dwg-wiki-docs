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tif" ContentType="image/tiff"/>
  <Default Extension="gif" ContentType="image/gif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  <p:sldMasterId id="2147483697" r:id="rId3"/>
    <p:sldMasterId id="2147483710" r:id="rId4"/>
    <p:sldMasterId id="2147483722" r:id="rId5"/>
    <p:sldMasterId id="2147483733" r:id="rId6"/>
    <p:sldMasterId id="2147483745" r:id="rId7"/>
  </p:sldMasterIdLst>
  <p:notesMasterIdLst>
    <p:notesMasterId r:id="rId34"/>
  </p:notesMasterIdLst>
  <p:handoutMasterIdLst>
    <p:handoutMasterId r:id="rId35"/>
  </p:handoutMasterIdLst>
  <p:sldIdLst>
    <p:sldId id="271" r:id="rId8"/>
    <p:sldId id="272" r:id="rId9"/>
    <p:sldId id="381" r:id="rId10"/>
    <p:sldId id="273" r:id="rId11"/>
    <p:sldId id="376" r:id="rId12"/>
    <p:sldId id="274" r:id="rId13"/>
    <p:sldId id="334" r:id="rId14"/>
    <p:sldId id="335" r:id="rId15"/>
    <p:sldId id="373" r:id="rId16"/>
    <p:sldId id="340" r:id="rId17"/>
    <p:sldId id="337" r:id="rId18"/>
    <p:sldId id="275" r:id="rId19"/>
    <p:sldId id="298" r:id="rId20"/>
    <p:sldId id="374" r:id="rId21"/>
    <p:sldId id="322" r:id="rId22"/>
    <p:sldId id="324" r:id="rId23"/>
    <p:sldId id="344" r:id="rId24"/>
    <p:sldId id="323" r:id="rId25"/>
    <p:sldId id="359" r:id="rId26"/>
    <p:sldId id="360" r:id="rId27"/>
    <p:sldId id="331" r:id="rId28"/>
    <p:sldId id="341" r:id="rId29"/>
    <p:sldId id="383" r:id="rId30"/>
    <p:sldId id="356" r:id="rId31"/>
    <p:sldId id="382" r:id="rId32"/>
    <p:sldId id="380" r:id="rId33"/>
  </p:sldIdLst>
  <p:sldSz cx="9144000" cy="6858000" type="screen4x3"/>
  <p:notesSz cx="7016750" cy="9302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0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49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9" Type="http://schemas.openxmlformats.org/officeDocument/2006/relationships/slide" Target="slides/slide2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" Target="slides/slide1.xml"/><Relationship Id="rId33" Type="http://schemas.openxmlformats.org/officeDocument/2006/relationships/slide" Target="slides/slide26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41227" cy="467044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3935" y="0"/>
            <a:ext cx="3041227" cy="467044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r">
              <a:defRPr sz="1200"/>
            </a:lvl1pPr>
          </a:lstStyle>
          <a:p>
            <a:fld id="{0633D41F-E6DC-4B97-AA2B-88184F6838E0}" type="datetimeFigureOut">
              <a:rPr lang="en-US" smtClean="0"/>
              <a:t>9/23/15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5707"/>
            <a:ext cx="3041227" cy="467044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3935" y="8835707"/>
            <a:ext cx="3041227" cy="467044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r">
              <a:defRPr sz="1200"/>
            </a:lvl1pPr>
          </a:lstStyle>
          <a:p>
            <a:fld id="{BDEAB403-981D-4FC7-BAEA-26BEDDCD7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641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0592" cy="466753"/>
          </a:xfrm>
          <a:prstGeom prst="rect">
            <a:avLst/>
          </a:prstGeom>
        </p:spPr>
        <p:txBody>
          <a:bodyPr vert="horz" lIns="93242" tIns="46622" rIns="93242" bIns="4662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4535" y="0"/>
            <a:ext cx="3040592" cy="466753"/>
          </a:xfrm>
          <a:prstGeom prst="rect">
            <a:avLst/>
          </a:prstGeom>
        </p:spPr>
        <p:txBody>
          <a:bodyPr vert="horz" lIns="93242" tIns="46622" rIns="93242" bIns="46622" rtlCol="0"/>
          <a:lstStyle>
            <a:lvl1pPr algn="r">
              <a:defRPr sz="1200"/>
            </a:lvl1pPr>
          </a:lstStyle>
          <a:p>
            <a:fld id="{8E97E518-0C74-4CC3-A182-4B413CF17165}" type="datetimeFigureOut">
              <a:rPr lang="en-US" smtClean="0"/>
              <a:t>9/23/15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6050" y="1163638"/>
            <a:ext cx="4184650" cy="3138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42" tIns="46622" rIns="93242" bIns="4662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6948"/>
            <a:ext cx="5613400" cy="3662958"/>
          </a:xfrm>
          <a:prstGeom prst="rect">
            <a:avLst/>
          </a:prstGeom>
        </p:spPr>
        <p:txBody>
          <a:bodyPr vert="horz" lIns="93242" tIns="46622" rIns="93242" bIns="46622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5999"/>
            <a:ext cx="3040592" cy="466752"/>
          </a:xfrm>
          <a:prstGeom prst="rect">
            <a:avLst/>
          </a:prstGeom>
        </p:spPr>
        <p:txBody>
          <a:bodyPr vert="horz" lIns="93242" tIns="46622" rIns="93242" bIns="4662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4535" y="8835999"/>
            <a:ext cx="3040592" cy="466752"/>
          </a:xfrm>
          <a:prstGeom prst="rect">
            <a:avLst/>
          </a:prstGeom>
        </p:spPr>
        <p:txBody>
          <a:bodyPr vert="horz" lIns="93242" tIns="46622" rIns="93242" bIns="46622" rtlCol="0" anchor="b"/>
          <a:lstStyle>
            <a:lvl1pPr algn="r">
              <a:defRPr sz="1200"/>
            </a:lvl1pPr>
          </a:lstStyle>
          <a:p>
            <a:fld id="{E5291D2A-69DB-4B32-9F0A-F42AA083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3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51375" cy="3489325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726" y="4417856"/>
            <a:ext cx="5615307" cy="41859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smtClean="0">
                <a:latin typeface="Arial" charset="0"/>
              </a:rPr>
              <a:t>RFC Summary</a:t>
            </a:r>
            <a:endParaRPr lang="en-US" dirty="0">
              <a:latin typeface="Arial" charset="0"/>
            </a:endParaRP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43615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982" indent="-174982">
              <a:buFont typeface="Arial"/>
              <a:buChar char="•"/>
            </a:pPr>
            <a:r>
              <a:rPr lang="en-US" dirty="0" smtClean="0"/>
              <a:t>THERE’S A MAJOR GEOGRAPHIC GAP – WE DON’T FORECAST ALONG THE COAST</a:t>
            </a:r>
          </a:p>
          <a:p>
            <a:pPr marL="174982" indent="-174982"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lIns="93324" tIns="46662" rIns="93324" bIns="46662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fld id="{32B93D78-3E27-4C5F-8596-4E05AD10988C}" type="slidenum">
              <a:rPr lang="en-US" sz="3200" b="1" i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pPr algn="ctr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sz="3200" b="1" i="1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072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TRANSITION INTO METHODS</a:t>
            </a:r>
          </a:p>
          <a:p>
            <a:endParaRPr lang="en-US" dirty="0" smtClean="0"/>
          </a:p>
          <a:p>
            <a:r>
              <a:rPr lang="en-US" dirty="0" smtClean="0"/>
              <a:t>FY15 PROJECT HAS FOUR</a:t>
            </a:r>
            <a:r>
              <a:rPr lang="en-US" baseline="0" dirty="0" smtClean="0"/>
              <a:t> CORE COMPONENTS</a:t>
            </a:r>
          </a:p>
          <a:p>
            <a:pPr marL="233106" indent="-233106">
              <a:buAutoNum type="arabicPeriod"/>
            </a:pPr>
            <a:r>
              <a:rPr lang="en-US" baseline="0" dirty="0" smtClean="0"/>
              <a:t>RFC archive</a:t>
            </a:r>
          </a:p>
          <a:p>
            <a:pPr marL="233106" indent="-233106">
              <a:buAutoNum type="arabicPeriod"/>
            </a:pPr>
            <a:r>
              <a:rPr lang="en-US" baseline="0" dirty="0" smtClean="0"/>
              <a:t>Model evaluation service</a:t>
            </a:r>
          </a:p>
          <a:p>
            <a:pPr marL="233106" indent="-233106">
              <a:buAutoNum type="arabicPeriod"/>
            </a:pPr>
            <a:r>
              <a:rPr lang="en-US" baseline="0" dirty="0" smtClean="0"/>
              <a:t>Modeling </a:t>
            </a:r>
            <a:r>
              <a:rPr lang="en-US" baseline="0" dirty="0" err="1" smtClean="0"/>
              <a:t>testbed</a:t>
            </a:r>
            <a:endParaRPr lang="en-US" baseline="0" dirty="0" smtClean="0"/>
          </a:p>
          <a:p>
            <a:pPr marL="233106" indent="-233106">
              <a:buAutoNum type="arabicPeriod"/>
            </a:pPr>
            <a:r>
              <a:rPr lang="en-US" baseline="0" dirty="0" smtClean="0"/>
              <a:t>Centralized modeling demonstration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93D78-3E27-4C5F-8596-4E05AD10988C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495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/>
          </p:cNvSpPr>
          <p:nvPr/>
        </p:nvSpPr>
        <p:spPr bwMode="hidden">
          <a:xfrm>
            <a:off x="0" y="0"/>
            <a:ext cx="9144000" cy="5257800"/>
          </a:xfrm>
          <a:prstGeom prst="rect">
            <a:avLst/>
          </a:prstGeom>
          <a:gradFill rotWithShape="0">
            <a:gsLst>
              <a:gs pos="0">
                <a:srgbClr val="004575"/>
              </a:gs>
              <a:gs pos="100000">
                <a:srgbClr val="007AC2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828800"/>
            <a:ext cx="6400800" cy="1271016"/>
          </a:xfrm>
        </p:spPr>
        <p:txBody>
          <a:bodyPr rIns="0" anchor="b">
            <a:noAutofit/>
          </a:bodyPr>
          <a:lstStyle>
            <a:lvl1pPr algn="l">
              <a:defRPr sz="5400" b="1" i="0">
                <a:solidFill>
                  <a:srgbClr val="FFFFFF"/>
                </a:solidFill>
                <a:latin typeface="+mj-lt"/>
                <a:cs typeface="Avenir LT Std 55 Roman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246120"/>
            <a:ext cx="6400800" cy="75895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2400" b="0" i="0">
                <a:solidFill>
                  <a:schemeClr val="bg1"/>
                </a:solidFill>
                <a:latin typeface="+mn-lt"/>
                <a:cs typeface="Avenir LT Std 65 Medium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 of Presenter(s)</a:t>
            </a:r>
          </a:p>
        </p:txBody>
      </p:sp>
    </p:spTree>
    <p:extLst>
      <p:ext uri="{BB962C8B-B14F-4D97-AF65-F5344CB8AC3E}">
        <p14:creationId xmlns:p14="http://schemas.microsoft.com/office/powerpoint/2010/main" val="10509950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00"/>
            <a:ext cx="7315200" cy="484631"/>
          </a:xfrm>
        </p:spPr>
        <p:txBody>
          <a:bodyPr anchor="t"/>
          <a:lstStyle>
            <a:lvl1pPr>
              <a:defRPr lang="en-US" sz="3000" b="1" i="0" kern="120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02421"/>
            <a:ext cx="5486400" cy="228600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Tx/>
              <a:buNone/>
              <a:tabLst/>
              <a:defRPr lang="en-US" sz="2600" b="0" i="0" kern="1200">
                <a:solidFill>
                  <a:schemeClr val="tx1"/>
                </a:solidFill>
                <a:latin typeface="+mn-lt"/>
                <a:ea typeface="+mn-ea"/>
                <a:cs typeface="Avenir LT Std 65 Medium" pitchFamily="34" charset="0"/>
              </a:defRPr>
            </a:lvl1pPr>
            <a:lvl2pPr marL="173038" indent="-173038">
              <a:defRPr/>
            </a:lvl2pPr>
            <a:lvl3pPr>
              <a:buFontTx/>
              <a:buNone/>
              <a:defRPr lang="en-US" sz="24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3pPr>
            <a:lvl4pPr>
              <a:defRPr/>
            </a:lvl4pPr>
            <a:lvl5pPr>
              <a:lnSpc>
                <a:spcPts val="1800"/>
              </a:lnSpc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/>
                <a:ea typeface="+mn-ea"/>
                <a:cs typeface="Avenir LT Std 65 Medium"/>
              </a:rPr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7969637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ulle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 userDrawn="1"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Rectangle 1"/>
          <p:cNvSpPr>
            <a:spLocks/>
          </p:cNvSpPr>
          <p:nvPr userDrawn="1"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1" i="0" kern="120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02336" indent="-173736">
              <a:lnSpc>
                <a:spcPts val="2700"/>
              </a:lnSpc>
              <a:spcAft>
                <a:spcPts val="1200"/>
              </a:spcAft>
              <a:defRPr sz="2400">
                <a:latin typeface="+mn-lt"/>
              </a:defRPr>
            </a:lvl2pPr>
            <a:lvl3pPr marL="569913" indent="-109538"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3pPr>
            <a:lvl4pPr marL="800100" indent="-174625"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07313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it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7315200" cy="2057400"/>
          </a:xfrm>
        </p:spPr>
        <p:txBody>
          <a:bodyPr anchor="t"/>
          <a:lstStyle>
            <a:lvl1pPr>
              <a:defRPr lang="en-US" sz="7200" b="1" i="0" kern="1200" baseline="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BIG but short</a:t>
            </a:r>
            <a:br>
              <a:rPr lang="en-US" dirty="0"/>
            </a:br>
            <a:r>
              <a:rPr lang="en-US" dirty="0"/>
              <a:t>message here</a:t>
            </a:r>
          </a:p>
        </p:txBody>
      </p:sp>
    </p:spTree>
    <p:extLst>
      <p:ext uri="{BB962C8B-B14F-4D97-AF65-F5344CB8AC3E}">
        <p14:creationId xmlns:p14="http://schemas.microsoft.com/office/powerpoint/2010/main" val="16814850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"/>
          <p:cNvSpPr>
            <a:spLocks/>
          </p:cNvSpPr>
          <p:nvPr userDrawn="1"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5486400" cy="2057400"/>
          </a:xfrm>
        </p:spPr>
        <p:txBody>
          <a:bodyPr anchor="t"/>
          <a:lstStyle>
            <a:lvl1pPr marL="169863" indent="-169863">
              <a:lnSpc>
                <a:spcPts val="3700"/>
              </a:lnSpc>
              <a:spcAft>
                <a:spcPts val="300"/>
              </a:spcAft>
              <a:defRPr sz="3000" b="0" i="0" baseline="0">
                <a:solidFill>
                  <a:srgbClr val="000000"/>
                </a:solidFill>
                <a:latin typeface="+mn-lt"/>
                <a:cs typeface="Avenir LT Std 65 Medium"/>
              </a:defRPr>
            </a:lvl1pPr>
          </a:lstStyle>
          <a:p>
            <a:r>
              <a:rPr lang="en-US" dirty="0"/>
              <a:t>“Click to edit quote”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49070" y="4114800"/>
            <a:ext cx="3200400" cy="728662"/>
          </a:xfrm>
        </p:spPr>
        <p:txBody>
          <a:bodyPr anchor="t"/>
          <a:lstStyle>
            <a:lvl1pPr marL="0" indent="0" algn="r">
              <a:spcBef>
                <a:spcPts val="0"/>
              </a:spcBef>
              <a:spcAft>
                <a:spcPts val="300"/>
              </a:spcAft>
              <a:buFontTx/>
              <a:buNone/>
              <a:defRPr lang="en-US" sz="2600" b="0" i="0" kern="1200" baseline="0" dirty="0">
                <a:solidFill>
                  <a:srgbClr val="007AC2"/>
                </a:solidFill>
                <a:latin typeface="+mn-lt"/>
                <a:ea typeface="+mn-ea"/>
                <a:cs typeface="Avenir LT Std 65 Medium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8533927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00"/>
            <a:ext cx="7312991" cy="484632"/>
          </a:xfr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15415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wa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 userDrawn="1"/>
        </p:nvSpPr>
        <p:spPr bwMode="ltGray">
          <a:xfrm>
            <a:off x="0" y="1787703"/>
            <a:ext cx="9144000" cy="5070297"/>
          </a:xfrm>
          <a:prstGeom prst="rect">
            <a:avLst/>
          </a:prstGeom>
          <a:gradFill flip="none" rotWithShape="1">
            <a:gsLst>
              <a:gs pos="12000">
                <a:srgbClr val="00B9F2"/>
              </a:gs>
              <a:gs pos="100000">
                <a:srgbClr val="00B9F2">
                  <a:alpha val="0"/>
                </a:srgbClr>
              </a:gs>
            </a:gsLst>
            <a:lin ang="16200000" scaled="0"/>
            <a:tileRect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00"/>
            <a:ext cx="7312991" cy="484632"/>
          </a:xfr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alphaModFix amt="4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947249"/>
            <a:ext cx="9144000" cy="391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922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6525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662506"/>
              </a:gs>
              <a:gs pos="100000">
                <a:srgbClr val="C35327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874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687388"/>
            <a:ext cx="7313612" cy="365760"/>
          </a:xfrm>
        </p:spPr>
        <p:txBody>
          <a:bodyPr lIns="0" tIns="0" rIns="0" bIns="0"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12813" y="1078992"/>
            <a:ext cx="7313612" cy="342900"/>
          </a:xfrm>
        </p:spPr>
        <p:txBody>
          <a:bodyPr lIns="0" tIns="0" rIns="0" bIns="0"/>
          <a:lstStyle>
            <a:lvl1pPr marL="0" indent="0">
              <a:buFontTx/>
              <a:buNone/>
              <a:defRPr lang="en-US" sz="1600" b="1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ＭＳ Ｐゴシック" pitchFamily="-110" charset="-128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11225" y="5716588"/>
            <a:ext cx="7315200" cy="457200"/>
          </a:xfrm>
        </p:spPr>
        <p:txBody>
          <a:bodyPr anchor="b"/>
          <a:lstStyle>
            <a:lvl1pPr algn="r">
              <a:buFontTx/>
              <a:buNone/>
              <a:defRPr sz="1300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07169265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B9026DB-8994-4DE0-9201-8E1F33B7029B}" type="datetimeFigureOut">
              <a:rPr lang="en-US">
                <a:solidFill>
                  <a:prstClr val="black"/>
                </a:solidFill>
              </a:rPr>
              <a:pPr/>
              <a:t>9/23/15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27A5F68-4AF6-4D13-8A4C-F1F90296B2F0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69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B9026DB-8994-4DE0-9201-8E1F33B7029B}" type="datetimeFigureOut">
              <a:rPr lang="en-US">
                <a:solidFill>
                  <a:prstClr val="black"/>
                </a:solidFill>
              </a:rPr>
              <a:pPr/>
              <a:t>9/23/15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27A5F68-4AF6-4D13-8A4C-F1F90296B2F0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868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3DD9-E7AD-4889-A392-179ADB630E8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77CF-680C-497D-A87F-1FF571A50D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419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3DD9-E7AD-4889-A392-179ADB630E8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77CF-680C-497D-A87F-1FF571A50D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430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3DD9-E7AD-4889-A392-179ADB630E8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77CF-680C-497D-A87F-1FF571A50D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452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3DD9-E7AD-4889-A392-179ADB630E8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77CF-680C-497D-A87F-1FF571A50D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267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3DD9-E7AD-4889-A392-179ADB630E8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77CF-680C-497D-A87F-1FF571A50D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3323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3DD9-E7AD-4889-A392-179ADB630E8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77CF-680C-497D-A87F-1FF571A50D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3979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3DD9-E7AD-4889-A392-179ADB630E8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77CF-680C-497D-A87F-1FF571A50D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251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3DD9-E7AD-4889-A392-179ADB630E8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77CF-680C-497D-A87F-1FF571A50D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2721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3DD9-E7AD-4889-A392-179ADB630E8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77CF-680C-497D-A87F-1FF571A50D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2101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3DD9-E7AD-4889-A392-179ADB630E8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77CF-680C-497D-A87F-1FF571A50D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4567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3DD9-E7AD-4889-A392-179ADB630E8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77CF-680C-497D-A87F-1FF571A50D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4302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/>
          </p:cNvSpPr>
          <p:nvPr/>
        </p:nvSpPr>
        <p:spPr bwMode="hidden">
          <a:xfrm>
            <a:off x="0" y="0"/>
            <a:ext cx="9144000" cy="5257800"/>
          </a:xfrm>
          <a:prstGeom prst="rect">
            <a:avLst/>
          </a:prstGeom>
          <a:gradFill rotWithShape="0">
            <a:gsLst>
              <a:gs pos="0">
                <a:srgbClr val="004575"/>
              </a:gs>
              <a:gs pos="100000">
                <a:srgbClr val="007AC2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828800"/>
            <a:ext cx="6400800" cy="1271016"/>
          </a:xfrm>
        </p:spPr>
        <p:txBody>
          <a:bodyPr rIns="0" anchor="b">
            <a:noAutofit/>
          </a:bodyPr>
          <a:lstStyle>
            <a:lvl1pPr algn="l">
              <a:defRPr sz="5400" b="1" i="0">
                <a:solidFill>
                  <a:srgbClr val="FFFFFF"/>
                </a:solidFill>
                <a:latin typeface="+mj-lt"/>
                <a:cs typeface="Avenir LT Std 55 Roman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246120"/>
            <a:ext cx="6400800" cy="75895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2400" b="0" i="0">
                <a:solidFill>
                  <a:schemeClr val="bg1"/>
                </a:solidFill>
                <a:latin typeface="+mn-lt"/>
                <a:cs typeface="Avenir LT Std 65 Medium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 of Presenter(s)</a:t>
            </a:r>
          </a:p>
        </p:txBody>
      </p:sp>
    </p:spTree>
    <p:extLst>
      <p:ext uri="{BB962C8B-B14F-4D97-AF65-F5344CB8AC3E}">
        <p14:creationId xmlns:p14="http://schemas.microsoft.com/office/powerpoint/2010/main" val="15225653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12"/>
            <a:ext cx="7315200" cy="484631"/>
          </a:xfrm>
        </p:spPr>
        <p:txBody>
          <a:bodyPr anchor="t"/>
          <a:lstStyle>
            <a:lvl1pPr>
              <a:defRPr lang="en-US" sz="3000" b="1" i="0" kern="120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02421"/>
            <a:ext cx="5486400" cy="228600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Tx/>
              <a:buNone/>
              <a:tabLst/>
              <a:defRPr lang="en-US" sz="2600" b="0" i="0" kern="1200">
                <a:solidFill>
                  <a:schemeClr val="tx1"/>
                </a:solidFill>
                <a:latin typeface="+mn-lt"/>
                <a:ea typeface="+mn-ea"/>
                <a:cs typeface="Avenir LT Std 65 Medium" pitchFamily="34" charset="0"/>
              </a:defRPr>
            </a:lvl1pPr>
            <a:lvl2pPr marL="173038" indent="-173038">
              <a:defRPr/>
            </a:lvl2pPr>
            <a:lvl3pPr>
              <a:buFontTx/>
              <a:buNone/>
              <a:defRPr lang="en-US" sz="24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3pPr>
            <a:lvl4pPr>
              <a:defRPr/>
            </a:lvl4pPr>
            <a:lvl5pPr>
              <a:lnSpc>
                <a:spcPts val="1800"/>
              </a:lnSpc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/>
                <a:ea typeface="+mn-ea"/>
                <a:cs typeface="Avenir LT Std 65 Medium"/>
              </a:rPr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42272336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ulle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 userDrawn="1"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Rectangle 1"/>
          <p:cNvSpPr>
            <a:spLocks/>
          </p:cNvSpPr>
          <p:nvPr userDrawn="1"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1" i="0" kern="120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02336" indent="-173736">
              <a:lnSpc>
                <a:spcPts val="2700"/>
              </a:lnSpc>
              <a:spcAft>
                <a:spcPts val="1200"/>
              </a:spcAft>
              <a:defRPr sz="2400">
                <a:latin typeface="+mn-lt"/>
              </a:defRPr>
            </a:lvl2pPr>
            <a:lvl3pPr marL="569913" indent="-109538"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3pPr>
            <a:lvl4pPr marL="800100" indent="-174625"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8947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it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7315200" cy="2057400"/>
          </a:xfrm>
        </p:spPr>
        <p:txBody>
          <a:bodyPr anchor="t"/>
          <a:lstStyle>
            <a:lvl1pPr>
              <a:defRPr lang="en-US" sz="7200" b="1" i="0" kern="1200" baseline="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BIG but short</a:t>
            </a:r>
            <a:br>
              <a:rPr lang="en-US" dirty="0"/>
            </a:br>
            <a:r>
              <a:rPr lang="en-US" dirty="0"/>
              <a:t>message here</a:t>
            </a:r>
          </a:p>
        </p:txBody>
      </p:sp>
    </p:spTree>
    <p:extLst>
      <p:ext uri="{BB962C8B-B14F-4D97-AF65-F5344CB8AC3E}">
        <p14:creationId xmlns:p14="http://schemas.microsoft.com/office/powerpoint/2010/main" val="2515970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"/>
          <p:cNvSpPr>
            <a:spLocks/>
          </p:cNvSpPr>
          <p:nvPr userDrawn="1"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5486400" cy="2057400"/>
          </a:xfrm>
        </p:spPr>
        <p:txBody>
          <a:bodyPr anchor="t"/>
          <a:lstStyle>
            <a:lvl1pPr marL="169863" indent="-169863">
              <a:lnSpc>
                <a:spcPts val="3700"/>
              </a:lnSpc>
              <a:spcAft>
                <a:spcPts val="300"/>
              </a:spcAft>
              <a:defRPr sz="3000" b="0" i="0" baseline="0">
                <a:solidFill>
                  <a:srgbClr val="000000"/>
                </a:solidFill>
                <a:latin typeface="+mn-lt"/>
                <a:cs typeface="Avenir LT Std 65 Medium"/>
              </a:defRPr>
            </a:lvl1pPr>
          </a:lstStyle>
          <a:p>
            <a:r>
              <a:rPr lang="en-US" dirty="0"/>
              <a:t>“Click to edit quote”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49070" y="4114800"/>
            <a:ext cx="3200400" cy="728662"/>
          </a:xfrm>
        </p:spPr>
        <p:txBody>
          <a:bodyPr anchor="t"/>
          <a:lstStyle>
            <a:lvl1pPr marL="0" indent="0" algn="r">
              <a:spcBef>
                <a:spcPts val="0"/>
              </a:spcBef>
              <a:spcAft>
                <a:spcPts val="300"/>
              </a:spcAft>
              <a:buFontTx/>
              <a:buNone/>
              <a:defRPr lang="en-US" sz="2600" b="0" i="0" kern="1200" baseline="0" dirty="0">
                <a:solidFill>
                  <a:srgbClr val="007AC2"/>
                </a:solidFill>
                <a:latin typeface="+mn-lt"/>
                <a:ea typeface="+mn-ea"/>
                <a:cs typeface="Avenir LT Std 65 Medium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42020879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6" y="457200"/>
            <a:ext cx="7312991" cy="484632"/>
          </a:xfr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9415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wa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6" y="457200"/>
            <a:ext cx="7312991" cy="484632"/>
          </a:xfr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947261"/>
            <a:ext cx="9144000" cy="391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938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4458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662506"/>
              </a:gs>
              <a:gs pos="100000">
                <a:srgbClr val="C35327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865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4" y="687388"/>
            <a:ext cx="7313612" cy="365760"/>
          </a:xfrm>
        </p:spPr>
        <p:txBody>
          <a:bodyPr lIns="0" tIns="0" rIns="0" bIns="0"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12814" y="1078992"/>
            <a:ext cx="7313612" cy="342900"/>
          </a:xfrm>
        </p:spPr>
        <p:txBody>
          <a:bodyPr lIns="0" tIns="0" rIns="0" bIns="0"/>
          <a:lstStyle>
            <a:lvl1pPr marL="0" indent="0">
              <a:buFontTx/>
              <a:buNone/>
              <a:defRPr lang="en-US" sz="1600" b="1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ＭＳ Ｐゴシック" pitchFamily="-110" charset="-128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11225" y="5716588"/>
            <a:ext cx="7315200" cy="457200"/>
          </a:xfrm>
        </p:spPr>
        <p:txBody>
          <a:bodyPr anchor="b"/>
          <a:lstStyle>
            <a:lvl1pPr algn="r">
              <a:buFontTx/>
              <a:buNone/>
              <a:defRPr sz="1300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654331009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62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6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62"/>
            <a:ext cx="2133600" cy="365125"/>
          </a:xfrm>
          <a:prstGeom prst="rect">
            <a:avLst/>
          </a:prstGeom>
        </p:spPr>
        <p:txBody>
          <a:bodyPr/>
          <a:lstStyle/>
          <a:p>
            <a:fld id="{B497F040-B850-EF4D-8141-826F90229F85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5233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6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62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6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62"/>
            <a:ext cx="2133600" cy="365125"/>
          </a:xfrm>
          <a:prstGeom prst="rect">
            <a:avLst/>
          </a:prstGeom>
        </p:spPr>
        <p:txBody>
          <a:bodyPr/>
          <a:lstStyle/>
          <a:p>
            <a:fld id="{B497F040-B850-EF4D-8141-826F90229F85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690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D9ED-A841-40DE-8FA6-257F682CEA8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9425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F104-FDA1-4AF8-8FB1-E5A2A94A68E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2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7D4EE-FBDF-4CDC-9B61-E94513B1AED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012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E699-D527-47E0-B9B1-E5D2E39B77F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077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E77C9-FCF0-47AC-AABB-017D676D1C0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9170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A00F1-C01C-4D30-93AB-F395757EFA6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6809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C32D-1976-446A-BDE1-85385A68E60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702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E7080-1845-4BE2-B5A9-4689DECEDAD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52160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8567-B8FA-48D9-8F9D-18BD817B933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8351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60BC6-3736-4B9B-8BB5-DF1592FBAF5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3264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5349-97F4-4807-B74F-0D3FBF03381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500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/>
          </p:cNvSpPr>
          <p:nvPr/>
        </p:nvSpPr>
        <p:spPr bwMode="hidden">
          <a:xfrm>
            <a:off x="0" y="0"/>
            <a:ext cx="9144000" cy="5257800"/>
          </a:xfrm>
          <a:prstGeom prst="rect">
            <a:avLst/>
          </a:prstGeom>
          <a:gradFill rotWithShape="0">
            <a:gsLst>
              <a:gs pos="0">
                <a:srgbClr val="004575"/>
              </a:gs>
              <a:gs pos="100000">
                <a:srgbClr val="007AC2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828800"/>
            <a:ext cx="6400800" cy="1271016"/>
          </a:xfrm>
        </p:spPr>
        <p:txBody>
          <a:bodyPr rIns="0" anchor="b">
            <a:noAutofit/>
          </a:bodyPr>
          <a:lstStyle>
            <a:lvl1pPr algn="l">
              <a:defRPr sz="5400" b="1" i="0">
                <a:solidFill>
                  <a:srgbClr val="FFFFFF"/>
                </a:solidFill>
                <a:latin typeface="+mj-lt"/>
                <a:cs typeface="Avenir LT Std 55 Roman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246120"/>
            <a:ext cx="6400800" cy="75895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2400" b="0" i="0">
                <a:solidFill>
                  <a:schemeClr val="bg1"/>
                </a:solidFill>
                <a:latin typeface="+mn-lt"/>
                <a:cs typeface="Avenir LT Std 65 Medium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 of Presenter(s)</a:t>
            </a:r>
          </a:p>
        </p:txBody>
      </p:sp>
    </p:spTree>
    <p:extLst>
      <p:ext uri="{BB962C8B-B14F-4D97-AF65-F5344CB8AC3E}">
        <p14:creationId xmlns:p14="http://schemas.microsoft.com/office/powerpoint/2010/main" val="41263269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12"/>
            <a:ext cx="7315200" cy="484631"/>
          </a:xfrm>
        </p:spPr>
        <p:txBody>
          <a:bodyPr anchor="t"/>
          <a:lstStyle>
            <a:lvl1pPr>
              <a:defRPr lang="en-US" sz="3000" b="1" i="0" kern="120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02421"/>
            <a:ext cx="5486400" cy="228600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Tx/>
              <a:buNone/>
              <a:tabLst/>
              <a:defRPr lang="en-US" sz="2600" b="0" i="0" kern="1200">
                <a:solidFill>
                  <a:schemeClr val="tx1"/>
                </a:solidFill>
                <a:latin typeface="+mn-lt"/>
                <a:ea typeface="+mn-ea"/>
                <a:cs typeface="Avenir LT Std 65 Medium" pitchFamily="34" charset="0"/>
              </a:defRPr>
            </a:lvl1pPr>
            <a:lvl2pPr marL="173038" indent="-173038">
              <a:defRPr/>
            </a:lvl2pPr>
            <a:lvl3pPr>
              <a:buFontTx/>
              <a:buNone/>
              <a:defRPr lang="en-US" sz="24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3pPr>
            <a:lvl4pPr>
              <a:defRPr/>
            </a:lvl4pPr>
            <a:lvl5pPr>
              <a:lnSpc>
                <a:spcPts val="1800"/>
              </a:lnSpc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/>
                <a:ea typeface="+mn-ea"/>
                <a:cs typeface="Avenir LT Std 65 Medium"/>
              </a:rPr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29354242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ulle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 userDrawn="1"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Rectangle 1"/>
          <p:cNvSpPr>
            <a:spLocks/>
          </p:cNvSpPr>
          <p:nvPr userDrawn="1"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1" i="0" kern="120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02336" indent="-173736">
              <a:lnSpc>
                <a:spcPts val="2700"/>
              </a:lnSpc>
              <a:spcAft>
                <a:spcPts val="1200"/>
              </a:spcAft>
              <a:defRPr sz="2400">
                <a:latin typeface="+mn-lt"/>
              </a:defRPr>
            </a:lvl2pPr>
            <a:lvl3pPr marL="569913" indent="-109538"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3pPr>
            <a:lvl4pPr marL="800100" indent="-174625"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18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it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7315200" cy="2057400"/>
          </a:xfrm>
        </p:spPr>
        <p:txBody>
          <a:bodyPr anchor="t"/>
          <a:lstStyle>
            <a:lvl1pPr>
              <a:defRPr lang="en-US" sz="7200" b="1" i="0" kern="1200" baseline="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BIG but short</a:t>
            </a:r>
            <a:br>
              <a:rPr lang="en-US" dirty="0"/>
            </a:br>
            <a:r>
              <a:rPr lang="en-US" dirty="0"/>
              <a:t>message here</a:t>
            </a:r>
          </a:p>
        </p:txBody>
      </p:sp>
    </p:spTree>
    <p:extLst>
      <p:ext uri="{BB962C8B-B14F-4D97-AF65-F5344CB8AC3E}">
        <p14:creationId xmlns:p14="http://schemas.microsoft.com/office/powerpoint/2010/main" val="29193872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"/>
          <p:cNvSpPr>
            <a:spLocks/>
          </p:cNvSpPr>
          <p:nvPr userDrawn="1"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5486400" cy="2057400"/>
          </a:xfrm>
        </p:spPr>
        <p:txBody>
          <a:bodyPr anchor="t"/>
          <a:lstStyle>
            <a:lvl1pPr marL="169863" indent="-169863">
              <a:lnSpc>
                <a:spcPts val="3700"/>
              </a:lnSpc>
              <a:spcAft>
                <a:spcPts val="300"/>
              </a:spcAft>
              <a:defRPr sz="3000" b="0" i="0" baseline="0">
                <a:solidFill>
                  <a:srgbClr val="000000"/>
                </a:solidFill>
                <a:latin typeface="+mn-lt"/>
                <a:cs typeface="Avenir LT Std 65 Medium"/>
              </a:defRPr>
            </a:lvl1pPr>
          </a:lstStyle>
          <a:p>
            <a:r>
              <a:rPr lang="en-US" dirty="0"/>
              <a:t>“Click to edit quote”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49070" y="4114800"/>
            <a:ext cx="3200400" cy="728662"/>
          </a:xfrm>
        </p:spPr>
        <p:txBody>
          <a:bodyPr anchor="t"/>
          <a:lstStyle>
            <a:lvl1pPr marL="0" indent="0" algn="r">
              <a:spcBef>
                <a:spcPts val="0"/>
              </a:spcBef>
              <a:spcAft>
                <a:spcPts val="300"/>
              </a:spcAft>
              <a:buFontTx/>
              <a:buNone/>
              <a:defRPr lang="en-US" sz="2600" b="0" i="0" kern="1200" baseline="0" dirty="0">
                <a:solidFill>
                  <a:srgbClr val="007AC2"/>
                </a:solidFill>
                <a:latin typeface="+mn-lt"/>
                <a:ea typeface="+mn-ea"/>
                <a:cs typeface="Avenir LT Std 65 Medium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2383823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6" y="457200"/>
            <a:ext cx="7312991" cy="484632"/>
          </a:xfr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3485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wa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6" y="457200"/>
            <a:ext cx="7312991" cy="484632"/>
          </a:xfr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947261"/>
            <a:ext cx="9144000" cy="391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5116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8353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662506"/>
              </a:gs>
              <a:gs pos="100000">
                <a:srgbClr val="C35327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4450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4" y="687388"/>
            <a:ext cx="7313612" cy="365760"/>
          </a:xfrm>
        </p:spPr>
        <p:txBody>
          <a:bodyPr lIns="0" tIns="0" rIns="0" bIns="0"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12814" y="1078992"/>
            <a:ext cx="7313612" cy="342900"/>
          </a:xfrm>
        </p:spPr>
        <p:txBody>
          <a:bodyPr lIns="0" tIns="0" rIns="0" bIns="0"/>
          <a:lstStyle>
            <a:lvl1pPr marL="0" indent="0">
              <a:buFontTx/>
              <a:buNone/>
              <a:defRPr lang="en-US" sz="1600" b="1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ＭＳ Ｐゴシック" pitchFamily="-110" charset="-128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11225" y="5716588"/>
            <a:ext cx="7315200" cy="457200"/>
          </a:xfrm>
        </p:spPr>
        <p:txBody>
          <a:bodyPr anchor="b"/>
          <a:lstStyle>
            <a:lvl1pPr algn="r">
              <a:buFontTx/>
              <a:buNone/>
              <a:defRPr sz="1300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27204812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FB0E-EC4F-3E46-89F5-0B0A2450D13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7F040-B850-EF4D-8141-826F90229F8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4637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FB0E-EC4F-3E46-89F5-0B0A2450D13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7F040-B850-EF4D-8141-826F90229F8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9115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FB0E-EC4F-3E46-89F5-0B0A2450D13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7F040-B850-EF4D-8141-826F90229F8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650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FB0E-EC4F-3E46-89F5-0B0A2450D13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7F040-B850-EF4D-8141-826F90229F8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27788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FB0E-EC4F-3E46-89F5-0B0A2450D13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7F040-B850-EF4D-8141-826F90229F8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67510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FB0E-EC4F-3E46-89F5-0B0A2450D13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7F040-B850-EF4D-8141-826F90229F8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02792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FB0E-EC4F-3E46-89F5-0B0A2450D13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7F040-B850-EF4D-8141-826F90229F8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49614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FB0E-EC4F-3E46-89F5-0B0A2450D13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7F040-B850-EF4D-8141-826F90229F8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40155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FB0E-EC4F-3E46-89F5-0B0A2450D13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7F040-B850-EF4D-8141-826F90229F8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3261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FB0E-EC4F-3E46-89F5-0B0A2450D13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7F040-B850-EF4D-8141-826F90229F8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86381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FB0E-EC4F-3E46-89F5-0B0A2450D13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7F040-B850-EF4D-8141-826F90229F8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93439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C009C-3CBF-5247-AF17-4C1938944F0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74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5AAC2-72D4-7741-AEC6-C0D6F8F8F83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72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BB0B-A469-684D-A0E4-B212875F0FB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0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5210-EFBA-EE40-971E-15DDDAA9C4D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95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F8DD-B3B6-BB4C-8865-9A19E2E1E81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91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6751D-F7F9-374E-841A-6861913C132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84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004F-435F-2C4C-90A9-0B23A025194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75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1D733-CFF9-1049-954F-19CF75C8800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28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9E41B-F91F-4D4C-8C20-A105390F727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56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9C44-78DA-8C49-A3D9-34997ECD6A8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53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7C7AC-17AD-3348-B1B5-7E93EE63A33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93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theme" Target="../theme/theme5.xml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/Relationships>
</file>

<file path=ppt/slideMasters/_rels/slideMaster6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13" Type="http://schemas.openxmlformats.org/officeDocument/2006/relationships/image" Target="../media/image2.jpg"/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78.xml"/><Relationship Id="rId12" Type="http://schemas.openxmlformats.org/officeDocument/2006/relationships/theme" Target="../theme/theme7.xml"/><Relationship Id="rId13" Type="http://schemas.openxmlformats.org/officeDocument/2006/relationships/image" Target="../media/image3.tif"/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315200" cy="4846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2421"/>
            <a:ext cx="5486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173736" marR="0" lvl="0" indent="-173736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 typeface="Arial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/>
                <a:ea typeface="+mn-ea"/>
                <a:cs typeface="Avenir LT Std 65 Medium"/>
              </a:rPr>
              <a:t>Click to edit master text styles</a:t>
            </a:r>
          </a:p>
          <a:p>
            <a:pPr lvl="2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42135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ransition spd="med">
    <p:fade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+mj-lt"/>
          <a:ea typeface="+mj-ea"/>
          <a:cs typeface="Avenir LT Std 55 Roman" pitchFamily="34" charset="0"/>
        </a:defRPr>
      </a:lvl1pPr>
    </p:titleStyle>
    <p:bodyStyle>
      <a:lvl1pPr marL="173736" marR="0" indent="-173736" algn="l" defTabSz="457200" rtl="0" eaLnBrk="1" fontAlgn="auto" latinLnBrk="0" hangingPunct="1">
        <a:lnSpc>
          <a:spcPct val="100000"/>
        </a:lnSpc>
        <a:spcBef>
          <a:spcPts val="300"/>
        </a:spcBef>
        <a:spcAft>
          <a:spcPts val="1200"/>
        </a:spcAft>
        <a:buClrTx/>
        <a:buSzPct val="80000"/>
        <a:buFont typeface="Arial"/>
        <a:buChar char="•"/>
        <a:tabLst/>
        <a:defRPr lang="en-US" sz="2600" b="0" i="0" kern="1200">
          <a:solidFill>
            <a:schemeClr val="tx1"/>
          </a:solidFill>
          <a:latin typeface="+mn-lt"/>
          <a:ea typeface="+mn-ea"/>
          <a:cs typeface="Avenir LT Std 55 Roman"/>
        </a:defRPr>
      </a:lvl1pPr>
      <a:lvl2pPr marL="173038" indent="-173038" algn="l" defTabSz="4572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22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2pPr>
      <a:lvl3pPr marL="401638" indent="-173038" algn="l" defTabSz="457200" rtl="0" eaLnBrk="1" latinLnBrk="0" hangingPunct="1">
        <a:lnSpc>
          <a:spcPts val="2700"/>
        </a:lnSpc>
        <a:spcBef>
          <a:spcPts val="0"/>
        </a:spcBef>
        <a:spcAft>
          <a:spcPts val="12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2400" b="0" i="0" kern="1200">
          <a:solidFill>
            <a:schemeClr val="tx1"/>
          </a:solidFill>
          <a:latin typeface="+mn-lt"/>
          <a:ea typeface="+mn-ea"/>
          <a:cs typeface="Avenir LT Std 65 Medium"/>
        </a:defRPr>
      </a:lvl3pPr>
      <a:lvl4pPr marL="742950" indent="-173038" algn="l" defTabSz="4572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18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4pPr>
      <a:lvl5pPr marL="1082675" indent="-176213" algn="l" defTabSz="457200" rtl="0" eaLnBrk="1" latinLnBrk="0" hangingPunct="1">
        <a:lnSpc>
          <a:spcPts val="19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16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5pPr>
      <a:lvl6pPr marL="1773238" indent="-177800" algn="l" defTabSz="401638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tabLst>
          <a:tab pos="1484313" algn="l"/>
        </a:tabLst>
        <a:defRPr sz="1400" b="1" kern="1200">
          <a:solidFill>
            <a:schemeClr val="tx1"/>
          </a:solidFill>
          <a:latin typeface="Arial"/>
          <a:ea typeface="+mn-ea"/>
          <a:cs typeface="Arial"/>
        </a:defRPr>
      </a:lvl6pPr>
      <a:lvl7pPr marL="2062163" indent="-1762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7pPr>
      <a:lvl8pPr marL="2286000" indent="-173038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8pPr>
      <a:lvl9pPr marL="2452688" indent="-1635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A3DD9-E7AD-4889-A392-179ADB630E8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877CF-680C-497D-A87F-1FF571A50D3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62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12"/>
            <a:ext cx="7315200" cy="4846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2421"/>
            <a:ext cx="5486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173736" marR="0" lvl="0" indent="-173736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 typeface="Arial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/>
                <a:ea typeface="+mn-ea"/>
                <a:cs typeface="Avenir LT Std 65 Medium"/>
              </a:rPr>
              <a:t>Click to edit master text styles</a:t>
            </a:r>
          </a:p>
          <a:p>
            <a:pPr lvl="2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40495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ransition spd="med"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+mj-lt"/>
          <a:ea typeface="+mj-ea"/>
          <a:cs typeface="Avenir LT Std 55 Roman" pitchFamily="34" charset="0"/>
        </a:defRPr>
      </a:lvl1pPr>
    </p:titleStyle>
    <p:bodyStyle>
      <a:lvl1pPr marL="173736" marR="0" indent="-173736" algn="l" defTabSz="457200" rtl="0" eaLnBrk="1" fontAlgn="auto" latinLnBrk="0" hangingPunct="1">
        <a:lnSpc>
          <a:spcPct val="100000"/>
        </a:lnSpc>
        <a:spcBef>
          <a:spcPts val="300"/>
        </a:spcBef>
        <a:spcAft>
          <a:spcPts val="1200"/>
        </a:spcAft>
        <a:buClrTx/>
        <a:buSzPct val="80000"/>
        <a:buFont typeface="Arial"/>
        <a:buChar char="•"/>
        <a:tabLst/>
        <a:defRPr lang="en-US" sz="2600" b="0" i="0" kern="1200">
          <a:solidFill>
            <a:schemeClr val="tx1"/>
          </a:solidFill>
          <a:latin typeface="+mn-lt"/>
          <a:ea typeface="+mn-ea"/>
          <a:cs typeface="Avenir LT Std 55 Roman"/>
        </a:defRPr>
      </a:lvl1pPr>
      <a:lvl2pPr marL="173038" indent="-173038" algn="l" defTabSz="4572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22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2pPr>
      <a:lvl3pPr marL="401638" indent="-173038" algn="l" defTabSz="457200" rtl="0" eaLnBrk="1" latinLnBrk="0" hangingPunct="1">
        <a:lnSpc>
          <a:spcPts val="2700"/>
        </a:lnSpc>
        <a:spcBef>
          <a:spcPts val="0"/>
        </a:spcBef>
        <a:spcAft>
          <a:spcPts val="12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2400" b="0" i="0" kern="1200">
          <a:solidFill>
            <a:schemeClr val="tx1"/>
          </a:solidFill>
          <a:latin typeface="+mn-lt"/>
          <a:ea typeface="+mn-ea"/>
          <a:cs typeface="Avenir LT Std 65 Medium"/>
        </a:defRPr>
      </a:lvl3pPr>
      <a:lvl4pPr marL="742950" indent="-173038" algn="l" defTabSz="4572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18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4pPr>
      <a:lvl5pPr marL="1082675" indent="-176213" algn="l" defTabSz="457200" rtl="0" eaLnBrk="1" latinLnBrk="0" hangingPunct="1">
        <a:lnSpc>
          <a:spcPts val="19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16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5pPr>
      <a:lvl6pPr marL="1773238" indent="-177800" algn="l" defTabSz="401638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tabLst>
          <a:tab pos="1484313" algn="l"/>
        </a:tabLst>
        <a:defRPr sz="1400" b="1" kern="1200">
          <a:solidFill>
            <a:schemeClr val="tx1"/>
          </a:solidFill>
          <a:latin typeface="Arial"/>
          <a:ea typeface="+mn-ea"/>
          <a:cs typeface="Arial"/>
        </a:defRPr>
      </a:lvl6pPr>
      <a:lvl7pPr marL="2062163" indent="-1762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7pPr>
      <a:lvl8pPr marL="2286000" indent="-173038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8pPr>
      <a:lvl9pPr marL="2452688" indent="-1635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E02D4-958E-4C43-8AA9-0BED26EA349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63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12"/>
            <a:ext cx="7315200" cy="4846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2421"/>
            <a:ext cx="5486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173736" marR="0" lvl="0" indent="-173736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 typeface="Arial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/>
                <a:ea typeface="+mn-ea"/>
                <a:cs typeface="Avenir LT Std 65 Medium"/>
              </a:rPr>
              <a:t>Click to edit master text styles</a:t>
            </a:r>
          </a:p>
          <a:p>
            <a:pPr lvl="2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1298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</p:sldLayoutIdLst>
  <p:transition spd="med">
    <p:fade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+mj-lt"/>
          <a:ea typeface="+mj-ea"/>
          <a:cs typeface="Avenir LT Std 55 Roman" pitchFamily="34" charset="0"/>
        </a:defRPr>
      </a:lvl1pPr>
    </p:titleStyle>
    <p:bodyStyle>
      <a:lvl1pPr marL="173736" marR="0" indent="-173736" algn="l" defTabSz="457200" rtl="0" eaLnBrk="1" fontAlgn="auto" latinLnBrk="0" hangingPunct="1">
        <a:lnSpc>
          <a:spcPct val="100000"/>
        </a:lnSpc>
        <a:spcBef>
          <a:spcPts val="300"/>
        </a:spcBef>
        <a:spcAft>
          <a:spcPts val="1200"/>
        </a:spcAft>
        <a:buClrTx/>
        <a:buSzPct val="80000"/>
        <a:buFont typeface="Arial"/>
        <a:buChar char="•"/>
        <a:tabLst/>
        <a:defRPr lang="en-US" sz="2600" b="0" i="0" kern="1200">
          <a:solidFill>
            <a:schemeClr val="tx1"/>
          </a:solidFill>
          <a:latin typeface="+mn-lt"/>
          <a:ea typeface="+mn-ea"/>
          <a:cs typeface="Avenir LT Std 55 Roman"/>
        </a:defRPr>
      </a:lvl1pPr>
      <a:lvl2pPr marL="173038" indent="-173038" algn="l" defTabSz="4572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22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2pPr>
      <a:lvl3pPr marL="401638" indent="-173038" algn="l" defTabSz="457200" rtl="0" eaLnBrk="1" latinLnBrk="0" hangingPunct="1">
        <a:lnSpc>
          <a:spcPts val="2700"/>
        </a:lnSpc>
        <a:spcBef>
          <a:spcPts val="0"/>
        </a:spcBef>
        <a:spcAft>
          <a:spcPts val="12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2400" b="0" i="0" kern="1200">
          <a:solidFill>
            <a:schemeClr val="tx1"/>
          </a:solidFill>
          <a:latin typeface="+mn-lt"/>
          <a:ea typeface="+mn-ea"/>
          <a:cs typeface="Avenir LT Std 65 Medium"/>
        </a:defRPr>
      </a:lvl3pPr>
      <a:lvl4pPr marL="742950" indent="-173038" algn="l" defTabSz="4572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18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4pPr>
      <a:lvl5pPr marL="1082675" indent="-176213" algn="l" defTabSz="457200" rtl="0" eaLnBrk="1" latinLnBrk="0" hangingPunct="1">
        <a:lnSpc>
          <a:spcPts val="19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16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5pPr>
      <a:lvl6pPr marL="1773238" indent="-177800" algn="l" defTabSz="401638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tabLst>
          <a:tab pos="1484313" algn="l"/>
        </a:tabLst>
        <a:defRPr sz="1400" b="1" kern="1200">
          <a:solidFill>
            <a:schemeClr val="tx1"/>
          </a:solidFill>
          <a:latin typeface="Arial"/>
          <a:ea typeface="+mn-ea"/>
          <a:cs typeface="Arial"/>
        </a:defRPr>
      </a:lvl6pPr>
      <a:lvl7pPr marL="2062163" indent="-1762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7pPr>
      <a:lvl8pPr marL="2286000" indent="-173038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8pPr>
      <a:lvl9pPr marL="2452688" indent="-1635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F881FB0E-EC4F-3E46-89F5-0B0A2450D13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B497F040-B850-EF4D-8141-826F90229F8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95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11F01-3804-F24B-BDF1-82CAB97F0D0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04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g"/><Relationship Id="rId9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t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www.nsf.gov/about/transformative_research/definition.jsp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4" Type="http://schemas.openxmlformats.org/officeDocument/2006/relationships/image" Target="../media/image39.gif"/><Relationship Id="rId5" Type="http://schemas.openxmlformats.org/officeDocument/2006/relationships/image" Target="../media/image32.png"/><Relationship Id="rId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51.jpe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jpeg"/><Relationship Id="rId8" Type="http://schemas.openxmlformats.org/officeDocument/2006/relationships/image" Target="../media/image48.jpeg"/><Relationship Id="rId9" Type="http://schemas.openxmlformats.org/officeDocument/2006/relationships/image" Target="../media/image49.png"/><Relationship Id="rId10" Type="http://schemas.openxmlformats.org/officeDocument/2006/relationships/image" Target="../media/image50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Relationship Id="rId3" Type="http://schemas.openxmlformats.org/officeDocument/2006/relationships/image" Target="../media/image59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947249"/>
            <a:ext cx="9144000" cy="39107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1612" y="2808543"/>
            <a:ext cx="5715000" cy="12192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r" eaLnBrk="0" hangingPunct="0"/>
            <a:r>
              <a:rPr lang="en-US" sz="2400" dirty="0">
                <a:solidFill>
                  <a:prstClr val="black"/>
                </a:solidFill>
              </a:rPr>
              <a:t>David R. </a:t>
            </a:r>
            <a:r>
              <a:rPr lang="en-US" sz="2400" dirty="0" smtClean="0">
                <a:solidFill>
                  <a:prstClr val="black"/>
                </a:solidFill>
              </a:rPr>
              <a:t>Maidment </a:t>
            </a:r>
          </a:p>
          <a:p>
            <a:pPr algn="r" eaLnBrk="0" hangingPunct="0"/>
            <a:r>
              <a:rPr lang="en-US" dirty="0" smtClean="0">
                <a:solidFill>
                  <a:prstClr val="black"/>
                </a:solidFill>
              </a:rPr>
              <a:t>Center </a:t>
            </a:r>
            <a:r>
              <a:rPr lang="en-US" dirty="0">
                <a:solidFill>
                  <a:prstClr val="black"/>
                </a:solidFill>
              </a:rPr>
              <a:t>for Research in Water Resources</a:t>
            </a:r>
          </a:p>
          <a:p>
            <a:pPr algn="r" eaLnBrk="0" hangingPunct="0"/>
            <a:r>
              <a:rPr lang="en-US" dirty="0">
                <a:solidFill>
                  <a:prstClr val="black"/>
                </a:solidFill>
              </a:rPr>
              <a:t>University of Texas at Austin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0" y="4952999"/>
            <a:ext cx="9144000" cy="1782847"/>
          </a:xfrm>
          <a:prstGeom prst="rect">
            <a:avLst/>
          </a:prstGeom>
          <a:solidFill>
            <a:srgbClr val="001446">
              <a:alpha val="8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6589" y="5026813"/>
            <a:ext cx="8573427" cy="16406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>
            <a:noAutofit/>
          </a:bodyPr>
          <a:lstStyle/>
          <a:p>
            <a:pPr eaLnBrk="0" hangingPunct="0"/>
            <a:r>
              <a:rPr lang="en-US" sz="1600" dirty="0" smtClean="0">
                <a:solidFill>
                  <a:srgbClr val="FFFFFF"/>
                </a:solidFill>
              </a:rPr>
              <a:t>Presentation to the OCG Hydrology Domain Working Group</a:t>
            </a:r>
          </a:p>
          <a:p>
            <a:pPr eaLnBrk="0" hangingPunct="0"/>
            <a:r>
              <a:rPr lang="en-US" sz="1600" dirty="0" smtClean="0">
                <a:solidFill>
                  <a:srgbClr val="FFFFFF"/>
                </a:solidFill>
              </a:rPr>
              <a:t>Orleans, France, 22 September 2015</a:t>
            </a:r>
          </a:p>
          <a:p>
            <a:pPr eaLnBrk="0" hangingPunct="0"/>
            <a:endParaRPr lang="en-US" sz="1600" dirty="0">
              <a:solidFill>
                <a:srgbClr val="FFFFFF"/>
              </a:solidFill>
            </a:endParaRPr>
          </a:p>
          <a:p>
            <a:pPr eaLnBrk="0" hangingPunct="0"/>
            <a:r>
              <a:rPr lang="en-US" sz="1600" dirty="0" smtClean="0">
                <a:solidFill>
                  <a:srgbClr val="5EB4E6">
                    <a:lumMod val="40000"/>
                    <a:lumOff val="60000"/>
                  </a:srgbClr>
                </a:solidFill>
              </a:rPr>
              <a:t>Acknowledgements: Fernando Salas, Marcelo Somos Valenzuela, David Gochis, Ed Clark, </a:t>
            </a:r>
          </a:p>
          <a:p>
            <a:pPr eaLnBrk="0" hangingPunct="0"/>
            <a:r>
              <a:rPr lang="en-US" sz="1600" dirty="0" smtClean="0">
                <a:solidFill>
                  <a:srgbClr val="5EB4E6">
                    <a:lumMod val="40000"/>
                    <a:lumOff val="60000"/>
                  </a:srgbClr>
                </a:solidFill>
              </a:rPr>
              <a:t>Don Cline, Jack </a:t>
            </a:r>
            <a:r>
              <a:rPr lang="en-US" sz="1600" dirty="0" err="1" smtClean="0">
                <a:solidFill>
                  <a:srgbClr val="5EB4E6">
                    <a:lumMod val="40000"/>
                    <a:lumOff val="60000"/>
                  </a:srgbClr>
                </a:solidFill>
              </a:rPr>
              <a:t>Dangermond</a:t>
            </a:r>
            <a:r>
              <a:rPr lang="en-US" sz="1600" dirty="0" smtClean="0">
                <a:solidFill>
                  <a:srgbClr val="5EB4E6">
                    <a:lumMod val="40000"/>
                    <a:lumOff val="60000"/>
                  </a:srgbClr>
                </a:solidFill>
              </a:rPr>
              <a:t>, Andy Ernest, Richard Hooper </a:t>
            </a:r>
          </a:p>
          <a:p>
            <a:pPr eaLnBrk="0" hangingPunct="0"/>
            <a:endParaRPr lang="en-US" sz="1600" dirty="0" smtClean="0">
              <a:solidFill>
                <a:srgbClr val="5EB4E6">
                  <a:lumMod val="40000"/>
                  <a:lumOff val="60000"/>
                </a:srgbClr>
              </a:solidFill>
            </a:endParaRPr>
          </a:p>
          <a:p>
            <a:pPr eaLnBrk="0" hangingPunct="0"/>
            <a:r>
              <a:rPr lang="en-US" sz="1600" dirty="0" smtClean="0">
                <a:solidFill>
                  <a:srgbClr val="5EB4E6">
                    <a:lumMod val="40000"/>
                    <a:lumOff val="60000"/>
                  </a:srgbClr>
                </a:solidFill>
              </a:rPr>
              <a:t>This research is supported in part by NSF </a:t>
            </a:r>
            <a:r>
              <a:rPr lang="en-US" sz="1600" dirty="0" err="1" smtClean="0">
                <a:solidFill>
                  <a:srgbClr val="5EB4E6">
                    <a:lumMod val="40000"/>
                    <a:lumOff val="60000"/>
                  </a:srgbClr>
                </a:solidFill>
              </a:rPr>
              <a:t>EarthCube</a:t>
            </a:r>
            <a:r>
              <a:rPr lang="en-US" sz="1600" dirty="0" smtClean="0">
                <a:solidFill>
                  <a:srgbClr val="5EB4E6">
                    <a:lumMod val="40000"/>
                    <a:lumOff val="60000"/>
                  </a:srgbClr>
                </a:solidFill>
              </a:rPr>
              <a:t> grant 1343785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367442" y="955972"/>
            <a:ext cx="7551073" cy="48463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 smtClean="0">
                <a:solidFill>
                  <a:srgbClr val="001446">
                    <a:lumMod val="75000"/>
                    <a:lumOff val="25000"/>
                  </a:srgbClr>
                </a:solidFill>
              </a:rPr>
              <a:t>National Flood Interoperability Experiment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9084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240" y="198544"/>
            <a:ext cx="7886700" cy="1325563"/>
          </a:xfrm>
        </p:spPr>
        <p:txBody>
          <a:bodyPr/>
          <a:lstStyle/>
          <a:p>
            <a:r>
              <a:rPr lang="en-US" dirty="0" smtClean="0"/>
              <a:t>The Opportunity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927" y="1143000"/>
            <a:ext cx="7886700" cy="2821789"/>
          </a:xfrm>
        </p:spPr>
        <p:txBody>
          <a:bodyPr>
            <a:normAutofit/>
          </a:bodyPr>
          <a:lstStyle/>
          <a:p>
            <a:r>
              <a:rPr lang="en-US" dirty="0" smtClean="0"/>
              <a:t>New </a:t>
            </a:r>
            <a:r>
              <a:rPr lang="en-US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National Water Center </a:t>
            </a:r>
            <a:r>
              <a:rPr lang="en-US" dirty="0" smtClean="0"/>
              <a:t>established on the Tuscaloosa campus of University of Alabama by the National Weather Service and federal agency partners</a:t>
            </a:r>
          </a:p>
          <a:p>
            <a:r>
              <a:rPr lang="en-US" dirty="0" smtClean="0"/>
              <a:t>Has a mission to assess hydrology in a new way at the </a:t>
            </a:r>
            <a:r>
              <a:rPr lang="en-US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continental scale </a:t>
            </a:r>
            <a:r>
              <a:rPr lang="en-US" dirty="0" smtClean="0"/>
              <a:t>for the United States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" y="4122886"/>
            <a:ext cx="9143999" cy="2735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30603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Integrated Water Resources Science and Services (IWRSS)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18094" y="2366128"/>
            <a:ext cx="1537537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</a:rPr>
              <a:t>Weather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86353" y="3426796"/>
            <a:ext cx="120417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</a:rPr>
              <a:t>Rivers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92162" y="4672556"/>
            <a:ext cx="1263487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</a:rPr>
              <a:t>Impact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7" name="Bent Arrow 6"/>
          <p:cNvSpPr/>
          <p:nvPr/>
        </p:nvSpPr>
        <p:spPr>
          <a:xfrm rot="5400000">
            <a:off x="3581345" y="2564550"/>
            <a:ext cx="829807" cy="728204"/>
          </a:xfrm>
          <a:prstGeom prst="bent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Bent Arrow 7"/>
          <p:cNvSpPr/>
          <p:nvPr/>
        </p:nvSpPr>
        <p:spPr>
          <a:xfrm rot="5400000">
            <a:off x="5456403" y="3813181"/>
            <a:ext cx="829807" cy="728204"/>
          </a:xfrm>
          <a:prstGeom prst="bent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513" y="5823539"/>
            <a:ext cx="2117687" cy="593299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8786" y="5233138"/>
            <a:ext cx="2608289" cy="92512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3300" y="2896469"/>
            <a:ext cx="1509048" cy="150904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6232" y="4023989"/>
            <a:ext cx="1615315" cy="120914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4619" y="2975277"/>
            <a:ext cx="2085395" cy="166831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4956" y="1868782"/>
            <a:ext cx="1750453" cy="131284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2786" y="1245227"/>
            <a:ext cx="1406412" cy="105480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044" y="5565244"/>
            <a:ext cx="1398512" cy="1048884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22" name="Up Arrow 21"/>
          <p:cNvSpPr/>
          <p:nvPr/>
        </p:nvSpPr>
        <p:spPr>
          <a:xfrm>
            <a:off x="1798320" y="4628563"/>
            <a:ext cx="419100" cy="804497"/>
          </a:xfrm>
          <a:prstGeom prst="up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5630" y="4934166"/>
            <a:ext cx="9444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</a:rPr>
              <a:t>Data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24" name="Up Arrow 23"/>
          <p:cNvSpPr/>
          <p:nvPr/>
        </p:nvSpPr>
        <p:spPr>
          <a:xfrm rot="1620000">
            <a:off x="3157551" y="4839914"/>
            <a:ext cx="419100" cy="804497"/>
          </a:xfrm>
          <a:prstGeom prst="up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Up Arrow 24"/>
          <p:cNvSpPr/>
          <p:nvPr/>
        </p:nvSpPr>
        <p:spPr>
          <a:xfrm rot="5400000">
            <a:off x="4902382" y="5470824"/>
            <a:ext cx="419100" cy="804497"/>
          </a:xfrm>
          <a:prstGeom prst="up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81848" y="1451728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2000" b="1" dirty="0" smtClean="0">
                <a:solidFill>
                  <a:prstClr val="black"/>
                </a:solidFill>
              </a:rPr>
              <a:t>Formal partnership across these four agencies </a:t>
            </a:r>
          </a:p>
        </p:txBody>
      </p:sp>
    </p:spTree>
    <p:extLst>
      <p:ext uri="{BB962C8B-B14F-4D97-AF65-F5344CB8AC3E}">
        <p14:creationId xmlns:p14="http://schemas.microsoft.com/office/powerpoint/2010/main" val="22533221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3600" b="1" dirty="0" smtClean="0">
                <a:latin typeface="Arial"/>
                <a:cs typeface="Arial"/>
              </a:rPr>
              <a:t>NWS River </a:t>
            </a:r>
            <a:r>
              <a:rPr lang="en-US" sz="3600" b="1" dirty="0">
                <a:latin typeface="Arial"/>
                <a:cs typeface="Arial"/>
              </a:rPr>
              <a:t>Forecast Centers (RFCs)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22741" y="1481156"/>
            <a:ext cx="3821259" cy="4618257"/>
          </a:xfrm>
        </p:spPr>
        <p:txBody>
          <a:bodyPr>
            <a:noAutofit/>
          </a:bodyPr>
          <a:lstStyle/>
          <a:p>
            <a:pPr lvl="1" eaLnBrk="1" hangingPunct="1">
              <a:lnSpc>
                <a:spcPct val="110000"/>
              </a:lnSpc>
              <a:spcBef>
                <a:spcPct val="75000"/>
              </a:spcBef>
            </a:pPr>
            <a:r>
              <a:rPr lang="en-US" sz="2000" b="1" dirty="0">
                <a:latin typeface="Arial"/>
                <a:cs typeface="Arial"/>
              </a:rPr>
              <a:t>Prepare river and flood forecasts </a:t>
            </a:r>
            <a:endParaRPr lang="en-US" sz="2000" b="1" dirty="0" smtClean="0">
              <a:latin typeface="Arial"/>
              <a:cs typeface="Arial"/>
            </a:endParaRPr>
          </a:p>
          <a:p>
            <a:pPr lvl="1" eaLnBrk="1" hangingPunct="1">
              <a:lnSpc>
                <a:spcPct val="110000"/>
              </a:lnSpc>
              <a:spcBef>
                <a:spcPct val="75000"/>
              </a:spcBef>
            </a:pPr>
            <a:r>
              <a:rPr lang="en-US" sz="2000" b="1" dirty="0" smtClean="0">
                <a:latin typeface="Arial"/>
                <a:cs typeface="Arial"/>
              </a:rPr>
              <a:t>Provide </a:t>
            </a:r>
            <a:r>
              <a:rPr lang="en-US" sz="2000" b="1" dirty="0">
                <a:latin typeface="Arial"/>
                <a:cs typeface="Arial"/>
              </a:rPr>
              <a:t>forecast guidance to Weather Forecast Offices (WFOs)</a:t>
            </a:r>
          </a:p>
          <a:p>
            <a:pPr lvl="1" eaLnBrk="1" hangingPunct="1">
              <a:lnSpc>
                <a:spcPct val="110000"/>
              </a:lnSpc>
              <a:spcBef>
                <a:spcPct val="75000"/>
              </a:spcBef>
            </a:pPr>
            <a:r>
              <a:rPr lang="en-US" sz="2000" b="1" dirty="0">
                <a:latin typeface="Arial"/>
                <a:cs typeface="Arial"/>
              </a:rPr>
              <a:t>Issue daily stage and streamflow forecasts, </a:t>
            </a:r>
            <a:r>
              <a:rPr lang="en-US" sz="2000" b="1" dirty="0" smtClean="0">
                <a:latin typeface="Arial"/>
                <a:cs typeface="Arial"/>
              </a:rPr>
              <a:t>and </a:t>
            </a:r>
            <a:r>
              <a:rPr lang="en-US" sz="2000" b="1" dirty="0">
                <a:latin typeface="Arial"/>
                <a:cs typeface="Arial"/>
              </a:rPr>
              <a:t>flash flood guidance</a:t>
            </a:r>
          </a:p>
          <a:p>
            <a:pPr lvl="1" eaLnBrk="1" hangingPunct="1">
              <a:lnSpc>
                <a:spcPct val="110000"/>
              </a:lnSpc>
              <a:spcBef>
                <a:spcPct val="75000"/>
              </a:spcBef>
            </a:pPr>
            <a:r>
              <a:rPr lang="en-US" sz="2000" b="1" dirty="0">
                <a:latin typeface="Arial"/>
                <a:cs typeface="Arial"/>
              </a:rPr>
              <a:t>Work with water managers and other Federal Agencies</a:t>
            </a:r>
          </a:p>
        </p:txBody>
      </p:sp>
      <p:sp>
        <p:nvSpPr>
          <p:cNvPr id="8" name="Slide Number Placeholder 23"/>
          <p:cNvSpPr txBox="1">
            <a:spLocks noGrp="1"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/>
          <a:lstStyle>
            <a:lvl1pPr eaLnBrk="0" hangingPunct="0">
              <a:defRPr sz="2000">
                <a:solidFill>
                  <a:srgbClr val="FFFFFF"/>
                </a:solidFill>
                <a:latin typeface="Franklin Gothic Book" pitchFamily="34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Franklin Gothic Book" pitchFamily="34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Franklin Gothic Book" pitchFamily="34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Franklin Gothic Book" pitchFamily="34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Franklin Gothic Book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Franklin Gothic Book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Franklin Gothic Book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Franklin Gothic Book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Franklin Gothic Book" pitchFamily="34" charset="0"/>
              </a:defRPr>
            </a:lvl9pPr>
          </a:lstStyle>
          <a:p>
            <a:pPr algn="r" eaLnBrk="1" hangingPunct="1"/>
            <a:fld id="{1DDC4E95-52BB-48C4-810C-60101B8553A9}" type="slidenum">
              <a:rPr lang="en-US" sz="1400">
                <a:solidFill>
                  <a:srgbClr val="FFFFCC"/>
                </a:solidFill>
                <a:latin typeface="Franklin Gothic Medium Cond" pitchFamily="34" charset="0"/>
              </a:rPr>
              <a:pPr algn="r" eaLnBrk="1" hangingPunct="1"/>
              <a:t>4</a:t>
            </a:fld>
            <a:endParaRPr lang="en-US" sz="1400">
              <a:solidFill>
                <a:srgbClr val="FFFFCC"/>
              </a:solidFill>
              <a:latin typeface="Franklin Gothic Medium Cond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28347" y="1435635"/>
            <a:ext cx="5479976" cy="4346473"/>
            <a:chOff x="263205" y="1215358"/>
            <a:chExt cx="2798021" cy="2133600"/>
          </a:xfrm>
        </p:grpSpPr>
        <p:pic>
          <p:nvPicPr>
            <p:cNvPr id="7" name="Picture 6" descr="RFCCHps_ts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3205" y="1393463"/>
              <a:ext cx="2798021" cy="195549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25055" y="1215358"/>
              <a:ext cx="699051" cy="699051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1404257" y="6030686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6600 </a:t>
            </a:r>
            <a:r>
              <a:rPr lang="en-US" dirty="0">
                <a:solidFill>
                  <a:prstClr val="black"/>
                </a:solidFill>
              </a:rPr>
              <a:t>sub-basins in continental US</a:t>
            </a:r>
          </a:p>
        </p:txBody>
      </p:sp>
    </p:spTree>
    <p:extLst>
      <p:ext uri="{BB962C8B-B14F-4D97-AF65-F5344CB8AC3E}">
        <p14:creationId xmlns:p14="http://schemas.microsoft.com/office/powerpoint/2010/main" val="40281583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2D5C-7DEC-4016-9B3B-6FCD74A1F0F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rfc_transparent.t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8952"/>
            <a:ext cx="9144000" cy="6229048"/>
          </a:xfrm>
          <a:prstGeom prst="rect">
            <a:avLst/>
          </a:prstGeom>
        </p:spPr>
      </p:pic>
      <p:sp>
        <p:nvSpPr>
          <p:cNvPr id="9" name="Title 3"/>
          <p:cNvSpPr txBox="1">
            <a:spLocks/>
          </p:cNvSpPr>
          <p:nvPr/>
        </p:nvSpPr>
        <p:spPr>
          <a:xfrm>
            <a:off x="0" y="0"/>
            <a:ext cx="9144000" cy="105833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 smtClean="0">
                <a:solidFill>
                  <a:srgbClr val="000000"/>
                </a:solidFill>
                <a:latin typeface="Arial"/>
                <a:cs typeface="Arial"/>
              </a:rPr>
              <a:t>100 million people on coast</a:t>
            </a:r>
            <a:endParaRPr lang="en-US" sz="54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03213" y="6435732"/>
            <a:ext cx="308242" cy="2095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74461" y="6337100"/>
            <a:ext cx="2160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  <a:latin typeface="Arial"/>
                <a:cs typeface="Arial"/>
              </a:rPr>
              <a:t>No River Forecast</a:t>
            </a:r>
            <a:endParaRPr lang="en-US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7369075" y="2186275"/>
            <a:ext cx="1557614" cy="3423415"/>
            <a:chOff x="7369075" y="2186275"/>
            <a:chExt cx="1557614" cy="3423415"/>
          </a:xfrm>
        </p:grpSpPr>
        <p:cxnSp>
          <p:nvCxnSpPr>
            <p:cNvPr id="6" name="Straight Arrow Connector 5"/>
            <p:cNvCxnSpPr/>
            <p:nvPr/>
          </p:nvCxnSpPr>
          <p:spPr>
            <a:xfrm flipH="1">
              <a:off x="7369075" y="4475423"/>
              <a:ext cx="1557614" cy="143085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 flipV="1">
              <a:off x="7771598" y="4078132"/>
              <a:ext cx="1142762" cy="397291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 flipV="1">
              <a:off x="7928353" y="3353076"/>
              <a:ext cx="980697" cy="1120499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 flipV="1">
              <a:off x="8388996" y="2186275"/>
              <a:ext cx="523229" cy="2290475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7582756" y="4479925"/>
              <a:ext cx="1329469" cy="1129765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/>
          <p:cNvGrpSpPr/>
          <p:nvPr/>
        </p:nvGrpSpPr>
        <p:grpSpPr>
          <a:xfrm>
            <a:off x="4578758" y="5239820"/>
            <a:ext cx="1203863" cy="1084951"/>
            <a:chOff x="4578758" y="5239820"/>
            <a:chExt cx="1203863" cy="1084951"/>
          </a:xfrm>
        </p:grpSpPr>
        <p:cxnSp>
          <p:nvCxnSpPr>
            <p:cNvPr id="30" name="Straight Arrow Connector 29"/>
            <p:cNvCxnSpPr/>
            <p:nvPr/>
          </p:nvCxnSpPr>
          <p:spPr>
            <a:xfrm flipH="1" flipV="1">
              <a:off x="4578758" y="5811406"/>
              <a:ext cx="1031247" cy="513365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 flipV="1">
              <a:off x="5030510" y="5338452"/>
              <a:ext cx="579495" cy="973990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V="1">
              <a:off x="5610005" y="5239820"/>
              <a:ext cx="172616" cy="1084951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135626" y="1467150"/>
            <a:ext cx="1109672" cy="2404152"/>
            <a:chOff x="135626" y="1467150"/>
            <a:chExt cx="1109672" cy="2404152"/>
          </a:xfrm>
        </p:grpSpPr>
        <p:cxnSp>
          <p:nvCxnSpPr>
            <p:cNvPr id="38" name="Straight Arrow Connector 37"/>
            <p:cNvCxnSpPr/>
            <p:nvPr/>
          </p:nvCxnSpPr>
          <p:spPr>
            <a:xfrm flipV="1">
              <a:off x="149225" y="1467150"/>
              <a:ext cx="1096073" cy="1580850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149225" y="2132915"/>
              <a:ext cx="911128" cy="918260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135626" y="3045260"/>
              <a:ext cx="752111" cy="197264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149225" y="3051175"/>
              <a:ext cx="837150" cy="820127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stealth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440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8629" y="0"/>
            <a:ext cx="7739862" cy="58435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9193" y="324131"/>
            <a:ext cx="1594520" cy="15723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61518" y="4469760"/>
            <a:ext cx="6304418" cy="113877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</a:rPr>
              <a:t>FY15 Centralized Water Forecasting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Centralized Data Archive – all RFC data 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 smtClean="0">
                <a:solidFill>
                  <a:srgbClr val="000000"/>
                </a:solidFill>
              </a:rPr>
              <a:t>Modeling </a:t>
            </a:r>
            <a:r>
              <a:rPr lang="en-US" sz="2000" b="1" dirty="0">
                <a:solidFill>
                  <a:srgbClr val="000000"/>
                </a:solidFill>
              </a:rPr>
              <a:t>Testbed – new NWC </a:t>
            </a:r>
            <a:r>
              <a:rPr lang="en-US" sz="2000" b="1" dirty="0" smtClean="0">
                <a:solidFill>
                  <a:srgbClr val="000000"/>
                </a:solidFill>
              </a:rPr>
              <a:t>capabilities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4133833" y="2306517"/>
            <a:ext cx="868235" cy="686772"/>
          </a:xfrm>
          <a:custGeom>
            <a:avLst/>
            <a:gdLst>
              <a:gd name="connsiteX0" fmla="*/ 0 w 868235"/>
              <a:gd name="connsiteY0" fmla="*/ 0 h 686772"/>
              <a:gd name="connsiteX1" fmla="*/ 518349 w 868235"/>
              <a:gd name="connsiteY1" fmla="*/ 298033 h 686772"/>
              <a:gd name="connsiteX2" fmla="*/ 868235 w 868235"/>
              <a:gd name="connsiteY2" fmla="*/ 686772 h 686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68235" h="686772">
                <a:moveTo>
                  <a:pt x="0" y="0"/>
                </a:moveTo>
                <a:cubicBezTo>
                  <a:pt x="186821" y="91785"/>
                  <a:pt x="373643" y="183571"/>
                  <a:pt x="518349" y="298033"/>
                </a:cubicBezTo>
                <a:cubicBezTo>
                  <a:pt x="663055" y="412495"/>
                  <a:pt x="868235" y="686772"/>
                  <a:pt x="868235" y="686772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3965370" y="2697481"/>
            <a:ext cx="1036698" cy="269892"/>
          </a:xfrm>
          <a:custGeom>
            <a:avLst/>
            <a:gdLst>
              <a:gd name="connsiteX0" fmla="*/ 0 w 1036698"/>
              <a:gd name="connsiteY0" fmla="*/ 23690 h 269892"/>
              <a:gd name="connsiteX1" fmla="*/ 414679 w 1036698"/>
              <a:gd name="connsiteY1" fmla="*/ 23690 h 269892"/>
              <a:gd name="connsiteX2" fmla="*/ 1036698 w 1036698"/>
              <a:gd name="connsiteY2" fmla="*/ 269892 h 269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698" h="269892">
                <a:moveTo>
                  <a:pt x="0" y="23690"/>
                </a:moveTo>
                <a:cubicBezTo>
                  <a:pt x="120948" y="3173"/>
                  <a:pt x="241896" y="-17344"/>
                  <a:pt x="414679" y="23690"/>
                </a:cubicBezTo>
                <a:cubicBezTo>
                  <a:pt x="587462" y="64724"/>
                  <a:pt x="1036698" y="269892"/>
                  <a:pt x="1036698" y="269892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4820646" y="2980331"/>
            <a:ext cx="214217" cy="557192"/>
          </a:xfrm>
          <a:custGeom>
            <a:avLst/>
            <a:gdLst>
              <a:gd name="connsiteX0" fmla="*/ 0 w 214217"/>
              <a:gd name="connsiteY0" fmla="*/ 557192 h 557192"/>
              <a:gd name="connsiteX1" fmla="*/ 207339 w 214217"/>
              <a:gd name="connsiteY1" fmla="*/ 362823 h 557192"/>
              <a:gd name="connsiteX2" fmla="*/ 168463 w 214217"/>
              <a:gd name="connsiteY2" fmla="*/ 0 h 557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217" h="557192">
                <a:moveTo>
                  <a:pt x="0" y="557192"/>
                </a:moveTo>
                <a:cubicBezTo>
                  <a:pt x="89631" y="506440"/>
                  <a:pt x="179262" y="455688"/>
                  <a:pt x="207339" y="362823"/>
                </a:cubicBezTo>
                <a:cubicBezTo>
                  <a:pt x="235416" y="269958"/>
                  <a:pt x="168463" y="0"/>
                  <a:pt x="168463" y="0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4146792" y="1386502"/>
            <a:ext cx="868239" cy="1554955"/>
          </a:xfrm>
          <a:custGeom>
            <a:avLst/>
            <a:gdLst>
              <a:gd name="connsiteX0" fmla="*/ 0 w 868239"/>
              <a:gd name="connsiteY0" fmla="*/ 0 h 1554955"/>
              <a:gd name="connsiteX1" fmla="*/ 388762 w 868239"/>
              <a:gd name="connsiteY1" fmla="*/ 323949 h 1554955"/>
              <a:gd name="connsiteX2" fmla="*/ 790482 w 868239"/>
              <a:gd name="connsiteY2" fmla="*/ 945931 h 1554955"/>
              <a:gd name="connsiteX3" fmla="*/ 868234 w 868239"/>
              <a:gd name="connsiteY3" fmla="*/ 1554955 h 1554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8239" h="1554955">
                <a:moveTo>
                  <a:pt x="0" y="0"/>
                </a:moveTo>
                <a:cubicBezTo>
                  <a:pt x="128507" y="83147"/>
                  <a:pt x="257015" y="166294"/>
                  <a:pt x="388762" y="323949"/>
                </a:cubicBezTo>
                <a:cubicBezTo>
                  <a:pt x="520509" y="481604"/>
                  <a:pt x="710570" y="740763"/>
                  <a:pt x="790482" y="945931"/>
                </a:cubicBezTo>
                <a:cubicBezTo>
                  <a:pt x="870394" y="1151099"/>
                  <a:pt x="868234" y="1554955"/>
                  <a:pt x="868234" y="1554955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3810000" y="2990850"/>
            <a:ext cx="1193800" cy="241300"/>
          </a:xfrm>
          <a:custGeom>
            <a:avLst/>
            <a:gdLst>
              <a:gd name="connsiteX0" fmla="*/ 0 w 1193800"/>
              <a:gd name="connsiteY0" fmla="*/ 241300 h 241300"/>
              <a:gd name="connsiteX1" fmla="*/ 660400 w 1193800"/>
              <a:gd name="connsiteY1" fmla="*/ 196850 h 241300"/>
              <a:gd name="connsiteX2" fmla="*/ 1193800 w 1193800"/>
              <a:gd name="connsiteY2" fmla="*/ 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3800" h="241300">
                <a:moveTo>
                  <a:pt x="0" y="241300"/>
                </a:moveTo>
                <a:cubicBezTo>
                  <a:pt x="230716" y="239183"/>
                  <a:pt x="461433" y="237067"/>
                  <a:pt x="660400" y="196850"/>
                </a:cubicBezTo>
                <a:cubicBezTo>
                  <a:pt x="859367" y="156633"/>
                  <a:pt x="1193800" y="0"/>
                  <a:pt x="1193800" y="0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5003800" y="2051050"/>
            <a:ext cx="317500" cy="927100"/>
          </a:xfrm>
          <a:custGeom>
            <a:avLst/>
            <a:gdLst>
              <a:gd name="connsiteX0" fmla="*/ 317500 w 317500"/>
              <a:gd name="connsiteY0" fmla="*/ 0 h 927100"/>
              <a:gd name="connsiteX1" fmla="*/ 177800 w 317500"/>
              <a:gd name="connsiteY1" fmla="*/ 520700 h 927100"/>
              <a:gd name="connsiteX2" fmla="*/ 0 w 317500"/>
              <a:gd name="connsiteY2" fmla="*/ 927100 h 92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7500" h="927100">
                <a:moveTo>
                  <a:pt x="317500" y="0"/>
                </a:moveTo>
                <a:cubicBezTo>
                  <a:pt x="274108" y="183091"/>
                  <a:pt x="230717" y="366183"/>
                  <a:pt x="177800" y="520700"/>
                </a:cubicBezTo>
                <a:cubicBezTo>
                  <a:pt x="124883" y="675217"/>
                  <a:pt x="0" y="927100"/>
                  <a:pt x="0" y="927100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5016500" y="1695450"/>
            <a:ext cx="939800" cy="1289050"/>
          </a:xfrm>
          <a:custGeom>
            <a:avLst/>
            <a:gdLst>
              <a:gd name="connsiteX0" fmla="*/ 939800 w 939800"/>
              <a:gd name="connsiteY0" fmla="*/ 0 h 1289050"/>
              <a:gd name="connsiteX1" fmla="*/ 793750 w 939800"/>
              <a:gd name="connsiteY1" fmla="*/ 247650 h 1289050"/>
              <a:gd name="connsiteX2" fmla="*/ 387350 w 939800"/>
              <a:gd name="connsiteY2" fmla="*/ 895350 h 1289050"/>
              <a:gd name="connsiteX3" fmla="*/ 0 w 939800"/>
              <a:gd name="connsiteY3" fmla="*/ 1289050 h 128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1289050">
                <a:moveTo>
                  <a:pt x="939800" y="0"/>
                </a:moveTo>
                <a:cubicBezTo>
                  <a:pt x="912812" y="49212"/>
                  <a:pt x="885825" y="98425"/>
                  <a:pt x="793750" y="247650"/>
                </a:cubicBezTo>
                <a:cubicBezTo>
                  <a:pt x="701675" y="396875"/>
                  <a:pt x="519642" y="721783"/>
                  <a:pt x="387350" y="895350"/>
                </a:cubicBezTo>
                <a:cubicBezTo>
                  <a:pt x="255058" y="1068917"/>
                  <a:pt x="0" y="1289050"/>
                  <a:pt x="0" y="1289050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5010150" y="1314450"/>
            <a:ext cx="1600200" cy="1676400"/>
          </a:xfrm>
          <a:custGeom>
            <a:avLst/>
            <a:gdLst>
              <a:gd name="connsiteX0" fmla="*/ 1600200 w 1600200"/>
              <a:gd name="connsiteY0" fmla="*/ 0 h 1676400"/>
              <a:gd name="connsiteX1" fmla="*/ 1289050 w 1600200"/>
              <a:gd name="connsiteY1" fmla="*/ 520700 h 1676400"/>
              <a:gd name="connsiteX2" fmla="*/ 641350 w 1600200"/>
              <a:gd name="connsiteY2" fmla="*/ 1295400 h 1676400"/>
              <a:gd name="connsiteX3" fmla="*/ 0 w 1600200"/>
              <a:gd name="connsiteY3" fmla="*/ 167640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0200" h="1676400">
                <a:moveTo>
                  <a:pt x="1600200" y="0"/>
                </a:moveTo>
                <a:cubicBezTo>
                  <a:pt x="1524529" y="152400"/>
                  <a:pt x="1448858" y="304800"/>
                  <a:pt x="1289050" y="520700"/>
                </a:cubicBezTo>
                <a:cubicBezTo>
                  <a:pt x="1129242" y="736600"/>
                  <a:pt x="856192" y="1102783"/>
                  <a:pt x="641350" y="1295400"/>
                </a:cubicBezTo>
                <a:cubicBezTo>
                  <a:pt x="426508" y="1488017"/>
                  <a:pt x="0" y="1676400"/>
                  <a:pt x="0" y="1676400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5003800" y="2959100"/>
            <a:ext cx="400050" cy="82659"/>
          </a:xfrm>
          <a:custGeom>
            <a:avLst/>
            <a:gdLst>
              <a:gd name="connsiteX0" fmla="*/ 400050 w 400050"/>
              <a:gd name="connsiteY0" fmla="*/ 0 h 82659"/>
              <a:gd name="connsiteX1" fmla="*/ 146050 w 400050"/>
              <a:gd name="connsiteY1" fmla="*/ 82550 h 82659"/>
              <a:gd name="connsiteX2" fmla="*/ 0 w 400050"/>
              <a:gd name="connsiteY2" fmla="*/ 19050 h 82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" h="82659">
                <a:moveTo>
                  <a:pt x="400050" y="0"/>
                </a:moveTo>
                <a:cubicBezTo>
                  <a:pt x="306387" y="39687"/>
                  <a:pt x="212725" y="79375"/>
                  <a:pt x="146050" y="82550"/>
                </a:cubicBezTo>
                <a:cubicBezTo>
                  <a:pt x="79375" y="85725"/>
                  <a:pt x="0" y="19050"/>
                  <a:pt x="0" y="19050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1117600" y="984250"/>
            <a:ext cx="3879850" cy="1974850"/>
          </a:xfrm>
          <a:custGeom>
            <a:avLst/>
            <a:gdLst>
              <a:gd name="connsiteX0" fmla="*/ 0 w 3879850"/>
              <a:gd name="connsiteY0" fmla="*/ 0 h 1974850"/>
              <a:gd name="connsiteX1" fmla="*/ 990600 w 3879850"/>
              <a:gd name="connsiteY1" fmla="*/ 139700 h 1974850"/>
              <a:gd name="connsiteX2" fmla="*/ 2508250 w 3879850"/>
              <a:gd name="connsiteY2" fmla="*/ 565150 h 1974850"/>
              <a:gd name="connsiteX3" fmla="*/ 3632200 w 3879850"/>
              <a:gd name="connsiteY3" fmla="*/ 1263650 h 1974850"/>
              <a:gd name="connsiteX4" fmla="*/ 3879850 w 3879850"/>
              <a:gd name="connsiteY4" fmla="*/ 1974850 h 197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9850" h="1974850">
                <a:moveTo>
                  <a:pt x="0" y="0"/>
                </a:moveTo>
                <a:cubicBezTo>
                  <a:pt x="286279" y="22754"/>
                  <a:pt x="572558" y="45508"/>
                  <a:pt x="990600" y="139700"/>
                </a:cubicBezTo>
                <a:cubicBezTo>
                  <a:pt x="1408642" y="233892"/>
                  <a:pt x="2067983" y="377825"/>
                  <a:pt x="2508250" y="565150"/>
                </a:cubicBezTo>
                <a:cubicBezTo>
                  <a:pt x="2948517" y="752475"/>
                  <a:pt x="3403600" y="1028700"/>
                  <a:pt x="3632200" y="1263650"/>
                </a:cubicBezTo>
                <a:cubicBezTo>
                  <a:pt x="3860800" y="1498600"/>
                  <a:pt x="3879850" y="1974850"/>
                  <a:pt x="3879850" y="1974850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96" name="Freeform 95"/>
          <p:cNvSpPr/>
          <p:nvPr/>
        </p:nvSpPr>
        <p:spPr>
          <a:xfrm>
            <a:off x="990600" y="2023797"/>
            <a:ext cx="4006850" cy="941653"/>
          </a:xfrm>
          <a:custGeom>
            <a:avLst/>
            <a:gdLst>
              <a:gd name="connsiteX0" fmla="*/ 0 w 4006850"/>
              <a:gd name="connsiteY0" fmla="*/ 20903 h 941653"/>
              <a:gd name="connsiteX1" fmla="*/ 1384300 w 4006850"/>
              <a:gd name="connsiteY1" fmla="*/ 14553 h 941653"/>
              <a:gd name="connsiteX2" fmla="*/ 3175000 w 4006850"/>
              <a:gd name="connsiteY2" fmla="*/ 186003 h 941653"/>
              <a:gd name="connsiteX3" fmla="*/ 4006850 w 4006850"/>
              <a:gd name="connsiteY3" fmla="*/ 941653 h 94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6850" h="941653">
                <a:moveTo>
                  <a:pt x="0" y="20903"/>
                </a:moveTo>
                <a:cubicBezTo>
                  <a:pt x="427566" y="3969"/>
                  <a:pt x="855133" y="-12964"/>
                  <a:pt x="1384300" y="14553"/>
                </a:cubicBezTo>
                <a:cubicBezTo>
                  <a:pt x="1913467" y="42070"/>
                  <a:pt x="2737908" y="31486"/>
                  <a:pt x="3175000" y="186003"/>
                </a:cubicBezTo>
                <a:cubicBezTo>
                  <a:pt x="3612092" y="340520"/>
                  <a:pt x="4006850" y="941653"/>
                  <a:pt x="4006850" y="941653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97" name="Freeform 96"/>
          <p:cNvSpPr/>
          <p:nvPr/>
        </p:nvSpPr>
        <p:spPr>
          <a:xfrm>
            <a:off x="2120900" y="1943100"/>
            <a:ext cx="2889250" cy="1003300"/>
          </a:xfrm>
          <a:custGeom>
            <a:avLst/>
            <a:gdLst>
              <a:gd name="connsiteX0" fmla="*/ 0 w 2889250"/>
              <a:gd name="connsiteY0" fmla="*/ 0 h 1003300"/>
              <a:gd name="connsiteX1" fmla="*/ 1384300 w 2889250"/>
              <a:gd name="connsiteY1" fmla="*/ 44450 h 1003300"/>
              <a:gd name="connsiteX2" fmla="*/ 2298700 w 2889250"/>
              <a:gd name="connsiteY2" fmla="*/ 260350 h 1003300"/>
              <a:gd name="connsiteX3" fmla="*/ 2889250 w 2889250"/>
              <a:gd name="connsiteY3" fmla="*/ 1003300 h 100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89250" h="1003300">
                <a:moveTo>
                  <a:pt x="0" y="0"/>
                </a:moveTo>
                <a:cubicBezTo>
                  <a:pt x="500591" y="529"/>
                  <a:pt x="1001183" y="1058"/>
                  <a:pt x="1384300" y="44450"/>
                </a:cubicBezTo>
                <a:cubicBezTo>
                  <a:pt x="1767417" y="87842"/>
                  <a:pt x="2047875" y="100542"/>
                  <a:pt x="2298700" y="260350"/>
                </a:cubicBezTo>
                <a:cubicBezTo>
                  <a:pt x="2549525" y="420158"/>
                  <a:pt x="2889250" y="1003300"/>
                  <a:pt x="2889250" y="1003300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98" name="Freeform 97"/>
          <p:cNvSpPr/>
          <p:nvPr/>
        </p:nvSpPr>
        <p:spPr>
          <a:xfrm>
            <a:off x="1238250" y="2979274"/>
            <a:ext cx="3778250" cy="1643526"/>
          </a:xfrm>
          <a:custGeom>
            <a:avLst/>
            <a:gdLst>
              <a:gd name="connsiteX0" fmla="*/ 0 w 3778250"/>
              <a:gd name="connsiteY0" fmla="*/ 1643526 h 1643526"/>
              <a:gd name="connsiteX1" fmla="*/ 666750 w 3778250"/>
              <a:gd name="connsiteY1" fmla="*/ 760876 h 1643526"/>
              <a:gd name="connsiteX2" fmla="*/ 1962150 w 3778250"/>
              <a:gd name="connsiteY2" fmla="*/ 75076 h 1643526"/>
              <a:gd name="connsiteX3" fmla="*/ 3778250 w 3778250"/>
              <a:gd name="connsiteY3" fmla="*/ 17926 h 1643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8250" h="1643526">
                <a:moveTo>
                  <a:pt x="0" y="1643526"/>
                </a:moveTo>
                <a:cubicBezTo>
                  <a:pt x="169862" y="1332905"/>
                  <a:pt x="339725" y="1022284"/>
                  <a:pt x="666750" y="760876"/>
                </a:cubicBezTo>
                <a:cubicBezTo>
                  <a:pt x="993775" y="499468"/>
                  <a:pt x="1443567" y="198901"/>
                  <a:pt x="1962150" y="75076"/>
                </a:cubicBezTo>
                <a:cubicBezTo>
                  <a:pt x="2480733" y="-48749"/>
                  <a:pt x="3778250" y="17926"/>
                  <a:pt x="3778250" y="17926"/>
                </a:cubicBezTo>
              </a:path>
            </a:pathLst>
          </a:cu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742679" y="2981904"/>
            <a:ext cx="3669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  <a:effectLst>
                  <a:outerShdw blurRad="25400" dist="50800" dir="2700000" algn="tl" rotWithShape="0">
                    <a:prstClr val="black">
                      <a:alpha val="52000"/>
                    </a:prstClr>
                  </a:outerShdw>
                </a:effectLst>
              </a:rPr>
              <a:t>National Water Center</a:t>
            </a:r>
          </a:p>
        </p:txBody>
      </p:sp>
      <p:sp>
        <p:nvSpPr>
          <p:cNvPr id="37" name="Freeform 36"/>
          <p:cNvSpPr/>
          <p:nvPr/>
        </p:nvSpPr>
        <p:spPr>
          <a:xfrm>
            <a:off x="1270088" y="3014505"/>
            <a:ext cx="3771781" cy="1629116"/>
          </a:xfrm>
          <a:custGeom>
            <a:avLst/>
            <a:gdLst>
              <a:gd name="connsiteX0" fmla="*/ 0 w 3778250"/>
              <a:gd name="connsiteY0" fmla="*/ 1643526 h 1643526"/>
              <a:gd name="connsiteX1" fmla="*/ 666750 w 3778250"/>
              <a:gd name="connsiteY1" fmla="*/ 760876 h 1643526"/>
              <a:gd name="connsiteX2" fmla="*/ 1962150 w 3778250"/>
              <a:gd name="connsiteY2" fmla="*/ 75076 h 1643526"/>
              <a:gd name="connsiteX3" fmla="*/ 3778250 w 3778250"/>
              <a:gd name="connsiteY3" fmla="*/ 17926 h 1643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8250" h="1643526">
                <a:moveTo>
                  <a:pt x="0" y="1643526"/>
                </a:moveTo>
                <a:cubicBezTo>
                  <a:pt x="169862" y="1332905"/>
                  <a:pt x="339725" y="1022284"/>
                  <a:pt x="666750" y="760876"/>
                </a:cubicBezTo>
                <a:cubicBezTo>
                  <a:pt x="993775" y="499468"/>
                  <a:pt x="1443567" y="198901"/>
                  <a:pt x="1962150" y="75076"/>
                </a:cubicBezTo>
                <a:cubicBezTo>
                  <a:pt x="2480733" y="-48749"/>
                  <a:pt x="3778250" y="17926"/>
                  <a:pt x="3778250" y="17926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1000632" y="2059085"/>
            <a:ext cx="4050637" cy="1048786"/>
          </a:xfrm>
          <a:custGeom>
            <a:avLst/>
            <a:gdLst>
              <a:gd name="connsiteX0" fmla="*/ 0 w 4006850"/>
              <a:gd name="connsiteY0" fmla="*/ 20903 h 941653"/>
              <a:gd name="connsiteX1" fmla="*/ 1384300 w 4006850"/>
              <a:gd name="connsiteY1" fmla="*/ 14553 h 941653"/>
              <a:gd name="connsiteX2" fmla="*/ 3175000 w 4006850"/>
              <a:gd name="connsiteY2" fmla="*/ 186003 h 941653"/>
              <a:gd name="connsiteX3" fmla="*/ 4006850 w 4006850"/>
              <a:gd name="connsiteY3" fmla="*/ 941653 h 941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6850" h="941653">
                <a:moveTo>
                  <a:pt x="0" y="20903"/>
                </a:moveTo>
                <a:cubicBezTo>
                  <a:pt x="427566" y="3969"/>
                  <a:pt x="855133" y="-12964"/>
                  <a:pt x="1384300" y="14553"/>
                </a:cubicBezTo>
                <a:cubicBezTo>
                  <a:pt x="1913467" y="42070"/>
                  <a:pt x="2737908" y="31486"/>
                  <a:pt x="3175000" y="186003"/>
                </a:cubicBezTo>
                <a:cubicBezTo>
                  <a:pt x="3612092" y="340520"/>
                  <a:pt x="4006850" y="941653"/>
                  <a:pt x="4006850" y="941653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2" name="Freeform 51"/>
          <p:cNvSpPr/>
          <p:nvPr/>
        </p:nvSpPr>
        <p:spPr>
          <a:xfrm>
            <a:off x="3983076" y="2744039"/>
            <a:ext cx="1036698" cy="269892"/>
          </a:xfrm>
          <a:custGeom>
            <a:avLst/>
            <a:gdLst>
              <a:gd name="connsiteX0" fmla="*/ 0 w 1036698"/>
              <a:gd name="connsiteY0" fmla="*/ 23690 h 269892"/>
              <a:gd name="connsiteX1" fmla="*/ 414679 w 1036698"/>
              <a:gd name="connsiteY1" fmla="*/ 23690 h 269892"/>
              <a:gd name="connsiteX2" fmla="*/ 1036698 w 1036698"/>
              <a:gd name="connsiteY2" fmla="*/ 269892 h 269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698" h="269892">
                <a:moveTo>
                  <a:pt x="0" y="23690"/>
                </a:moveTo>
                <a:cubicBezTo>
                  <a:pt x="120948" y="3173"/>
                  <a:pt x="241896" y="-17344"/>
                  <a:pt x="414679" y="23690"/>
                </a:cubicBezTo>
                <a:cubicBezTo>
                  <a:pt x="587462" y="64724"/>
                  <a:pt x="1036698" y="269892"/>
                  <a:pt x="1036698" y="269892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3" name="Freeform 52"/>
          <p:cNvSpPr/>
          <p:nvPr/>
        </p:nvSpPr>
        <p:spPr>
          <a:xfrm>
            <a:off x="2119364" y="1980036"/>
            <a:ext cx="2889250" cy="1003300"/>
          </a:xfrm>
          <a:custGeom>
            <a:avLst/>
            <a:gdLst>
              <a:gd name="connsiteX0" fmla="*/ 0 w 2889250"/>
              <a:gd name="connsiteY0" fmla="*/ 0 h 1003300"/>
              <a:gd name="connsiteX1" fmla="*/ 1384300 w 2889250"/>
              <a:gd name="connsiteY1" fmla="*/ 44450 h 1003300"/>
              <a:gd name="connsiteX2" fmla="*/ 2298700 w 2889250"/>
              <a:gd name="connsiteY2" fmla="*/ 260350 h 1003300"/>
              <a:gd name="connsiteX3" fmla="*/ 2889250 w 2889250"/>
              <a:gd name="connsiteY3" fmla="*/ 1003300 h 100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89250" h="1003300">
                <a:moveTo>
                  <a:pt x="0" y="0"/>
                </a:moveTo>
                <a:cubicBezTo>
                  <a:pt x="500591" y="529"/>
                  <a:pt x="1001183" y="1058"/>
                  <a:pt x="1384300" y="44450"/>
                </a:cubicBezTo>
                <a:cubicBezTo>
                  <a:pt x="1767417" y="87842"/>
                  <a:pt x="2047875" y="100542"/>
                  <a:pt x="2298700" y="260350"/>
                </a:cubicBezTo>
                <a:cubicBezTo>
                  <a:pt x="2549525" y="420158"/>
                  <a:pt x="2889250" y="1003300"/>
                  <a:pt x="2889250" y="1003300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4" name="Freeform 53"/>
          <p:cNvSpPr/>
          <p:nvPr/>
        </p:nvSpPr>
        <p:spPr>
          <a:xfrm>
            <a:off x="3846948" y="3027786"/>
            <a:ext cx="1193800" cy="241300"/>
          </a:xfrm>
          <a:custGeom>
            <a:avLst/>
            <a:gdLst>
              <a:gd name="connsiteX0" fmla="*/ 0 w 1193800"/>
              <a:gd name="connsiteY0" fmla="*/ 241300 h 241300"/>
              <a:gd name="connsiteX1" fmla="*/ 660400 w 1193800"/>
              <a:gd name="connsiteY1" fmla="*/ 196850 h 241300"/>
              <a:gd name="connsiteX2" fmla="*/ 1193800 w 1193800"/>
              <a:gd name="connsiteY2" fmla="*/ 0 h 24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3800" h="241300">
                <a:moveTo>
                  <a:pt x="0" y="241300"/>
                </a:moveTo>
                <a:cubicBezTo>
                  <a:pt x="230716" y="239183"/>
                  <a:pt x="461433" y="237067"/>
                  <a:pt x="660400" y="196850"/>
                </a:cubicBezTo>
                <a:cubicBezTo>
                  <a:pt x="859367" y="156633"/>
                  <a:pt x="1193800" y="0"/>
                  <a:pt x="1193800" y="0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5" name="Freeform 54"/>
          <p:cNvSpPr/>
          <p:nvPr/>
        </p:nvSpPr>
        <p:spPr>
          <a:xfrm>
            <a:off x="1096822" y="1021186"/>
            <a:ext cx="3879850" cy="1974850"/>
          </a:xfrm>
          <a:custGeom>
            <a:avLst/>
            <a:gdLst>
              <a:gd name="connsiteX0" fmla="*/ 0 w 3879850"/>
              <a:gd name="connsiteY0" fmla="*/ 0 h 1974850"/>
              <a:gd name="connsiteX1" fmla="*/ 990600 w 3879850"/>
              <a:gd name="connsiteY1" fmla="*/ 139700 h 1974850"/>
              <a:gd name="connsiteX2" fmla="*/ 2508250 w 3879850"/>
              <a:gd name="connsiteY2" fmla="*/ 565150 h 1974850"/>
              <a:gd name="connsiteX3" fmla="*/ 3632200 w 3879850"/>
              <a:gd name="connsiteY3" fmla="*/ 1263650 h 1974850"/>
              <a:gd name="connsiteX4" fmla="*/ 3879850 w 3879850"/>
              <a:gd name="connsiteY4" fmla="*/ 1974850 h 197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9850" h="1974850">
                <a:moveTo>
                  <a:pt x="0" y="0"/>
                </a:moveTo>
                <a:cubicBezTo>
                  <a:pt x="286279" y="22754"/>
                  <a:pt x="572558" y="45508"/>
                  <a:pt x="990600" y="139700"/>
                </a:cubicBezTo>
                <a:cubicBezTo>
                  <a:pt x="1408642" y="233892"/>
                  <a:pt x="2067983" y="377825"/>
                  <a:pt x="2508250" y="565150"/>
                </a:cubicBezTo>
                <a:cubicBezTo>
                  <a:pt x="2948517" y="752475"/>
                  <a:pt x="3403600" y="1028700"/>
                  <a:pt x="3632200" y="1263650"/>
                </a:cubicBezTo>
                <a:cubicBezTo>
                  <a:pt x="3860800" y="1498600"/>
                  <a:pt x="3879850" y="1974850"/>
                  <a:pt x="3879850" y="1974850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6" name="Freeform 55"/>
          <p:cNvSpPr/>
          <p:nvPr/>
        </p:nvSpPr>
        <p:spPr>
          <a:xfrm>
            <a:off x="4116393" y="1413816"/>
            <a:ext cx="868239" cy="1554955"/>
          </a:xfrm>
          <a:custGeom>
            <a:avLst/>
            <a:gdLst>
              <a:gd name="connsiteX0" fmla="*/ 0 w 868239"/>
              <a:gd name="connsiteY0" fmla="*/ 0 h 1554955"/>
              <a:gd name="connsiteX1" fmla="*/ 388762 w 868239"/>
              <a:gd name="connsiteY1" fmla="*/ 323949 h 1554955"/>
              <a:gd name="connsiteX2" fmla="*/ 790482 w 868239"/>
              <a:gd name="connsiteY2" fmla="*/ 945931 h 1554955"/>
              <a:gd name="connsiteX3" fmla="*/ 868234 w 868239"/>
              <a:gd name="connsiteY3" fmla="*/ 1554955 h 1554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8239" h="1554955">
                <a:moveTo>
                  <a:pt x="0" y="0"/>
                </a:moveTo>
                <a:cubicBezTo>
                  <a:pt x="128507" y="83147"/>
                  <a:pt x="257015" y="166294"/>
                  <a:pt x="388762" y="323949"/>
                </a:cubicBezTo>
                <a:cubicBezTo>
                  <a:pt x="520509" y="481604"/>
                  <a:pt x="710570" y="740763"/>
                  <a:pt x="790482" y="945931"/>
                </a:cubicBezTo>
                <a:cubicBezTo>
                  <a:pt x="870394" y="1151099"/>
                  <a:pt x="868234" y="1554955"/>
                  <a:pt x="868234" y="1554955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7" name="Freeform 56"/>
          <p:cNvSpPr/>
          <p:nvPr/>
        </p:nvSpPr>
        <p:spPr>
          <a:xfrm>
            <a:off x="5031127" y="2097608"/>
            <a:ext cx="317500" cy="927100"/>
          </a:xfrm>
          <a:custGeom>
            <a:avLst/>
            <a:gdLst>
              <a:gd name="connsiteX0" fmla="*/ 317500 w 317500"/>
              <a:gd name="connsiteY0" fmla="*/ 0 h 927100"/>
              <a:gd name="connsiteX1" fmla="*/ 177800 w 317500"/>
              <a:gd name="connsiteY1" fmla="*/ 520700 h 927100"/>
              <a:gd name="connsiteX2" fmla="*/ 0 w 317500"/>
              <a:gd name="connsiteY2" fmla="*/ 927100 h 92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7500" h="927100">
                <a:moveTo>
                  <a:pt x="317500" y="0"/>
                </a:moveTo>
                <a:cubicBezTo>
                  <a:pt x="274108" y="183091"/>
                  <a:pt x="230717" y="366183"/>
                  <a:pt x="177800" y="520700"/>
                </a:cubicBezTo>
                <a:cubicBezTo>
                  <a:pt x="124883" y="675217"/>
                  <a:pt x="0" y="927100"/>
                  <a:pt x="0" y="927100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8" name="Freeform 57"/>
          <p:cNvSpPr/>
          <p:nvPr/>
        </p:nvSpPr>
        <p:spPr>
          <a:xfrm>
            <a:off x="5043827" y="1713142"/>
            <a:ext cx="939800" cy="1289050"/>
          </a:xfrm>
          <a:custGeom>
            <a:avLst/>
            <a:gdLst>
              <a:gd name="connsiteX0" fmla="*/ 939800 w 939800"/>
              <a:gd name="connsiteY0" fmla="*/ 0 h 1289050"/>
              <a:gd name="connsiteX1" fmla="*/ 793750 w 939800"/>
              <a:gd name="connsiteY1" fmla="*/ 247650 h 1289050"/>
              <a:gd name="connsiteX2" fmla="*/ 387350 w 939800"/>
              <a:gd name="connsiteY2" fmla="*/ 895350 h 1289050"/>
              <a:gd name="connsiteX3" fmla="*/ 0 w 939800"/>
              <a:gd name="connsiteY3" fmla="*/ 1289050 h 128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9800" h="1289050">
                <a:moveTo>
                  <a:pt x="939800" y="0"/>
                </a:moveTo>
                <a:cubicBezTo>
                  <a:pt x="912812" y="49212"/>
                  <a:pt x="885825" y="98425"/>
                  <a:pt x="793750" y="247650"/>
                </a:cubicBezTo>
                <a:cubicBezTo>
                  <a:pt x="701675" y="396875"/>
                  <a:pt x="519642" y="721783"/>
                  <a:pt x="387350" y="895350"/>
                </a:cubicBezTo>
                <a:cubicBezTo>
                  <a:pt x="255058" y="1068917"/>
                  <a:pt x="0" y="1289050"/>
                  <a:pt x="0" y="1289050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9" name="Freeform 58"/>
          <p:cNvSpPr/>
          <p:nvPr/>
        </p:nvSpPr>
        <p:spPr>
          <a:xfrm>
            <a:off x="5027856" y="1341764"/>
            <a:ext cx="1600200" cy="1676400"/>
          </a:xfrm>
          <a:custGeom>
            <a:avLst/>
            <a:gdLst>
              <a:gd name="connsiteX0" fmla="*/ 1600200 w 1600200"/>
              <a:gd name="connsiteY0" fmla="*/ 0 h 1676400"/>
              <a:gd name="connsiteX1" fmla="*/ 1289050 w 1600200"/>
              <a:gd name="connsiteY1" fmla="*/ 520700 h 1676400"/>
              <a:gd name="connsiteX2" fmla="*/ 641350 w 1600200"/>
              <a:gd name="connsiteY2" fmla="*/ 1295400 h 1676400"/>
              <a:gd name="connsiteX3" fmla="*/ 0 w 1600200"/>
              <a:gd name="connsiteY3" fmla="*/ 167640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0200" h="1676400">
                <a:moveTo>
                  <a:pt x="1600200" y="0"/>
                </a:moveTo>
                <a:cubicBezTo>
                  <a:pt x="1524529" y="152400"/>
                  <a:pt x="1448858" y="304800"/>
                  <a:pt x="1289050" y="520700"/>
                </a:cubicBezTo>
                <a:cubicBezTo>
                  <a:pt x="1129242" y="736600"/>
                  <a:pt x="856192" y="1102783"/>
                  <a:pt x="641350" y="1295400"/>
                </a:cubicBezTo>
                <a:cubicBezTo>
                  <a:pt x="426508" y="1488017"/>
                  <a:pt x="0" y="1676400"/>
                  <a:pt x="0" y="1676400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60" name="Freeform 59"/>
          <p:cNvSpPr/>
          <p:nvPr/>
        </p:nvSpPr>
        <p:spPr>
          <a:xfrm>
            <a:off x="5011885" y="2996036"/>
            <a:ext cx="400050" cy="82659"/>
          </a:xfrm>
          <a:custGeom>
            <a:avLst/>
            <a:gdLst>
              <a:gd name="connsiteX0" fmla="*/ 400050 w 400050"/>
              <a:gd name="connsiteY0" fmla="*/ 0 h 82659"/>
              <a:gd name="connsiteX1" fmla="*/ 146050 w 400050"/>
              <a:gd name="connsiteY1" fmla="*/ 82550 h 82659"/>
              <a:gd name="connsiteX2" fmla="*/ 0 w 400050"/>
              <a:gd name="connsiteY2" fmla="*/ 19050 h 82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" h="82659">
                <a:moveTo>
                  <a:pt x="400050" y="0"/>
                </a:moveTo>
                <a:cubicBezTo>
                  <a:pt x="306387" y="39687"/>
                  <a:pt x="212725" y="79375"/>
                  <a:pt x="146050" y="82550"/>
                </a:cubicBezTo>
                <a:cubicBezTo>
                  <a:pt x="79375" y="85725"/>
                  <a:pt x="0" y="19050"/>
                  <a:pt x="0" y="19050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61" name="Freeform 60"/>
          <p:cNvSpPr/>
          <p:nvPr/>
        </p:nvSpPr>
        <p:spPr>
          <a:xfrm>
            <a:off x="4857594" y="2998023"/>
            <a:ext cx="214217" cy="557192"/>
          </a:xfrm>
          <a:custGeom>
            <a:avLst/>
            <a:gdLst>
              <a:gd name="connsiteX0" fmla="*/ 0 w 214217"/>
              <a:gd name="connsiteY0" fmla="*/ 557192 h 557192"/>
              <a:gd name="connsiteX1" fmla="*/ 207339 w 214217"/>
              <a:gd name="connsiteY1" fmla="*/ 362823 h 557192"/>
              <a:gd name="connsiteX2" fmla="*/ 168463 w 214217"/>
              <a:gd name="connsiteY2" fmla="*/ 0 h 557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217" h="557192">
                <a:moveTo>
                  <a:pt x="0" y="557192"/>
                </a:moveTo>
                <a:cubicBezTo>
                  <a:pt x="89631" y="506440"/>
                  <a:pt x="179262" y="455688"/>
                  <a:pt x="207339" y="362823"/>
                </a:cubicBezTo>
                <a:cubicBezTo>
                  <a:pt x="235416" y="269958"/>
                  <a:pt x="168463" y="0"/>
                  <a:pt x="168463" y="0"/>
                </a:cubicBezTo>
              </a:path>
            </a:pathLst>
          </a:cu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5-Point Star 8"/>
          <p:cNvSpPr/>
          <p:nvPr/>
        </p:nvSpPr>
        <p:spPr>
          <a:xfrm>
            <a:off x="4806950" y="2768600"/>
            <a:ext cx="393700" cy="393700"/>
          </a:xfrm>
          <a:prstGeom prst="star5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9" name="Oval 98"/>
          <p:cNvSpPr/>
          <p:nvPr/>
        </p:nvSpPr>
        <p:spPr>
          <a:xfrm>
            <a:off x="3733800" y="314960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3886200" y="265430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4718050" y="345440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5327650" y="287655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5245100" y="196850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1162050" y="454660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2006600" y="184150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Oval 43"/>
          <p:cNvSpPr/>
          <p:nvPr/>
        </p:nvSpPr>
        <p:spPr>
          <a:xfrm>
            <a:off x="889000" y="196215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4025900" y="224155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4064000" y="131445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5867400" y="160655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6546850" y="121285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1035050" y="920750"/>
            <a:ext cx="165100" cy="165100"/>
          </a:xfrm>
          <a:prstGeom prst="ellipse">
            <a:avLst/>
          </a:prstGeom>
          <a:solidFill>
            <a:srgbClr val="FF0000"/>
          </a:solidFill>
          <a:ln>
            <a:solidFill>
              <a:srgbClr val="A12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6169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3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3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3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3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3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3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3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3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3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3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3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3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96" grpId="0" animBg="1"/>
      <p:bldP spid="97" grpId="0" animBg="1"/>
      <p:bldP spid="98" grpId="0" animBg="1"/>
      <p:bldP spid="37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RFC Forecast Point: Onion Creek at Highway 183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6" y="1262247"/>
            <a:ext cx="4480363" cy="36925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633" y="3855849"/>
            <a:ext cx="5740291" cy="28387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89001" y="4677104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400" b="1" dirty="0">
                <a:solidFill>
                  <a:srgbClr val="FF0000"/>
                </a:solidFill>
              </a:rPr>
              <a:t>USGS Gage 08159000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7126014" y="4834759"/>
            <a:ext cx="538982" cy="1051034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240924" y="5780192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400" b="1" dirty="0">
                <a:solidFill>
                  <a:srgbClr val="ED982D">
                    <a:lumMod val="75000"/>
                  </a:srgbClr>
                </a:solidFill>
              </a:rPr>
              <a:t>NWS Forecast Point ATIT2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6495393" y="5885793"/>
            <a:ext cx="1169603" cy="105104"/>
          </a:xfrm>
          <a:prstGeom prst="straightConnector1">
            <a:avLst/>
          </a:prstGeom>
          <a:noFill/>
          <a:ln w="19050" cap="flat" cmpd="sng" algn="ctr">
            <a:solidFill>
              <a:schemeClr val="accent3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/>
          <p:cNvCxnSpPr>
            <a:endCxn id="4" idx="0"/>
          </p:cNvCxnSpPr>
          <p:nvPr/>
        </p:nvCxnSpPr>
        <p:spPr bwMode="auto">
          <a:xfrm>
            <a:off x="3541986" y="3457903"/>
            <a:ext cx="2512793" cy="397946"/>
          </a:xfrm>
          <a:prstGeom prst="straightConnector1">
            <a:avLst/>
          </a:prstGeom>
          <a:noFill/>
          <a:ln w="1905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5067874" y="2194126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400" b="1" dirty="0">
                <a:solidFill>
                  <a:srgbClr val="001446">
                    <a:lumMod val="75000"/>
                    <a:lumOff val="25000"/>
                  </a:srgbClr>
                </a:solidFill>
              </a:rPr>
              <a:t>National Flood Interoperability Experiment</a:t>
            </a:r>
          </a:p>
          <a:p>
            <a:pPr eaLnBrk="0" hangingPunct="0">
              <a:lnSpc>
                <a:spcPts val="1800"/>
              </a:lnSpc>
            </a:pPr>
            <a:r>
              <a:rPr lang="en-US" sz="1400" b="1" dirty="0">
                <a:solidFill>
                  <a:srgbClr val="001446">
                    <a:lumMod val="75000"/>
                    <a:lumOff val="25000"/>
                  </a:srgbClr>
                </a:solidFill>
              </a:rPr>
              <a:t>Geospatial data framework for Texas</a:t>
            </a:r>
          </a:p>
          <a:p>
            <a:pPr eaLnBrk="0" hangingPunct="0">
              <a:lnSpc>
                <a:spcPts val="1800"/>
              </a:lnSpc>
            </a:pPr>
            <a:r>
              <a:rPr lang="en-US" sz="1400" b="1" dirty="0">
                <a:solidFill>
                  <a:srgbClr val="001446">
                    <a:lumMod val="75000"/>
                    <a:lumOff val="25000"/>
                  </a:srgbClr>
                </a:solidFill>
              </a:rPr>
              <a:t>NFIE-Geo Texas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8049" y="5264710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400" b="1" dirty="0" err="1">
                <a:solidFill>
                  <a:srgbClr val="35AC46"/>
                </a:solidFill>
              </a:rPr>
              <a:t>NHDPlus</a:t>
            </a:r>
            <a:r>
              <a:rPr lang="en-US" sz="1400" b="1" dirty="0">
                <a:solidFill>
                  <a:srgbClr val="35AC46"/>
                </a:solidFill>
              </a:rPr>
              <a:t> Catchment 5781369</a:t>
            </a:r>
          </a:p>
        </p:txBody>
      </p:sp>
    </p:spTree>
    <p:extLst>
      <p:ext uri="{BB962C8B-B14F-4D97-AF65-F5344CB8AC3E}">
        <p14:creationId xmlns:p14="http://schemas.microsoft.com/office/powerpoint/2010/main" val="299042533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WaterML2 Observations from USGS and Forecasts from NWS for this location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33551" y="2129721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USGS Observed Flows, July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4388" y="2119261"/>
            <a:ext cx="354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NWS Forecast Flows, July 19-20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8063" y="1857188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400" b="1" dirty="0">
                <a:solidFill>
                  <a:srgbClr val="FF0000"/>
                </a:solidFill>
              </a:rPr>
              <a:t>USGS Gage 08159000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2447" y="1811025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400" b="1" dirty="0">
                <a:solidFill>
                  <a:srgbClr val="ED982D">
                    <a:lumMod val="75000"/>
                  </a:srgbClr>
                </a:solidFill>
              </a:rPr>
              <a:t>NWS Forecast Point ATIT2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388" y="2725425"/>
            <a:ext cx="4133014" cy="33356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51" y="2616197"/>
            <a:ext cx="4057203" cy="35540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4799" y="6239800"/>
            <a:ext cx="2287895" cy="12290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r>
              <a:rPr lang="en-US" sz="2000" b="1" dirty="0" smtClean="0">
                <a:solidFill>
                  <a:srgbClr val="FF0000"/>
                </a:solidFill>
                <a:ea typeface="+mn-ea"/>
                <a:cs typeface="+mn-cs"/>
              </a:rPr>
              <a:t>Past and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6667" y="6144550"/>
            <a:ext cx="2287895" cy="12290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  <a:ea typeface="+mn-ea"/>
                <a:cs typeface="+mn-cs"/>
              </a:rPr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364326236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D31AD-F2C8-9249-BDEC-2852C3DD794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PRE-DECISIONAL - DO NOT DISTRIBUTE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A7525-BC21-4740-9E26-BEDE38A67C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 descr="NWC May2014 Group Photo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272"/>
            <a:ext cx="9144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31650" y="6515157"/>
            <a:ext cx="3338740" cy="384713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pPr defTabSz="457200"/>
            <a:r>
              <a:rPr lang="en-US" sz="1900" b="1" dirty="0">
                <a:solidFill>
                  <a:srgbClr val="000000"/>
                </a:solidFill>
              </a:rPr>
              <a:t>Inaugural Meeting – May, 2014</a:t>
            </a:r>
          </a:p>
        </p:txBody>
      </p:sp>
    </p:spTree>
    <p:extLst>
      <p:ext uri="{BB962C8B-B14F-4D97-AF65-F5344CB8AC3E}">
        <p14:creationId xmlns:p14="http://schemas.microsoft.com/office/powerpoint/2010/main" val="180248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Transformative Research (NSF)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82666" y="1079197"/>
            <a:ext cx="711925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>
                <a:solidFill>
                  <a:srgbClr val="324674"/>
                </a:solidFill>
                <a:latin typeface="Verdana" panose="020B0604030504040204" pitchFamily="34" charset="0"/>
              </a:rPr>
              <a:t>Transformative research involves ideas, discoveries, or tools that radically change our understanding of an important existing scientific or engineering concept or educational practice or leads to the creation of a new paradigm or field of science, engineering, or education. Such research challenges current understanding or provides pathways to new frontiers.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78607" y="4495517"/>
            <a:ext cx="6727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hlinkClick r:id="rId2"/>
              </a:rPr>
              <a:t>http://www.nsf.gov/about/transformative_research/definition.jsp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27742" y="5148943"/>
            <a:ext cx="5944256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i="1" dirty="0" smtClean="0">
                <a:solidFill>
                  <a:prstClr val="black"/>
                </a:solidFill>
              </a:rPr>
              <a:t>How to move from </a:t>
            </a:r>
            <a:r>
              <a:rPr lang="en-US" sz="2400" b="1" i="1" dirty="0" smtClean="0">
                <a:solidFill>
                  <a:srgbClr val="FF0000"/>
                </a:solidFill>
              </a:rPr>
              <a:t>evolutionary </a:t>
            </a:r>
            <a:r>
              <a:rPr lang="en-US" sz="2400" b="1" i="1" dirty="0" smtClean="0">
                <a:solidFill>
                  <a:prstClr val="black"/>
                </a:solidFill>
              </a:rPr>
              <a:t>change</a:t>
            </a:r>
          </a:p>
          <a:p>
            <a:pPr algn="ctr"/>
            <a:r>
              <a:rPr lang="en-US" sz="2400" b="1" i="1" dirty="0" smtClean="0">
                <a:solidFill>
                  <a:prstClr val="black"/>
                </a:solidFill>
              </a:rPr>
              <a:t> to </a:t>
            </a:r>
            <a:r>
              <a:rPr lang="en-US" sz="2400" b="1" i="1" dirty="0" smtClean="0">
                <a:solidFill>
                  <a:srgbClr val="FF0000"/>
                </a:solidFill>
              </a:rPr>
              <a:t>transformative </a:t>
            </a:r>
            <a:r>
              <a:rPr lang="en-US" sz="2400" b="1" i="1" dirty="0" smtClean="0">
                <a:solidFill>
                  <a:prstClr val="black"/>
                </a:solidFill>
              </a:rPr>
              <a:t>change?</a:t>
            </a:r>
            <a:endParaRPr lang="en-US" sz="2400" b="1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8888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National Flood Interoperability Experiment (NFIE) (Sept 2014 to August 2015)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542365"/>
            <a:ext cx="7886700" cy="3179763"/>
          </a:xfrm>
        </p:spPr>
        <p:txBody>
          <a:bodyPr/>
          <a:lstStyle/>
          <a:p>
            <a:r>
              <a:rPr lang="en-US" dirty="0"/>
              <a:t>Partnership </a:t>
            </a:r>
            <a:r>
              <a:rPr lang="en-US" dirty="0" smtClean="0"/>
              <a:t>between </a:t>
            </a:r>
            <a:r>
              <a:rPr lang="en-US" dirty="0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NWS and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the academic community </a:t>
            </a:r>
            <a:r>
              <a:rPr lang="en-US" dirty="0"/>
              <a:t>(Interagency Agreement between NSF and </a:t>
            </a:r>
            <a:r>
              <a:rPr lang="en-US" dirty="0" smtClean="0"/>
              <a:t>NOAA)</a:t>
            </a:r>
            <a:endParaRPr lang="en-US" dirty="0" smtClean="0">
              <a:solidFill>
                <a:schemeClr val="accent1"/>
              </a:solidFill>
            </a:endParaRPr>
          </a:p>
          <a:p>
            <a:r>
              <a:rPr lang="en-US" dirty="0" smtClean="0"/>
              <a:t>Included a </a:t>
            </a:r>
            <a:r>
              <a:rPr lang="en-US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Summer Institute </a:t>
            </a:r>
            <a:r>
              <a:rPr lang="en-US" dirty="0" smtClean="0"/>
              <a:t>for 44 graduate students from 19 Universities at the National Water Center, June 1 to July 17, 2015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883072"/>
            <a:ext cx="4475195" cy="11428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3400" y="4443483"/>
            <a:ext cx="3161950" cy="20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40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 of the Experiment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17723" y="1220283"/>
            <a:ext cx="7886700" cy="4630737"/>
          </a:xfrm>
        </p:spPr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Close the gap </a:t>
            </a:r>
            <a:r>
              <a:rPr lang="en-US" dirty="0" smtClean="0"/>
              <a:t>between National Flood Forecasting and Local Emergency Response</a:t>
            </a:r>
          </a:p>
          <a:p>
            <a:r>
              <a:rPr lang="en-US" dirty="0" smtClean="0"/>
              <a:t>Demonstrate forecasting of flood impacts at </a:t>
            </a:r>
            <a:r>
              <a:rPr lang="en-US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“stream and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street level”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93276" y="3424139"/>
            <a:ext cx="3066735" cy="2663551"/>
            <a:chOff x="1821764" y="3368383"/>
            <a:chExt cx="3066735" cy="2663551"/>
          </a:xfrm>
        </p:grpSpPr>
        <p:sp>
          <p:nvSpPr>
            <p:cNvPr id="4" name="Curved Right Arrow 3"/>
            <p:cNvSpPr/>
            <p:nvPr/>
          </p:nvSpPr>
          <p:spPr>
            <a:xfrm>
              <a:off x="1821764" y="3479896"/>
              <a:ext cx="941142" cy="2464419"/>
            </a:xfrm>
            <a:prstGeom prst="curvedRightArrow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Curved Left Arrow 4"/>
            <p:cNvSpPr/>
            <p:nvPr/>
          </p:nvSpPr>
          <p:spPr>
            <a:xfrm flipV="1">
              <a:off x="3981790" y="3368383"/>
              <a:ext cx="906709" cy="2575932"/>
            </a:xfrm>
            <a:prstGeom prst="curvedLeftArrow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931386" y="3368383"/>
              <a:ext cx="1046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</a:rPr>
                <a:t>National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00319" y="5662602"/>
              <a:ext cx="7643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</a:rPr>
                <a:t>Local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813166" y="3380026"/>
            <a:ext cx="4970911" cy="2846163"/>
            <a:chOff x="3405204" y="3441217"/>
            <a:chExt cx="4970911" cy="2846163"/>
          </a:xfrm>
        </p:grpSpPr>
        <p:grpSp>
          <p:nvGrpSpPr>
            <p:cNvPr id="14" name="Group 13"/>
            <p:cNvGrpSpPr/>
            <p:nvPr/>
          </p:nvGrpSpPr>
          <p:grpSpPr>
            <a:xfrm>
              <a:off x="3405204" y="3441217"/>
              <a:ext cx="4970911" cy="1015663"/>
              <a:chOff x="3560401" y="3489200"/>
              <a:chExt cx="4970911" cy="1015663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4490790" y="3489200"/>
                <a:ext cx="24134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</a:rPr>
                  <a:t>Weather and Hydrology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560401" y="3858532"/>
                <a:ext cx="4970911" cy="646331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1446">
                        <a:lumMod val="75000"/>
                        <a:lumOff val="25000"/>
                      </a:srgbClr>
                    </a:solidFill>
                  </a:rPr>
                  <a:t>National Weather Service and federal agencies</a:t>
                </a:r>
              </a:p>
              <a:p>
                <a:pPr algn="ctr"/>
                <a:r>
                  <a:rPr lang="en-US" dirty="0">
                    <a:solidFill>
                      <a:srgbClr val="001446">
                        <a:lumMod val="75000"/>
                        <a:lumOff val="25000"/>
                      </a:srgbClr>
                    </a:solidFill>
                  </a:rPr>
                  <a:t>National Water Center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3490636" y="5098857"/>
              <a:ext cx="4605825" cy="1188523"/>
              <a:chOff x="3770489" y="5234296"/>
              <a:chExt cx="4605825" cy="1188523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3770489" y="5234296"/>
                <a:ext cx="46058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prstClr val="black"/>
                    </a:solidFill>
                  </a:rPr>
                  <a:t>River Flooding and Emergency Response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235042" y="5776488"/>
                <a:ext cx="3842852" cy="646331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1446">
                        <a:lumMod val="75000"/>
                        <a:lumOff val="25000"/>
                      </a:srgbClr>
                    </a:solidFill>
                  </a:rPr>
                  <a:t>Local, State and Regional Agencies</a:t>
                </a:r>
              </a:p>
              <a:p>
                <a:pPr algn="ctr"/>
                <a:r>
                  <a:rPr lang="en-US" dirty="0">
                    <a:solidFill>
                      <a:srgbClr val="001446">
                        <a:lumMod val="75000"/>
                        <a:lumOff val="25000"/>
                      </a:srgbClr>
                    </a:solidFill>
                  </a:rPr>
                  <a:t>Citizens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61706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 bwMode="auto">
          <a:xfrm>
            <a:off x="4851686" y="4074420"/>
            <a:ext cx="1282700" cy="34575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latin typeface="Arial" charset="0"/>
              <a:ea typeface="ＭＳ Ｐゴシック" pitchFamily="16" charset="-128"/>
              <a:cs typeface="ＭＳ Ｐゴシック" pitchFamily="-97" charset="-128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387600" y="4052377"/>
            <a:ext cx="1397000" cy="34575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latin typeface="Arial" charset="0"/>
              <a:ea typeface="ＭＳ Ｐゴシック" pitchFamily="16" charset="-128"/>
              <a:cs typeface="ＭＳ Ｐゴシック" pitchFamily="-97" charset="-128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866900" y="5788308"/>
            <a:ext cx="1630695" cy="34575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latin typeface="Arial" charset="0"/>
              <a:ea typeface="ＭＳ Ｐゴシック" pitchFamily="16" charset="-128"/>
              <a:cs typeface="ＭＳ Ｐゴシック" pitchFamily="-97" charset="-128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902199" y="2257748"/>
            <a:ext cx="1770089" cy="34575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latin typeface="Arial" charset="0"/>
              <a:ea typeface="ＭＳ Ｐゴシック" pitchFamily="16" charset="-128"/>
              <a:cs typeface="ＭＳ Ｐゴシック" pitchFamily="-97" charset="-128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501900" y="2257748"/>
            <a:ext cx="1282700" cy="34575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latin typeface="Arial" charset="0"/>
              <a:ea typeface="ＭＳ Ｐゴシック" pitchFamily="16" charset="-128"/>
              <a:cs typeface="ＭＳ Ｐゴシック" pitchFamily="-97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NFIE Conceptual </a:t>
            </a:r>
            <a:r>
              <a:rPr lang="en-US" dirty="0" smtClean="0"/>
              <a:t>Framework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447800" y="1600200"/>
            <a:ext cx="5943600" cy="4724400"/>
          </a:xfrm>
          <a:prstGeom prst="rect">
            <a:avLst/>
          </a:prstGeom>
          <a:noFill/>
          <a:ln>
            <a:solidFill>
              <a:srgbClr val="35A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72235" y="1963615"/>
            <a:ext cx="4982135" cy="3634154"/>
          </a:xfrm>
          <a:prstGeom prst="rect">
            <a:avLst/>
          </a:prstGeom>
          <a:noFill/>
          <a:ln>
            <a:solidFill>
              <a:srgbClr val="35A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6" name="Straight Connector 5"/>
          <p:cNvCxnSpPr>
            <a:stCxn id="4" idx="0"/>
            <a:endCxn id="4" idx="2"/>
          </p:cNvCxnSpPr>
          <p:nvPr/>
        </p:nvCxnSpPr>
        <p:spPr>
          <a:xfrm>
            <a:off x="4463303" y="1963615"/>
            <a:ext cx="0" cy="3634154"/>
          </a:xfrm>
          <a:prstGeom prst="line">
            <a:avLst/>
          </a:prstGeom>
          <a:ln w="28575">
            <a:solidFill>
              <a:srgbClr val="35AC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1"/>
            <a:endCxn id="4" idx="3"/>
          </p:cNvCxnSpPr>
          <p:nvPr/>
        </p:nvCxnSpPr>
        <p:spPr>
          <a:xfrm>
            <a:off x="1972235" y="3780692"/>
            <a:ext cx="4982135" cy="0"/>
          </a:xfrm>
          <a:prstGeom prst="line">
            <a:avLst/>
          </a:prstGeom>
          <a:ln w="28575">
            <a:solidFill>
              <a:srgbClr val="35AC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55339" y="5779477"/>
            <a:ext cx="4815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1F497D"/>
                </a:solidFill>
              </a:rPr>
              <a:t>NFIE-Services: </a:t>
            </a:r>
            <a:r>
              <a:rPr lang="en-US" dirty="0">
                <a:solidFill>
                  <a:prstClr val="black"/>
                </a:solidFill>
              </a:rPr>
              <a:t>Web services for flood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4872" y="2240305"/>
            <a:ext cx="2076349" cy="1200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F497D"/>
                </a:solidFill>
              </a:rPr>
              <a:t>NFIE-Geo: </a:t>
            </a:r>
            <a:r>
              <a:rPr lang="en-US" dirty="0">
                <a:solidFill>
                  <a:prstClr val="black"/>
                </a:solidFill>
              </a:rPr>
              <a:t>National geospatial framework for hydrology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7262" y="4040249"/>
            <a:ext cx="2182499" cy="1200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F497D"/>
                </a:solidFill>
              </a:rPr>
              <a:t>NFIE-Hydro: </a:t>
            </a:r>
            <a:r>
              <a:rPr lang="en-US" dirty="0">
                <a:solidFill>
                  <a:prstClr val="black"/>
                </a:solidFill>
              </a:rPr>
              <a:t>National high spatial resolution hydrologic 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8896" y="4077817"/>
            <a:ext cx="2255473" cy="1200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F497D"/>
                </a:solidFill>
              </a:rPr>
              <a:t>NFIE-River: </a:t>
            </a:r>
            <a:r>
              <a:rPr lang="en-US" dirty="0">
                <a:solidFill>
                  <a:prstClr val="black"/>
                </a:solidFill>
              </a:rPr>
              <a:t>River</a:t>
            </a:r>
            <a:r>
              <a:rPr lang="en-US" dirty="0">
                <a:solidFill>
                  <a:srgbClr val="1F497D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channel information and real-time flood inundation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8898" y="2257748"/>
            <a:ext cx="2176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F497D"/>
                </a:solidFill>
              </a:rPr>
              <a:t>NFIE-Response: </a:t>
            </a:r>
            <a:r>
              <a:rPr lang="en-US" dirty="0" smtClean="0">
                <a:solidFill>
                  <a:prstClr val="black"/>
                </a:solidFill>
              </a:rPr>
              <a:t>Community Flood Response System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4224923" y="2774180"/>
            <a:ext cx="437029" cy="167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4181221" y="4416669"/>
            <a:ext cx="437029" cy="1674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3094215" y="3631174"/>
            <a:ext cx="129784" cy="3889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5607525" y="3593786"/>
            <a:ext cx="129784" cy="388906"/>
          </a:xfrm>
          <a:prstGeom prst="downArrow">
            <a:avLst/>
          </a:prstGeom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4258031" y="3671467"/>
            <a:ext cx="437029" cy="167467"/>
          </a:xfrm>
          <a:prstGeom prst="rightArrow">
            <a:avLst/>
          </a:prstGeom>
          <a:scene3d>
            <a:camera prst="orthographicFront">
              <a:rot lat="0" lon="0" rev="2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7136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Open Water Data Initiative (OWDI)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434515" y="1413168"/>
            <a:ext cx="3582988" cy="426085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Subcommittee on Spatial Water Data leads this effort</a:t>
            </a:r>
          </a:p>
          <a:p>
            <a:r>
              <a:rPr lang="en-US" dirty="0" smtClean="0"/>
              <a:t>Al Rea (USGS) and Ed Clark (NWS) are co-chairs</a:t>
            </a:r>
          </a:p>
          <a:p>
            <a:r>
              <a:rPr lang="en-US" dirty="0" smtClean="0"/>
              <a:t>This reports to both FGDC and ACWI</a:t>
            </a:r>
          </a:p>
          <a:p>
            <a:r>
              <a:rPr lang="en-US" dirty="0" smtClean="0"/>
              <a:t>Sponsoring a series of “experiments” with water information services</a:t>
            </a:r>
          </a:p>
          <a:p>
            <a:r>
              <a:rPr lang="en-US" dirty="0" smtClean="0"/>
              <a:t>NFIE is one of these experiments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2847" y="1485667"/>
            <a:ext cx="2149475" cy="296703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637" y="5786438"/>
            <a:ext cx="4903859" cy="4111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346" y="4902994"/>
            <a:ext cx="2724150" cy="704850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8" name="Bent Arrow 7"/>
          <p:cNvSpPr/>
          <p:nvPr/>
        </p:nvSpPr>
        <p:spPr>
          <a:xfrm rot="5400000">
            <a:off x="6578600" y="3302000"/>
            <a:ext cx="1295400" cy="13589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00353" y="2872085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prstClr val="black"/>
                </a:solidFill>
              </a:rPr>
              <a:t>Chair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77666" y="1557677"/>
            <a:ext cx="2753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Anne Castle, </a:t>
            </a:r>
            <a:r>
              <a:rPr lang="en-US" dirty="0" smtClean="0">
                <a:solidFill>
                  <a:prstClr val="black"/>
                </a:solidFill>
              </a:rPr>
              <a:t>Former </a:t>
            </a:r>
            <a:r>
              <a:rPr lang="en-US" dirty="0" err="1" smtClean="0">
                <a:solidFill>
                  <a:prstClr val="black"/>
                </a:solidFill>
              </a:rPr>
              <a:t>Asst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Secretary for Water and Science, </a:t>
            </a:r>
            <a:r>
              <a:rPr lang="en-US" dirty="0" err="1">
                <a:solidFill>
                  <a:prstClr val="black"/>
                </a:solidFill>
              </a:rPr>
              <a:t>Dept</a:t>
            </a:r>
            <a:r>
              <a:rPr lang="en-US" dirty="0">
                <a:solidFill>
                  <a:prstClr val="black"/>
                </a:solidFill>
              </a:rPr>
              <a:t> of Interior</a:t>
            </a:r>
          </a:p>
        </p:txBody>
      </p:sp>
    </p:spTree>
    <p:extLst>
      <p:ext uri="{BB962C8B-B14F-4D97-AF65-F5344CB8AC3E}">
        <p14:creationId xmlns:p14="http://schemas.microsoft.com/office/powerpoint/2010/main" val="33251582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457200"/>
            <a:ext cx="8088086" cy="484632"/>
          </a:xfrm>
        </p:spPr>
        <p:txBody>
          <a:bodyPr>
            <a:normAutofit fontScale="90000"/>
          </a:bodyPr>
          <a:lstStyle/>
          <a:p>
            <a:r>
              <a:rPr lang="en-US" sz="3100" dirty="0" err="1" smtClean="0"/>
              <a:t>NHDPlus</a:t>
            </a:r>
            <a:r>
              <a:rPr lang="en-US" sz="3100" dirty="0"/>
              <a:t> </a:t>
            </a:r>
            <a:r>
              <a:rPr lang="en-US" sz="3100" dirty="0" smtClean="0"/>
              <a:t>Version 2.1</a:t>
            </a:r>
            <a:r>
              <a:rPr lang="en-US" b="1" i="1" dirty="0" smtClean="0"/>
              <a:t/>
            </a:r>
            <a:br>
              <a:rPr lang="en-US" b="1" i="1" dirty="0" smtClean="0"/>
            </a:br>
            <a:endParaRPr lang="en-US" b="1" i="1" dirty="0"/>
          </a:p>
        </p:txBody>
      </p:sp>
      <p:pic>
        <p:nvPicPr>
          <p:cNvPr id="3" name="Picture 2" descr="texa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8656" y="1690701"/>
            <a:ext cx="1779815" cy="1779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huc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52721" y="1633999"/>
            <a:ext cx="2950598" cy="1946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Image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6871" y="4486610"/>
            <a:ext cx="2453673" cy="198835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</p:pic>
      <p:pic>
        <p:nvPicPr>
          <p:cNvPr id="9" name="Picture 8" descr="usnlcd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23679" y="4865925"/>
            <a:ext cx="2808678" cy="177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243010" y="3553846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National Elevation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21" y="4048798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National Hydrography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3756" y="4399916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National Land Cover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3757" y="3547333"/>
            <a:ext cx="3202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Watershed Boundary Dataset</a:t>
            </a:r>
          </a:p>
        </p:txBody>
      </p:sp>
      <p:sp>
        <p:nvSpPr>
          <p:cNvPr id="14" name="Right Arrow 13"/>
          <p:cNvSpPr/>
          <p:nvPr/>
        </p:nvSpPr>
        <p:spPr>
          <a:xfrm rot="1920000">
            <a:off x="2532190" y="2889516"/>
            <a:ext cx="717611" cy="4680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 rot="8700000">
            <a:off x="5102950" y="2859693"/>
            <a:ext cx="717611" cy="4680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 rot="12900000">
            <a:off x="4936721" y="5517411"/>
            <a:ext cx="717611" cy="4680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 rot="-2220000">
            <a:off x="2786328" y="5501022"/>
            <a:ext cx="717611" cy="4680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73525" y="1698642"/>
            <a:ext cx="153277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prstClr val="black"/>
                </a:solidFill>
              </a:rPr>
              <a:t>NHDPlus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6" y="1054909"/>
            <a:ext cx="7696199" cy="338554"/>
          </a:xfrm>
          <a:prstGeom prst="rect">
            <a:avLst/>
          </a:prstGeom>
          <a:solidFill>
            <a:srgbClr val="336799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sz="1600" dirty="0" smtClean="0">
                <a:solidFill>
                  <a:prstClr val="white"/>
                </a:solidFill>
              </a:rPr>
              <a:t>Foundation for a </a:t>
            </a:r>
            <a:r>
              <a:rPr lang="en-US" sz="1600" dirty="0" smtClean="0">
                <a:solidFill>
                  <a:srgbClr val="FFFF00"/>
                </a:solidFill>
              </a:rPr>
              <a:t>Geospatial Hydrologic Framework </a:t>
            </a:r>
            <a:r>
              <a:rPr lang="en-US" sz="1600" dirty="0" smtClean="0">
                <a:solidFill>
                  <a:prstClr val="white"/>
                </a:solidFill>
              </a:rPr>
              <a:t>for the United States</a:t>
            </a:r>
            <a:endParaRPr lang="en-US" sz="1600" dirty="0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653819" y="2237917"/>
            <a:ext cx="31721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 smtClean="0">
                <a:solidFill>
                  <a:prstClr val="black"/>
                </a:solidFill>
              </a:rPr>
              <a:t>2.7 </a:t>
            </a:r>
            <a:r>
              <a:rPr lang="en-US" sz="1400" dirty="0">
                <a:solidFill>
                  <a:prstClr val="black"/>
                </a:solidFill>
              </a:rPr>
              <a:t>million </a:t>
            </a:r>
            <a:r>
              <a:rPr lang="en-US" sz="1400" dirty="0" smtClean="0">
                <a:solidFill>
                  <a:prstClr val="black"/>
                </a:solidFill>
              </a:rPr>
              <a:t>reach catchments in US</a:t>
            </a:r>
          </a:p>
          <a:p>
            <a:pPr algn="ctr"/>
            <a:r>
              <a:rPr lang="en-US" sz="1400" dirty="0" smtClean="0">
                <a:solidFill>
                  <a:prstClr val="black"/>
                </a:solidFill>
              </a:rPr>
              <a:t>average </a:t>
            </a:r>
            <a:r>
              <a:rPr lang="en-US" sz="1400" dirty="0">
                <a:solidFill>
                  <a:prstClr val="black"/>
                </a:solidFill>
              </a:rPr>
              <a:t>area 3 </a:t>
            </a:r>
            <a:r>
              <a:rPr lang="en-US" sz="1400" dirty="0" smtClean="0">
                <a:solidFill>
                  <a:prstClr val="black"/>
                </a:solidFill>
              </a:rPr>
              <a:t>km</a:t>
            </a:r>
            <a:r>
              <a:rPr lang="en-US" sz="1400" baseline="30000" dirty="0" smtClean="0">
                <a:solidFill>
                  <a:prstClr val="black"/>
                </a:solidFill>
              </a:rPr>
              <a:t>2</a:t>
            </a:r>
            <a:r>
              <a:rPr lang="en-US" sz="1400" dirty="0" smtClean="0">
                <a:solidFill>
                  <a:prstClr val="black"/>
                </a:solidFill>
              </a:rPr>
              <a:t> </a:t>
            </a:r>
            <a:endParaRPr lang="en-US" sz="1400" dirty="0">
              <a:solidFill>
                <a:prstClr val="black"/>
              </a:solidFill>
            </a:endParaRPr>
          </a:p>
          <a:p>
            <a:pPr algn="ctr"/>
            <a:r>
              <a:rPr lang="en-US" sz="1400" dirty="0">
                <a:solidFill>
                  <a:prstClr val="black"/>
                </a:solidFill>
              </a:rPr>
              <a:t>reach length 2 </a:t>
            </a:r>
            <a:r>
              <a:rPr lang="en-US" sz="1400" dirty="0" smtClean="0">
                <a:solidFill>
                  <a:prstClr val="black"/>
                </a:solidFill>
              </a:rPr>
              <a:t>km</a:t>
            </a:r>
          </a:p>
          <a:p>
            <a:pPr algn="ctr"/>
            <a:r>
              <a:rPr lang="en-US" sz="1400" dirty="0" smtClean="0">
                <a:solidFill>
                  <a:prstClr val="black"/>
                </a:solidFill>
              </a:rPr>
              <a:t>Uniquely labelled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2030" y="3547332"/>
            <a:ext cx="2148303" cy="140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9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632233" cy="484632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Flood Information for Fritz Hughes Park Rd</a:t>
            </a:r>
            <a:endParaRPr 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7556033" cy="501290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6799" y="4191000"/>
            <a:ext cx="2106549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567158" y="3954251"/>
            <a:ext cx="34951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</a:rPr>
              <a:t>National Hydrography Dataset Plus </a:t>
            </a:r>
          </a:p>
          <a:p>
            <a:pPr algn="ctr"/>
            <a:r>
              <a:rPr lang="en-US" dirty="0">
                <a:solidFill>
                  <a:prstClr val="black"/>
                </a:solidFill>
              </a:rPr>
              <a:t>catchment  for Bear Creek</a:t>
            </a:r>
          </a:p>
          <a:p>
            <a:pPr algn="ctr"/>
            <a:r>
              <a:rPr lang="en-US" dirty="0">
                <a:solidFill>
                  <a:prstClr val="black"/>
                </a:solidFill>
              </a:rPr>
              <a:t>(area = 5.71 km</a:t>
            </a:r>
            <a:r>
              <a:rPr lang="en-US" baseline="30000" dirty="0">
                <a:solidFill>
                  <a:prstClr val="black"/>
                </a:solidFill>
              </a:rPr>
              <a:t>2</a:t>
            </a:r>
            <a:r>
              <a:rPr lang="en-US" dirty="0">
                <a:solidFill>
                  <a:prstClr val="black"/>
                </a:solidFill>
              </a:rPr>
              <a:t>)</a:t>
            </a:r>
          </a:p>
        </p:txBody>
      </p:sp>
      <p:cxnSp>
        <p:nvCxnSpPr>
          <p:cNvPr id="6" name="Straight Arrow Connector 5"/>
          <p:cNvCxnSpPr>
            <a:stCxn id="1027" idx="0"/>
          </p:cNvCxnSpPr>
          <p:nvPr/>
        </p:nvCxnSpPr>
        <p:spPr>
          <a:xfrm flipH="1" flipV="1">
            <a:off x="1676400" y="3581400"/>
            <a:ext cx="443674" cy="6096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337471" y="5660347"/>
            <a:ext cx="2629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</a:rPr>
              <a:t>Low water crossing at </a:t>
            </a:r>
          </a:p>
          <a:p>
            <a:pPr algn="ctr"/>
            <a:r>
              <a:rPr lang="en-US" dirty="0">
                <a:solidFill>
                  <a:prstClr val="black"/>
                </a:solidFill>
              </a:rPr>
              <a:t>3400 Fritz Hughes Park Rd</a:t>
            </a:r>
          </a:p>
        </p:txBody>
      </p:sp>
    </p:spTree>
    <p:extLst>
      <p:ext uri="{BB962C8B-B14F-4D97-AF65-F5344CB8AC3E}">
        <p14:creationId xmlns:p14="http://schemas.microsoft.com/office/powerpoint/2010/main" val="5120024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4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685800" y="4724400"/>
            <a:ext cx="516359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500,000 processors operating in parallel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CBAA-90BE-4B90-A69F-08BC16058E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57600" y="228600"/>
            <a:ext cx="2076979" cy="646331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</a:rPr>
              <a:t>Stampede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089" y="2007771"/>
            <a:ext cx="4379424" cy="23408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16842" y="1992868"/>
            <a:ext cx="2979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1.2 million </a:t>
            </a:r>
            <a:r>
              <a:rPr lang="en-US" dirty="0">
                <a:solidFill>
                  <a:prstClr val="black"/>
                </a:solidFill>
              </a:rPr>
              <a:t>gallon cooling tank</a:t>
            </a:r>
          </a:p>
        </p:txBody>
      </p:sp>
    </p:spTree>
    <p:extLst>
      <p:ext uri="{BB962C8B-B14F-4D97-AF65-F5344CB8AC3E}">
        <p14:creationId xmlns:p14="http://schemas.microsoft.com/office/powerpoint/2010/main" val="402705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WRF-Hydro Forecasting Model</a:t>
            </a:r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 rot="5400000" flipH="1" flipV="1">
            <a:off x="4456720" y="5209062"/>
            <a:ext cx="230560" cy="5056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38548" y="4999688"/>
            <a:ext cx="86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Runoff 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473" y="1889753"/>
            <a:ext cx="2540550" cy="1665705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12" name="Down Arrow 11"/>
          <p:cNvSpPr/>
          <p:nvPr/>
        </p:nvSpPr>
        <p:spPr>
          <a:xfrm flipV="1">
            <a:off x="6757748" y="3659445"/>
            <a:ext cx="230560" cy="5056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88308" y="3727584"/>
            <a:ext cx="1315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Streamflow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68167" y="6385541"/>
            <a:ext cx="38402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RAPID</a:t>
            </a:r>
            <a:r>
              <a:rPr lang="en-US" dirty="0" smtClean="0">
                <a:solidFill>
                  <a:prstClr val="black"/>
                </a:solidFill>
              </a:rPr>
              <a:t> flow routing (for continental US)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24491" y="1478382"/>
            <a:ext cx="276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Probabilistic flood forecasts</a:t>
            </a:r>
            <a:endParaRPr lang="en-US" dirty="0">
              <a:solidFill>
                <a:prstClr val="black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756842" y="1478382"/>
            <a:ext cx="4019049" cy="5270356"/>
            <a:chOff x="337268" y="1478382"/>
            <a:chExt cx="4019049" cy="5270356"/>
          </a:xfrm>
        </p:grpSpPr>
        <p:pic>
          <p:nvPicPr>
            <p:cNvPr id="6" name="Picture 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750" y="4241768"/>
              <a:ext cx="2710370" cy="2083598"/>
            </a:xfrm>
            <a:prstGeom prst="rect">
              <a:avLst/>
            </a:prstGeom>
            <a:noFill/>
            <a:ln w="3175" cmpd="sng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/>
          </p:spPr>
        </p:pic>
        <p:pic>
          <p:nvPicPr>
            <p:cNvPr id="7" name="Picture 24" descr="Total Precipitation"/>
            <p:cNvPicPr>
              <a:picLocks noChangeAspect="1" noChangeArrowheads="1" noCrop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218" y="1853342"/>
              <a:ext cx="1839310" cy="1660077"/>
            </a:xfrm>
            <a:prstGeom prst="rect">
              <a:avLst/>
            </a:prstGeom>
            <a:noFill/>
            <a:ln w="3175" cmpd="sng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/>
          </p:spPr>
        </p:pic>
        <p:sp>
          <p:nvSpPr>
            <p:cNvPr id="11" name="Down Arrow 10"/>
            <p:cNvSpPr/>
            <p:nvPr/>
          </p:nvSpPr>
          <p:spPr>
            <a:xfrm>
              <a:off x="1581375" y="3646838"/>
              <a:ext cx="230560" cy="50561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7268" y="1478382"/>
              <a:ext cx="3662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</a:rPr>
                <a:t>Weather model and forecasts </a:t>
              </a:r>
              <a:r>
                <a:rPr lang="en-US" dirty="0" smtClean="0">
                  <a:solidFill>
                    <a:srgbClr val="FF0000"/>
                  </a:solidFill>
                </a:rPr>
                <a:t>(HRRR)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7268" y="6379406"/>
              <a:ext cx="40190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</a:rPr>
                <a:t>Land-Atmosphere Model </a:t>
              </a:r>
              <a:r>
                <a:rPr lang="en-US" dirty="0" smtClean="0">
                  <a:solidFill>
                    <a:srgbClr val="FF0000"/>
                  </a:solidFill>
                </a:rPr>
                <a:t>(NOAH-MP)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11934" y="3699357"/>
              <a:ext cx="1430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</a:rPr>
                <a:t>Precipitation 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1992" y="3685545"/>
              <a:ext cx="10525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</a:rPr>
                <a:t>Weather </a:t>
              </a:r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586694" y="2554349"/>
            <a:ext cx="1737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prstClr val="black"/>
                </a:solidFill>
              </a:rPr>
              <a:t>Catchment-level forecasts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2866" y="984169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600" b="1" i="1" dirty="0" smtClean="0">
                <a:solidFill>
                  <a:srgbClr val="FF0000"/>
                </a:solidFill>
              </a:rPr>
              <a:t>Computed for the continental US in 10 minutes at Texas Advanced Computing Center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455" y="3200680"/>
            <a:ext cx="1820036" cy="11878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448" y="4403820"/>
            <a:ext cx="25146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383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971" y="1828807"/>
            <a:ext cx="7892071" cy="4277337"/>
          </a:xfrm>
          <a:prstGeom prst="rect">
            <a:avLst/>
          </a:prstGeom>
          <a:noFill/>
          <a:ln w="28575" cmpd="sng">
            <a:solidFill>
              <a:schemeClr val="tx2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85806" y="457200"/>
            <a:ext cx="7312991" cy="48463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 smtClean="0">
                <a:solidFill>
                  <a:srgbClr val="0070C0"/>
                </a:solidFill>
              </a:rPr>
              <a:t>RAPID River Routing Model</a:t>
            </a:r>
          </a:p>
          <a:p>
            <a:r>
              <a:rPr lang="en-US" sz="1400" dirty="0" smtClean="0">
                <a:solidFill>
                  <a:srgbClr val="FF0000"/>
                </a:solidFill>
              </a:rPr>
              <a:t>R</a:t>
            </a:r>
            <a:r>
              <a:rPr lang="en-US" sz="1400" dirty="0" smtClean="0">
                <a:solidFill>
                  <a:srgbClr val="0070C0"/>
                </a:solidFill>
              </a:rPr>
              <a:t>iver </a:t>
            </a:r>
            <a:r>
              <a:rPr lang="en-US" sz="1400" dirty="0">
                <a:solidFill>
                  <a:srgbClr val="FF0000"/>
                </a:solidFill>
              </a:rPr>
              <a:t>A</a:t>
            </a:r>
            <a:r>
              <a:rPr lang="en-US" sz="1400" dirty="0">
                <a:solidFill>
                  <a:srgbClr val="0070C0"/>
                </a:solidFill>
              </a:rPr>
              <a:t>pplication for </a:t>
            </a:r>
            <a:r>
              <a:rPr lang="en-US" sz="1400" dirty="0">
                <a:solidFill>
                  <a:srgbClr val="FF0000"/>
                </a:solidFill>
              </a:rPr>
              <a:t>P</a:t>
            </a:r>
            <a:r>
              <a:rPr lang="en-US" sz="1400" dirty="0">
                <a:solidFill>
                  <a:srgbClr val="0070C0"/>
                </a:solidFill>
              </a:rPr>
              <a:t>arallel </a:t>
            </a:r>
            <a:r>
              <a:rPr lang="en-US" sz="1400" dirty="0" err="1">
                <a:solidFill>
                  <a:srgbClr val="0070C0"/>
                </a:solidFill>
              </a:rPr>
              <a:t>Computat</a:t>
            </a:r>
            <a:r>
              <a:rPr lang="en-US" sz="1400" dirty="0" err="1">
                <a:solidFill>
                  <a:srgbClr val="FF0000"/>
                </a:solidFill>
              </a:rPr>
              <a:t>I</a:t>
            </a:r>
            <a:r>
              <a:rPr lang="en-US" sz="1400" dirty="0" err="1">
                <a:solidFill>
                  <a:srgbClr val="0070C0"/>
                </a:solidFill>
              </a:rPr>
              <a:t>on</a:t>
            </a:r>
            <a:r>
              <a:rPr lang="en-US" sz="1400" dirty="0">
                <a:solidFill>
                  <a:srgbClr val="0070C0"/>
                </a:solidFill>
              </a:rPr>
              <a:t> of </a:t>
            </a:r>
            <a:r>
              <a:rPr lang="en-US" sz="1400" dirty="0">
                <a:solidFill>
                  <a:srgbClr val="FF0000"/>
                </a:solidFill>
              </a:rPr>
              <a:t>D</a:t>
            </a:r>
            <a:r>
              <a:rPr lang="en-US" sz="1400" dirty="0">
                <a:solidFill>
                  <a:srgbClr val="0070C0"/>
                </a:solidFill>
              </a:rPr>
              <a:t>ischarge</a:t>
            </a:r>
            <a:endParaRPr lang="en-US" sz="1400" i="1" dirty="0">
              <a:solidFill>
                <a:srgbClr val="0070C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6955470" y="3471416"/>
            <a:ext cx="170584" cy="170584"/>
          </a:xfrm>
          <a:prstGeom prst="straightConnector1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6694054" y="3236400"/>
            <a:ext cx="457200" cy="228600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>
            <a:noAutofit/>
          </a:bodyPr>
          <a:lstStyle/>
          <a:p>
            <a:pPr algn="ctr" eaLnBrk="0" hangingPunct="0">
              <a:lnSpc>
                <a:spcPts val="1800"/>
              </a:lnSpc>
            </a:pPr>
            <a:r>
              <a:rPr lang="en-US" sz="1100" b="1" i="1" dirty="0">
                <a:solidFill>
                  <a:prstClr val="black"/>
                </a:solidFill>
                <a:latin typeface="Calibri" panose="020F0502020204030204" pitchFamily="34" charset="0"/>
              </a:rPr>
              <a:t>Flow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7138054" y="3800668"/>
            <a:ext cx="152400" cy="1524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611567" y="4953012"/>
            <a:ext cx="1369635" cy="1160337"/>
            <a:chOff x="611565" y="4953000"/>
            <a:chExt cx="1369635" cy="1160337"/>
          </a:xfrm>
        </p:grpSpPr>
        <p:sp>
          <p:nvSpPr>
            <p:cNvPr id="10" name="Rectangle 9"/>
            <p:cNvSpPr/>
            <p:nvPr/>
          </p:nvSpPr>
          <p:spPr bwMode="auto">
            <a:xfrm>
              <a:off x="611565" y="4953000"/>
              <a:ext cx="1369635" cy="116033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762000" y="5585068"/>
              <a:ext cx="152400" cy="1524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158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7400" y="5026025"/>
              <a:ext cx="1066800" cy="246637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noAutofit/>
            </a:bodyPr>
            <a:lstStyle/>
            <a:p>
              <a:pPr eaLnBrk="0" hangingPunct="0">
                <a:lnSpc>
                  <a:spcPts val="1800"/>
                </a:lnSpc>
              </a:pPr>
              <a:r>
                <a:rPr lang="en-US" sz="1400" b="1" dirty="0">
                  <a:solidFill>
                    <a:prstClr val="black"/>
                  </a:solidFill>
                </a:rPr>
                <a:t>Legend</a:t>
              </a:r>
            </a:p>
          </p:txBody>
        </p:sp>
        <p:sp>
          <p:nvSpPr>
            <p:cNvPr id="21" name="Isosceles Triangle 20"/>
            <p:cNvSpPr/>
            <p:nvPr/>
          </p:nvSpPr>
          <p:spPr bwMode="auto">
            <a:xfrm rot="10800000">
              <a:off x="749808" y="5334000"/>
              <a:ext cx="176784" cy="152400"/>
            </a:xfrm>
            <a:prstGeom prst="triangle">
              <a:avLst/>
            </a:prstGeom>
            <a:solidFill>
              <a:srgbClr val="CC00FF"/>
            </a:solidFill>
            <a:ln w="158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710575" y="5835750"/>
              <a:ext cx="268800" cy="1840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040775" y="5278011"/>
            <a:ext cx="1066800" cy="24663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000" dirty="0">
                <a:solidFill>
                  <a:prstClr val="black"/>
                </a:solidFill>
              </a:rPr>
              <a:t>Dam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775" y="5530862"/>
            <a:ext cx="1066800" cy="24663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000" dirty="0">
                <a:solidFill>
                  <a:prstClr val="black"/>
                </a:solidFill>
              </a:rPr>
              <a:t>Junction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775" y="5803912"/>
            <a:ext cx="1066800" cy="24663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000" dirty="0">
                <a:solidFill>
                  <a:prstClr val="black"/>
                </a:solidFill>
              </a:rPr>
              <a:t>Catchment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67" y="1524000"/>
            <a:ext cx="2997825" cy="53340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400" b="1" i="1" dirty="0">
                <a:solidFill>
                  <a:prstClr val="black"/>
                </a:solidFill>
              </a:rPr>
              <a:t>Computational Unit for Rivers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88" y="2209800"/>
            <a:ext cx="3056144" cy="304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eaLnBrk="0" hangingPunct="0">
              <a:lnSpc>
                <a:spcPts val="1800"/>
              </a:lnSpc>
            </a:pPr>
            <a:r>
              <a:rPr lang="en-US" sz="1200" b="1" dirty="0">
                <a:solidFill>
                  <a:prstClr val="black"/>
                </a:solidFill>
              </a:rPr>
              <a:t> Forcing: Runoff and reservoir releases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4287" y="6537580"/>
            <a:ext cx="1791438" cy="236219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>
            <a:noAutofit/>
          </a:bodyPr>
          <a:lstStyle/>
          <a:p>
            <a:pPr algn="ctr" eaLnBrk="0" hangingPunct="0">
              <a:lnSpc>
                <a:spcPts val="1800"/>
              </a:lnSpc>
            </a:pPr>
            <a:r>
              <a:rPr lang="en-US" sz="1400" dirty="0">
                <a:solidFill>
                  <a:prstClr val="black"/>
                </a:solidFill>
              </a:rPr>
              <a:t>http://rapid-hub.org/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37682" y="2174749"/>
            <a:ext cx="171808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 eaLnBrk="0" hangingPunct="0">
              <a:lnSpc>
                <a:spcPts val="1800"/>
              </a:lnSpc>
            </a:pPr>
            <a:r>
              <a:rPr lang="en-US" sz="1200" dirty="0" err="1">
                <a:solidFill>
                  <a:prstClr val="black"/>
                </a:solidFill>
              </a:rPr>
              <a:t>NHDPlus</a:t>
            </a:r>
            <a:r>
              <a:rPr lang="en-US" sz="1200" dirty="0">
                <a:solidFill>
                  <a:prstClr val="black"/>
                </a:solidFill>
              </a:rPr>
              <a:t> Catchment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5570624" y="2323151"/>
            <a:ext cx="633327" cy="383969"/>
            <a:chOff x="5570623" y="2323139"/>
            <a:chExt cx="633327" cy="383969"/>
          </a:xfrm>
        </p:grpSpPr>
        <p:cxnSp>
          <p:nvCxnSpPr>
            <p:cNvPr id="37" name="Straight Arrow Connector 36"/>
            <p:cNvCxnSpPr/>
            <p:nvPr/>
          </p:nvCxnSpPr>
          <p:spPr bwMode="auto">
            <a:xfrm flipH="1">
              <a:off x="5570623" y="2323139"/>
              <a:ext cx="397040" cy="383969"/>
            </a:xfrm>
            <a:prstGeom prst="straightConnector1">
              <a:avLst/>
            </a:prstGeom>
            <a:noFill/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5962650" y="2323139"/>
              <a:ext cx="241300" cy="0"/>
            </a:xfrm>
            <a:prstGeom prst="line">
              <a:avLst/>
            </a:prstGeom>
            <a:noFill/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1" name="Group 30"/>
          <p:cNvGrpSpPr/>
          <p:nvPr/>
        </p:nvGrpSpPr>
        <p:grpSpPr>
          <a:xfrm>
            <a:off x="5966730" y="168424"/>
            <a:ext cx="2932816" cy="1302786"/>
            <a:chOff x="5966728" y="168424"/>
            <a:chExt cx="2932816" cy="1302786"/>
          </a:xfrm>
        </p:grpSpPr>
        <p:grpSp>
          <p:nvGrpSpPr>
            <p:cNvPr id="36" name="Group 35"/>
            <p:cNvGrpSpPr/>
            <p:nvPr/>
          </p:nvGrpSpPr>
          <p:grpSpPr>
            <a:xfrm>
              <a:off x="5966728" y="457200"/>
              <a:ext cx="2786246" cy="1014010"/>
              <a:chOff x="5865128" y="578771"/>
              <a:chExt cx="2786246" cy="1014010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5865128" y="1004058"/>
                <a:ext cx="2430049" cy="588723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rtlCol="0">
                <a:noAutofit/>
              </a:bodyPr>
              <a:lstStyle/>
              <a:p>
                <a:pPr eaLnBrk="0" hangingPunct="0">
                  <a:lnSpc>
                    <a:spcPts val="2400"/>
                  </a:lnSpc>
                </a:pPr>
                <a:r>
                  <a:rPr lang="en-US" sz="1600" dirty="0" err="1">
                    <a:solidFill>
                      <a:prstClr val="black"/>
                    </a:solidFill>
                  </a:rPr>
                  <a:t>S</a:t>
                </a:r>
                <a:r>
                  <a:rPr lang="en-US" sz="1600" baseline="-25000" dirty="0" err="1">
                    <a:solidFill>
                      <a:prstClr val="black"/>
                    </a:solidFill>
                  </a:rPr>
                  <a:t>prism</a:t>
                </a:r>
                <a:r>
                  <a:rPr lang="en-US" sz="1600" baseline="-25000" dirty="0">
                    <a:solidFill>
                      <a:prstClr val="black"/>
                    </a:solidFill>
                  </a:rPr>
                  <a:t> </a:t>
                </a:r>
                <a:r>
                  <a:rPr lang="en-US" sz="1600" dirty="0">
                    <a:solidFill>
                      <a:prstClr val="black"/>
                    </a:solidFill>
                  </a:rPr>
                  <a:t>= </a:t>
                </a:r>
                <a:r>
                  <a:rPr lang="en-US" sz="1600" dirty="0">
                    <a:solidFill>
                      <a:srgbClr val="FF0000"/>
                    </a:solidFill>
                  </a:rPr>
                  <a:t>K</a:t>
                </a:r>
                <a:r>
                  <a:rPr lang="en-US" sz="1600" dirty="0">
                    <a:solidFill>
                      <a:prstClr val="black"/>
                    </a:solidFill>
                  </a:rPr>
                  <a:t>Q</a:t>
                </a:r>
              </a:p>
              <a:p>
                <a:pPr eaLnBrk="0" hangingPunct="0">
                  <a:lnSpc>
                    <a:spcPts val="2400"/>
                  </a:lnSpc>
                </a:pPr>
                <a:r>
                  <a:rPr lang="en-US" sz="1600" dirty="0" err="1">
                    <a:solidFill>
                      <a:prstClr val="black"/>
                    </a:solidFill>
                  </a:rPr>
                  <a:t>S</a:t>
                </a:r>
                <a:r>
                  <a:rPr lang="en-US" sz="1600" baseline="-25000" dirty="0" err="1">
                    <a:solidFill>
                      <a:prstClr val="black"/>
                    </a:solidFill>
                  </a:rPr>
                  <a:t>wedge</a:t>
                </a:r>
                <a:r>
                  <a:rPr lang="en-US" sz="1600" baseline="-25000" dirty="0">
                    <a:solidFill>
                      <a:prstClr val="black"/>
                    </a:solidFill>
                  </a:rPr>
                  <a:t> </a:t>
                </a:r>
                <a:r>
                  <a:rPr lang="en-US" sz="1600" dirty="0">
                    <a:solidFill>
                      <a:prstClr val="black"/>
                    </a:solidFill>
                  </a:rPr>
                  <a:t>= </a:t>
                </a:r>
                <a:r>
                  <a:rPr lang="en-US" sz="1600" dirty="0">
                    <a:solidFill>
                      <a:srgbClr val="FF0000"/>
                    </a:solidFill>
                  </a:rPr>
                  <a:t>KX</a:t>
                </a:r>
                <a:r>
                  <a:rPr lang="en-US" sz="1600" dirty="0">
                    <a:solidFill>
                      <a:prstClr val="black"/>
                    </a:solidFill>
                  </a:rPr>
                  <a:t> (I – Q)</a:t>
                </a:r>
              </a:p>
            </p:txBody>
          </p:sp>
          <p:grpSp>
            <p:nvGrpSpPr>
              <p:cNvPr id="42" name="Group 41"/>
              <p:cNvGrpSpPr/>
              <p:nvPr/>
            </p:nvGrpSpPr>
            <p:grpSpPr>
              <a:xfrm rot="21397274">
                <a:off x="6401469" y="578771"/>
                <a:ext cx="2249905" cy="1013841"/>
                <a:chOff x="6617369" y="591471"/>
                <a:chExt cx="2249905" cy="1013841"/>
              </a:xfrm>
            </p:grpSpPr>
            <p:grpSp>
              <p:nvGrpSpPr>
                <p:cNvPr id="43" name="Group 42"/>
                <p:cNvGrpSpPr/>
                <p:nvPr/>
              </p:nvGrpSpPr>
              <p:grpSpPr>
                <a:xfrm>
                  <a:off x="7116635" y="591471"/>
                  <a:ext cx="1310048" cy="494814"/>
                  <a:chOff x="6991459" y="461172"/>
                  <a:chExt cx="1703639" cy="643476"/>
                </a:xfrm>
              </p:grpSpPr>
              <p:sp>
                <p:nvSpPr>
                  <p:cNvPr id="45" name="Isosceles Triangle 44"/>
                  <p:cNvSpPr/>
                  <p:nvPr/>
                </p:nvSpPr>
                <p:spPr bwMode="auto">
                  <a:xfrm rot="1422264">
                    <a:off x="7122263" y="461172"/>
                    <a:ext cx="1572835" cy="365125"/>
                  </a:xfrm>
                  <a:prstGeom prst="triangle">
                    <a:avLst>
                      <a:gd name="adj" fmla="val 0"/>
                    </a:avLst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1400" b="1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6" name="Rectangle 45"/>
                  <p:cNvSpPr/>
                  <p:nvPr/>
                </p:nvSpPr>
                <p:spPr bwMode="auto">
                  <a:xfrm rot="1425084">
                    <a:off x="6991459" y="791072"/>
                    <a:ext cx="1576137" cy="313576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1400" b="1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cxnSp>
              <p:nvCxnSpPr>
                <p:cNvPr id="44" name="Straight Connector 43"/>
                <p:cNvCxnSpPr/>
                <p:nvPr/>
              </p:nvCxnSpPr>
              <p:spPr bwMode="auto">
                <a:xfrm>
                  <a:off x="6617369" y="617040"/>
                  <a:ext cx="2249905" cy="988272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sp>
          <p:nvSpPr>
            <p:cNvPr id="38" name="TextBox 37"/>
            <p:cNvSpPr txBox="1"/>
            <p:nvPr/>
          </p:nvSpPr>
          <p:spPr>
            <a:xfrm>
              <a:off x="7985144" y="168424"/>
              <a:ext cx="914400" cy="914400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eaLnBrk="0" hangingPunct="0">
                <a:lnSpc>
                  <a:spcPts val="1800"/>
                </a:lnSpc>
              </a:pPr>
              <a:r>
                <a:rPr lang="en-US" sz="1400" i="1" dirty="0">
                  <a:solidFill>
                    <a:prstClr val="black"/>
                  </a:solidFill>
                </a:rPr>
                <a:t>Muskingum</a:t>
              </a:r>
            </a:p>
            <a:p>
              <a:pPr eaLnBrk="0" hangingPunct="0">
                <a:lnSpc>
                  <a:spcPts val="1800"/>
                </a:lnSpc>
              </a:pPr>
              <a:r>
                <a:rPr lang="en-US" sz="1400" i="1" dirty="0">
                  <a:solidFill>
                    <a:prstClr val="black"/>
                  </a:solidFill>
                </a:rPr>
                <a:t>Method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18769" y="1819802"/>
            <a:ext cx="7906475" cy="4284542"/>
            <a:chOff x="618769" y="1819802"/>
            <a:chExt cx="7906475" cy="4284542"/>
          </a:xfrm>
        </p:grpSpPr>
        <p:cxnSp>
          <p:nvCxnSpPr>
            <p:cNvPr id="6" name="Straight Connector 5"/>
            <p:cNvCxnSpPr/>
            <p:nvPr/>
          </p:nvCxnSpPr>
          <p:spPr bwMode="auto">
            <a:xfrm>
              <a:off x="1086540" y="1819802"/>
              <a:ext cx="0" cy="4284542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>
              <a:off x="1951708" y="1819802"/>
              <a:ext cx="0" cy="4284542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/>
            <p:cNvCxnSpPr/>
            <p:nvPr/>
          </p:nvCxnSpPr>
          <p:spPr bwMode="auto">
            <a:xfrm>
              <a:off x="2816876" y="1819802"/>
              <a:ext cx="0" cy="4284542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3682044" y="1819802"/>
              <a:ext cx="0" cy="4284542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4547212" y="1819802"/>
              <a:ext cx="0" cy="4284542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5412380" y="1819802"/>
              <a:ext cx="0" cy="4284542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Straight Connector 51"/>
            <p:cNvCxnSpPr/>
            <p:nvPr/>
          </p:nvCxnSpPr>
          <p:spPr bwMode="auto">
            <a:xfrm>
              <a:off x="6277548" y="1819802"/>
              <a:ext cx="0" cy="4284542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/>
            <p:cNvCxnSpPr/>
            <p:nvPr/>
          </p:nvCxnSpPr>
          <p:spPr bwMode="auto">
            <a:xfrm>
              <a:off x="8007887" y="1819802"/>
              <a:ext cx="0" cy="4284542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Connector 53"/>
            <p:cNvCxnSpPr/>
            <p:nvPr/>
          </p:nvCxnSpPr>
          <p:spPr bwMode="auto">
            <a:xfrm>
              <a:off x="7142716" y="1819802"/>
              <a:ext cx="0" cy="4284542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Straight Connector 61"/>
            <p:cNvCxnSpPr/>
            <p:nvPr/>
          </p:nvCxnSpPr>
          <p:spPr bwMode="auto">
            <a:xfrm flipH="1">
              <a:off x="618769" y="2066405"/>
              <a:ext cx="7906475" cy="0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 flipH="1">
              <a:off x="625971" y="2943431"/>
              <a:ext cx="7892071" cy="0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 flipH="1">
              <a:off x="625971" y="3820457"/>
              <a:ext cx="7892070" cy="0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Straight Connector 64"/>
            <p:cNvCxnSpPr/>
            <p:nvPr/>
          </p:nvCxnSpPr>
          <p:spPr bwMode="auto">
            <a:xfrm flipH="1">
              <a:off x="618769" y="4697483"/>
              <a:ext cx="7906475" cy="0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/>
            <p:nvPr/>
          </p:nvCxnSpPr>
          <p:spPr bwMode="auto">
            <a:xfrm flipH="1">
              <a:off x="625971" y="5574510"/>
              <a:ext cx="7892071" cy="0"/>
            </a:xfrm>
            <a:prstGeom prst="line">
              <a:avLst/>
            </a:prstGeom>
            <a:noFill/>
            <a:ln w="1905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5443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ud 31"/>
          <p:cNvSpPr/>
          <p:nvPr/>
        </p:nvSpPr>
        <p:spPr bwMode="auto">
          <a:xfrm rot="19800000" flipV="1">
            <a:off x="5060353" y="4367555"/>
            <a:ext cx="2255178" cy="1506063"/>
          </a:xfrm>
          <a:prstGeom prst="cloud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40" name="Cloud 39"/>
          <p:cNvSpPr/>
          <p:nvPr/>
        </p:nvSpPr>
        <p:spPr bwMode="auto">
          <a:xfrm rot="1800000">
            <a:off x="1546526" y="4367556"/>
            <a:ext cx="2255178" cy="1506063"/>
          </a:xfrm>
          <a:prstGeom prst="cloud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8911" y="1466907"/>
            <a:ext cx="3026178" cy="1934592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900" y="5378039"/>
            <a:ext cx="1895353" cy="104166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5" name="Picture 2" descr="Imágenes integradas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8911" y="4699553"/>
            <a:ext cx="3026178" cy="2012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 descr="http://rapidrefresh.noaa.gov/HRRR/for_web/hrrr_jet/2015041500/full/3hap_sfc_f14.pn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824" t="13651" r="8166" b="12490"/>
          <a:stretch/>
        </p:blipFill>
        <p:spPr bwMode="auto">
          <a:xfrm>
            <a:off x="488473" y="1466907"/>
            <a:ext cx="2101874" cy="13235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own Arrow 5"/>
          <p:cNvSpPr/>
          <p:nvPr/>
        </p:nvSpPr>
        <p:spPr bwMode="auto">
          <a:xfrm>
            <a:off x="1303506" y="2931336"/>
            <a:ext cx="484632" cy="536187"/>
          </a:xfrm>
          <a:prstGeom prst="downArrow">
            <a:avLst/>
          </a:prstGeom>
          <a:solidFill>
            <a:srgbClr val="CCFF99"/>
          </a:solidFill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</a:endParaRPr>
          </a:p>
        </p:txBody>
      </p:sp>
      <p:pic>
        <p:nvPicPr>
          <p:cNvPr id="37" name="Picture 8"/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8473" y="3608410"/>
            <a:ext cx="2101874" cy="13244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284237" y="2481585"/>
            <a:ext cx="523325" cy="525075"/>
            <a:chOff x="61148" y="2843805"/>
            <a:chExt cx="523325" cy="525075"/>
          </a:xfrm>
        </p:grpSpPr>
        <p:sp>
          <p:nvSpPr>
            <p:cNvPr id="8" name="Oval 7"/>
            <p:cNvSpPr/>
            <p:nvPr/>
          </p:nvSpPr>
          <p:spPr bwMode="auto">
            <a:xfrm>
              <a:off x="103615" y="2887147"/>
              <a:ext cx="438393" cy="43839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solidFill>
                  <a:srgbClr val="000000"/>
                </a:solidFill>
              </a:endParaRPr>
            </a:p>
          </p:txBody>
        </p:sp>
        <p:pic>
          <p:nvPicPr>
            <p:cNvPr id="2054" name="Picture 6" descr="http://tauntonboh.homestead.com/noaa_logo_op_598x600.jpg"/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CFEFB"/>
                </a:clrFrom>
                <a:clrTo>
                  <a:srgbClr val="FCFEF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48" y="2843805"/>
              <a:ext cx="523325" cy="525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2" name="Picture 4" descr="https://wiki.ucar.edu/download/attachments/52004557/ncar-logo-lg.jpg?api=v2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899" y="4605360"/>
            <a:ext cx="869346" cy="27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Bent Arrow 35"/>
          <p:cNvSpPr/>
          <p:nvPr/>
        </p:nvSpPr>
        <p:spPr bwMode="auto">
          <a:xfrm flipV="1">
            <a:off x="1430185" y="5062517"/>
            <a:ext cx="1455889" cy="938232"/>
          </a:xfrm>
          <a:prstGeom prst="bentArrow">
            <a:avLst>
              <a:gd name="adj1" fmla="val 29682"/>
              <a:gd name="adj2" fmla="val 25000"/>
              <a:gd name="adj3" fmla="val 25000"/>
              <a:gd name="adj4" fmla="val 43750"/>
            </a:avLst>
          </a:prstGeom>
          <a:solidFill>
            <a:srgbClr val="CCFF99"/>
          </a:solidFill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42" name="Down Arrow 41"/>
          <p:cNvSpPr/>
          <p:nvPr/>
        </p:nvSpPr>
        <p:spPr bwMode="auto">
          <a:xfrm>
            <a:off x="4329684" y="3702603"/>
            <a:ext cx="484632" cy="996950"/>
          </a:xfrm>
          <a:prstGeom prst="downArrow">
            <a:avLst/>
          </a:prstGeom>
          <a:solidFill>
            <a:srgbClr val="CCFF99"/>
          </a:solidFill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9684" y="1241823"/>
            <a:ext cx="2138106" cy="21048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571451" y="6188508"/>
            <a:ext cx="1808179" cy="374663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600" b="1" i="1" dirty="0">
                <a:solidFill>
                  <a:prstClr val="black"/>
                </a:solidFill>
              </a:rPr>
              <a:t>Grid to </a:t>
            </a:r>
          </a:p>
          <a:p>
            <a:pPr eaLnBrk="0" hangingPunct="0">
              <a:lnSpc>
                <a:spcPts val="1800"/>
              </a:lnSpc>
            </a:pPr>
            <a:r>
              <a:rPr lang="en-US" sz="1600" b="1" i="1" dirty="0">
                <a:solidFill>
                  <a:prstClr val="black"/>
                </a:solidFill>
              </a:rPr>
              <a:t>catchment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75080" y="3863194"/>
            <a:ext cx="1808179" cy="374663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600" b="1" i="1" dirty="0" err="1">
                <a:solidFill>
                  <a:prstClr val="black"/>
                </a:solidFill>
              </a:rPr>
              <a:t>NHDPlus</a:t>
            </a:r>
            <a:endParaRPr lang="en-US" sz="1600" b="1" i="1" dirty="0">
              <a:solidFill>
                <a:prstClr val="black"/>
              </a:solidFill>
            </a:endParaRPr>
          </a:p>
          <a:p>
            <a:pPr eaLnBrk="0" hangingPunct="0">
              <a:lnSpc>
                <a:spcPts val="1800"/>
              </a:lnSpc>
            </a:pPr>
            <a:r>
              <a:rPr lang="en-US" sz="1600" b="1" i="1" dirty="0">
                <a:solidFill>
                  <a:prstClr val="black"/>
                </a:solidFill>
              </a:rPr>
              <a:t>to RAPID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66842" y="3014432"/>
            <a:ext cx="1808179" cy="374663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600" b="1" i="1" dirty="0">
                <a:solidFill>
                  <a:prstClr val="black"/>
                </a:solidFill>
              </a:rPr>
              <a:t>Forcing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320" y="4083287"/>
            <a:ext cx="1808179" cy="374663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noAutofit/>
          </a:bodyPr>
          <a:lstStyle/>
          <a:p>
            <a:pPr algn="ctr" eaLnBrk="0" hangingPunct="0">
              <a:lnSpc>
                <a:spcPts val="1800"/>
              </a:lnSpc>
            </a:pPr>
            <a:r>
              <a:rPr lang="en-US" sz="1600" b="1" dirty="0">
                <a:solidFill>
                  <a:prstClr val="black"/>
                </a:solidFill>
              </a:rPr>
              <a:t>WRF-Hydro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8441" y="2022631"/>
            <a:ext cx="614761" cy="212092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rtlCol="0" anchor="ctr">
            <a:noAutofit/>
          </a:bodyPr>
          <a:lstStyle/>
          <a:p>
            <a:pPr algn="ctr" eaLnBrk="0" hangingPunct="0">
              <a:lnSpc>
                <a:spcPts val="1800"/>
              </a:lnSpc>
            </a:pPr>
            <a:r>
              <a:rPr lang="en-US" sz="1600" b="1" dirty="0">
                <a:solidFill>
                  <a:prstClr val="black"/>
                </a:solidFill>
              </a:rPr>
              <a:t>HRRR</a:t>
            </a:r>
          </a:p>
        </p:txBody>
      </p:sp>
      <p:pic>
        <p:nvPicPr>
          <p:cNvPr id="2056" name="Picture 8" descr="http://vueworks.com/wp-content/uploads/2011/08/esri-logo.gif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5088" y="5912000"/>
            <a:ext cx="918220" cy="410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ttp://upload.wikimedia.org/wikipedia/en/archive/b/b3/20110309193628!Microsoft_Research_logo.jpg"/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73408" y="4700965"/>
            <a:ext cx="823361" cy="22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 descr="C:\Users\deng7365\AppData\Local\Temp\SNAGHTMLbac10d3.PNG"/>
          <p:cNvPicPr/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57064" y="3607679"/>
            <a:ext cx="2103120" cy="1325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8" name="TextBox 37"/>
          <p:cNvSpPr txBox="1"/>
          <p:nvPr/>
        </p:nvSpPr>
        <p:spPr>
          <a:xfrm>
            <a:off x="6704534" y="4083287"/>
            <a:ext cx="1808179" cy="374663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noAutofit/>
          </a:bodyPr>
          <a:lstStyle/>
          <a:p>
            <a:pPr algn="ctr" eaLnBrk="0" hangingPunct="0">
              <a:lnSpc>
                <a:spcPts val="1800"/>
              </a:lnSpc>
            </a:pPr>
            <a:r>
              <a:rPr lang="en-US" sz="1600" b="1" dirty="0">
                <a:solidFill>
                  <a:srgbClr val="FFFF00"/>
                </a:solidFill>
              </a:rPr>
              <a:t>ECMWF</a:t>
            </a:r>
          </a:p>
        </p:txBody>
      </p:sp>
      <p:sp>
        <p:nvSpPr>
          <p:cNvPr id="41" name="Title 2"/>
          <p:cNvSpPr txBox="1">
            <a:spLocks/>
          </p:cNvSpPr>
          <p:nvPr/>
        </p:nvSpPr>
        <p:spPr>
          <a:xfrm>
            <a:off x="628650" y="406461"/>
            <a:ext cx="7886700" cy="5486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t>NFIE-Hydro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4831" y="5378039"/>
            <a:ext cx="1895353" cy="104166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3" name="Bent Arrow 42"/>
          <p:cNvSpPr/>
          <p:nvPr/>
        </p:nvSpPr>
        <p:spPr bwMode="auto">
          <a:xfrm flipH="1" flipV="1">
            <a:off x="6085089" y="5061684"/>
            <a:ext cx="1455889" cy="938232"/>
          </a:xfrm>
          <a:prstGeom prst="bentArrow">
            <a:avLst>
              <a:gd name="adj1" fmla="val 29682"/>
              <a:gd name="adj2" fmla="val 25000"/>
              <a:gd name="adj3" fmla="val 25000"/>
              <a:gd name="adj4" fmla="val 43750"/>
            </a:avLst>
          </a:prstGeom>
          <a:solidFill>
            <a:srgbClr val="CCFF99"/>
          </a:solidFill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</a:endParaRPr>
          </a:p>
        </p:txBody>
      </p:sp>
      <p:pic>
        <p:nvPicPr>
          <p:cNvPr id="33" name="Picture 4" descr="http://i1.wp.com/hepex.irstea.fr/wp-content/uploads/2013/07/bow_river_19_June_2013_glofas.png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67884" y="2951659"/>
            <a:ext cx="1273094" cy="9115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2699648" y="4670572"/>
            <a:ext cx="1808179" cy="374663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noAutofit/>
          </a:bodyPr>
          <a:lstStyle/>
          <a:p>
            <a:pPr eaLnBrk="0" hangingPunct="0">
              <a:lnSpc>
                <a:spcPts val="1800"/>
              </a:lnSpc>
            </a:pPr>
            <a:r>
              <a:rPr lang="en-US" sz="1400" b="1" dirty="0" smtClean="0">
                <a:solidFill>
                  <a:srgbClr val="FAC15A">
                    <a:lumMod val="75000"/>
                  </a:srgbClr>
                </a:solidFill>
              </a:rPr>
              <a:t>TACC</a:t>
            </a:r>
            <a:endParaRPr lang="en-US" sz="1600" b="1" dirty="0">
              <a:solidFill>
                <a:srgbClr val="FAC15A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9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Current and NFIE Forecast Systems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086" y="1883980"/>
            <a:ext cx="5037264" cy="24167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086" y="4551135"/>
            <a:ext cx="5037264" cy="22301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8546" y="5964739"/>
            <a:ext cx="3339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130 Catchments and </a:t>
            </a:r>
            <a:r>
              <a:rPr lang="en-US" dirty="0" err="1" smtClean="0"/>
              <a:t>Flowlines</a:t>
            </a:r>
            <a:endParaRPr lang="en-US" dirty="0"/>
          </a:p>
          <a:p>
            <a:pPr algn="ctr"/>
            <a:r>
              <a:rPr lang="en-US" dirty="0" smtClean="0"/>
              <a:t>uniquely labelled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7673" y="1843377"/>
            <a:ext cx="338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Two basins and one forecast point</a:t>
            </a:r>
            <a:endParaRPr lang="en-US" dirty="0"/>
          </a:p>
        </p:txBody>
      </p:sp>
      <p:sp>
        <p:nvSpPr>
          <p:cNvPr id="13" name="Down Arrow 12"/>
          <p:cNvSpPr/>
          <p:nvPr/>
        </p:nvSpPr>
        <p:spPr>
          <a:xfrm>
            <a:off x="1772443" y="3887414"/>
            <a:ext cx="160439" cy="40262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85800" y="3838294"/>
            <a:ext cx="102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becomes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478086" y="1494347"/>
            <a:ext cx="503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Current: 6600 basins and 3600 forecast points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366348" y="4250692"/>
            <a:ext cx="526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NFIE: 2.7 million stream reaches and catchments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931922" y="6411943"/>
            <a:ext cx="2435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national flow network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925" y="4516753"/>
            <a:ext cx="3041908" cy="13002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668" y="2254003"/>
            <a:ext cx="3269540" cy="14365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1570843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r>
              <a:rPr lang="en-US" sz="2000" dirty="0" smtClean="0">
                <a:ea typeface="+mn-ea"/>
                <a:cs typeface="+mn-cs"/>
              </a:rPr>
              <a:t>Blanco River at Wimberley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9412" y="2830394"/>
            <a:ext cx="2035555" cy="26194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0" tIns="0" rIns="0" bIns="0" rtlCol="0">
            <a:noAutofit/>
          </a:bodyPr>
          <a:lstStyle/>
          <a:p>
            <a:pPr algn="ctr" eaLnBrk="0" hangingPunct="0">
              <a:lnSpc>
                <a:spcPts val="1800"/>
              </a:lnSpc>
            </a:pPr>
            <a:r>
              <a:rPr lang="en-US" sz="1400" b="1" dirty="0" smtClean="0"/>
              <a:t>Basin  ~ 400 </a:t>
            </a:r>
            <a:r>
              <a:rPr lang="en-US" sz="1400" b="1" dirty="0" err="1" smtClean="0"/>
              <a:t>Sq</a:t>
            </a:r>
            <a:r>
              <a:rPr lang="en-US" sz="1400" b="1" dirty="0" smtClean="0"/>
              <a:t> Mile</a:t>
            </a:r>
            <a:endParaRPr lang="en-US" sz="1400" b="1" dirty="0" smtClean="0"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43950" y="5391001"/>
            <a:ext cx="2611289" cy="309648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r>
              <a:rPr lang="en-US" sz="1400" b="1" dirty="0" smtClean="0"/>
              <a:t>Reach Catchment   ~ 1 </a:t>
            </a:r>
            <a:r>
              <a:rPr lang="en-US" sz="1400" b="1" dirty="0" err="1" smtClean="0"/>
              <a:t>Sq</a:t>
            </a:r>
            <a:r>
              <a:rPr lang="en-US" sz="1400" b="1" dirty="0" smtClean="0"/>
              <a:t> Mile</a:t>
            </a:r>
            <a:endParaRPr lang="en-US" sz="1400" b="1" dirty="0" smtClean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9626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26" y="2295479"/>
            <a:ext cx="6983454" cy="31964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Referencing on </a:t>
            </a:r>
            <a:r>
              <a:rPr lang="en-US" dirty="0" err="1" smtClean="0"/>
              <a:t>Flowlines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1980724" y="2921492"/>
            <a:ext cx="2794980" cy="105487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672806" y="4882612"/>
            <a:ext cx="1102898" cy="56464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14298" y="4931606"/>
            <a:ext cx="525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Lat.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8592" y="4931606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Long.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5618" y="4931606"/>
            <a:ext cx="101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455" y="1592114"/>
            <a:ext cx="5993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prstClr val="black"/>
                </a:solidFill>
              </a:rPr>
              <a:t>Bridge and Stream </a:t>
            </a:r>
            <a:r>
              <a:rPr lang="en-US" dirty="0">
                <a:solidFill>
                  <a:prstClr val="black"/>
                </a:solidFill>
              </a:rPr>
              <a:t>Gage at RR 12 is at Measure 70.246 </a:t>
            </a:r>
          </a:p>
          <a:p>
            <a:pPr algn="ctr"/>
            <a:r>
              <a:rPr lang="en-US" dirty="0">
                <a:solidFill>
                  <a:prstClr val="black"/>
                </a:solidFill>
              </a:rPr>
              <a:t>on </a:t>
            </a:r>
            <a:r>
              <a:rPr lang="en-US" dirty="0" err="1">
                <a:solidFill>
                  <a:prstClr val="black"/>
                </a:solidFill>
              </a:rPr>
              <a:t>Flowline</a:t>
            </a:r>
            <a:r>
              <a:rPr lang="en-US" dirty="0">
                <a:solidFill>
                  <a:prstClr val="black"/>
                </a:solidFill>
              </a:rPr>
              <a:t> 1630223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2873" y="5661547"/>
            <a:ext cx="4058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Measure is the % distance upstream from most downstream point on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707" y="1042478"/>
            <a:ext cx="671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Using measures, the flow can be estimated at any point along the line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455" y="4961968"/>
            <a:ext cx="3115340" cy="1752379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 bwMode="auto">
          <a:xfrm flipV="1">
            <a:off x="1963125" y="3976366"/>
            <a:ext cx="17599" cy="955240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533332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Ideas</a:t>
            </a:r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1068115" y="2983403"/>
            <a:ext cx="5645150" cy="1327150"/>
            <a:chOff x="1968500" y="2451100"/>
            <a:chExt cx="5645150" cy="1327150"/>
          </a:xfrm>
        </p:grpSpPr>
        <p:sp>
          <p:nvSpPr>
            <p:cNvPr id="3" name="Oval 2"/>
            <p:cNvSpPr/>
            <p:nvPr/>
          </p:nvSpPr>
          <p:spPr bwMode="auto">
            <a:xfrm>
              <a:off x="2286000" y="2451100"/>
              <a:ext cx="2254250" cy="12700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solidFill>
                  <a:srgbClr val="000000"/>
                </a:solidFill>
                <a:latin typeface="Arial" charset="0"/>
                <a:ea typeface="ＭＳ Ｐゴシック" pitchFamily="16" charset="-128"/>
                <a:cs typeface="ＭＳ Ｐゴシック" pitchFamily="-97" charset="-128"/>
              </a:endParaRPr>
            </a:p>
          </p:txBody>
        </p:sp>
        <p:cxnSp>
          <p:nvCxnSpPr>
            <p:cNvPr id="5" name="Straight Arrow Connector 4"/>
            <p:cNvCxnSpPr>
              <a:stCxn id="3" idx="2"/>
              <a:endCxn id="3" idx="6"/>
            </p:cNvCxnSpPr>
            <p:nvPr/>
          </p:nvCxnSpPr>
          <p:spPr bwMode="auto">
            <a:xfrm>
              <a:off x="2286000" y="3086100"/>
              <a:ext cx="225425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2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" name="Straight Arrow Connector 5"/>
            <p:cNvCxnSpPr/>
            <p:nvPr/>
          </p:nvCxnSpPr>
          <p:spPr bwMode="auto">
            <a:xfrm>
              <a:off x="4540250" y="3079750"/>
              <a:ext cx="225425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2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3365500" y="2863850"/>
              <a:ext cx="914400" cy="914400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algn="l" eaLnBrk="0" hangingPunct="0">
                <a:lnSpc>
                  <a:spcPts val="1800"/>
                </a:lnSpc>
              </a:pPr>
              <a:r>
                <a:rPr lang="en-US" b="1" dirty="0" smtClean="0">
                  <a:solidFill>
                    <a:schemeClr val="tx2">
                      <a:lumMod val="50000"/>
                      <a:lumOff val="50000"/>
                    </a:schemeClr>
                  </a:solidFill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48300" y="2863850"/>
              <a:ext cx="914400" cy="914400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algn="l" eaLnBrk="0" hangingPunct="0">
                <a:lnSpc>
                  <a:spcPts val="1800"/>
                </a:lnSpc>
              </a:pPr>
              <a:r>
                <a:rPr lang="en-US" b="1" dirty="0" smtClean="0">
                  <a:solidFill>
                    <a:schemeClr val="tx2">
                      <a:lumMod val="50000"/>
                      <a:lumOff val="50000"/>
                    </a:schemeClr>
                  </a:solidFill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2235200" y="3028950"/>
              <a:ext cx="133350" cy="120650"/>
            </a:xfrm>
            <a:prstGeom prst="ellipse">
              <a:avLst/>
            </a:prstGeom>
            <a:solidFill>
              <a:srgbClr val="FFC000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solidFill>
                  <a:srgbClr val="000000"/>
                </a:solidFill>
                <a:latin typeface="Arial" charset="0"/>
                <a:ea typeface="ＭＳ Ｐゴシック" pitchFamily="16" charset="-128"/>
                <a:cs typeface="ＭＳ Ｐゴシック" pitchFamily="-97" charset="-128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4495800" y="3019425"/>
              <a:ext cx="133350" cy="120650"/>
            </a:xfrm>
            <a:prstGeom prst="ellipse">
              <a:avLst/>
            </a:prstGeom>
            <a:solidFill>
              <a:srgbClr val="FFC000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solidFill>
                  <a:srgbClr val="000000"/>
                </a:solidFill>
                <a:latin typeface="Arial" charset="0"/>
                <a:ea typeface="ＭＳ Ｐゴシック" pitchFamily="16" charset="-128"/>
                <a:cs typeface="ＭＳ Ｐゴシック" pitchFamily="-97" charset="-128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968500" y="2835275"/>
              <a:ext cx="914400" cy="914400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algn="l" eaLnBrk="0" hangingPunct="0">
                <a:lnSpc>
                  <a:spcPts val="1800"/>
                </a:lnSpc>
              </a:pPr>
              <a:r>
                <a:rPr lang="en-US" b="1" dirty="0" smtClean="0">
                  <a:solidFill>
                    <a:schemeClr val="accent3">
                      <a:lumMod val="50000"/>
                    </a:schemeClr>
                  </a:solidFill>
                </a:rPr>
                <a:t>n</a:t>
              </a:r>
              <a:r>
                <a:rPr lang="en-US" b="1" baseline="-25000" dirty="0" smtClean="0">
                  <a:solidFill>
                    <a:schemeClr val="accent3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65650" y="2806700"/>
              <a:ext cx="914400" cy="914400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algn="l" eaLnBrk="0" hangingPunct="0">
                <a:lnSpc>
                  <a:spcPts val="1800"/>
                </a:lnSpc>
              </a:pPr>
              <a:r>
                <a:rPr lang="en-US" b="1" dirty="0" smtClean="0">
                  <a:solidFill>
                    <a:schemeClr val="accent3">
                      <a:lumMod val="50000"/>
                    </a:schemeClr>
                  </a:solidFill>
                </a:rPr>
                <a:t>n</a:t>
              </a:r>
              <a:r>
                <a:rPr lang="en-US" b="1" baseline="-25000" dirty="0" smtClean="0">
                  <a:solidFill>
                    <a:schemeClr val="accent3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99250" y="2835275"/>
              <a:ext cx="914400" cy="914400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algn="l" eaLnBrk="0" hangingPunct="0">
                <a:lnSpc>
                  <a:spcPts val="1800"/>
                </a:lnSpc>
              </a:pPr>
              <a:r>
                <a:rPr lang="en-US" b="1" dirty="0" smtClean="0">
                  <a:solidFill>
                    <a:schemeClr val="accent3">
                      <a:lumMod val="50000"/>
                    </a:schemeClr>
                  </a:solidFill>
                </a:rPr>
                <a:t>n</a:t>
              </a:r>
              <a:r>
                <a:rPr lang="en-US" b="1" baseline="-25000" dirty="0" smtClean="0">
                  <a:solidFill>
                    <a:schemeClr val="accent3">
                      <a:lumMod val="50000"/>
                    </a:schemeClr>
                  </a:solidFill>
                </a:rPr>
                <a:t>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44800" y="2622550"/>
              <a:ext cx="914400" cy="914400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algn="l" eaLnBrk="0" hangingPunct="0">
                <a:lnSpc>
                  <a:spcPts val="1800"/>
                </a:lnSpc>
              </a:pPr>
              <a:r>
                <a:rPr lang="en-US" b="1" dirty="0" smtClean="0">
                  <a:solidFill>
                    <a:srgbClr val="00B050"/>
                  </a:solidFill>
                  <a:ea typeface="+mn-ea"/>
                  <a:cs typeface="+mn-cs"/>
                </a:rPr>
                <a:t>A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378540" y="5500433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r>
              <a:rPr lang="en-US" b="1" dirty="0" smtClean="0">
                <a:solidFill>
                  <a:schemeClr val="tx2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Flowline A </a:t>
            </a:r>
            <a:r>
              <a:rPr lang="en-US" b="1" dirty="0" smtClean="0">
                <a:ea typeface="+mn-ea"/>
                <a:cs typeface="+mn-cs"/>
              </a:rPr>
              <a:t>flows to </a:t>
            </a:r>
            <a:r>
              <a:rPr lang="en-US" b="1" dirty="0" smtClean="0">
                <a:solidFill>
                  <a:schemeClr val="tx2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Flowline B </a:t>
            </a:r>
            <a:r>
              <a:rPr lang="en-US" b="1" dirty="0" smtClean="0">
                <a:ea typeface="+mn-ea"/>
                <a:cs typeface="+mn-cs"/>
              </a:rPr>
              <a:t>through node 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ea typeface="+mn-ea"/>
                <a:cs typeface="+mn-cs"/>
              </a:rPr>
              <a:t>n</a:t>
            </a:r>
            <a:r>
              <a:rPr lang="en-US" b="1" baseline="-25000" dirty="0" smtClean="0">
                <a:solidFill>
                  <a:schemeClr val="accent3">
                    <a:lumMod val="50000"/>
                  </a:schemeClr>
                </a:solidFill>
                <a:ea typeface="+mn-ea"/>
                <a:cs typeface="+mn-cs"/>
              </a:rPr>
              <a:t>2</a:t>
            </a:r>
            <a:r>
              <a:rPr lang="en-US" b="1" baseline="-25000" dirty="0" smtClean="0">
                <a:ea typeface="+mn-ea"/>
                <a:cs typeface="+mn-cs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783" y="2643694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r>
              <a:rPr lang="en-US" b="1" dirty="0" smtClean="0">
                <a:solidFill>
                  <a:srgbClr val="00B050"/>
                </a:solidFill>
                <a:ea typeface="+mn-ea"/>
                <a:cs typeface="+mn-cs"/>
              </a:rPr>
              <a:t>Catchment A </a:t>
            </a:r>
            <a:r>
              <a:rPr lang="en-US" b="1" dirty="0" smtClean="0">
                <a:ea typeface="+mn-ea"/>
                <a:cs typeface="+mn-cs"/>
              </a:rPr>
              <a:t>drains to </a:t>
            </a:r>
            <a:r>
              <a:rPr lang="en-US" b="1" dirty="0" smtClean="0">
                <a:solidFill>
                  <a:schemeClr val="tx2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Flowline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233" y="5757284"/>
            <a:ext cx="762000" cy="4571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endParaRPr lang="en-US" sz="1400" b="1" dirty="0" smtClean="0"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01490" y="4950179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r>
              <a:rPr lang="en-US" b="1" dirty="0" smtClean="0"/>
              <a:t>Each </a:t>
            </a:r>
            <a:r>
              <a:rPr lang="en-US" b="1" dirty="0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flowline </a:t>
            </a:r>
            <a:r>
              <a:rPr lang="en-US" b="1" dirty="0" smtClean="0"/>
              <a:t>has attributes 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“from-node” </a:t>
            </a:r>
            <a:r>
              <a:rPr lang="en-US" b="1" dirty="0" smtClean="0"/>
              <a:t>and</a:t>
            </a:r>
            <a:r>
              <a:rPr lang="en-US" b="1" dirty="0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“to-node”</a:t>
            </a:r>
            <a:endParaRPr lang="en-US" b="1" baseline="-25000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" name="Bent Arrow 20"/>
          <p:cNvSpPr/>
          <p:nvPr/>
        </p:nvSpPr>
        <p:spPr bwMode="auto">
          <a:xfrm rot="5400000">
            <a:off x="2285727" y="3069129"/>
            <a:ext cx="174625" cy="412750"/>
          </a:xfrm>
          <a:prstGeom prst="bentArrow">
            <a:avLst/>
          </a:prstGeom>
          <a:solidFill>
            <a:schemeClr val="tx2">
              <a:lumMod val="50000"/>
              <a:lumOff val="5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000000"/>
              </a:solidFill>
              <a:latin typeface="Arial" charset="0"/>
              <a:ea typeface="ＭＳ Ｐゴシック" pitchFamily="16" charset="-128"/>
              <a:cs typeface="ＭＳ Ｐゴシック" pitchFamily="-97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01490" y="4353950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Objects</a:t>
            </a:r>
            <a:r>
              <a:rPr lang="en-US" b="1" dirty="0" smtClean="0"/>
              <a:t> are placed on flowlines using </a:t>
            </a:r>
            <a:r>
              <a:rPr lang="en-US" b="1" dirty="0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linear referencing</a:t>
            </a:r>
            <a:endParaRPr lang="en-US" b="1" baseline="-25000" dirty="0" smtClean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2889890" y="3519303"/>
            <a:ext cx="195364" cy="184218"/>
          </a:xfrm>
          <a:prstGeom prst="ellipse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srgbClr val="FF0000"/>
              </a:solidFill>
              <a:latin typeface="Arial" charset="0"/>
              <a:ea typeface="ＭＳ Ｐゴシック" pitchFamily="16" charset="-128"/>
              <a:cs typeface="ＭＳ Ｐゴシック" pitchFamily="-97" charset="-128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341980" y="1136317"/>
            <a:ext cx="3463110" cy="1419143"/>
            <a:chOff x="2191903" y="5221606"/>
            <a:chExt cx="3463110" cy="1419143"/>
          </a:xfrm>
        </p:grpSpPr>
        <p:grpSp>
          <p:nvGrpSpPr>
            <p:cNvPr id="38" name="Group 37"/>
            <p:cNvGrpSpPr/>
            <p:nvPr/>
          </p:nvGrpSpPr>
          <p:grpSpPr>
            <a:xfrm>
              <a:off x="2191903" y="5221606"/>
              <a:ext cx="2254250" cy="1270000"/>
              <a:chOff x="1898650" y="5037456"/>
              <a:chExt cx="2254250" cy="1270000"/>
            </a:xfrm>
          </p:grpSpPr>
          <p:sp>
            <p:nvSpPr>
              <p:cNvPr id="24" name="Oval 23"/>
              <p:cNvSpPr/>
              <p:nvPr/>
            </p:nvSpPr>
            <p:spPr bwMode="auto">
              <a:xfrm>
                <a:off x="1898650" y="5037456"/>
                <a:ext cx="2254250" cy="1270000"/>
              </a:xfrm>
              <a:prstGeom prst="ellips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 dirty="0">
                  <a:solidFill>
                    <a:srgbClr val="000000"/>
                  </a:solidFill>
                  <a:latin typeface="Arial" charset="0"/>
                  <a:ea typeface="ＭＳ Ｐゴシック" pitchFamily="16" charset="-128"/>
                  <a:cs typeface="ＭＳ Ｐゴシック" pitchFamily="-97" charset="-128"/>
                </a:endParaRPr>
              </a:p>
            </p:txBody>
          </p:sp>
          <p:cxnSp>
            <p:nvCxnSpPr>
              <p:cNvPr id="26" name="Straight Connector 25"/>
              <p:cNvCxnSpPr>
                <a:stCxn id="24" idx="1"/>
                <a:endCxn id="24" idx="3"/>
              </p:cNvCxnSpPr>
              <p:nvPr/>
            </p:nvCxnSpPr>
            <p:spPr bwMode="auto">
              <a:xfrm>
                <a:off x="2228777" y="5223443"/>
                <a:ext cx="0" cy="898026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" name="Straight Connector 28"/>
              <p:cNvCxnSpPr>
                <a:stCxn id="24" idx="0"/>
                <a:endCxn id="24" idx="4"/>
              </p:cNvCxnSpPr>
              <p:nvPr/>
            </p:nvCxnSpPr>
            <p:spPr bwMode="auto">
              <a:xfrm>
                <a:off x="3025775" y="5037456"/>
                <a:ext cx="0" cy="127000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" name="Straight Connector 30"/>
              <p:cNvCxnSpPr>
                <a:stCxn id="24" idx="7"/>
                <a:endCxn id="24" idx="5"/>
              </p:cNvCxnSpPr>
              <p:nvPr/>
            </p:nvCxnSpPr>
            <p:spPr bwMode="auto">
              <a:xfrm>
                <a:off x="3822773" y="5223443"/>
                <a:ext cx="0" cy="898026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Straight Connector 32"/>
              <p:cNvCxnSpPr>
                <a:stCxn id="24" idx="2"/>
                <a:endCxn id="24" idx="6"/>
              </p:cNvCxnSpPr>
              <p:nvPr/>
            </p:nvCxnSpPr>
            <p:spPr bwMode="auto">
              <a:xfrm>
                <a:off x="1898650" y="5672456"/>
                <a:ext cx="2254250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9" name="TextBox 38"/>
            <p:cNvSpPr txBox="1"/>
            <p:nvPr/>
          </p:nvSpPr>
          <p:spPr>
            <a:xfrm>
              <a:off x="4740613" y="5726349"/>
              <a:ext cx="914400" cy="914400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noAutofit/>
            </a:bodyPr>
            <a:lstStyle/>
            <a:p>
              <a:pPr algn="l" eaLnBrk="0" hangingPunct="0">
                <a:lnSpc>
                  <a:spcPts val="1800"/>
                </a:lnSpc>
              </a:pPr>
              <a:r>
                <a:rPr lang="en-US" b="1" dirty="0" smtClean="0"/>
                <a:t>A </a:t>
              </a:r>
              <a:r>
                <a:rPr lang="en-US" b="1" dirty="0" smtClean="0">
                  <a:solidFill>
                    <a:srgbClr val="00B050"/>
                  </a:solidFill>
                </a:rPr>
                <a:t>catchment</a:t>
              </a:r>
              <a:r>
                <a:rPr lang="en-US" b="1" dirty="0" smtClean="0"/>
                <a:t> is receives runoff from </a:t>
              </a:r>
            </a:p>
            <a:p>
              <a:pPr algn="l" eaLnBrk="0" hangingPunct="0">
                <a:lnSpc>
                  <a:spcPts val="1800"/>
                </a:lnSpc>
              </a:pPr>
              <a:r>
                <a:rPr lang="en-US" b="1" dirty="0" smtClean="0"/>
                <a:t>land-atmosphere cells</a:t>
              </a:r>
            </a:p>
          </p:txBody>
        </p:sp>
      </p:grpSp>
      <p:cxnSp>
        <p:nvCxnSpPr>
          <p:cNvPr id="42" name="Straight Arrow Connector 41"/>
          <p:cNvCxnSpPr/>
          <p:nvPr/>
        </p:nvCxnSpPr>
        <p:spPr bwMode="auto">
          <a:xfrm flipV="1">
            <a:off x="1982515" y="3703521"/>
            <a:ext cx="876300" cy="607032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745058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62671"/>
            <a:ext cx="9144000" cy="132556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Next Step: National Water Prediction Model Configurations</a:t>
            </a:r>
            <a:endParaRPr lang="en-US" sz="2800" b="1" dirty="0"/>
          </a:p>
        </p:txBody>
      </p:sp>
      <p:sp>
        <p:nvSpPr>
          <p:cNvPr id="37" name="Rectangle 36"/>
          <p:cNvSpPr/>
          <p:nvPr/>
        </p:nvSpPr>
        <p:spPr>
          <a:xfrm>
            <a:off x="263947" y="633340"/>
            <a:ext cx="8667482" cy="600876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563499" y="1514524"/>
            <a:ext cx="1996226" cy="540913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Short-Range</a:t>
            </a:r>
          </a:p>
          <a:p>
            <a:pPr algn="ctr"/>
            <a:r>
              <a:rPr lang="en-US" dirty="0">
                <a:solidFill>
                  <a:prstClr val="white"/>
                </a:solidFill>
              </a:rPr>
              <a:t>‘Flood Prediction’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25469" y="1496829"/>
            <a:ext cx="1996226" cy="540913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Long Range</a:t>
            </a:r>
          </a:p>
          <a:p>
            <a:pPr algn="ctr"/>
            <a:r>
              <a:rPr lang="en-US" dirty="0">
                <a:solidFill>
                  <a:prstClr val="white"/>
                </a:solidFill>
              </a:rPr>
              <a:t>‘Water Resources’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3399" y="1514524"/>
            <a:ext cx="1996226" cy="540913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Analysis &amp; Assimilation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3399" y="2769551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Hourly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3499" y="2769551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3-Hourly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25469" y="2751855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~Daily (x16)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618" y="3771952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- 3 </a:t>
            </a:r>
            <a:r>
              <a:rPr lang="en-US" dirty="0" err="1">
                <a:solidFill>
                  <a:prstClr val="white"/>
                </a:solidFill>
              </a:rPr>
              <a:t>hrs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9593" y="2396310"/>
            <a:ext cx="1897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>
                    <a:lumMod val="9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Cycling Frequency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592" y="825667"/>
            <a:ext cx="5644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prstClr val="white">
                    <a:lumMod val="9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WRF-Hydro IOC Configurations – May 2016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3499" y="3771952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0-2 days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25469" y="3751229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0-30 days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3400" y="3399590"/>
            <a:ext cx="187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>
                    <a:lumMod val="9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Forecast Duration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810" y="4795435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</a:rPr>
              <a:t>1km/250m/</a:t>
            </a:r>
            <a:r>
              <a:rPr lang="en-US" sz="1600" dirty="0" err="1">
                <a:solidFill>
                  <a:srgbClr val="FF0000"/>
                </a:solidFill>
              </a:rPr>
              <a:t>NHDPlus</a:t>
            </a:r>
            <a:r>
              <a:rPr lang="en-US" sz="1600" dirty="0">
                <a:solidFill>
                  <a:prstClr val="white"/>
                </a:solidFill>
              </a:rPr>
              <a:t> Reach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9691" y="4795435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</a:rPr>
              <a:t>1km/250m/</a:t>
            </a:r>
            <a:r>
              <a:rPr lang="en-US" sz="1600" dirty="0" err="1">
                <a:solidFill>
                  <a:srgbClr val="FF0000"/>
                </a:solidFill>
              </a:rPr>
              <a:t>NHDPlus</a:t>
            </a:r>
            <a:r>
              <a:rPr lang="en-US" sz="1600" dirty="0">
                <a:solidFill>
                  <a:prstClr val="white"/>
                </a:solidFill>
              </a:rPr>
              <a:t> Reach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91661" y="4774712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1 km/catchment /</a:t>
            </a:r>
            <a:r>
              <a:rPr lang="en-US" dirty="0" err="1">
                <a:solidFill>
                  <a:srgbClr val="FF0000"/>
                </a:solidFill>
              </a:rPr>
              <a:t>NHDPlus</a:t>
            </a:r>
            <a:r>
              <a:rPr lang="en-US" dirty="0">
                <a:solidFill>
                  <a:prstClr val="white"/>
                </a:solidFill>
              </a:rPr>
              <a:t> Reach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592" y="4423073"/>
            <a:ext cx="3198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>
                    <a:lumMod val="9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Spatial Discretization &amp; Routing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810" y="5733482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MRMS blend/ HRRR-NAM </a:t>
            </a:r>
            <a:r>
              <a:rPr lang="en-US" dirty="0" err="1">
                <a:solidFill>
                  <a:prstClr val="white"/>
                </a:solidFill>
              </a:rPr>
              <a:t>bkgnd</a:t>
            </a:r>
            <a:r>
              <a:rPr lang="en-US" dirty="0">
                <a:solidFill>
                  <a:prstClr val="white"/>
                </a:solidFill>
              </a:rPr>
              <a:t>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9691" y="5733482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</a:rPr>
              <a:t>Downscaled HRRR /RAP/NAM blend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1661" y="5712759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Downscaled &amp; bias-corrected CFS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592" y="5361120"/>
            <a:ext cx="2370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>
                    <a:lumMod val="9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Meteorological Forcing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75369" y="1500325"/>
            <a:ext cx="1996226" cy="540913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Medium Range</a:t>
            </a:r>
          </a:p>
          <a:p>
            <a:pPr algn="ctr"/>
            <a:r>
              <a:rPr lang="en-US" dirty="0">
                <a:solidFill>
                  <a:prstClr val="white"/>
                </a:solidFill>
              </a:rPr>
              <a:t>‘Flow Prediction’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75369" y="2755352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Daily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75369" y="3757753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0-10 days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41561" y="4781236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</a:rPr>
              <a:t>1km/250m/</a:t>
            </a:r>
            <a:r>
              <a:rPr lang="en-US" sz="1600" dirty="0" err="1">
                <a:solidFill>
                  <a:srgbClr val="FF0000"/>
                </a:solidFill>
              </a:rPr>
              <a:t>NHDPlus</a:t>
            </a:r>
            <a:r>
              <a:rPr lang="en-US" sz="1600" dirty="0">
                <a:solidFill>
                  <a:prstClr val="white"/>
                </a:solidFill>
              </a:rPr>
              <a:t> Reach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1561" y="5719283"/>
            <a:ext cx="1996226" cy="540913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Short-range + Downscaled GFS</a:t>
            </a:r>
          </a:p>
        </p:txBody>
      </p:sp>
    </p:spTree>
    <p:extLst>
      <p:ext uri="{BB962C8B-B14F-4D97-AF65-F5344CB8AC3E}">
        <p14:creationId xmlns:p14="http://schemas.microsoft.com/office/powerpoint/2010/main" val="101553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488950"/>
            <a:ext cx="7312991" cy="484632"/>
          </a:xfrm>
        </p:spPr>
        <p:txBody>
          <a:bodyPr/>
          <a:lstStyle/>
          <a:p>
            <a:r>
              <a:rPr lang="en-US" dirty="0" smtClean="0"/>
              <a:t>Interest from China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30250" y="1063695"/>
            <a:ext cx="800735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imSun" panose="02010600030101010101" pitchFamily="2" charset="-122"/>
                <a:cs typeface="SimSun" panose="02010600030101010101" pitchFamily="2" charset="-122"/>
              </a:rPr>
              <a:t>Dear David,</a:t>
            </a:r>
            <a:br>
              <a:rPr lang="en-US" dirty="0">
                <a:latin typeface="SimSun" panose="02010600030101010101" pitchFamily="2" charset="-122"/>
                <a:cs typeface="SimSun" panose="02010600030101010101" pitchFamily="2" charset="-122"/>
              </a:rPr>
            </a:br>
            <a:r>
              <a:rPr lang="en-US" dirty="0">
                <a:latin typeface="SimSun" panose="02010600030101010101" pitchFamily="2" charset="-122"/>
                <a:cs typeface="SimSun" panose="02010600030101010101" pitchFamily="2" charset="-122"/>
              </a:rPr>
              <a:t/>
            </a:r>
            <a:br>
              <a:rPr lang="en-US" dirty="0">
                <a:latin typeface="SimSun" panose="02010600030101010101" pitchFamily="2" charset="-122"/>
                <a:cs typeface="SimSun" panose="02010600030101010101" pitchFamily="2" charset="-122"/>
              </a:rPr>
            </a:br>
            <a:r>
              <a:rPr lang="en-US" dirty="0">
                <a:latin typeface="SimSun" panose="02010600030101010101" pitchFamily="2" charset="-122"/>
                <a:cs typeface="SimSun" panose="02010600030101010101" pitchFamily="2" charset="-122"/>
              </a:rPr>
              <a:t>It's just a quick response to your enquiry about China's interest in your proposal. I confirm our interest in doing similar thing in China. And, I wish the similar system could be run in China National Forecast </a:t>
            </a:r>
            <a:r>
              <a:rPr lang="en-US" dirty="0" smtClean="0">
                <a:latin typeface="SimSun" panose="02010600030101010101" pitchFamily="2" charset="-122"/>
                <a:cs typeface="SimSun" panose="02010600030101010101" pitchFamily="2" charset="-122"/>
              </a:rPr>
              <a:t>Center </a:t>
            </a:r>
            <a:r>
              <a:rPr lang="en-US" dirty="0">
                <a:latin typeface="SimSun" panose="02010600030101010101" pitchFamily="2" charset="-122"/>
                <a:cs typeface="SimSun" panose="02010600030101010101" pitchFamily="2" charset="-122"/>
              </a:rPr>
              <a:t>in near future. For the time being, we have the maps of  land use, </a:t>
            </a:r>
            <a:r>
              <a:rPr lang="en-US" dirty="0" smtClean="0">
                <a:latin typeface="SimSun" panose="02010600030101010101" pitchFamily="2" charset="-122"/>
                <a:cs typeface="SimSun" panose="02010600030101010101" pitchFamily="2" charset="-122"/>
              </a:rPr>
              <a:t>topography </a:t>
            </a:r>
            <a:r>
              <a:rPr lang="en-US" dirty="0">
                <a:latin typeface="SimSun" panose="02010600030101010101" pitchFamily="2" charset="-122"/>
                <a:cs typeface="SimSun" panose="02010600030101010101" pitchFamily="2" charset="-122"/>
              </a:rPr>
              <a:t>at scales of 30 or 90 meters, and the soil  map is available at the </a:t>
            </a:r>
            <a:r>
              <a:rPr lang="en-US" dirty="0" smtClean="0">
                <a:latin typeface="SimSun" panose="02010600030101010101" pitchFamily="2" charset="-122"/>
                <a:cs typeface="SimSun" panose="02010600030101010101" pitchFamily="2" charset="-122"/>
              </a:rPr>
              <a:t>grid </a:t>
            </a:r>
            <a:r>
              <a:rPr lang="en-US" dirty="0">
                <a:latin typeface="SimSun" panose="02010600030101010101" pitchFamily="2" charset="-122"/>
                <a:cs typeface="SimSun" panose="02010600030101010101" pitchFamily="2" charset="-122"/>
              </a:rPr>
              <a:t>size of 1km. To achieve the goal, I think your technical support is needed with thanks.</a:t>
            </a:r>
            <a:br>
              <a:rPr lang="en-US" dirty="0">
                <a:latin typeface="SimSun" panose="02010600030101010101" pitchFamily="2" charset="-122"/>
                <a:cs typeface="SimSun" panose="02010600030101010101" pitchFamily="2" charset="-122"/>
              </a:rPr>
            </a:br>
            <a:r>
              <a:rPr lang="en-US" dirty="0">
                <a:latin typeface="SimSun" panose="02010600030101010101" pitchFamily="2" charset="-122"/>
                <a:cs typeface="SimSun" panose="02010600030101010101" pitchFamily="2" charset="-122"/>
              </a:rPr>
              <a:t/>
            </a:r>
            <a:br>
              <a:rPr lang="en-US" dirty="0">
                <a:latin typeface="SimSun" panose="02010600030101010101" pitchFamily="2" charset="-122"/>
                <a:cs typeface="SimSun" panose="02010600030101010101" pitchFamily="2" charset="-122"/>
              </a:rPr>
            </a:br>
            <a:r>
              <a:rPr lang="en-US" dirty="0">
                <a:latin typeface="SimSun" panose="02010600030101010101" pitchFamily="2" charset="-122"/>
                <a:cs typeface="SimSun" panose="02010600030101010101" pitchFamily="2" charset="-122"/>
              </a:rPr>
              <a:t>With best regards</a:t>
            </a:r>
            <a:r>
              <a:rPr lang="en-US" dirty="0" smtClean="0">
                <a:latin typeface="SimSun" panose="02010600030101010101" pitchFamily="2" charset="-122"/>
                <a:cs typeface="SimSun" panose="02010600030101010101" pitchFamily="2" charset="-122"/>
              </a:rPr>
              <a:t>,</a:t>
            </a:r>
            <a:br>
              <a:rPr lang="en-US" dirty="0" smtClean="0">
                <a:latin typeface="SimSun" panose="02010600030101010101" pitchFamily="2" charset="-122"/>
                <a:cs typeface="SimSun" panose="02010600030101010101" pitchFamily="2" charset="-122"/>
              </a:rPr>
            </a:br>
            <a:r>
              <a:rPr lang="en-US" dirty="0" smtClean="0">
                <a:latin typeface="SimSun" panose="02010600030101010101" pitchFamily="2" charset="-122"/>
                <a:cs typeface="SimSun" panose="02010600030101010101" pitchFamily="2" charset="-122"/>
              </a:rPr>
              <a:t/>
            </a:r>
            <a:br>
              <a:rPr lang="en-US" dirty="0" smtClean="0">
                <a:latin typeface="SimSun" panose="02010600030101010101" pitchFamily="2" charset="-122"/>
                <a:cs typeface="SimSun" panose="02010600030101010101" pitchFamily="2" charset="-122"/>
              </a:rPr>
            </a:br>
            <a:r>
              <a:rPr lang="en-US" dirty="0" err="1" smtClean="0">
                <a:latin typeface="SimSun" panose="02010600030101010101" pitchFamily="2" charset="-122"/>
                <a:cs typeface="SimSun" panose="02010600030101010101" pitchFamily="2" charset="-122"/>
              </a:rPr>
              <a:t>Zhiyu</a:t>
            </a:r>
            <a:r>
              <a:rPr lang="en-US" dirty="0" smtClean="0">
                <a:latin typeface="SimSun" panose="02010600030101010101" pitchFamily="2" charset="-122"/>
                <a:cs typeface="SimSun" panose="02010600030101010101" pitchFamily="2" charset="-122"/>
              </a:rPr>
              <a:t> LIU</a:t>
            </a:r>
          </a:p>
          <a:p>
            <a:endParaRPr lang="en-US" dirty="0">
              <a:latin typeface="SimSun" panose="02010600030101010101" pitchFamily="2" charset="-122"/>
              <a:cs typeface="SimSun" panose="02010600030101010101" pitchFamily="2" charset="-122"/>
            </a:endParaRPr>
          </a:p>
          <a:p>
            <a:r>
              <a:rPr lang="en-US" dirty="0" smtClean="0">
                <a:latin typeface="SimSun" panose="02010600030101010101" pitchFamily="2" charset="-122"/>
                <a:cs typeface="SimSun" panose="02010600030101010101" pitchFamily="2" charset="-122"/>
              </a:rPr>
              <a:t>Vice-President of WMO Commission for Hydrology</a:t>
            </a:r>
            <a:br>
              <a:rPr lang="en-US" dirty="0" smtClean="0">
                <a:latin typeface="SimSun" panose="02010600030101010101" pitchFamily="2" charset="-122"/>
                <a:cs typeface="SimSun" panose="02010600030101010101" pitchFamily="2" charset="-122"/>
              </a:rPr>
            </a:br>
            <a:r>
              <a:rPr lang="en-US" dirty="0" smtClean="0">
                <a:latin typeface="SimSun" panose="02010600030101010101" pitchFamily="2" charset="-122"/>
                <a:cs typeface="SimSun" panose="02010600030101010101" pitchFamily="2" charset="-122"/>
              </a:rPr>
              <a:t>Director of Hydrological Forecasting Center, the Ministry of Water Resources.</a:t>
            </a:r>
          </a:p>
          <a:p>
            <a:endParaRPr lang="en-US" dirty="0">
              <a:latin typeface="SimSun" panose="02010600030101010101" pitchFamily="2" charset="-122"/>
              <a:cs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1857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532376" y="1346200"/>
            <a:ext cx="8192523" cy="481965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173736" marR="0" indent="-173736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 typeface="Arial"/>
              <a:buChar char="•"/>
              <a:tabLst/>
              <a:defRPr lang="en-US" sz="2600" b="0" i="0" kern="1200">
                <a:solidFill>
                  <a:schemeClr val="tx1"/>
                </a:solidFill>
                <a:latin typeface="+mn-lt"/>
                <a:ea typeface="+mn-ea"/>
                <a:cs typeface="Avenir LT Std 55 Roman"/>
              </a:defRPr>
            </a:lvl1pPr>
            <a:lvl2pPr marL="173038" indent="-173038" algn="l" defTabSz="4572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65000"/>
                </a:schemeClr>
              </a:buClr>
              <a:buSzPct val="80000"/>
              <a:buFont typeface="Lucida Grande"/>
              <a:buChar char="-"/>
              <a:defRPr sz="22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2pPr>
            <a:lvl3pPr marL="401638" indent="-173038" algn="l" defTabSz="457200" rtl="0" eaLnBrk="1" latinLnBrk="0" hangingPunct="1">
              <a:lnSpc>
                <a:spcPts val="2700"/>
              </a:lnSpc>
              <a:spcBef>
                <a:spcPts val="0"/>
              </a:spcBef>
              <a:spcAft>
                <a:spcPts val="1200"/>
              </a:spcAft>
              <a:buClr>
                <a:schemeClr val="tx1">
                  <a:lumMod val="65000"/>
                </a:schemeClr>
              </a:buClr>
              <a:buSzPct val="80000"/>
              <a:buFont typeface="Lucida Grande"/>
              <a:buChar char="-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Avenir LT Std 65 Medium"/>
              </a:defRPr>
            </a:lvl3pPr>
            <a:lvl4pPr marL="742950" indent="-173038" algn="l" defTabSz="4572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65000"/>
                </a:schemeClr>
              </a:buClr>
              <a:buSzPct val="80000"/>
              <a:buFont typeface="Lucida Grande"/>
              <a:buChar char="-"/>
              <a:defRPr sz="18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4pPr>
            <a:lvl5pPr marL="1082675" indent="-176213" algn="l" defTabSz="4572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65000"/>
                </a:schemeClr>
              </a:buClr>
              <a:buSzPct val="80000"/>
              <a:buFont typeface="Lucida Grande"/>
              <a:buChar char="-"/>
              <a:defRPr sz="16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5pPr>
            <a:lvl6pPr marL="1773238" indent="-177800" algn="l" defTabSz="401638" rtl="0" eaLnBrk="1" latinLnBrk="0" hangingPunct="1">
              <a:lnSpc>
                <a:spcPts val="1700"/>
              </a:lnSpc>
              <a:spcBef>
                <a:spcPts val="300"/>
              </a:spcBef>
              <a:spcAft>
                <a:spcPts val="300"/>
              </a:spcAft>
              <a:buSzPct val="80000"/>
              <a:buFont typeface="Lucida Grande"/>
              <a:buChar char="-"/>
              <a:tabLst>
                <a:tab pos="1484313" algn="l"/>
              </a:tabLst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062163" indent="-176213" algn="l" defTabSz="457200" rtl="0" eaLnBrk="1" latinLnBrk="0" hangingPunct="1">
              <a:lnSpc>
                <a:spcPts val="1700"/>
              </a:lnSpc>
              <a:spcBef>
                <a:spcPts val="300"/>
              </a:spcBef>
              <a:spcAft>
                <a:spcPts val="300"/>
              </a:spcAft>
              <a:buSzPct val="80000"/>
              <a:buFont typeface="Lucida Grande"/>
              <a:buChar char="-"/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2286000" indent="-173038" algn="l" defTabSz="457200" rtl="0" eaLnBrk="1" latinLnBrk="0" hangingPunct="1">
              <a:lnSpc>
                <a:spcPts val="1700"/>
              </a:lnSpc>
              <a:spcBef>
                <a:spcPts val="300"/>
              </a:spcBef>
              <a:spcAft>
                <a:spcPts val="300"/>
              </a:spcAft>
              <a:buSzPct val="80000"/>
              <a:buFont typeface="Lucida Grande"/>
              <a:buChar char="-"/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2452688" indent="-163513" algn="l" defTabSz="457200" rtl="0" eaLnBrk="1" latinLnBrk="0" hangingPunct="1">
              <a:lnSpc>
                <a:spcPts val="1700"/>
              </a:lnSpc>
              <a:spcBef>
                <a:spcPts val="300"/>
              </a:spcBef>
              <a:spcAft>
                <a:spcPts val="300"/>
              </a:spcAft>
              <a:buSzPct val="80000"/>
              <a:buFont typeface="Lucida Grande"/>
              <a:buChar char="-"/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0070C0"/>
                </a:solidFill>
              </a:rPr>
              <a:t>National Flood Interoperability Experiment </a:t>
            </a:r>
            <a:r>
              <a:rPr lang="en-US" dirty="0" smtClean="0"/>
              <a:t>has been a significant success in rapidly prototyping a high spatial resolution flood forecasting system for the continental US</a:t>
            </a:r>
          </a:p>
          <a:p>
            <a:r>
              <a:rPr lang="en-US" dirty="0" smtClean="0"/>
              <a:t>This is a </a:t>
            </a:r>
            <a:r>
              <a:rPr lang="en-US" dirty="0" smtClean="0">
                <a:solidFill>
                  <a:srgbClr val="0070C0"/>
                </a:solidFill>
              </a:rPr>
              <a:t>“flow continuum” </a:t>
            </a:r>
            <a:r>
              <a:rPr lang="en-US" dirty="0" smtClean="0"/>
              <a:t>model on the national stream network, like atmospheric and ocean models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China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0070C0"/>
                </a:solidFill>
              </a:rPr>
              <a:t>Australia</a:t>
            </a:r>
            <a:r>
              <a:rPr lang="en-US" dirty="0" smtClean="0"/>
              <a:t> have indicated an interest in doing something similar</a:t>
            </a:r>
          </a:p>
          <a:p>
            <a:r>
              <a:rPr lang="en-US" dirty="0" err="1">
                <a:solidFill>
                  <a:srgbClr val="0070C0"/>
                </a:solidFill>
              </a:rPr>
              <a:t>NHDPlus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smtClean="0"/>
              <a:t>provides the geospatial </a:t>
            </a:r>
            <a:r>
              <a:rPr lang="en-US" dirty="0"/>
              <a:t>information foundation </a:t>
            </a:r>
            <a:r>
              <a:rPr lang="en-US" dirty="0" smtClean="0"/>
              <a:t>in the US</a:t>
            </a:r>
          </a:p>
          <a:p>
            <a:r>
              <a:rPr lang="en-US" dirty="0" smtClean="0"/>
              <a:t>What can we propose for a comparable </a:t>
            </a:r>
            <a:r>
              <a:rPr lang="en-US" dirty="0" smtClean="0">
                <a:solidFill>
                  <a:srgbClr val="0070C0"/>
                </a:solidFill>
              </a:rPr>
              <a:t>international framework? 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Flows don’t stop at the border</a:t>
            </a:r>
          </a:p>
          <a:p>
            <a:r>
              <a:rPr lang="en-US" dirty="0" smtClean="0"/>
              <a:t>Initiate a </a:t>
            </a:r>
            <a:r>
              <a:rPr lang="en-US" dirty="0" smtClean="0">
                <a:solidFill>
                  <a:srgbClr val="0070C0"/>
                </a:solidFill>
              </a:rPr>
              <a:t>Geospatial Interoperability Experiment?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570985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ptional_Corporate_PPT_Template-Arial">
  <a:themeElements>
    <a:clrScheme name="EsriMarketing">
      <a:dk1>
        <a:sysClr val="windowText" lastClr="000000"/>
      </a:dk1>
      <a:lt1>
        <a:sysClr val="window" lastClr="FFFFFF"/>
      </a:lt1>
      <a:dk2>
        <a:srgbClr val="001446"/>
      </a:dk2>
      <a:lt2>
        <a:srgbClr val="FFFF96"/>
      </a:lt2>
      <a:accent1>
        <a:srgbClr val="A3CA4B"/>
      </a:accent1>
      <a:accent2>
        <a:srgbClr val="FAC15A"/>
      </a:accent2>
      <a:accent3>
        <a:srgbClr val="ED982D"/>
      </a:accent3>
      <a:accent4>
        <a:srgbClr val="5EB4E6"/>
      </a:accent4>
      <a:accent5>
        <a:srgbClr val="8DA3E8"/>
      </a:accent5>
      <a:accent6>
        <a:srgbClr val="B996D5"/>
      </a:accent6>
      <a:hlink>
        <a:srgbClr val="9BCDFF"/>
      </a:hlink>
      <a:folHlink>
        <a:srgbClr val="8C8C8C"/>
      </a:folHlink>
    </a:clrScheme>
    <a:fontScheme name="Esri-Arial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algn="ctr" eaLnBrk="0" fontAlgn="base" hangingPunct="0">
          <a:spcBef>
            <a:spcPct val="0"/>
          </a:spcBef>
          <a:spcAft>
            <a:spcPct val="0"/>
          </a:spcAft>
          <a:defRPr sz="1400" b="1" dirty="0">
            <a:solidFill>
              <a:srgbClr val="000000"/>
            </a:solidFill>
            <a:latin typeface="Arial" charset="0"/>
            <a:ea typeface="ＭＳ Ｐゴシック" pitchFamily="16" charset="-128"/>
            <a:cs typeface="ＭＳ Ｐゴシック" pitchFamily="-97" charset="-128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  <a:effectLst/>
      </a:spPr>
      <a:bodyPr wrap="square" lIns="0" tIns="0" rIns="0" bIns="0" rtlCol="0">
        <a:noAutofit/>
      </a:bodyPr>
      <a:lstStyle>
        <a:defPPr algn="l" eaLnBrk="0" hangingPunct="0">
          <a:lnSpc>
            <a:spcPts val="1800"/>
          </a:lnSpc>
          <a:defRPr sz="1400" b="1" dirty="0" smtClean="0">
            <a:ea typeface="+mn-ea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ptional_Corporate_PPT_Template-Arial">
  <a:themeElements>
    <a:clrScheme name="EsriMarketing">
      <a:dk1>
        <a:sysClr val="windowText" lastClr="000000"/>
      </a:dk1>
      <a:lt1>
        <a:sysClr val="window" lastClr="FFFFFF"/>
      </a:lt1>
      <a:dk2>
        <a:srgbClr val="001446"/>
      </a:dk2>
      <a:lt2>
        <a:srgbClr val="FFFF96"/>
      </a:lt2>
      <a:accent1>
        <a:srgbClr val="A3CA4B"/>
      </a:accent1>
      <a:accent2>
        <a:srgbClr val="FAC15A"/>
      </a:accent2>
      <a:accent3>
        <a:srgbClr val="ED982D"/>
      </a:accent3>
      <a:accent4>
        <a:srgbClr val="5EB4E6"/>
      </a:accent4>
      <a:accent5>
        <a:srgbClr val="8DA3E8"/>
      </a:accent5>
      <a:accent6>
        <a:srgbClr val="B996D5"/>
      </a:accent6>
      <a:hlink>
        <a:srgbClr val="9BCDFF"/>
      </a:hlink>
      <a:folHlink>
        <a:srgbClr val="8C8C8C"/>
      </a:folHlink>
    </a:clrScheme>
    <a:fontScheme name="Esri-Arial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algn="ctr" eaLnBrk="0" fontAlgn="base" hangingPunct="0">
          <a:spcBef>
            <a:spcPct val="0"/>
          </a:spcBef>
          <a:spcAft>
            <a:spcPct val="0"/>
          </a:spcAft>
          <a:defRPr sz="1400" b="1" dirty="0">
            <a:solidFill>
              <a:srgbClr val="000000"/>
            </a:solidFill>
            <a:latin typeface="Arial" charset="0"/>
            <a:ea typeface="ＭＳ Ｐゴシック" pitchFamily="16" charset="-128"/>
            <a:cs typeface="ＭＳ Ｐゴシック" pitchFamily="-97" charset="-128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  <a:effectLst/>
      </a:spPr>
      <a:bodyPr wrap="square" lIns="0" tIns="0" rIns="0" bIns="0" rtlCol="0">
        <a:noAutofit/>
      </a:bodyPr>
      <a:lstStyle>
        <a:defPPr algn="l" eaLnBrk="0" hangingPunct="0">
          <a:lnSpc>
            <a:spcPts val="1800"/>
          </a:lnSpc>
          <a:defRPr sz="1400" b="1" dirty="0" smtClean="0">
            <a:ea typeface="+mn-ea"/>
            <a:cs typeface="+mn-cs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ptional_Corporate_PPT_Template-Arial">
  <a:themeElements>
    <a:clrScheme name="EsriMarketing">
      <a:dk1>
        <a:sysClr val="windowText" lastClr="000000"/>
      </a:dk1>
      <a:lt1>
        <a:sysClr val="window" lastClr="FFFFFF"/>
      </a:lt1>
      <a:dk2>
        <a:srgbClr val="001446"/>
      </a:dk2>
      <a:lt2>
        <a:srgbClr val="FFFF96"/>
      </a:lt2>
      <a:accent1>
        <a:srgbClr val="A3CA4B"/>
      </a:accent1>
      <a:accent2>
        <a:srgbClr val="FAC15A"/>
      </a:accent2>
      <a:accent3>
        <a:srgbClr val="ED982D"/>
      </a:accent3>
      <a:accent4>
        <a:srgbClr val="5EB4E6"/>
      </a:accent4>
      <a:accent5>
        <a:srgbClr val="8DA3E8"/>
      </a:accent5>
      <a:accent6>
        <a:srgbClr val="B996D5"/>
      </a:accent6>
      <a:hlink>
        <a:srgbClr val="9BCDFF"/>
      </a:hlink>
      <a:folHlink>
        <a:srgbClr val="8C8C8C"/>
      </a:folHlink>
    </a:clrScheme>
    <a:fontScheme name="Esri-Arial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algn="ctr" eaLnBrk="0" fontAlgn="base" hangingPunct="0">
          <a:spcBef>
            <a:spcPct val="0"/>
          </a:spcBef>
          <a:spcAft>
            <a:spcPct val="0"/>
          </a:spcAft>
          <a:defRPr sz="1400" b="1" dirty="0">
            <a:solidFill>
              <a:srgbClr val="000000"/>
            </a:solidFill>
            <a:latin typeface="Arial" charset="0"/>
            <a:ea typeface="ＭＳ Ｐゴシック" pitchFamily="16" charset="-128"/>
            <a:cs typeface="ＭＳ Ｐゴシック" pitchFamily="-97" charset="-128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  <a:effectLst/>
      </a:spPr>
      <a:bodyPr wrap="square" lIns="0" tIns="0" rIns="0" bIns="0" rtlCol="0">
        <a:noAutofit/>
      </a:bodyPr>
      <a:lstStyle>
        <a:defPPr algn="l" eaLnBrk="0" hangingPunct="0">
          <a:lnSpc>
            <a:spcPts val="1800"/>
          </a:lnSpc>
          <a:defRPr sz="1400" b="1" dirty="0" smtClean="0">
            <a:ea typeface="+mn-ea"/>
            <a:cs typeface="+mn-cs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1185</TotalTime>
  <Words>1132</Words>
  <Application>Microsoft Macintosh PowerPoint</Application>
  <PresentationFormat>On-screen Show (4:3)</PresentationFormat>
  <Paragraphs>225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26</vt:i4>
      </vt:variant>
    </vt:vector>
  </HeadingPairs>
  <TitlesOfParts>
    <vt:vector size="43" baseType="lpstr">
      <vt:lpstr>Avenir LT Std 55 Roman</vt:lpstr>
      <vt:lpstr>Avenir LT Std 65 Medium</vt:lpstr>
      <vt:lpstr>Avenir LT Std 85 Heavy</vt:lpstr>
      <vt:lpstr>Calibri</vt:lpstr>
      <vt:lpstr>Franklin Gothic Medium Cond</vt:lpstr>
      <vt:lpstr>Lucida Grande</vt:lpstr>
      <vt:lpstr>ＭＳ Ｐゴシック</vt:lpstr>
      <vt:lpstr>SimSun</vt:lpstr>
      <vt:lpstr>Verdana</vt:lpstr>
      <vt:lpstr>Arial</vt:lpstr>
      <vt:lpstr>Optional_Corporate_PPT_Template-Arial</vt:lpstr>
      <vt:lpstr>Office Theme</vt:lpstr>
      <vt:lpstr>2_Optional_Corporate_PPT_Template-Arial</vt:lpstr>
      <vt:lpstr>4_Office Theme</vt:lpstr>
      <vt:lpstr>3_Optional_Corporate_PPT_Template-Arial</vt:lpstr>
      <vt:lpstr>5_Office Theme</vt:lpstr>
      <vt:lpstr>2_Office Theme</vt:lpstr>
      <vt:lpstr>PowerPoint Presentation</vt:lpstr>
      <vt:lpstr>The Opportunity</vt:lpstr>
      <vt:lpstr>Integrated Water Resources Science and Services (IWRSS)</vt:lpstr>
      <vt:lpstr>NWS River Forecast Centers (RFCs)</vt:lpstr>
      <vt:lpstr>PowerPoint Presentation</vt:lpstr>
      <vt:lpstr>PowerPoint Presentation</vt:lpstr>
      <vt:lpstr>RFC Forecast Point: Onion Creek at Highway 183</vt:lpstr>
      <vt:lpstr>WaterML2 Observations from USGS and Forecasts from NWS for this location </vt:lpstr>
      <vt:lpstr>PowerPoint Presentation</vt:lpstr>
      <vt:lpstr>Transformative Research (NSF)</vt:lpstr>
      <vt:lpstr>National Flood Interoperability Experiment (NFIE) (Sept 2014 to August 2015)</vt:lpstr>
      <vt:lpstr>Goal of the Experiment</vt:lpstr>
      <vt:lpstr>NFIE Conceptual Framework</vt:lpstr>
      <vt:lpstr>Open Water Data Initiative (OWDI)</vt:lpstr>
      <vt:lpstr>NHDPlus Version 2.1 </vt:lpstr>
      <vt:lpstr>Flood Information for Fritz Hughes Park Rd</vt:lpstr>
      <vt:lpstr>PowerPoint Presentation</vt:lpstr>
      <vt:lpstr>WRF-Hydro Forecasting Model</vt:lpstr>
      <vt:lpstr>PowerPoint Presentation</vt:lpstr>
      <vt:lpstr>PowerPoint Presentation</vt:lpstr>
      <vt:lpstr>Current and NFIE Forecast Systems</vt:lpstr>
      <vt:lpstr>Linear Referencing on Flowlines</vt:lpstr>
      <vt:lpstr>Basic Ideas</vt:lpstr>
      <vt:lpstr>Next Step: National Water Prediction Model Configurations</vt:lpstr>
      <vt:lpstr>Interest from China</vt:lpstr>
      <vt:lpstr>Conclusions</vt:lpstr>
    </vt:vector>
  </TitlesOfParts>
  <Company>Cockrell School of Engineering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of Flooding on Shoal Ck, Austin, Tx</dc:title>
  <dc:creator>Maidment, David R</dc:creator>
  <cp:lastModifiedBy>Microsoft Office User</cp:lastModifiedBy>
  <cp:revision>110</cp:revision>
  <cp:lastPrinted>2015-08-21T16:32:18Z</cp:lastPrinted>
  <dcterms:created xsi:type="dcterms:W3CDTF">2015-07-20T10:58:55Z</dcterms:created>
  <dcterms:modified xsi:type="dcterms:W3CDTF">2015-09-23T09:08:08Z</dcterms:modified>
</cp:coreProperties>
</file>