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sldIdLst>
    <p:sldId id="256" r:id="rId3"/>
    <p:sldId id="257" r:id="rId4"/>
    <p:sldId id="266" r:id="rId5"/>
    <p:sldId id="267" r:id="rId6"/>
    <p:sldId id="259" r:id="rId7"/>
    <p:sldId id="264" r:id="rId8"/>
    <p:sldId id="272" r:id="rId9"/>
    <p:sldId id="271" r:id="rId10"/>
    <p:sldId id="258" r:id="rId11"/>
    <p:sldId id="268" r:id="rId12"/>
    <p:sldId id="273" r:id="rId13"/>
    <p:sldId id="262" r:id="rId14"/>
    <p:sldId id="263" r:id="rId15"/>
    <p:sldId id="269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14" autoAdjust="0"/>
    <p:restoredTop sz="94660"/>
  </p:normalViewPr>
  <p:slideViewPr>
    <p:cSldViewPr snapToGrid="0">
      <p:cViewPr varScale="1">
        <p:scale>
          <a:sx n="75" d="100"/>
          <a:sy n="75" d="100"/>
        </p:scale>
        <p:origin x="37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FFBE4-16A4-4F8F-ABDC-0A66FC9BAA58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5FE07-83DF-4B3D-B8C1-0AEF27759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4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051F01-34EE-4C5C-955A-7F8BEA0B1820}" type="slidenum">
              <a:rPr lang="en-GB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17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74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9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9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25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61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4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8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7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24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72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65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F8AB36FB-2821-4605-99FD-4619310A020B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1878950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BA22C867-C22E-4754-81A7-E0EEF1D3A57C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2712897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C33763D-F0CA-45F0-8FED-A96FB84EC3D6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79C470-7F4B-4806-B818-14613218D196}" type="slidenum">
              <a:rPr lang="en-GB">
                <a:solidFill>
                  <a:srgbClr val="000000"/>
                </a:solidFill>
                <a:ea typeface="MS PGothic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8482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7EE6D58-24F0-4820-A003-3BCDF39B2FDF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682B35-AD0E-4469-837B-ADF616699019}" type="slidenum">
              <a:rPr lang="en-GB">
                <a:solidFill>
                  <a:srgbClr val="000000"/>
                </a:solidFill>
                <a:ea typeface="MS PGothic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2244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A02DF2B4-C32F-4877-9494-B9A0BF6392DA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33ECD94-67D7-4A2C-B6DB-FD8DD087110D}" type="slidenum">
              <a:rPr lang="en-GB">
                <a:solidFill>
                  <a:srgbClr val="000000"/>
                </a:solidFill>
                <a:ea typeface="MS PGothic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5509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7519FEBF-4983-444F-8A83-B2C2D35D227F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9D8986-C530-4D59-8C8A-212DE80876CD}" type="slidenum">
              <a:rPr lang="en-GB">
                <a:solidFill>
                  <a:srgbClr val="000000"/>
                </a:solidFill>
                <a:ea typeface="MS PGothic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0200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FC57EB-AA14-432F-BC49-F838223CF465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BE5E1B8-E1EA-4035-BEA1-DAA38DD3A5E6}" type="slidenum">
              <a:rPr lang="en-GB">
                <a:solidFill>
                  <a:srgbClr val="000000"/>
                </a:solidFill>
                <a:ea typeface="MS PGothic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106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D810332-8693-4A5C-B0A0-9BC6A33292B8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5B8CDB3-C5F1-43F6-941B-7229598B94B8}" type="slidenum">
              <a:rPr lang="en-GB">
                <a:solidFill>
                  <a:srgbClr val="000000"/>
                </a:solidFill>
                <a:ea typeface="MS PGothic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504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97350F4-4FF4-4A4D-8E78-8EA80586E666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03713B8-542A-4299-9891-2CE5FE12FF4C}" type="slidenum">
              <a:rPr lang="en-GB">
                <a:solidFill>
                  <a:srgbClr val="000000"/>
                </a:solidFill>
                <a:ea typeface="MS PGothic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73356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10AD65-1A73-4C8A-8006-BFA10DA19E32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E6D320C-68CF-4EFB-82E7-A9B9F3E70BB0}" type="slidenum">
              <a:rPr lang="en-GB">
                <a:solidFill>
                  <a:srgbClr val="000000"/>
                </a:solidFill>
                <a:ea typeface="MS PGothic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22125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58369FA2-0200-41B8-89DC-EDA4FE3817DE}" type="datetime1">
              <a:rPr lang="en-GB"/>
              <a:pPr>
                <a:defRPr/>
              </a:pPr>
              <a:t>11/06/2017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50DE84-48AF-4B31-83D8-F5A85BC0129C}" type="slidenum">
              <a:rPr lang="en-GB">
                <a:solidFill>
                  <a:srgbClr val="000000"/>
                </a:solidFill>
                <a:ea typeface="MS PGothic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8162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92223-008B-4FB8-8BE9-233971673DBD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9D303-D963-464F-A598-E62EB29279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7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Textmasterformate durch Klicken bearbeiten</a:t>
            </a:r>
          </a:p>
          <a:p>
            <a:pPr lvl="1"/>
            <a:r>
              <a:rPr lang="en-GB" altLang="en-US" smtClean="0"/>
              <a:t>Zweite Ebene</a:t>
            </a:r>
          </a:p>
          <a:p>
            <a:pPr lvl="2"/>
            <a:r>
              <a:rPr lang="en-GB" altLang="en-US" smtClean="0"/>
              <a:t>Dritte Ebene</a:t>
            </a:r>
          </a:p>
          <a:p>
            <a:pPr lvl="3"/>
            <a:r>
              <a:rPr lang="en-GB" altLang="en-US" smtClean="0"/>
              <a:t>Vierte Ebene</a:t>
            </a:r>
          </a:p>
          <a:p>
            <a:pPr lvl="4"/>
            <a:r>
              <a:rPr lang="en-GB" altLang="en-US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27313" y="6381750"/>
            <a:ext cx="29527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336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>
                <a:ea typeface="MS PGothic" pitchFamily="34" charset="-128"/>
              </a:rPr>
              <a:t>Koblenz, </a:t>
            </a:r>
            <a:fld id="{61FD13C3-70D0-4E51-8230-7AFA0AAAA86A}" type="datetime1">
              <a:rPr lang="en-GB">
                <a:ea typeface="MS PGothic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11/06/2017</a:t>
            </a:fld>
            <a:endParaRPr lang="en-GB">
              <a:ea typeface="MS PGothic" pitchFamily="34" charset="-128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03350" y="6408738"/>
            <a:ext cx="48974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3366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>
                <a:ea typeface="MS PGothic" pitchFamily="34" charset="-128"/>
              </a:rPr>
              <a:t>11th meeting of GRDC SC, Koblenz, 2013, June 10 - 12</a:t>
            </a:r>
          </a:p>
        </p:txBody>
      </p:sp>
      <p:pic>
        <p:nvPicPr>
          <p:cNvPr id="1033" name="Picture 10" descr="wmo_black_400 Kopie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9944" y="6180047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64" name="Text Box 16"/>
          <p:cNvSpPr txBox="1">
            <a:spLocks noChangeArrowheads="1"/>
          </p:cNvSpPr>
          <p:nvPr userDrawn="1"/>
        </p:nvSpPr>
        <p:spPr bwMode="auto">
          <a:xfrm>
            <a:off x="174625" y="6092825"/>
            <a:ext cx="11572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smtClean="0">
                <a:solidFill>
                  <a:srgbClr val="003366"/>
                </a:solidFill>
                <a:latin typeface="Times New Roman" pitchFamily="18" charset="0"/>
                <a:ea typeface="MS PGothic" pitchFamily="34" charset="-128"/>
              </a:rPr>
              <a:t>OGC</a:t>
            </a:r>
          </a:p>
        </p:txBody>
      </p:sp>
      <p:sp>
        <p:nvSpPr>
          <p:cNvPr id="1035" name="Line 13"/>
          <p:cNvSpPr>
            <a:spLocks noChangeShapeType="1"/>
          </p:cNvSpPr>
          <p:nvPr userDrawn="1"/>
        </p:nvSpPr>
        <p:spPr bwMode="auto">
          <a:xfrm>
            <a:off x="468313" y="119697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1036" name="Line 14"/>
          <p:cNvSpPr>
            <a:spLocks noChangeShapeType="1"/>
          </p:cNvSpPr>
          <p:nvPr userDrawn="1"/>
        </p:nvSpPr>
        <p:spPr bwMode="auto">
          <a:xfrm>
            <a:off x="468313" y="613092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>
              <a:solidFill>
                <a:srgbClr val="00000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0111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google.com/spreadsheets/d/1IDsqpDuNzkE7yDYiV9JBf7FbTJuc0XLFrgcVi43OVRA/edit#gid=1665905622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xternal.opengis.org/twiki_public/HydrologyDWG/WebHom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google.com/spreadsheets/d/11SgoYYnj1eicvPbUqLENOta2B4zxHyHZu_CXpGHwIz8/edit?pref=2&amp;pli=1#gid=0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RDA Global Water Information IG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Co-Chairs: </a:t>
            </a:r>
          </a:p>
          <a:p>
            <a:r>
              <a:rPr lang="en-US" dirty="0" smtClean="0"/>
              <a:t>Tony Boston, Matt Fry, Sylvain Grellet, Ilya Zaslavsky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82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Started in early 2016 after </a:t>
            </a:r>
            <a:r>
              <a:rPr lang="en-US" dirty="0" err="1" smtClean="0"/>
              <a:t>BoF</a:t>
            </a:r>
            <a:r>
              <a:rPr lang="en-US" dirty="0" smtClean="0"/>
              <a:t> session at RDA P6-Paris</a:t>
            </a:r>
          </a:p>
          <a:p>
            <a:r>
              <a:rPr lang="en-US" dirty="0" smtClean="0"/>
              <a:t>A sister activity of OGC/WMO Hydrology Domain Working Group</a:t>
            </a:r>
          </a:p>
          <a:p>
            <a:r>
              <a:rPr lang="en-US" dirty="0" smtClean="0"/>
              <a:t>RDA Plenary meetings in Tokyo and Denver (not in Barcelona). Planning to be in Montreal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6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27" y="1525237"/>
            <a:ext cx="8585860" cy="507087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/>
              <a:t>a) facilitate dissemination and implementation of </a:t>
            </a:r>
            <a:r>
              <a:rPr lang="en-GB" b="1" dirty="0"/>
              <a:t>water data standards</a:t>
            </a:r>
            <a:r>
              <a:rPr lang="en-GB" dirty="0"/>
              <a:t> being developed through HDWG activities;</a:t>
            </a:r>
          </a:p>
          <a:p>
            <a:pPr marL="0" indent="0">
              <a:buNone/>
            </a:pPr>
            <a:r>
              <a:rPr lang="en-GB" dirty="0"/>
              <a:t>b) explore and </a:t>
            </a:r>
            <a:r>
              <a:rPr lang="en-GB" b="1" dirty="0"/>
              <a:t>compare </a:t>
            </a:r>
            <a:r>
              <a:rPr lang="en-GB" b="1" dirty="0" err="1"/>
              <a:t>eInfrastructures</a:t>
            </a:r>
            <a:r>
              <a:rPr lang="en-GB" b="1" dirty="0"/>
              <a:t> being developed for water data sharing</a:t>
            </a:r>
            <a:r>
              <a:rPr lang="en-GB" dirty="0"/>
              <a:t>, with related designs in other domains;</a:t>
            </a:r>
          </a:p>
          <a:p>
            <a:pPr marL="0" indent="0">
              <a:buNone/>
            </a:pPr>
            <a:r>
              <a:rPr lang="en-GB" dirty="0"/>
              <a:t>c) address issues that are currently outside of the scope of HDWG;</a:t>
            </a:r>
          </a:p>
          <a:p>
            <a:pPr marL="0" indent="0">
              <a:buNone/>
            </a:pPr>
            <a:r>
              <a:rPr lang="en-GB" dirty="0"/>
              <a:t>d) facilitate </a:t>
            </a:r>
            <a:r>
              <a:rPr lang="en-GB" b="1" dirty="0"/>
              <a:t>re-use of </a:t>
            </a:r>
            <a:r>
              <a:rPr lang="en-GB" b="1" dirty="0" err="1"/>
              <a:t>eInfrastructure</a:t>
            </a:r>
            <a:r>
              <a:rPr lang="en-GB" b="1" dirty="0"/>
              <a:t> foundation and components recommended by RDA </a:t>
            </a:r>
            <a:r>
              <a:rPr lang="en-GB" dirty="0"/>
              <a:t>or developed by RDA partners;</a:t>
            </a:r>
          </a:p>
          <a:p>
            <a:pPr marL="0" indent="0">
              <a:buNone/>
            </a:pPr>
            <a:r>
              <a:rPr lang="en-GB" dirty="0"/>
              <a:t>e) explore </a:t>
            </a:r>
            <a:r>
              <a:rPr lang="en-GB" b="1" dirty="0"/>
              <a:t>policies for water data sharing </a:t>
            </a:r>
            <a:r>
              <a:rPr lang="en-GB" dirty="0"/>
              <a:t>as related to the general policy agenda being investigated by RDA groups;</a:t>
            </a:r>
          </a:p>
          <a:p>
            <a:pPr marL="0" indent="0">
              <a:buNone/>
            </a:pPr>
            <a:r>
              <a:rPr lang="en-GB" dirty="0"/>
              <a:t>f) leverage </a:t>
            </a:r>
            <a:r>
              <a:rPr lang="en-GB" b="1" dirty="0"/>
              <a:t>RDA work on data publication and dynamic data citation </a:t>
            </a:r>
            <a:r>
              <a:rPr lang="en-GB" dirty="0"/>
              <a:t>(issues directly applicable to management of hydrologic time series);</a:t>
            </a:r>
          </a:p>
          <a:p>
            <a:pPr marL="0" indent="0">
              <a:buNone/>
            </a:pPr>
            <a:r>
              <a:rPr lang="en-GB" dirty="0"/>
              <a:t>g) make water data sharing a component of global data sharing system within the RDA framework;</a:t>
            </a:r>
          </a:p>
          <a:p>
            <a:endParaRPr lang="en-GB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8650" y="472517"/>
            <a:ext cx="7886700" cy="5730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GWIIG charter – value proposition (I)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33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72517"/>
            <a:ext cx="7886700" cy="573063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GWIIG charter – value proposition (II)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27" y="1445079"/>
            <a:ext cx="8585860" cy="55594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h) gain insights from experience and </a:t>
            </a:r>
            <a:r>
              <a:rPr lang="en-GB" b="1" dirty="0"/>
              <a:t>best practices of data systems in other domains</a:t>
            </a:r>
            <a:r>
              <a:rPr lang="en-GB" dirty="0"/>
              <a:t>, in particular as they address common pain points in </a:t>
            </a:r>
            <a:r>
              <a:rPr lang="en-GB" dirty="0" err="1"/>
              <a:t>eInfrastructure</a:t>
            </a:r>
            <a:r>
              <a:rPr lang="en-GB" dirty="0"/>
              <a:t> development;</a:t>
            </a:r>
          </a:p>
          <a:p>
            <a:pPr marL="0" indent="0">
              <a:buNone/>
            </a:pPr>
            <a:r>
              <a:rPr lang="en-GB" dirty="0" err="1"/>
              <a:t>i</a:t>
            </a:r>
            <a:r>
              <a:rPr lang="en-GB" dirty="0"/>
              <a:t>) </a:t>
            </a:r>
            <a:r>
              <a:rPr lang="en-GB" b="1" dirty="0"/>
              <a:t>coordinate with other RDA groups </a:t>
            </a:r>
            <a:r>
              <a:rPr lang="en-GB" dirty="0"/>
              <a:t>on addressing common deficiencies of existing data publication and exchange frameworks such as lack of policy level enforcement of a global water data exchange scheme, in the context of each country/continent having its own IT/political approach;</a:t>
            </a:r>
          </a:p>
          <a:p>
            <a:pPr marL="0" indent="0">
              <a:buNone/>
            </a:pPr>
            <a:r>
              <a:rPr lang="en-GB" dirty="0"/>
              <a:t>j) organize </a:t>
            </a:r>
            <a:r>
              <a:rPr lang="en-GB" b="1" dirty="0"/>
              <a:t>use cases </a:t>
            </a:r>
            <a:r>
              <a:rPr lang="en-GB" dirty="0"/>
              <a:t>and get feedback from water data users in other domains;</a:t>
            </a:r>
          </a:p>
          <a:p>
            <a:pPr marL="0" indent="0">
              <a:buNone/>
            </a:pPr>
            <a:r>
              <a:rPr lang="en-GB" dirty="0"/>
              <a:t>k) </a:t>
            </a:r>
            <a:r>
              <a:rPr lang="en-GB" b="1" dirty="0"/>
              <a:t>attract academic researchers </a:t>
            </a:r>
            <a:r>
              <a:rPr lang="en-GB" dirty="0"/>
              <a:t>working on water data sharing and related infrastructure issues, as their participation may be better recognized and aligned with the RDA framework rather than with OGC;</a:t>
            </a:r>
          </a:p>
          <a:p>
            <a:pPr marL="0" indent="0">
              <a:buNone/>
            </a:pPr>
            <a:r>
              <a:rPr lang="en-GB" dirty="0"/>
              <a:t>l) </a:t>
            </a:r>
            <a:r>
              <a:rPr lang="en-GB" b="1" dirty="0"/>
              <a:t>widen participation in global water </a:t>
            </a:r>
            <a:r>
              <a:rPr lang="en-GB" b="1" dirty="0" err="1"/>
              <a:t>eInfrastructure</a:t>
            </a:r>
            <a:r>
              <a:rPr lang="en-GB" b="1" dirty="0"/>
              <a:t> discussion </a:t>
            </a:r>
            <a:r>
              <a:rPr lang="en-GB" dirty="0"/>
              <a:t>by attracting members from regions not currently engaged in the development of water data exchange standards through HDWG, in particular from developing countries;</a:t>
            </a:r>
          </a:p>
          <a:p>
            <a:pPr marL="0" indent="0">
              <a:buNone/>
            </a:pPr>
            <a:r>
              <a:rPr lang="en-GB" dirty="0"/>
              <a:t>m) identify and coordinate </a:t>
            </a:r>
            <a:r>
              <a:rPr lang="en-GB" b="1" dirty="0"/>
              <a:t>requirements relating to water data standards </a:t>
            </a:r>
            <a:r>
              <a:rPr lang="en-GB" dirty="0"/>
              <a:t>from the wider research community, as input to the HDWG-led standardization process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8402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HDWG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Started in 2008</a:t>
            </a:r>
          </a:p>
          <a:p>
            <a:r>
              <a:rPr lang="en-US" dirty="0" smtClean="0"/>
              <a:t>Regular sessions at OGC TC meetings</a:t>
            </a:r>
          </a:p>
          <a:p>
            <a:r>
              <a:rPr lang="en-US" dirty="0" smtClean="0"/>
              <a:t>Yearly workshops (</a:t>
            </a:r>
            <a:r>
              <a:rPr lang="en-US" dirty="0" err="1" smtClean="0"/>
              <a:t>eg</a:t>
            </a:r>
            <a:r>
              <a:rPr lang="en-US" dirty="0" smtClean="0"/>
              <a:t> there is one later this month)</a:t>
            </a:r>
          </a:p>
          <a:p>
            <a:r>
              <a:rPr lang="en-US" dirty="0" smtClean="0"/>
              <a:t>Active work on interoperability experiments and specifications:</a:t>
            </a:r>
          </a:p>
          <a:p>
            <a:pPr lvl="1"/>
            <a:r>
              <a:rPr lang="en-US" dirty="0" err="1" smtClean="0"/>
              <a:t>WaterML</a:t>
            </a:r>
            <a:r>
              <a:rPr lang="en-US" dirty="0" smtClean="0"/>
              <a:t> 2 family of standards</a:t>
            </a:r>
          </a:p>
          <a:p>
            <a:r>
              <a:rPr lang="en-US" dirty="0" smtClean="0"/>
              <a:t>Overlap in people, themes, communication channels</a:t>
            </a:r>
          </a:p>
          <a:p>
            <a:r>
              <a:rPr lang="en-US" dirty="0" smtClean="0"/>
              <a:t>Parallels between OGC and RDA structures</a:t>
            </a:r>
          </a:p>
          <a:p>
            <a:pPr lvl="1"/>
            <a:r>
              <a:rPr lang="en-US" dirty="0" smtClean="0"/>
              <a:t>See </a:t>
            </a:r>
            <a:r>
              <a:rPr lang="en-US" dirty="0"/>
              <a:t>OGC-RDA </a:t>
            </a:r>
            <a:r>
              <a:rPr lang="en-US" dirty="0" smtClean="0"/>
              <a:t>mapping spreadsheet</a:t>
            </a:r>
          </a:p>
        </p:txBody>
      </p:sp>
    </p:spTree>
    <p:extLst>
      <p:ext uri="{BB962C8B-B14F-4D97-AF65-F5344CB8AC3E}">
        <p14:creationId xmlns:p14="http://schemas.microsoft.com/office/powerpoint/2010/main" val="11961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15888"/>
            <a:ext cx="8713787" cy="1143000"/>
          </a:xfrm>
        </p:spPr>
        <p:txBody>
          <a:bodyPr/>
          <a:lstStyle/>
          <a:p>
            <a:pPr eaLnBrk="1" hangingPunct="1"/>
            <a:r>
              <a:rPr lang="en-GB" altLang="en-US" sz="3200" dirty="0" smtClean="0">
                <a:solidFill>
                  <a:srgbClr val="003366"/>
                </a:solidFill>
              </a:rPr>
              <a:t>WMO/OGC Hydrology Domain Working Group</a:t>
            </a:r>
            <a:br>
              <a:rPr lang="en-GB" altLang="en-US" sz="3200" dirty="0" smtClean="0">
                <a:solidFill>
                  <a:srgbClr val="003366"/>
                </a:solidFill>
              </a:rPr>
            </a:br>
            <a:r>
              <a:rPr lang="en-GB" altLang="en-US" sz="3200" dirty="0" smtClean="0">
                <a:solidFill>
                  <a:srgbClr val="003366"/>
                </a:solidFill>
              </a:rPr>
              <a:t>WaterML2 suite</a:t>
            </a:r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0866" y="6408738"/>
            <a:ext cx="4897438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 smtClean="0">
                <a:solidFill>
                  <a:srgbClr val="003366"/>
                </a:solidFill>
              </a:rPr>
              <a:t>19 February 2016</a:t>
            </a:r>
            <a:endParaRPr lang="en-GB" altLang="en-US" dirty="0">
              <a:solidFill>
                <a:srgbClr val="003366"/>
              </a:solidFill>
            </a:endParaRPr>
          </a:p>
        </p:txBody>
      </p:sp>
      <p:grpSp>
        <p:nvGrpSpPr>
          <p:cNvPr id="20" name="Gruppieren 2"/>
          <p:cNvGrpSpPr/>
          <p:nvPr/>
        </p:nvGrpSpPr>
        <p:grpSpPr>
          <a:xfrm>
            <a:off x="1293620" y="2116485"/>
            <a:ext cx="6623046" cy="3226981"/>
            <a:chOff x="1318203" y="1908835"/>
            <a:chExt cx="6623046" cy="39046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1" name="Gruppieren 5"/>
            <p:cNvGrpSpPr/>
            <p:nvPr/>
          </p:nvGrpSpPr>
          <p:grpSpPr>
            <a:xfrm>
              <a:off x="1318203" y="1908835"/>
              <a:ext cx="6623046" cy="3904647"/>
              <a:chOff x="934404" y="1573378"/>
              <a:chExt cx="7285351" cy="4724623"/>
            </a:xfrm>
          </p:grpSpPr>
          <p:sp>
            <p:nvSpPr>
              <p:cNvPr id="33" name="Ellipse 6"/>
              <p:cNvSpPr/>
              <p:nvPr/>
            </p:nvSpPr>
            <p:spPr bwMode="auto">
              <a:xfrm>
                <a:off x="934404" y="1573378"/>
                <a:ext cx="7285351" cy="4724623"/>
              </a:xfrm>
              <a:prstGeom prst="ellipse">
                <a:avLst/>
              </a:prstGeom>
              <a:solidFill>
                <a:srgbClr val="DDDDDD"/>
              </a:solidFill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50800" dir="7440000" sx="89000" sy="89000" algn="ctr" rotWithShape="0">
                  <a:srgbClr val="000000">
                    <a:alpha val="43137"/>
                  </a:srgbClr>
                </a:outerShdw>
              </a:effectLst>
            </p:spPr>
            <p:txBody>
              <a:bodyPr rtlCol="0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>
                  <a:solidFill>
                    <a:srgbClr val="000000"/>
                  </a:solidFill>
                  <a:ea typeface="MS PGothic" pitchFamily="34" charset="-128"/>
                </a:endParaRPr>
              </a:p>
            </p:txBody>
          </p:sp>
          <p:sp>
            <p:nvSpPr>
              <p:cNvPr id="34" name="Textfeld 15"/>
              <p:cNvSpPr txBox="1"/>
              <p:nvPr/>
            </p:nvSpPr>
            <p:spPr>
              <a:xfrm>
                <a:off x="2096668" y="3023783"/>
                <a:ext cx="5453888" cy="1644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de-DE" sz="2200" u="sng" dirty="0" err="1" smtClean="0">
                    <a:solidFill>
                      <a:srgbClr val="002060"/>
                    </a:solidFill>
                    <a:ea typeface="MS PGothic" pitchFamily="34" charset="-128"/>
                  </a:rPr>
                  <a:t>Hydrologic</a:t>
                </a:r>
                <a:r>
                  <a:rPr lang="de-DE" sz="2200" u="sng" dirty="0" smtClean="0">
                    <a:solidFill>
                      <a:srgbClr val="002060"/>
                    </a:solidFill>
                    <a:ea typeface="MS PGothic" pitchFamily="34" charset="-128"/>
                  </a:rPr>
                  <a:t>  </a:t>
                </a:r>
                <a:r>
                  <a:rPr lang="de-DE" sz="2200" u="sng" dirty="0">
                    <a:solidFill>
                      <a:srgbClr val="002060"/>
                    </a:solidFill>
                    <a:ea typeface="MS PGothic" pitchFamily="34" charset="-128"/>
                  </a:rPr>
                  <a:t>Information Standards</a:t>
                </a:r>
                <a:r>
                  <a:rPr lang="de-DE" sz="2200" dirty="0">
                    <a:solidFill>
                      <a:srgbClr val="002060"/>
                    </a:solidFill>
                    <a:ea typeface="MS PGothic" pitchFamily="34" charset="-128"/>
                  </a:rPr>
                  <a:t>: </a:t>
                </a:r>
                <a:endParaRPr lang="de-DE" sz="2200" dirty="0" smtClean="0">
                  <a:solidFill>
                    <a:srgbClr val="002060"/>
                  </a:solidFill>
                  <a:ea typeface="MS PGothic" pitchFamily="34" charset="-128"/>
                </a:endParaRP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de-DE" sz="2200" dirty="0">
                  <a:solidFill>
                    <a:srgbClr val="002060"/>
                  </a:solidFill>
                  <a:ea typeface="MS PGothic" pitchFamily="34" charset="-128"/>
                </a:endParaRPr>
              </a:p>
              <a:p>
                <a:pPr algn="ctr" fontAlgn="base"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de-DE" dirty="0" err="1" smtClean="0">
                    <a:solidFill>
                      <a:srgbClr val="002060"/>
                    </a:solidFill>
                    <a:ea typeface="MS PGothic" pitchFamily="34" charset="-128"/>
                  </a:rPr>
                  <a:t>of</a:t>
                </a:r>
                <a:r>
                  <a:rPr lang="de-DE" dirty="0" smtClean="0">
                    <a:solidFill>
                      <a:srgbClr val="002060"/>
                    </a:solidFill>
                    <a:ea typeface="MS PGothic" pitchFamily="34" charset="-128"/>
                  </a:rPr>
                  <a:t> </a:t>
                </a:r>
                <a:r>
                  <a:rPr lang="de-DE" dirty="0" err="1" smtClean="0">
                    <a:solidFill>
                      <a:srgbClr val="002060"/>
                    </a:solidFill>
                    <a:ea typeface="MS PGothic" pitchFamily="34" charset="-128"/>
                  </a:rPr>
                  <a:t>hydrologic</a:t>
                </a:r>
                <a:r>
                  <a:rPr lang="de-DE" dirty="0" smtClean="0">
                    <a:solidFill>
                      <a:srgbClr val="002060"/>
                    </a:solidFill>
                    <a:ea typeface="MS PGothic" pitchFamily="34" charset="-128"/>
                  </a:rPr>
                  <a:t> (</a:t>
                </a:r>
                <a:r>
                  <a:rPr lang="de-DE" dirty="0" err="1" smtClean="0">
                    <a:solidFill>
                      <a:srgbClr val="002060"/>
                    </a:solidFill>
                    <a:ea typeface="MS PGothic" pitchFamily="34" charset="-128"/>
                  </a:rPr>
                  <a:t>water</a:t>
                </a:r>
                <a:r>
                  <a:rPr lang="de-DE" dirty="0" smtClean="0">
                    <a:solidFill>
                      <a:srgbClr val="002060"/>
                    </a:solidFill>
                    <a:ea typeface="MS PGothic" pitchFamily="34" charset="-128"/>
                  </a:rPr>
                  <a:t>) </a:t>
                </a:r>
                <a:r>
                  <a:rPr lang="de-DE" dirty="0" err="1" smtClean="0">
                    <a:solidFill>
                      <a:srgbClr val="002060"/>
                    </a:solidFill>
                    <a:ea typeface="MS PGothic" pitchFamily="34" charset="-128"/>
                  </a:rPr>
                  <a:t>features</a:t>
                </a:r>
                <a:endParaRPr lang="en-US" dirty="0" err="1">
                  <a:solidFill>
                    <a:srgbClr val="002060"/>
                  </a:solidFill>
                  <a:ea typeface="MS PGothic" pitchFamily="34" charset="-128"/>
                </a:endParaRPr>
              </a:p>
            </p:txBody>
          </p:sp>
        </p:grpSp>
        <p:sp>
          <p:nvSpPr>
            <p:cNvPr id="26" name="Textfeld 1"/>
            <p:cNvSpPr txBox="1"/>
            <p:nvPr/>
          </p:nvSpPr>
          <p:spPr>
            <a:xfrm>
              <a:off x="3824343" y="3615842"/>
              <a:ext cx="1780352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MS PGothic" pitchFamily="34" charset="-128"/>
                </a:rPr>
                <a:t>Observation,</a:t>
              </a:r>
              <a:endParaRPr lang="en-GB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endParaRPr>
            </a:p>
          </p:txBody>
        </p:sp>
        <p:sp>
          <p:nvSpPr>
            <p:cNvPr id="27" name="Textfeld 35"/>
            <p:cNvSpPr txBox="1"/>
            <p:nvPr/>
          </p:nvSpPr>
          <p:spPr>
            <a:xfrm>
              <a:off x="2201683" y="3615844"/>
              <a:ext cx="1839384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MS PGothic" pitchFamily="34" charset="-128"/>
                </a:rPr>
                <a:t>Identification,</a:t>
              </a:r>
              <a:endParaRPr lang="en-GB" sz="2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endParaRPr>
            </a:p>
          </p:txBody>
        </p:sp>
        <p:sp>
          <p:nvSpPr>
            <p:cNvPr id="29" name="Textfeld 36"/>
            <p:cNvSpPr txBox="1"/>
            <p:nvPr/>
          </p:nvSpPr>
          <p:spPr>
            <a:xfrm>
              <a:off x="5398685" y="3599903"/>
              <a:ext cx="2088232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000" b="1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MS PGothic" pitchFamily="34" charset="-128"/>
                </a:rPr>
                <a:t>Representation</a:t>
              </a:r>
            </a:p>
          </p:txBody>
        </p:sp>
      </p:grpSp>
      <p:sp>
        <p:nvSpPr>
          <p:cNvPr id="35" name="File"/>
          <p:cNvSpPr>
            <a:spLocks noEditPoints="1" noChangeArrowheads="1"/>
          </p:cNvSpPr>
          <p:nvPr/>
        </p:nvSpPr>
        <p:spPr bwMode="auto">
          <a:xfrm>
            <a:off x="5930951" y="1888718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WaterML2Part3</a:t>
            </a:r>
            <a:r>
              <a:rPr lang="en-GB" sz="1000" b="1" dirty="0" smtClean="0">
                <a:solidFill>
                  <a:srgbClr val="002060"/>
                </a:solidFill>
                <a:ea typeface="MS PGothic" pitchFamily="34" charset="-128"/>
              </a:rPr>
              <a:t>:</a:t>
            </a:r>
            <a: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  <a:t/>
            </a:r>
            <a:b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</a:br>
            <a: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  <a:t>Water Quality </a:t>
            </a:r>
            <a:r>
              <a:rPr lang="en-GB" sz="1000" b="1" dirty="0" smtClean="0">
                <a:solidFill>
                  <a:srgbClr val="002060"/>
                </a:solidFill>
                <a:ea typeface="MS PGothic" pitchFamily="34" charset="-128"/>
              </a:rPr>
              <a:t>Observation       </a:t>
            </a: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(OGC </a:t>
            </a: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BP 14-003</a:t>
            </a:r>
            <a:r>
              <a:rPr lang="en-GB" sz="1000" b="1" dirty="0" smtClean="0">
                <a:solidFill>
                  <a:srgbClr val="002060"/>
                </a:solidFill>
                <a:ea typeface="MS PGothic" pitchFamily="34" charset="-128"/>
              </a:rPr>
              <a:t>)</a:t>
            </a:r>
            <a:endParaRPr lang="en-GB" sz="1000" b="1" dirty="0">
              <a:solidFill>
                <a:srgbClr val="002060"/>
              </a:solidFill>
              <a:ea typeface="MS PGothic" pitchFamily="34" charset="-128"/>
            </a:endParaRPr>
          </a:p>
        </p:txBody>
      </p:sp>
      <p:sp>
        <p:nvSpPr>
          <p:cNvPr id="36" name="File"/>
          <p:cNvSpPr>
            <a:spLocks noEditPoints="1" noChangeArrowheads="1"/>
          </p:cNvSpPr>
          <p:nvPr/>
        </p:nvSpPr>
        <p:spPr bwMode="auto">
          <a:xfrm>
            <a:off x="2217052" y="1795447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WaterML2Part1: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 err="1" smtClean="0">
                <a:solidFill>
                  <a:srgbClr val="002060"/>
                </a:solidFill>
                <a:ea typeface="MS PGothic" pitchFamily="34" charset="-128"/>
              </a:rPr>
              <a:t>Timeseries</a:t>
            </a:r>
            <a:endParaRPr lang="en-GB" sz="1000" b="1" dirty="0" smtClean="0">
              <a:solidFill>
                <a:srgbClr val="002060"/>
              </a:solidFill>
              <a:ea typeface="MS PGothic" pitchFamily="34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smtClean="0">
                <a:solidFill>
                  <a:srgbClr val="002060"/>
                </a:solidFill>
                <a:ea typeface="MS PGothic" pitchFamily="34" charset="-128"/>
              </a:rPr>
              <a:t>Observation</a:t>
            </a:r>
            <a:endParaRPr lang="en-GB" sz="1000" b="1" dirty="0">
              <a:solidFill>
                <a:srgbClr val="002060"/>
              </a:solidFill>
              <a:ea typeface="MS PGothic" pitchFamily="34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(OGC IS 10-126r4)</a:t>
            </a:r>
            <a:endParaRPr lang="en-GB" sz="1000" dirty="0">
              <a:solidFill>
                <a:srgbClr val="002060"/>
              </a:solidFill>
              <a:ea typeface="MS PGothic" pitchFamily="34" charset="-128"/>
            </a:endParaRPr>
          </a:p>
        </p:txBody>
      </p:sp>
      <p:sp>
        <p:nvSpPr>
          <p:cNvPr id="37" name="File"/>
          <p:cNvSpPr>
            <a:spLocks noEditPoints="1" noChangeArrowheads="1"/>
          </p:cNvSpPr>
          <p:nvPr/>
        </p:nvSpPr>
        <p:spPr bwMode="auto">
          <a:xfrm>
            <a:off x="4054484" y="1506836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WaterML2Part2</a:t>
            </a: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:</a:t>
            </a:r>
            <a: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  <a:t> </a:t>
            </a:r>
            <a:r>
              <a:rPr lang="en-GB" sz="1000" b="1" dirty="0" smtClean="0">
                <a:solidFill>
                  <a:srgbClr val="002060"/>
                </a:solidFill>
                <a:ea typeface="MS PGothic" pitchFamily="34" charset="-128"/>
              </a:rPr>
              <a:t>         Ratings, </a:t>
            </a:r>
            <a:r>
              <a:rPr lang="en-GB" sz="1000" b="1" dirty="0" err="1" smtClean="0">
                <a:solidFill>
                  <a:srgbClr val="002060"/>
                </a:solidFill>
                <a:ea typeface="MS PGothic" pitchFamily="34" charset="-128"/>
              </a:rPr>
              <a:t>Gaugings</a:t>
            </a:r>
            <a:r>
              <a:rPr lang="en-GB" sz="1000" b="1" dirty="0" smtClean="0">
                <a:solidFill>
                  <a:srgbClr val="002060"/>
                </a:solidFill>
                <a:ea typeface="MS PGothic" pitchFamily="34" charset="-128"/>
              </a:rPr>
              <a:t>, Sections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(OGC IS 15-018r1)</a:t>
            </a:r>
            <a:endParaRPr lang="en-GB" sz="1000" dirty="0">
              <a:solidFill>
                <a:srgbClr val="002060"/>
              </a:solidFill>
              <a:ea typeface="MS PGothic" pitchFamily="34" charset="-128"/>
            </a:endParaRPr>
          </a:p>
        </p:txBody>
      </p:sp>
      <p:sp>
        <p:nvSpPr>
          <p:cNvPr id="38" name="File"/>
          <p:cNvSpPr>
            <a:spLocks noEditPoints="1" noChangeArrowheads="1"/>
          </p:cNvSpPr>
          <p:nvPr/>
        </p:nvSpPr>
        <p:spPr bwMode="auto">
          <a:xfrm>
            <a:off x="7389558" y="3110647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WaterML2Part4</a:t>
            </a:r>
            <a:r>
              <a:rPr lang="en-US" sz="1000" dirty="0">
                <a:solidFill>
                  <a:srgbClr val="000000"/>
                </a:solidFill>
                <a:ea typeface="MS PGothic" pitchFamily="34" charset="-128"/>
              </a:rPr>
              <a:t>: </a:t>
            </a:r>
            <a:r>
              <a:rPr lang="en-US" sz="1000" b="1" dirty="0" smtClean="0">
                <a:solidFill>
                  <a:srgbClr val="002060"/>
                </a:solidFill>
                <a:ea typeface="MS PGothic" pitchFamily="34" charset="-128"/>
              </a:rPr>
              <a:t>Groundwater </a:t>
            </a:r>
            <a:r>
              <a:rPr lang="en-US" sz="1000" b="1" dirty="0">
                <a:solidFill>
                  <a:srgbClr val="002060"/>
                </a:solidFill>
                <a:ea typeface="MS PGothic" pitchFamily="34" charset="-128"/>
              </a:rPr>
              <a:t>Features </a:t>
            </a:r>
            <a:r>
              <a:rPr lang="en-US" sz="1000" dirty="0" smtClean="0">
                <a:solidFill>
                  <a:srgbClr val="000000"/>
                </a:solidFill>
                <a:ea typeface="MS PGothic" pitchFamily="34" charset="-128"/>
              </a:rPr>
              <a:t>GroundwaterML2 </a:t>
            </a:r>
            <a:r>
              <a:rPr lang="en-US" sz="1000" dirty="0">
                <a:solidFill>
                  <a:srgbClr val="002060"/>
                </a:solidFill>
                <a:ea typeface="MS PGothic" pitchFamily="34" charset="-128"/>
              </a:rPr>
              <a:t>(OGC IS </a:t>
            </a:r>
            <a:r>
              <a:rPr lang="en-US" sz="1000" dirty="0" smtClean="0">
                <a:solidFill>
                  <a:srgbClr val="002060"/>
                </a:solidFill>
                <a:ea typeface="MS PGothic" pitchFamily="34" charset="-128"/>
              </a:rPr>
              <a:t>16-032r2</a:t>
            </a:r>
            <a:r>
              <a:rPr lang="en-AU" sz="1000" dirty="0" smtClean="0">
                <a:solidFill>
                  <a:srgbClr val="000000"/>
                </a:solidFill>
                <a:ea typeface="MS PGothic" pitchFamily="34" charset="-128"/>
              </a:rPr>
              <a:t>)</a:t>
            </a:r>
            <a:endParaRPr lang="en-GB" sz="1000" dirty="0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39" name="File"/>
          <p:cNvSpPr>
            <a:spLocks noEditPoints="1" noChangeArrowheads="1"/>
          </p:cNvSpPr>
          <p:nvPr/>
        </p:nvSpPr>
        <p:spPr bwMode="auto">
          <a:xfrm>
            <a:off x="900736" y="3075300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SOS 2.0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  <a:t>Hydrology Profile </a:t>
            </a:r>
            <a:r>
              <a:rPr lang="en-GB" sz="1000" dirty="0">
                <a:solidFill>
                  <a:srgbClr val="000000"/>
                </a:solidFill>
                <a:ea typeface="MS PGothic" pitchFamily="34" charset="-128"/>
              </a:rPr>
              <a:t> </a:t>
            </a: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 </a:t>
            </a:r>
            <a:endParaRPr lang="en-GB" sz="1000" dirty="0">
              <a:solidFill>
                <a:srgbClr val="002060"/>
              </a:solidFill>
              <a:ea typeface="MS PGothic" pitchFamily="34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>
                <a:solidFill>
                  <a:srgbClr val="002060"/>
                </a:solidFill>
                <a:ea typeface="MS PGothic" pitchFamily="34" charset="-128"/>
              </a:rPr>
              <a:t>(OGC BP 14-004r1)</a:t>
            </a:r>
          </a:p>
        </p:txBody>
      </p:sp>
      <p:sp>
        <p:nvSpPr>
          <p:cNvPr id="40" name="File"/>
          <p:cNvSpPr>
            <a:spLocks noEditPoints="1" noChangeArrowheads="1"/>
          </p:cNvSpPr>
          <p:nvPr/>
        </p:nvSpPr>
        <p:spPr bwMode="auto">
          <a:xfrm>
            <a:off x="4208818" y="4646331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i="1">
                <a:solidFill>
                  <a:srgbClr val="002060"/>
                </a:solidFill>
                <a:ea typeface="MS PGothic" pitchFamily="34" charset="-128"/>
              </a:rPr>
              <a:t>WaterML2PartX</a:t>
            </a:r>
            <a:r>
              <a:rPr lang="en-GB" sz="1000" b="1" i="1">
                <a:solidFill>
                  <a:srgbClr val="002060"/>
                </a:solidFill>
                <a:ea typeface="MS PGothic" pitchFamily="34" charset="-128"/>
              </a:rPr>
              <a:t>: </a:t>
            </a:r>
            <a:r>
              <a:rPr lang="en-GB" sz="1000" b="1" i="1" smtClean="0">
                <a:solidFill>
                  <a:srgbClr val="002060"/>
                </a:solidFill>
                <a:ea typeface="MS PGothic" pitchFamily="34" charset="-128"/>
              </a:rPr>
              <a:t>River Network </a:t>
            </a:r>
            <a:r>
              <a:rPr lang="en-GB" sz="1000" i="1" smtClean="0">
                <a:solidFill>
                  <a:srgbClr val="002060"/>
                </a:solidFill>
                <a:ea typeface="MS PGothic" pitchFamily="34" charset="-128"/>
              </a:rPr>
              <a:t>Topology</a:t>
            </a:r>
            <a:r>
              <a:rPr lang="en-GB" sz="1000" b="1" i="1" smtClean="0">
                <a:solidFill>
                  <a:srgbClr val="002060"/>
                </a:solidFill>
                <a:ea typeface="MS PGothic" pitchFamily="34" charset="-128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i="1" dirty="0" smtClean="0">
                <a:solidFill>
                  <a:srgbClr val="002060"/>
                </a:solidFill>
                <a:ea typeface="MS PGothic" pitchFamily="34" charset="-128"/>
              </a:rPr>
              <a:t>(</a:t>
            </a:r>
            <a:r>
              <a:rPr lang="en-US" sz="1000" i="1" dirty="0">
                <a:solidFill>
                  <a:srgbClr val="002060"/>
                </a:solidFill>
                <a:ea typeface="MS PGothic" pitchFamily="34" charset="-128"/>
              </a:rPr>
              <a:t>OGC IS </a:t>
            </a:r>
            <a:r>
              <a:rPr lang="en-US" sz="1000" i="1" dirty="0" smtClean="0">
                <a:solidFill>
                  <a:srgbClr val="002060"/>
                </a:solidFill>
                <a:ea typeface="MS PGothic" pitchFamily="34" charset="-128"/>
              </a:rPr>
              <a:t>YY-XXX)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00" dirty="0">
              <a:solidFill>
                <a:srgbClr val="002060"/>
              </a:solidFill>
              <a:ea typeface="MS PGothic" pitchFamily="34" charset="-128"/>
            </a:endParaRPr>
          </a:p>
        </p:txBody>
      </p:sp>
      <p:sp>
        <p:nvSpPr>
          <p:cNvPr id="41" name="File"/>
          <p:cNvSpPr>
            <a:spLocks noEditPoints="1" noChangeArrowheads="1"/>
          </p:cNvSpPr>
          <p:nvPr/>
        </p:nvSpPr>
        <p:spPr bwMode="auto">
          <a:xfrm>
            <a:off x="502878" y="4565596"/>
            <a:ext cx="1178313" cy="668596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800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SoilML component: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800" b="1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Soil-water</a:t>
            </a:r>
            <a:r>
              <a:rPr lang="en-GB" sz="800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   (collaboration tbd)  </a:t>
            </a:r>
            <a:endParaRPr lang="en-GB" sz="800" i="1" dirty="0" smtClean="0">
              <a:solidFill>
                <a:srgbClr val="FFFFFF">
                  <a:lumMod val="50000"/>
                </a:srgbClr>
              </a:solidFill>
              <a:ea typeface="MS PGothic" pitchFamily="34" charset="-128"/>
            </a:endParaRPr>
          </a:p>
        </p:txBody>
      </p:sp>
      <p:sp>
        <p:nvSpPr>
          <p:cNvPr id="42" name="File"/>
          <p:cNvSpPr>
            <a:spLocks noEditPoints="1" noChangeArrowheads="1"/>
          </p:cNvSpPr>
          <p:nvPr/>
        </p:nvSpPr>
        <p:spPr bwMode="auto">
          <a:xfrm>
            <a:off x="2159792" y="4465528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…(RiverML)…: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Channel Geometry</a:t>
            </a:r>
            <a:endParaRPr lang="en-US" sz="1000" b="1" i="1" dirty="0" smtClean="0">
              <a:solidFill>
                <a:srgbClr val="FFFFFF">
                  <a:lumMod val="50000"/>
                </a:srgbClr>
              </a:solidFill>
              <a:ea typeface="MS PGothic" pitchFamily="34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i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(continuation </a:t>
            </a:r>
            <a:r>
              <a:rPr lang="en-US" sz="1000" i="1" dirty="0" err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tbd</a:t>
            </a:r>
            <a:r>
              <a:rPr lang="en-US" sz="1000" i="1" dirty="0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)</a:t>
            </a:r>
            <a:r>
              <a:rPr lang="en-AU" sz="1000" i="1" dirty="0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 </a:t>
            </a:r>
            <a:endParaRPr lang="en-GB" sz="1000" i="1" dirty="0">
              <a:solidFill>
                <a:srgbClr val="FFFFFF">
                  <a:lumMod val="50000"/>
                </a:srgbClr>
              </a:solidFill>
              <a:ea typeface="MS PGothic" pitchFamily="34" charset="-128"/>
            </a:endParaRPr>
          </a:p>
        </p:txBody>
      </p:sp>
      <p:sp>
        <p:nvSpPr>
          <p:cNvPr id="44" name="File"/>
          <p:cNvSpPr>
            <a:spLocks noEditPoints="1" noChangeArrowheads="1"/>
          </p:cNvSpPr>
          <p:nvPr/>
        </p:nvSpPr>
        <p:spPr bwMode="auto">
          <a:xfrm>
            <a:off x="673265" y="5064660"/>
            <a:ext cx="1162431" cy="668596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CSML3 component: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800" b="1" i="1" dirty="0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Atmospheric-water</a:t>
            </a: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 (collaboration </a:t>
            </a:r>
            <a:r>
              <a:rPr lang="en-GB" sz="800" i="1" dirty="0" err="1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tbd</a:t>
            </a:r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  <a:ea typeface="MS PGothic" pitchFamily="34" charset="-128"/>
              </a:rPr>
              <a:t>) </a:t>
            </a:r>
            <a:endParaRPr lang="en-GB" sz="800" b="1" i="1" dirty="0">
              <a:solidFill>
                <a:srgbClr val="FFFFFF">
                  <a:lumMod val="50000"/>
                </a:srgbClr>
              </a:solidFill>
              <a:latin typeface="CG Times" charset="0"/>
              <a:ea typeface="MS PGothic" pitchFamily="34" charset="-128"/>
            </a:endParaRPr>
          </a:p>
        </p:txBody>
      </p:sp>
      <p:sp>
        <p:nvSpPr>
          <p:cNvPr id="45" name="File"/>
          <p:cNvSpPr>
            <a:spLocks noEditPoints="1" noChangeArrowheads="1"/>
          </p:cNvSpPr>
          <p:nvPr/>
        </p:nvSpPr>
        <p:spPr bwMode="auto">
          <a:xfrm>
            <a:off x="444756" y="1556792"/>
            <a:ext cx="1278674" cy="978892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>
                <a:solidFill>
                  <a:srgbClr val="002060"/>
                </a:solidFill>
                <a:ea typeface="MS PGothic" pitchFamily="34" charset="-128"/>
              </a:rPr>
              <a:t>TimeseriesML 1.0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>
                <a:solidFill>
                  <a:srgbClr val="002060"/>
                </a:solidFill>
                <a:ea typeface="MS PGothic" pitchFamily="34" charset="-128"/>
              </a:rPr>
              <a:t>Timeseries  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b="1">
                <a:solidFill>
                  <a:srgbClr val="002060"/>
                </a:solidFill>
                <a:ea typeface="MS PGothic" pitchFamily="34" charset="-128"/>
              </a:rPr>
              <a:t> </a:t>
            </a:r>
            <a:r>
              <a:rPr lang="en-GB" sz="1000">
                <a:solidFill>
                  <a:srgbClr val="002060"/>
                </a:solidFill>
                <a:ea typeface="MS PGothic" pitchFamily="34" charset="-128"/>
              </a:rPr>
              <a:t>(OGC IS 15-042r3)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>
                <a:solidFill>
                  <a:srgbClr val="002060"/>
                </a:solidFill>
                <a:ea typeface="MS PGothic" pitchFamily="34" charset="-128"/>
              </a:rPr>
              <a:t>(OGC IS 15-043r3</a:t>
            </a:r>
            <a:r>
              <a:rPr lang="en-GB" sz="1000" smtClean="0">
                <a:solidFill>
                  <a:srgbClr val="002060"/>
                </a:solidFill>
                <a:ea typeface="MS PGothic" pitchFamily="34" charset="-128"/>
              </a:rPr>
              <a:t>)</a:t>
            </a:r>
            <a:endParaRPr lang="en-GB" sz="1000">
              <a:solidFill>
                <a:srgbClr val="002060"/>
              </a:solidFill>
              <a:ea typeface="MS PGothic" pitchFamily="34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1000" b="1">
              <a:solidFill>
                <a:srgbClr val="002060"/>
              </a:solidFill>
              <a:ea typeface="MS PGothic" pitchFamily="34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800" b="1" dirty="0">
              <a:solidFill>
                <a:srgbClr val="002060"/>
              </a:solidFill>
              <a:ea typeface="MS PGothic" pitchFamily="34" charset="-128"/>
            </a:endParaRPr>
          </a:p>
        </p:txBody>
      </p:sp>
      <p:sp>
        <p:nvSpPr>
          <p:cNvPr id="22" name="File"/>
          <p:cNvSpPr>
            <a:spLocks noEditPoints="1" noChangeArrowheads="1"/>
          </p:cNvSpPr>
          <p:nvPr/>
        </p:nvSpPr>
        <p:spPr bwMode="auto">
          <a:xfrm>
            <a:off x="6202257" y="4380853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smtClean="0">
                <a:solidFill>
                  <a:srgbClr val="002060"/>
                </a:solidFill>
                <a:ea typeface="MS PGothic" pitchFamily="34" charset="-128"/>
              </a:rPr>
              <a:t>WaterML2Part5: </a:t>
            </a:r>
            <a:r>
              <a:rPr lang="en-GB" sz="1000" b="1" dirty="0">
                <a:solidFill>
                  <a:srgbClr val="002060"/>
                </a:solidFill>
                <a:ea typeface="MS PGothic" pitchFamily="34" charset="-128"/>
              </a:rPr>
              <a:t>Surface Water </a:t>
            </a:r>
            <a:r>
              <a:rPr lang="en-GB" sz="1000" b="1" dirty="0" smtClean="0">
                <a:solidFill>
                  <a:srgbClr val="002060"/>
                </a:solidFill>
                <a:ea typeface="MS PGothic" pitchFamily="34" charset="-128"/>
              </a:rPr>
              <a:t>Features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000" dirty="0" err="1" smtClean="0">
                <a:solidFill>
                  <a:srgbClr val="000000"/>
                </a:solidFill>
                <a:ea typeface="MS PGothic" pitchFamily="34" charset="-128"/>
              </a:rPr>
              <a:t>HY_Features</a:t>
            </a:r>
            <a:endParaRPr lang="en-GB" sz="1000" dirty="0">
              <a:solidFill>
                <a:srgbClr val="000000"/>
              </a:solidFill>
              <a:ea typeface="MS PGothic" pitchFamily="34" charset="-128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002060"/>
                </a:solidFill>
                <a:ea typeface="MS PGothic" pitchFamily="34" charset="-128"/>
              </a:rPr>
              <a:t>(OGC IS </a:t>
            </a:r>
            <a:r>
              <a:rPr lang="en-US" sz="1000" dirty="0" smtClean="0">
                <a:solidFill>
                  <a:srgbClr val="002060"/>
                </a:solidFill>
                <a:ea typeface="MS PGothic" pitchFamily="34" charset="-128"/>
              </a:rPr>
              <a:t>14-111r5)</a:t>
            </a:r>
            <a:endParaRPr lang="en-US" sz="1000" dirty="0">
              <a:solidFill>
                <a:srgbClr val="002060"/>
              </a:solidFill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8756723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Mapping RDA to OGC groups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479398"/>
            <a:ext cx="8232321" cy="4351338"/>
          </a:xfrm>
        </p:spPr>
        <p:txBody>
          <a:bodyPr/>
          <a:lstStyle/>
          <a:p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docs.google.com/spreadsheets/d/1IDsqpDuNzkE7yDYiV9JBf7FbTJuc0XLFrgcVi43OVRA/edit#gid=1665905622</a:t>
            </a:r>
            <a:endParaRPr lang="en-US" sz="2400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96" y="2337008"/>
            <a:ext cx="7445375" cy="439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13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/>
          </p:cNvPicPr>
          <p:nvPr/>
        </p:nvPicPr>
        <p:blipFill rotWithShape="1">
          <a:blip r:embed="rId2"/>
          <a:srcRect l="22808" t="13121" b="1"/>
          <a:stretch/>
        </p:blipFill>
        <p:spPr>
          <a:xfrm>
            <a:off x="5036024" y="0"/>
            <a:ext cx="4107976" cy="40662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029" y="1825625"/>
            <a:ext cx="8232321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HDWG</a:t>
            </a:r>
          </a:p>
          <a:p>
            <a:pPr lvl="1"/>
            <a:r>
              <a:rPr lang="en-US" sz="2000" dirty="0" smtClean="0"/>
              <a:t>Complements the mailing list</a:t>
            </a:r>
          </a:p>
          <a:p>
            <a:pPr lvl="1"/>
            <a:r>
              <a:rPr lang="en-US" sz="2000" dirty="0" smtClean="0"/>
              <a:t>The place where </a:t>
            </a:r>
            <a:r>
              <a:rPr lang="en-US" sz="2000" dirty="0"/>
              <a:t>all HDWG activity is </a:t>
            </a:r>
            <a:endParaRPr lang="en-US" sz="2000" dirty="0" smtClean="0"/>
          </a:p>
          <a:p>
            <a:pPr marL="457200" lvl="1" indent="0">
              <a:buNone/>
            </a:pPr>
            <a:r>
              <a:rPr lang="en-US" sz="2000" dirty="0" smtClean="0"/>
              <a:t>announced </a:t>
            </a:r>
            <a:r>
              <a:rPr lang="en-US" sz="2000" dirty="0"/>
              <a:t>/ </a:t>
            </a:r>
            <a:r>
              <a:rPr lang="en-US" sz="2000" dirty="0" smtClean="0"/>
              <a:t>coordinated </a:t>
            </a:r>
            <a:r>
              <a:rPr lang="en-US" sz="2000" dirty="0"/>
              <a:t>/reported</a:t>
            </a:r>
          </a:p>
          <a:p>
            <a:pPr lvl="2"/>
            <a:r>
              <a:rPr lang="en-US" sz="1600" dirty="0" smtClean="0"/>
              <a:t>Meetings summary</a:t>
            </a:r>
          </a:p>
          <a:p>
            <a:pPr lvl="2"/>
            <a:r>
              <a:rPr lang="en-US" sz="1600" dirty="0" smtClean="0"/>
              <a:t>Interoperability experiments</a:t>
            </a:r>
          </a:p>
          <a:p>
            <a:pPr lvl="2"/>
            <a:r>
              <a:rPr lang="en-US" sz="1600" dirty="0" smtClean="0"/>
              <a:t>Tools, …</a:t>
            </a:r>
          </a:p>
          <a:p>
            <a:pPr lvl="1"/>
            <a:r>
              <a:rPr lang="en-US" sz="2000" dirty="0" smtClean="0"/>
              <a:t>A section dedicated to RDA GWIIG </a:t>
            </a:r>
          </a:p>
          <a:p>
            <a:pPr lvl="1"/>
            <a:endParaRPr lang="en-US" sz="2000" dirty="0" smtClean="0"/>
          </a:p>
          <a:p>
            <a:pPr lvl="1"/>
            <a:r>
              <a:rPr lang="en-US" sz="2000" dirty="0" smtClean="0"/>
              <a:t>URL : </a:t>
            </a:r>
            <a:r>
              <a:rPr lang="en-US" sz="2000" dirty="0" smtClean="0">
                <a:hlinkClick r:id="rId3"/>
              </a:rPr>
              <a:t>http</a:t>
            </a:r>
            <a:r>
              <a:rPr lang="en-US" sz="2000" dirty="0">
                <a:hlinkClick r:id="rId3"/>
              </a:rPr>
              <a:t>://external.opengis.org/twiki_public/HydrologyDWG/WebHome</a:t>
            </a:r>
            <a:r>
              <a:rPr lang="en-US" sz="2000" dirty="0"/>
              <a:t> 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r>
              <a:rPr lang="en-US" dirty="0" smtClean="0"/>
              <a:t>GWIIG section of RDA website</a:t>
            </a:r>
          </a:p>
          <a:p>
            <a:pPr lvl="1"/>
            <a:r>
              <a:rPr lang="en-US" dirty="0" smtClean="0"/>
              <a:t>Summary of GWIIG actions/</a:t>
            </a:r>
            <a:r>
              <a:rPr lang="en-US" dirty="0" err="1" smtClean="0"/>
              <a:t>organisation</a:t>
            </a:r>
            <a:r>
              <a:rPr lang="en-US" dirty="0" smtClean="0"/>
              <a:t> + link to its specific section under HDWG website</a:t>
            </a:r>
            <a:endParaRPr lang="en-US" dirty="0"/>
          </a:p>
          <a:p>
            <a:r>
              <a:rPr lang="en-US" dirty="0" smtClean="0"/>
              <a:t>Purpose : </a:t>
            </a:r>
          </a:p>
          <a:p>
            <a:pPr lvl="1"/>
            <a:r>
              <a:rPr lang="en-US" dirty="0" smtClean="0"/>
              <a:t>To better intertwine both groups/communities and avoid people being lost between too many websites.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17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5230"/>
            <a:ext cx="7886700" cy="1325563"/>
          </a:xfrm>
        </p:spPr>
        <p:txBody>
          <a:bodyPr/>
          <a:lstStyle/>
          <a:p>
            <a:r>
              <a:rPr lang="en-US" dirty="0" smtClean="0"/>
              <a:t>Main themes for GWIIG, currently (for Task forces within IG?)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13307"/>
            <a:ext cx="7886700" cy="4351338"/>
          </a:xfrm>
        </p:spPr>
        <p:txBody>
          <a:bodyPr/>
          <a:lstStyle/>
          <a:p>
            <a:r>
              <a:rPr lang="en-US" dirty="0" smtClean="0"/>
              <a:t>Dynamic data citation for hydrologic data repositories</a:t>
            </a:r>
          </a:p>
          <a:p>
            <a:r>
              <a:rPr lang="en-US" dirty="0" smtClean="0"/>
              <a:t>Water data portals, discovery and search</a:t>
            </a:r>
          </a:p>
          <a:p>
            <a:r>
              <a:rPr lang="en-US" dirty="0" smtClean="0"/>
              <a:t>Hydrologic vocabularies</a:t>
            </a:r>
          </a:p>
          <a:p>
            <a:r>
              <a:rPr lang="en-US" dirty="0" smtClean="0"/>
              <a:t>Linked data in hydrology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27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210" y="201157"/>
            <a:ext cx="7886700" cy="1325563"/>
          </a:xfrm>
        </p:spPr>
        <p:txBody>
          <a:bodyPr/>
          <a:lstStyle/>
          <a:p>
            <a:r>
              <a:rPr lang="en-GB" dirty="0" smtClean="0"/>
              <a:t>Water information use </a:t>
            </a:r>
            <a:r>
              <a:rPr lang="en-GB" dirty="0"/>
              <a:t>c</a:t>
            </a:r>
            <a:r>
              <a:rPr lang="en-GB" dirty="0" smtClean="0"/>
              <a:t>ases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4" y="1526720"/>
            <a:ext cx="8550233" cy="5091794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docs.google.com/spreadsheets/d/11SgoYYnj1eicvPbUqLENOta2B4zxHyHZu_CXpGHwIz8/edit?pref=2&amp;pli=1#gid=0</a:t>
            </a:r>
            <a:endParaRPr lang="en-GB" dirty="0" smtClean="0"/>
          </a:p>
          <a:p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endParaRPr lang="en-GB" dirty="0" smtClean="0"/>
          </a:p>
          <a:p>
            <a:pPr lvl="1"/>
            <a:r>
              <a:rPr lang="en-GB" dirty="0" smtClean="0"/>
              <a:t>A matrix of </a:t>
            </a:r>
            <a:br>
              <a:rPr lang="en-GB" dirty="0" smtClean="0"/>
            </a:br>
            <a:r>
              <a:rPr lang="en-GB" dirty="0" smtClean="0"/>
              <a:t>use cases vs </a:t>
            </a:r>
            <a:br>
              <a:rPr lang="en-GB" dirty="0" smtClean="0"/>
            </a:br>
            <a:r>
              <a:rPr lang="en-GB" dirty="0" smtClean="0"/>
              <a:t>RDA groups</a:t>
            </a:r>
          </a:p>
          <a:p>
            <a:pPr lvl="1"/>
            <a:endParaRPr lang="en-GB" dirty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Avoiding a discussion of what a use case is, and a use case template</a:t>
            </a:r>
            <a:r>
              <a:rPr lang="en-GB" dirty="0" smtClean="0"/>
              <a:t>…</a:t>
            </a:r>
            <a:endParaRPr lang="en-GB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812" y="2245272"/>
            <a:ext cx="4551396" cy="274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Data Citation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Collaboration with the Dynamic Data Citation WG</a:t>
            </a:r>
          </a:p>
          <a:p>
            <a:r>
              <a:rPr lang="en-US" dirty="0" smtClean="0"/>
              <a:t>UK National River Flow Archive:</a:t>
            </a:r>
          </a:p>
          <a:p>
            <a:pPr lvl="1"/>
            <a:r>
              <a:rPr lang="en-US" dirty="0" smtClean="0"/>
              <a:t>Developed RDBMS-based versioning system and tested Dynamic Data Citation WG recommendations</a:t>
            </a:r>
          </a:p>
          <a:p>
            <a:pPr lvl="1"/>
            <a:r>
              <a:rPr lang="en-US" dirty="0" smtClean="0"/>
              <a:t>Initial work presented at Denver P8 plenary GWIIG meeting</a:t>
            </a:r>
          </a:p>
          <a:p>
            <a:pPr lvl="1"/>
            <a:r>
              <a:rPr lang="en-US" dirty="0" smtClean="0"/>
              <a:t>Presented as part of P8 DDC session</a:t>
            </a:r>
          </a:p>
          <a:p>
            <a:pPr lvl="1"/>
            <a:r>
              <a:rPr lang="en-US" dirty="0" smtClean="0"/>
              <a:t>Further work hoped to be presented as part of DDC webinar series (TBC)</a:t>
            </a:r>
            <a:endParaRPr lang="en-US" dirty="0"/>
          </a:p>
          <a:p>
            <a:r>
              <a:rPr lang="en-US" dirty="0" smtClean="0"/>
              <a:t>Call for other GWIIG examples of versioning / dynamic data citation (e.g. CUAHSI </a:t>
            </a:r>
            <a:r>
              <a:rPr lang="en-US" dirty="0" err="1" smtClean="0"/>
              <a:t>HydroShare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758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0326"/>
            <a:ext cx="7886700" cy="1325563"/>
          </a:xfrm>
        </p:spPr>
        <p:txBody>
          <a:bodyPr/>
          <a:lstStyle/>
          <a:p>
            <a:r>
              <a:rPr lang="en-US" dirty="0" smtClean="0"/>
              <a:t>Water data portals and discovery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47788"/>
            <a:ext cx="7886700" cy="5243511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An initial list of water data portals (from EAWAG)</a:t>
            </a:r>
          </a:p>
          <a:p>
            <a:pPr lvl="1"/>
            <a:r>
              <a:rPr lang="en-US" dirty="0" smtClean="0"/>
              <a:t>Compare with what is available from re3data…</a:t>
            </a:r>
          </a:p>
          <a:p>
            <a:r>
              <a:rPr lang="en-US" dirty="0" smtClean="0"/>
              <a:t>A model for describing water portals</a:t>
            </a:r>
          </a:p>
          <a:p>
            <a:pPr lvl="1"/>
            <a:r>
              <a:rPr lang="en-US" sz="1900" dirty="0"/>
              <a:t>query interface (map search; time sliders; full-text; simple and advanced search; facets; semantic rewriting/term expansion; granularity levels; etc.); construction of data discovery workflows; visibility to search engines; presenting search results (relevancy, links, ability to incorporate results into workflows and/or publications, and transform them to other formats; show search results statistics; show provenance; preserve queries and show usage stats; show related queries and/or results; ability to annotate results; provide data previews and introspection; provide APIs into lower granularity levels); letting users subscribe to </a:t>
            </a:r>
            <a:r>
              <a:rPr lang="en-US" sz="1900" dirty="0" smtClean="0"/>
              <a:t>updates,…</a:t>
            </a:r>
            <a:endParaRPr lang="en-US" dirty="0"/>
          </a:p>
          <a:p>
            <a:r>
              <a:rPr lang="en-US" dirty="0" smtClean="0"/>
              <a:t>What is specific to water portals</a:t>
            </a:r>
          </a:p>
          <a:p>
            <a:pPr lvl="1"/>
            <a:r>
              <a:rPr lang="en-US" dirty="0" smtClean="0"/>
              <a:t>A set of hydrologic features and observations at several hierarchical levels </a:t>
            </a:r>
          </a:p>
          <a:p>
            <a:pPr lvl="1"/>
            <a:r>
              <a:rPr lang="en-US" dirty="0" smtClean="0"/>
              <a:t>Special types of relationships (</a:t>
            </a:r>
            <a:r>
              <a:rPr lang="en-US" dirty="0" err="1" smtClean="0"/>
              <a:t>eg</a:t>
            </a:r>
            <a:r>
              <a:rPr lang="en-US" dirty="0" smtClean="0"/>
              <a:t> upstream, downstream, other relations in a hydrographic network) – may be time-dependent</a:t>
            </a:r>
          </a:p>
          <a:p>
            <a:pPr lvl="1"/>
            <a:r>
              <a:rPr lang="en-US" dirty="0" smtClean="0"/>
              <a:t>Additional feature-of-interest relationships (</a:t>
            </a:r>
            <a:r>
              <a:rPr lang="en-US" dirty="0" err="1" smtClean="0"/>
              <a:t>eg</a:t>
            </a:r>
            <a:r>
              <a:rPr lang="en-US" dirty="0" smtClean="0"/>
              <a:t> parameter proxies) – these are context-dependent </a:t>
            </a:r>
          </a:p>
          <a:p>
            <a:r>
              <a:rPr lang="en-US" dirty="0" smtClean="0"/>
              <a:t>Coordination with the data discovery group</a:t>
            </a:r>
          </a:p>
        </p:txBody>
      </p:sp>
    </p:spTree>
    <p:extLst>
      <p:ext uri="{BB962C8B-B14F-4D97-AF65-F5344CB8AC3E}">
        <p14:creationId xmlns:p14="http://schemas.microsoft.com/office/powerpoint/2010/main" val="926798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Hydrologic Vocabularies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 started yet; several people are interested across RDA GWIIG and OGC </a:t>
            </a:r>
            <a:r>
              <a:rPr lang="en-US" dirty="0" err="1" smtClean="0"/>
              <a:t>HydroDWG</a:t>
            </a:r>
            <a:endParaRPr lang="en-US" dirty="0" smtClean="0"/>
          </a:p>
          <a:p>
            <a:r>
              <a:rPr lang="en-US" dirty="0" smtClean="0"/>
              <a:t>Identify water-related ontologies</a:t>
            </a:r>
          </a:p>
          <a:p>
            <a:r>
              <a:rPr lang="en-US" dirty="0" smtClean="0"/>
              <a:t>Engage with RDA Vocab Services IG</a:t>
            </a:r>
          </a:p>
          <a:p>
            <a:pPr lvl="1"/>
            <a:r>
              <a:rPr lang="en-US" dirty="0" smtClean="0"/>
              <a:t>Use cases</a:t>
            </a:r>
          </a:p>
          <a:p>
            <a:pPr lvl="1"/>
            <a:r>
              <a:rPr lang="en-US" dirty="0" smtClean="0"/>
              <a:t>Service and practice documentation</a:t>
            </a:r>
          </a:p>
          <a:p>
            <a:pPr lvl="1"/>
            <a:r>
              <a:rPr lang="en-US" dirty="0" smtClean="0"/>
              <a:t>Recs on vocab publication and APIs</a:t>
            </a:r>
          </a:p>
          <a:p>
            <a:r>
              <a:rPr lang="en-US" dirty="0" smtClean="0"/>
              <a:t>Encourage publication of exemplar water-related vocabularies using best practice methods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12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Linked data in hydrology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9616"/>
            <a:ext cx="7886700" cy="523036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ELFIE: </a:t>
            </a:r>
            <a:r>
              <a:rPr lang="en-US" dirty="0"/>
              <a:t>Environmental Linked </a:t>
            </a:r>
            <a:r>
              <a:rPr lang="en-US" dirty="0" smtClean="0"/>
              <a:t>Features Interoperability </a:t>
            </a:r>
            <a:r>
              <a:rPr lang="en-US" dirty="0"/>
              <a:t>Experiment </a:t>
            </a:r>
            <a:endParaRPr lang="en-US" dirty="0" smtClean="0"/>
          </a:p>
          <a:p>
            <a:pPr lvl="1"/>
            <a:r>
              <a:rPr lang="en-US" dirty="0"/>
              <a:t>Demonstrate the use of existing and pending OGC standards for the encoding of environmental observation data in an integrated dataset of features linked according to </a:t>
            </a:r>
            <a:r>
              <a:rPr lang="en-US" dirty="0" err="1"/>
              <a:t>ReSTful</a:t>
            </a:r>
            <a:r>
              <a:rPr lang="en-US" dirty="0"/>
              <a:t> and Linked Data principles. </a:t>
            </a:r>
          </a:p>
          <a:p>
            <a:pPr lvl="1"/>
            <a:r>
              <a:rPr lang="en-US" dirty="0"/>
              <a:t>Prepare an OGC engineering report summarizing the group’s findings with the intention of future development of the relevant policies, best practices or implementation standards.</a:t>
            </a:r>
          </a:p>
          <a:p>
            <a:pPr lvl="1"/>
            <a:r>
              <a:rPr lang="en-US" dirty="0"/>
              <a:t>Provide draft linked data encodings to be considered by relevant standards working </a:t>
            </a:r>
            <a:r>
              <a:rPr lang="en-US" dirty="0" smtClean="0"/>
              <a:t>groups</a:t>
            </a:r>
          </a:p>
          <a:p>
            <a:pPr lvl="1"/>
            <a:r>
              <a:rPr lang="en-US" dirty="0" smtClean="0"/>
              <a:t>Motto </a:t>
            </a:r>
            <a:r>
              <a:rPr lang="en-US" dirty="0"/>
              <a:t>: </a:t>
            </a:r>
            <a:r>
              <a:rPr lang="en-US" dirty="0" smtClean="0"/>
              <a:t>“Interested </a:t>
            </a:r>
            <a:r>
              <a:rPr lang="en-US" dirty="0"/>
              <a:t>in defining some best practice "views" of monitoring and domain features that give a "just enough" annotation to connect and use these data. Also worth noting is that we largely see use of a resource oriented approach (</a:t>
            </a:r>
            <a:r>
              <a:rPr lang="en-US" dirty="0" err="1"/>
              <a:t>urls</a:t>
            </a:r>
            <a:r>
              <a:rPr lang="en-US" dirty="0"/>
              <a:t> go to well-described instances, not services</a:t>
            </a:r>
            <a:r>
              <a:rPr lang="en-US" dirty="0" smtClean="0"/>
              <a:t>).”</a:t>
            </a:r>
          </a:p>
          <a:p>
            <a:r>
              <a:rPr lang="en-US" dirty="0" smtClean="0"/>
              <a:t>A call to other groups to coordinate (contacts: Dave Blodgett, Sylvain Grellet)</a:t>
            </a:r>
          </a:p>
          <a:p>
            <a:r>
              <a:rPr lang="en-US" dirty="0" smtClean="0"/>
              <a:t>An RDA recommendation based on the Eng. Report?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68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Rescue Use Cases in hydrology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Initiated discussion with Elizabeth Griffin of DR IG</a:t>
            </a:r>
          </a:p>
          <a:p>
            <a:r>
              <a:rPr lang="en-US" dirty="0" smtClean="0"/>
              <a:t>DR IG is considering thematic focus on data rescue, with water being an option for a theme</a:t>
            </a:r>
          </a:p>
          <a:p>
            <a:r>
              <a:rPr lang="en-US" dirty="0" smtClean="0"/>
              <a:t>GWIIG will identify past successes and future need for data rescue in hydrology</a:t>
            </a:r>
          </a:p>
          <a:p>
            <a:r>
              <a:rPr lang="en-US" dirty="0" smtClean="0"/>
              <a:t>To be presented at DR IG in Montreal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13977"/>
      </p:ext>
    </p:extLst>
  </p:cSld>
  <p:clrMapOvr>
    <a:masterClrMapping/>
  </p:clrMapOvr>
</p:sld>
</file>

<file path=ppt/theme/theme1.xml><?xml version="1.0" encoding="utf-8"?>
<a:theme xmlns:a="http://schemas.openxmlformats.org/drawingml/2006/main" name="four_by_three_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ur_by_three_blank" id="{7DE8C59E-89B7-459A-9965-CB060FD884B9}" vid="{8DCE66CE-7391-4622-B666-81DC77C20678}"/>
    </a:ext>
  </a:extLst>
</a:theme>
</file>

<file path=ppt/theme/theme2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5598</TotalTime>
  <Words>1089</Words>
  <Application>Microsoft Office PowerPoint</Application>
  <PresentationFormat>On-screen Show (4:3)</PresentationFormat>
  <Paragraphs>140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ＭＳ Ｐゴシック</vt:lpstr>
      <vt:lpstr>Arial</vt:lpstr>
      <vt:lpstr>Calibri</vt:lpstr>
      <vt:lpstr>Calibri Light</vt:lpstr>
      <vt:lpstr>CG Times</vt:lpstr>
      <vt:lpstr>Times New Roman</vt:lpstr>
      <vt:lpstr>four_by_three_blank</vt:lpstr>
      <vt:lpstr>Standarddesign</vt:lpstr>
      <vt:lpstr>RDA Global Water Information IG</vt:lpstr>
      <vt:lpstr>Organization</vt:lpstr>
      <vt:lpstr>PowerPoint Presentation</vt:lpstr>
      <vt:lpstr>GWIIG charter – value proposition (II)</vt:lpstr>
      <vt:lpstr>About HDWG</vt:lpstr>
      <vt:lpstr>WMO/OGC Hydrology Domain Working Group WaterML2 suite</vt:lpstr>
      <vt:lpstr>Mapping RDA to OGC groups</vt:lpstr>
      <vt:lpstr>Websites</vt:lpstr>
      <vt:lpstr>Main themes for GWIIG, currently (for Task forces within IG?)</vt:lpstr>
      <vt:lpstr>Water information use cases</vt:lpstr>
      <vt:lpstr>Dynamic Data Citation</vt:lpstr>
      <vt:lpstr>Water data portals and discovery</vt:lpstr>
      <vt:lpstr>Hydrologic Vocabularies</vt:lpstr>
      <vt:lpstr>Linked data in hydrology</vt:lpstr>
      <vt:lpstr>Data Rescue Use Cases in hydrology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RDA Global Water Information IG</dc:title>
  <dc:creator>Ilya</dc:creator>
  <cp:lastModifiedBy>Zaslavsky, Ilya</cp:lastModifiedBy>
  <cp:revision>29</cp:revision>
  <dcterms:created xsi:type="dcterms:W3CDTF">2017-06-02T22:53:31Z</dcterms:created>
  <dcterms:modified xsi:type="dcterms:W3CDTF">2017-06-12T15:37:08Z</dcterms:modified>
</cp:coreProperties>
</file>