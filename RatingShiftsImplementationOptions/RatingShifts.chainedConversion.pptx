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18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-102" y="-45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0B82B-D2BF-4EFD-9F10-00605CCFBBC4}" type="datetimeFigureOut">
              <a:rPr lang="en-AU" smtClean="0"/>
              <a:t>27/09/2013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2898F-C723-4914-9E00-17CA8C17FB5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58760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0B82B-D2BF-4EFD-9F10-00605CCFBBC4}" type="datetimeFigureOut">
              <a:rPr lang="en-AU" smtClean="0"/>
              <a:t>27/09/2013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2898F-C723-4914-9E00-17CA8C17FB5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7128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0B82B-D2BF-4EFD-9F10-00605CCFBBC4}" type="datetimeFigureOut">
              <a:rPr lang="en-AU" smtClean="0"/>
              <a:t>27/09/2013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2898F-C723-4914-9E00-17CA8C17FB5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8813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0B82B-D2BF-4EFD-9F10-00605CCFBBC4}" type="datetimeFigureOut">
              <a:rPr lang="en-AU" smtClean="0"/>
              <a:t>27/09/2013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2898F-C723-4914-9E00-17CA8C17FB5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02184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0B82B-D2BF-4EFD-9F10-00605CCFBBC4}" type="datetimeFigureOut">
              <a:rPr lang="en-AU" smtClean="0"/>
              <a:t>27/09/2013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2898F-C723-4914-9E00-17CA8C17FB5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60513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0B82B-D2BF-4EFD-9F10-00605CCFBBC4}" type="datetimeFigureOut">
              <a:rPr lang="en-AU" smtClean="0"/>
              <a:t>27/09/2013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2898F-C723-4914-9E00-17CA8C17FB5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58502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0B82B-D2BF-4EFD-9F10-00605CCFBBC4}" type="datetimeFigureOut">
              <a:rPr lang="en-AU" smtClean="0"/>
              <a:t>27/09/2013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2898F-C723-4914-9E00-17CA8C17FB5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74969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0B82B-D2BF-4EFD-9F10-00605CCFBBC4}" type="datetimeFigureOut">
              <a:rPr lang="en-AU" smtClean="0"/>
              <a:t>27/09/2013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2898F-C723-4914-9E00-17CA8C17FB5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28944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0B82B-D2BF-4EFD-9F10-00605CCFBBC4}" type="datetimeFigureOut">
              <a:rPr lang="en-AU" smtClean="0"/>
              <a:t>27/09/2013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2898F-C723-4914-9E00-17CA8C17FB5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7049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0B82B-D2BF-4EFD-9F10-00605CCFBBC4}" type="datetimeFigureOut">
              <a:rPr lang="en-AU" smtClean="0"/>
              <a:t>27/09/2013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2898F-C723-4914-9E00-17CA8C17FB5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85209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0B82B-D2BF-4EFD-9F10-00605CCFBBC4}" type="datetimeFigureOut">
              <a:rPr lang="en-AU" smtClean="0"/>
              <a:t>27/09/2013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2898F-C723-4914-9E00-17CA8C17FB5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33392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30B82B-D2BF-4EFD-9F10-00605CCFBBC4}" type="datetimeFigureOut">
              <a:rPr lang="en-AU" smtClean="0"/>
              <a:t>27/09/2013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D2898F-C723-4914-9E00-17CA8C17FB5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6245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213120" y="161071"/>
            <a:ext cx="580440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3600" b="1" spc="50" dirty="0" smtClean="0">
                <a:ln w="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Calculating flow using shifts </a:t>
            </a:r>
          </a:p>
          <a:p>
            <a:pPr algn="ctr"/>
            <a:r>
              <a:rPr lang="en-AU" sz="2800" b="1" spc="50" dirty="0" smtClean="0">
                <a:ln w="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A chained conversion</a:t>
            </a:r>
            <a:endParaRPr lang="en-AU" sz="2000" b="1" spc="50" dirty="0">
              <a:ln w="0">
                <a:solidFill>
                  <a:schemeClr val="tx1">
                    <a:lumMod val="50000"/>
                    <a:lumOff val="50000"/>
                  </a:schemeClr>
                </a:solidFill>
              </a:ln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5" name="AutoShape 2" descr="https://encrypted-tbn3.gstatic.com/images?q=tbn:ANd9GcRRAwztqhfc96wAJmPVQd0tK1d7E3RelHzAOvBccRtaPnAM9_f8tA"/>
          <p:cNvSpPr>
            <a:spLocks noChangeAspect="1" noChangeArrowheads="1"/>
          </p:cNvSpPr>
          <p:nvPr/>
        </p:nvSpPr>
        <p:spPr bwMode="auto">
          <a:xfrm>
            <a:off x="1516743" y="2860707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sp>
        <p:nvSpPr>
          <p:cNvPr id="6" name="AutoShape 4" descr="https://encrypted-tbn2.gstatic.com/images?q=tbn:ANd9GcR_7EirRhLKFg0Av6pd1IHhQzVFq3pAIbQuUpMM6xE2Ukgtyht-x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sp>
        <p:nvSpPr>
          <p:cNvPr id="10" name="Rounded Rectangle 9"/>
          <p:cNvSpPr/>
          <p:nvPr/>
        </p:nvSpPr>
        <p:spPr>
          <a:xfrm>
            <a:off x="1821542" y="1557549"/>
            <a:ext cx="2115192" cy="726622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 smtClean="0"/>
              <a:t>Raw gauge </a:t>
            </a:r>
            <a:r>
              <a:rPr lang="en-AU" dirty="0"/>
              <a:t>height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1542" y="2966827"/>
            <a:ext cx="2115192" cy="726622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 smtClean="0"/>
              <a:t>Computed gauge height</a:t>
            </a:r>
            <a:endParaRPr lang="en-AU" dirty="0"/>
          </a:p>
        </p:txBody>
      </p:sp>
      <p:sp>
        <p:nvSpPr>
          <p:cNvPr id="12" name="Rounded Rectangle 11"/>
          <p:cNvSpPr/>
          <p:nvPr/>
        </p:nvSpPr>
        <p:spPr>
          <a:xfrm>
            <a:off x="1821542" y="4376105"/>
            <a:ext cx="2115192" cy="726622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 smtClean="0"/>
              <a:t>Effective gauge height</a:t>
            </a:r>
            <a:endParaRPr lang="en-AU" dirty="0"/>
          </a:p>
        </p:txBody>
      </p:sp>
      <p:sp>
        <p:nvSpPr>
          <p:cNvPr id="14" name="Rounded Rectangle 13"/>
          <p:cNvSpPr/>
          <p:nvPr/>
        </p:nvSpPr>
        <p:spPr>
          <a:xfrm>
            <a:off x="1821542" y="5785383"/>
            <a:ext cx="2115192" cy="726622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 smtClean="0"/>
              <a:t>Computed flow</a:t>
            </a:r>
            <a:endParaRPr lang="en-AU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099" b="40269"/>
          <a:stretch/>
        </p:blipFill>
        <p:spPr>
          <a:xfrm rot="5400000">
            <a:off x="-1626016" y="3555109"/>
            <a:ext cx="5656669" cy="933649"/>
          </a:xfrm>
          <a:prstGeom prst="rect">
            <a:avLst/>
          </a:prstGeom>
        </p:spPr>
      </p:pic>
      <p:sp>
        <p:nvSpPr>
          <p:cNvPr id="17" name="Curved Left Arrow 16"/>
          <p:cNvSpPr/>
          <p:nvPr/>
        </p:nvSpPr>
        <p:spPr>
          <a:xfrm>
            <a:off x="4052234" y="2209618"/>
            <a:ext cx="866275" cy="955889"/>
          </a:xfrm>
          <a:prstGeom prst="curvedLeftArrow">
            <a:avLst/>
          </a:prstGeom>
          <a:gradFill flip="none" rotWithShape="1">
            <a:gsLst>
              <a:gs pos="0">
                <a:schemeClr val="accent6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  <a:gs pos="54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61287" y="2233951"/>
            <a:ext cx="2215417" cy="726622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75000"/>
                </a:schemeClr>
              </a:gs>
              <a:gs pos="71000">
                <a:schemeClr val="accent6">
                  <a:lumMod val="60000"/>
                  <a:lumOff val="40000"/>
                </a:schemeClr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6200000" scaled="1"/>
            <a:tileRect/>
          </a:gradFill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 smtClean="0"/>
              <a:t>Datum and Quality corrections</a:t>
            </a:r>
            <a:endParaRPr lang="en-AU" dirty="0"/>
          </a:p>
        </p:txBody>
      </p:sp>
      <p:sp>
        <p:nvSpPr>
          <p:cNvPr id="19" name="Rounded Rectangle 18"/>
          <p:cNvSpPr/>
          <p:nvPr/>
        </p:nvSpPr>
        <p:spPr>
          <a:xfrm>
            <a:off x="5061287" y="3658622"/>
            <a:ext cx="2215417" cy="726622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75000"/>
                </a:schemeClr>
              </a:gs>
              <a:gs pos="71000">
                <a:schemeClr val="accent6">
                  <a:lumMod val="60000"/>
                  <a:lumOff val="40000"/>
                </a:schemeClr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6200000" scaled="1"/>
            <a:tileRect/>
          </a:gradFill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 smtClean="0"/>
              <a:t>Rating shifts to stage</a:t>
            </a:r>
            <a:endParaRPr lang="en-AU" dirty="0"/>
          </a:p>
        </p:txBody>
      </p:sp>
      <p:sp>
        <p:nvSpPr>
          <p:cNvPr id="20" name="Rounded Rectangle 19"/>
          <p:cNvSpPr/>
          <p:nvPr/>
        </p:nvSpPr>
        <p:spPr>
          <a:xfrm>
            <a:off x="5061286" y="5083293"/>
            <a:ext cx="2215417" cy="726622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75000"/>
                </a:schemeClr>
              </a:gs>
              <a:gs pos="71000">
                <a:schemeClr val="accent6">
                  <a:lumMod val="60000"/>
                  <a:lumOff val="40000"/>
                </a:schemeClr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6200000" scaled="1"/>
            <a:tileRect/>
          </a:gradFill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 smtClean="0"/>
              <a:t>Discharge rating</a:t>
            </a:r>
            <a:endParaRPr lang="en-AU" dirty="0"/>
          </a:p>
        </p:txBody>
      </p:sp>
      <p:sp>
        <p:nvSpPr>
          <p:cNvPr id="21" name="Curved Left Arrow 20"/>
          <p:cNvSpPr/>
          <p:nvPr/>
        </p:nvSpPr>
        <p:spPr>
          <a:xfrm>
            <a:off x="4089132" y="3580471"/>
            <a:ext cx="866275" cy="955889"/>
          </a:xfrm>
          <a:prstGeom prst="curvedLeftArrow">
            <a:avLst/>
          </a:prstGeom>
          <a:gradFill flip="none" rotWithShape="1">
            <a:gsLst>
              <a:gs pos="0">
                <a:schemeClr val="accent6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  <a:gs pos="54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2" name="Curved Left Arrow 21"/>
          <p:cNvSpPr/>
          <p:nvPr/>
        </p:nvSpPr>
        <p:spPr>
          <a:xfrm>
            <a:off x="4089132" y="4973223"/>
            <a:ext cx="866275" cy="955889"/>
          </a:xfrm>
          <a:prstGeom prst="curvedLeftArrow">
            <a:avLst/>
          </a:prstGeom>
          <a:gradFill flip="none" rotWithShape="1">
            <a:gsLst>
              <a:gs pos="0">
                <a:schemeClr val="accent6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  <a:gs pos="54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3779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5503" y="159268"/>
            <a:ext cx="501223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spc="50" dirty="0" smtClean="0">
                <a:ln w="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A conversion period index's multiple conversions</a:t>
            </a:r>
            <a:endParaRPr lang="en-AU" sz="1600" b="1" spc="50" dirty="0">
              <a:ln w="0">
                <a:solidFill>
                  <a:schemeClr val="tx1">
                    <a:lumMod val="50000"/>
                    <a:lumOff val="50000"/>
                  </a:schemeClr>
                </a:solidFill>
              </a:ln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6" name="AutoShape 4" descr="https://encrypted-tbn2.gstatic.com/images?q=tbn:ANd9GcR_7EirRhLKFg0Av6pd1IHhQzVFq3pAIbQuUpMM6xE2Ukgtyht-x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sp>
        <p:nvSpPr>
          <p:cNvPr id="10" name="Rounded Rectangle 9"/>
          <p:cNvSpPr/>
          <p:nvPr/>
        </p:nvSpPr>
        <p:spPr>
          <a:xfrm>
            <a:off x="679077" y="1164272"/>
            <a:ext cx="2979058" cy="461751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 err="1" smtClean="0"/>
              <a:t>ConversionApplicationTime</a:t>
            </a:r>
            <a:endParaRPr lang="en-AU" dirty="0"/>
          </a:p>
        </p:txBody>
      </p:sp>
      <p:sp>
        <p:nvSpPr>
          <p:cNvPr id="18" name="Rounded Rectangle 17"/>
          <p:cNvSpPr/>
          <p:nvPr/>
        </p:nvSpPr>
        <p:spPr>
          <a:xfrm>
            <a:off x="2518479" y="1847845"/>
            <a:ext cx="2594697" cy="363311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75000"/>
                </a:schemeClr>
              </a:gs>
              <a:gs pos="71000">
                <a:schemeClr val="accent6">
                  <a:lumMod val="60000"/>
                  <a:lumOff val="40000"/>
                </a:schemeClr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6200000" scaled="1"/>
            <a:tileRect/>
          </a:gradFill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 smtClean="0"/>
              <a:t>Effective gauge -&gt; Flow</a:t>
            </a:r>
            <a:endParaRPr lang="en-AU" dirty="0"/>
          </a:p>
        </p:txBody>
      </p:sp>
      <p:sp>
        <p:nvSpPr>
          <p:cNvPr id="19" name="Rounded Rectangle 18"/>
          <p:cNvSpPr/>
          <p:nvPr/>
        </p:nvSpPr>
        <p:spPr>
          <a:xfrm>
            <a:off x="3268493" y="2421242"/>
            <a:ext cx="3076173" cy="379978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</a:schemeClr>
              </a:gs>
              <a:gs pos="71000">
                <a:schemeClr val="accent6">
                  <a:lumMod val="40000"/>
                  <a:lumOff val="60000"/>
                </a:schemeClr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6200000" scaled="1"/>
            <a:tileRect/>
          </a:gradFill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 smtClean="0"/>
              <a:t>Computed -&gt; Effective Height</a:t>
            </a:r>
            <a:endParaRPr lang="en-AU" dirty="0"/>
          </a:p>
        </p:txBody>
      </p:sp>
      <p:sp>
        <p:nvSpPr>
          <p:cNvPr id="23" name="Rounded Rectangle 22"/>
          <p:cNvSpPr/>
          <p:nvPr/>
        </p:nvSpPr>
        <p:spPr>
          <a:xfrm>
            <a:off x="2625807" y="4191434"/>
            <a:ext cx="2487369" cy="363311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75000"/>
                </a:schemeClr>
              </a:gs>
              <a:gs pos="71000">
                <a:schemeClr val="accent6">
                  <a:lumMod val="60000"/>
                  <a:lumOff val="40000"/>
                </a:schemeClr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6200000" scaled="1"/>
            <a:tileRect/>
          </a:gradFill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Effective gauge -&gt; Flow</a:t>
            </a:r>
            <a:endParaRPr lang="en-AU" dirty="0"/>
          </a:p>
        </p:txBody>
      </p:sp>
      <p:sp>
        <p:nvSpPr>
          <p:cNvPr id="24" name="Rounded Rectangle 23"/>
          <p:cNvSpPr/>
          <p:nvPr/>
        </p:nvSpPr>
        <p:spPr>
          <a:xfrm>
            <a:off x="2670879" y="5944956"/>
            <a:ext cx="2442298" cy="363311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75000"/>
                </a:schemeClr>
              </a:gs>
              <a:gs pos="71000">
                <a:schemeClr val="accent6">
                  <a:lumMod val="60000"/>
                  <a:lumOff val="40000"/>
                </a:schemeClr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6200000" scaled="1"/>
            <a:tileRect/>
          </a:gradFill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Effective gauge -&gt; Flow</a:t>
            </a:r>
            <a:endParaRPr lang="en-AU" dirty="0"/>
          </a:p>
        </p:txBody>
      </p:sp>
      <p:sp>
        <p:nvSpPr>
          <p:cNvPr id="25" name="Rounded Rectangle 24"/>
          <p:cNvSpPr/>
          <p:nvPr/>
        </p:nvSpPr>
        <p:spPr>
          <a:xfrm>
            <a:off x="3268493" y="3011306"/>
            <a:ext cx="3076173" cy="379978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</a:schemeClr>
              </a:gs>
              <a:gs pos="71000">
                <a:schemeClr val="accent6">
                  <a:lumMod val="40000"/>
                  <a:lumOff val="60000"/>
                </a:schemeClr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6200000" scaled="1"/>
            <a:tileRect/>
          </a:gradFill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Computed -&gt; Effective </a:t>
            </a:r>
            <a:r>
              <a:rPr lang="en-AU" dirty="0" smtClean="0"/>
              <a:t>Height</a:t>
            </a:r>
            <a:endParaRPr lang="en-AU" dirty="0"/>
          </a:p>
        </p:txBody>
      </p:sp>
      <p:sp>
        <p:nvSpPr>
          <p:cNvPr id="26" name="Rounded Rectangle 25"/>
          <p:cNvSpPr/>
          <p:nvPr/>
        </p:nvSpPr>
        <p:spPr>
          <a:xfrm>
            <a:off x="3268493" y="3601370"/>
            <a:ext cx="3076173" cy="379978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</a:schemeClr>
              </a:gs>
              <a:gs pos="71000">
                <a:schemeClr val="accent6">
                  <a:lumMod val="40000"/>
                  <a:lumOff val="60000"/>
                </a:schemeClr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6200000" scaled="1"/>
            <a:tileRect/>
          </a:gradFill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Computed -&gt; Effective Height</a:t>
            </a:r>
            <a:endParaRPr lang="en-AU" dirty="0"/>
          </a:p>
        </p:txBody>
      </p:sp>
      <p:sp>
        <p:nvSpPr>
          <p:cNvPr id="27" name="Rounded Rectangle 26"/>
          <p:cNvSpPr/>
          <p:nvPr/>
        </p:nvSpPr>
        <p:spPr>
          <a:xfrm>
            <a:off x="3268493" y="4764831"/>
            <a:ext cx="3076173" cy="379978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</a:schemeClr>
              </a:gs>
              <a:gs pos="71000">
                <a:schemeClr val="accent6">
                  <a:lumMod val="40000"/>
                  <a:lumOff val="60000"/>
                </a:schemeClr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6200000" scaled="1"/>
            <a:tileRect/>
          </a:gradFill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Computed -&gt; Effective Height</a:t>
            </a:r>
            <a:endParaRPr lang="en-AU" dirty="0"/>
          </a:p>
        </p:txBody>
      </p:sp>
      <p:sp>
        <p:nvSpPr>
          <p:cNvPr id="28" name="Rounded Rectangle 27"/>
          <p:cNvSpPr/>
          <p:nvPr/>
        </p:nvSpPr>
        <p:spPr>
          <a:xfrm>
            <a:off x="3268493" y="5354895"/>
            <a:ext cx="3076173" cy="379978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</a:schemeClr>
              </a:gs>
              <a:gs pos="71000">
                <a:schemeClr val="accent6">
                  <a:lumMod val="40000"/>
                  <a:lumOff val="60000"/>
                </a:schemeClr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6200000" scaled="1"/>
            <a:tileRect/>
          </a:gradFill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Computed -&gt; Effective Height</a:t>
            </a:r>
            <a:endParaRPr lang="en-AU" dirty="0"/>
          </a:p>
        </p:txBody>
      </p:sp>
      <p:cxnSp>
        <p:nvCxnSpPr>
          <p:cNvPr id="41" name="Elbow Connector 40"/>
          <p:cNvCxnSpPr>
            <a:stCxn id="10" idx="2"/>
            <a:endCxn id="19" idx="1"/>
          </p:cNvCxnSpPr>
          <p:nvPr/>
        </p:nvCxnSpPr>
        <p:spPr>
          <a:xfrm rot="16200000" flipH="1">
            <a:off x="2225945" y="1568683"/>
            <a:ext cx="985208" cy="1099887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43"/>
          <p:cNvCxnSpPr>
            <a:stCxn id="10" idx="2"/>
            <a:endCxn id="25" idx="1"/>
          </p:cNvCxnSpPr>
          <p:nvPr/>
        </p:nvCxnSpPr>
        <p:spPr>
          <a:xfrm rot="16200000" flipH="1">
            <a:off x="1930913" y="1863715"/>
            <a:ext cx="1575272" cy="1099887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Elbow Connector 46"/>
          <p:cNvCxnSpPr>
            <a:stCxn id="10" idx="2"/>
            <a:endCxn id="26" idx="1"/>
          </p:cNvCxnSpPr>
          <p:nvPr/>
        </p:nvCxnSpPr>
        <p:spPr>
          <a:xfrm rot="16200000" flipH="1">
            <a:off x="1635881" y="2158747"/>
            <a:ext cx="2165336" cy="1099887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Elbow Connector 57"/>
          <p:cNvCxnSpPr>
            <a:stCxn id="18" idx="1"/>
            <a:endCxn id="10" idx="2"/>
          </p:cNvCxnSpPr>
          <p:nvPr/>
        </p:nvCxnSpPr>
        <p:spPr>
          <a:xfrm rot="10800000">
            <a:off x="2168607" y="1626023"/>
            <a:ext cx="349873" cy="403478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Elbow Connector 59"/>
          <p:cNvCxnSpPr>
            <a:stCxn id="23" idx="1"/>
            <a:endCxn id="10" idx="2"/>
          </p:cNvCxnSpPr>
          <p:nvPr/>
        </p:nvCxnSpPr>
        <p:spPr>
          <a:xfrm rot="10800000">
            <a:off x="2168607" y="1626024"/>
            <a:ext cx="457201" cy="2747067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Elbow Connector 61"/>
          <p:cNvCxnSpPr>
            <a:stCxn id="27" idx="1"/>
            <a:endCxn id="10" idx="2"/>
          </p:cNvCxnSpPr>
          <p:nvPr/>
        </p:nvCxnSpPr>
        <p:spPr>
          <a:xfrm rot="10800000">
            <a:off x="2168607" y="1626024"/>
            <a:ext cx="1099887" cy="3328797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Elbow Connector 63"/>
          <p:cNvCxnSpPr>
            <a:stCxn id="28" idx="1"/>
            <a:endCxn id="10" idx="2"/>
          </p:cNvCxnSpPr>
          <p:nvPr/>
        </p:nvCxnSpPr>
        <p:spPr>
          <a:xfrm rot="10800000">
            <a:off x="2168607" y="1626024"/>
            <a:ext cx="1099887" cy="3918861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Elbow Connector 65"/>
          <p:cNvCxnSpPr>
            <a:stCxn id="24" idx="1"/>
            <a:endCxn id="10" idx="2"/>
          </p:cNvCxnSpPr>
          <p:nvPr/>
        </p:nvCxnSpPr>
        <p:spPr>
          <a:xfrm rot="10800000">
            <a:off x="2168607" y="1626024"/>
            <a:ext cx="502273" cy="4500589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4" name="Group 103"/>
          <p:cNvGrpSpPr/>
          <p:nvPr/>
        </p:nvGrpSpPr>
        <p:grpSpPr>
          <a:xfrm>
            <a:off x="5903262" y="508803"/>
            <a:ext cx="1061201" cy="830765"/>
            <a:chOff x="7862691" y="976063"/>
            <a:chExt cx="2211355" cy="1437595"/>
          </a:xfrm>
        </p:grpSpPr>
        <p:sp>
          <p:nvSpPr>
            <p:cNvPr id="103" name="Rectangle 102"/>
            <p:cNvSpPr/>
            <p:nvPr/>
          </p:nvSpPr>
          <p:spPr>
            <a:xfrm>
              <a:off x="7862691" y="976063"/>
              <a:ext cx="2211355" cy="1437595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800"/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7978888" y="1895954"/>
              <a:ext cx="1921053" cy="379978"/>
            </a:xfrm>
            <a:prstGeom prst="roundRect">
              <a:avLst/>
            </a:prstGeom>
            <a:gradFill flip="none" rotWithShape="1">
              <a:gsLst>
                <a:gs pos="0">
                  <a:schemeClr val="accent6">
                    <a:lumMod val="75000"/>
                  </a:schemeClr>
                </a:gs>
                <a:gs pos="71000">
                  <a:schemeClr val="accent6">
                    <a:lumMod val="60000"/>
                    <a:lumOff val="40000"/>
                  </a:schemeClr>
                </a:gs>
                <a:gs pos="100000">
                  <a:schemeClr val="accent6">
                    <a:lumMod val="20000"/>
                    <a:lumOff val="80000"/>
                  </a:schemeClr>
                </a:gs>
              </a:gsLst>
              <a:lin ang="16200000" scaled="1"/>
              <a:tileRect/>
            </a:gradFill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sz="800" dirty="0" smtClean="0"/>
                <a:t>Conversion Table</a:t>
              </a:r>
              <a:endParaRPr lang="en-AU" sz="800" dirty="0"/>
            </a:p>
          </p:txBody>
        </p:sp>
        <p:sp>
          <p:nvSpPr>
            <p:cNvPr id="101" name="Rounded Rectangle 100"/>
            <p:cNvSpPr/>
            <p:nvPr/>
          </p:nvSpPr>
          <p:spPr>
            <a:xfrm>
              <a:off x="7963366" y="1403350"/>
              <a:ext cx="1921053" cy="403478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lumMod val="67000"/>
                  </a:schemeClr>
                </a:gs>
                <a:gs pos="48000">
                  <a:schemeClr val="accent1">
                    <a:lumMod val="97000"/>
                    <a:lumOff val="3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sz="800" dirty="0" smtClean="0"/>
                <a:t>Conversion Period</a:t>
              </a:r>
              <a:endParaRPr lang="en-AU" sz="800" dirty="0"/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7862691" y="976063"/>
              <a:ext cx="1553942" cy="3728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800" dirty="0" smtClean="0"/>
                <a:t>Symbol Index</a:t>
              </a:r>
              <a:endParaRPr lang="en-AU" sz="800" dirty="0"/>
            </a:p>
          </p:txBody>
        </p:sp>
      </p:grpSp>
    </p:spTree>
    <p:extLst>
      <p:ext uri="{BB962C8B-B14F-4D97-AF65-F5344CB8AC3E}">
        <p14:creationId xmlns:p14="http://schemas.microsoft.com/office/powerpoint/2010/main" val="1120375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73</Words>
  <Application>Microsoft Office PowerPoint</Application>
  <PresentationFormat>Custom</PresentationFormat>
  <Paragraphs>22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Paul</dc:creator>
  <cp:lastModifiedBy>Paul Sheahan</cp:lastModifiedBy>
  <cp:revision>8</cp:revision>
  <dcterms:created xsi:type="dcterms:W3CDTF">2013-09-20T01:15:07Z</dcterms:created>
  <dcterms:modified xsi:type="dcterms:W3CDTF">2013-09-27T01:31:32Z</dcterms:modified>
</cp:coreProperties>
</file>