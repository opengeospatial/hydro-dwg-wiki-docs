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85" r:id="rId2"/>
    <p:sldId id="257" r:id="rId3"/>
    <p:sldId id="333" r:id="rId4"/>
    <p:sldId id="345" r:id="rId5"/>
    <p:sldId id="260" r:id="rId6"/>
    <p:sldId id="261" r:id="rId7"/>
    <p:sldId id="320" r:id="rId8"/>
    <p:sldId id="322" r:id="rId9"/>
    <p:sldId id="346" r:id="rId10"/>
    <p:sldId id="305" r:id="rId11"/>
    <p:sldId id="288" r:id="rId12"/>
    <p:sldId id="324" r:id="rId13"/>
    <p:sldId id="289" r:id="rId14"/>
    <p:sldId id="290" r:id="rId15"/>
    <p:sldId id="291" r:id="rId16"/>
    <p:sldId id="292" r:id="rId17"/>
    <p:sldId id="293" r:id="rId18"/>
    <p:sldId id="294" r:id="rId19"/>
    <p:sldId id="296" r:id="rId20"/>
    <p:sldId id="336" r:id="rId21"/>
    <p:sldId id="347" r:id="rId22"/>
    <p:sldId id="348" r:id="rId23"/>
    <p:sldId id="349" r:id="rId24"/>
    <p:sldId id="350" r:id="rId25"/>
    <p:sldId id="351" r:id="rId26"/>
    <p:sldId id="339" r:id="rId27"/>
    <p:sldId id="352" r:id="rId28"/>
    <p:sldId id="316" r:id="rId29"/>
    <p:sldId id="338" r:id="rId30"/>
    <p:sldId id="341" r:id="rId31"/>
    <p:sldId id="342" r:id="rId32"/>
    <p:sldId id="343" r:id="rId33"/>
    <p:sldId id="344" r:id="rId34"/>
    <p:sldId id="319" r:id="rId35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BDBDB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CDA"/>
          </a:solidFill>
        </a:fill>
      </a:tcStyle>
    </a:wholeTbl>
    <a:band2H>
      <a:tcTxStyle/>
      <a:tcStyle>
        <a:tcBdr/>
        <a:fill>
          <a:solidFill>
            <a:srgbClr val="E7E7E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86"/>
    <p:restoredTop sz="94671"/>
  </p:normalViewPr>
  <p:slideViewPr>
    <p:cSldViewPr>
      <p:cViewPr varScale="1">
        <p:scale>
          <a:sx n="91" d="100"/>
          <a:sy n="91" d="100"/>
        </p:scale>
        <p:origin x="98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844016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de-DE" alt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A7116527-64FD-4ADC-8819-9BFA1E8A93F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090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A7116527-64FD-4ADC-8819-9BFA1E8A93F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891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xfrm>
            <a:off x="6370985" y="6356350"/>
            <a:ext cx="182216" cy="17281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Title Text</a:t>
            </a:r>
          </a:p>
        </p:txBody>
      </p:sp>
      <p:sp>
        <p:nvSpPr>
          <p:cNvPr id="68" name="Shape 6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447675" indent="0">
              <a:defRPr/>
            </a:lvl2pPr>
            <a:lvl3pPr marL="895350" indent="0">
              <a:defRPr/>
            </a:lvl3pPr>
            <a:lvl4pPr marL="1254125" indent="0">
              <a:defRPr/>
            </a:lvl4pPr>
            <a:lvl5pPr marL="1789113" indent="0">
              <a:defRPr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9" name="Shape 6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6868221" y="6478587"/>
            <a:ext cx="151707" cy="177801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4" name="Shape 9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hape 9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/>
          </p:cNvSpPr>
          <p:nvPr>
            <p:ph type="title"/>
          </p:nvPr>
        </p:nvSpPr>
        <p:spPr>
          <a:xfrm>
            <a:off x="1331640" y="159491"/>
            <a:ext cx="7355162" cy="1138419"/>
          </a:xfrm>
          <a:prstGeom prst="rect">
            <a:avLst/>
          </a:prstGeom>
        </p:spPr>
        <p:txBody>
          <a:bodyPr anchor="ctr"/>
          <a:lstStyle>
            <a:lvl1pPr defTabSz="914400">
              <a:defRPr sz="3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457200" y="1297907"/>
            <a:ext cx="4040188" cy="876968"/>
          </a:xfrm>
          <a:prstGeom prst="rect">
            <a:avLst/>
          </a:prstGeom>
        </p:spPr>
        <p:txBody>
          <a:bodyPr anchor="b"/>
          <a:lstStyle>
            <a:lvl1pPr defTabSz="914400">
              <a:spcBef>
                <a:spcPts val="500"/>
              </a:spcBef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702127" indent="-244927" defTabSz="914400">
              <a:spcBef>
                <a:spcPts val="500"/>
              </a:spcBef>
              <a:buSzPct val="100000"/>
              <a:buChar char="▪"/>
              <a:defRPr sz="2400" b="1">
                <a:latin typeface="Arial"/>
                <a:ea typeface="Arial"/>
                <a:cs typeface="Arial"/>
                <a:sym typeface="Arial"/>
              </a:defRPr>
            </a:lvl2pPr>
            <a:lvl3pPr marL="1143000" indent="-228600" defTabSz="914400">
              <a:spcBef>
                <a:spcPts val="500"/>
              </a:spcBef>
              <a:buSzPct val="100000"/>
              <a:buChar char="▪"/>
              <a:defRPr sz="2400" b="1">
                <a:latin typeface="Arial"/>
                <a:ea typeface="Arial"/>
                <a:cs typeface="Arial"/>
                <a:sym typeface="Arial"/>
              </a:defRPr>
            </a:lvl3pPr>
            <a:lvl4pPr marL="1645920" indent="-274319" defTabSz="914400">
              <a:spcBef>
                <a:spcPts val="500"/>
              </a:spcBef>
              <a:buSzPct val="100000"/>
              <a:buChar char="▪"/>
              <a:defRPr sz="2400" b="1">
                <a:latin typeface="Arial"/>
                <a:ea typeface="Arial"/>
                <a:cs typeface="Arial"/>
                <a:sym typeface="Arial"/>
              </a:defRPr>
            </a:lvl4pPr>
            <a:lvl5pPr marL="2103120" indent="-274320" defTabSz="914400">
              <a:spcBef>
                <a:spcPts val="500"/>
              </a:spcBef>
              <a:buSzPct val="100000"/>
              <a:buChar char="▪"/>
              <a:defRPr sz="2400" b="1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hape 104"/>
          <p:cNvSpPr>
            <a:spLocks noGrp="1"/>
          </p:cNvSpPr>
          <p:nvPr>
            <p:ph type="sldNum" sz="quarter" idx="2"/>
          </p:nvPr>
        </p:nvSpPr>
        <p:spPr>
          <a:xfrm>
            <a:off x="6370985" y="6356350"/>
            <a:ext cx="182216" cy="17281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/>
          </p:cNvSpPr>
          <p:nvPr>
            <p:ph type="title"/>
          </p:nvPr>
        </p:nvSpPr>
        <p:spPr>
          <a:xfrm>
            <a:off x="250825" y="117475"/>
            <a:ext cx="8713790" cy="935038"/>
          </a:xfrm>
          <a:prstGeom prst="rect">
            <a:avLst/>
          </a:prstGeom>
        </p:spPr>
        <p:txBody>
          <a:bodyPr anchor="ctr"/>
          <a:lstStyle>
            <a:lvl1pPr defTabSz="914400">
              <a:defRPr sz="30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128" name="Shape 128"/>
          <p:cNvSpPr>
            <a:spLocks noGrp="1"/>
          </p:cNvSpPr>
          <p:nvPr>
            <p:ph type="body" idx="1"/>
          </p:nvPr>
        </p:nvSpPr>
        <p:spPr>
          <a:xfrm>
            <a:off x="250825" y="1052512"/>
            <a:ext cx="8713790" cy="5805490"/>
          </a:xfrm>
          <a:prstGeom prst="rect">
            <a:avLst/>
          </a:prstGeom>
        </p:spPr>
        <p:txBody>
          <a:bodyPr/>
          <a:lstStyle>
            <a:lvl1pPr marL="5334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906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4478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marL="19050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marL="23622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hape 129"/>
          <p:cNvSpPr>
            <a:spLocks noGrp="1"/>
          </p:cNvSpPr>
          <p:nvPr>
            <p:ph type="sldNum" sz="quarter" idx="2"/>
          </p:nvPr>
        </p:nvSpPr>
        <p:spPr>
          <a:xfrm>
            <a:off x="6837710" y="6478587"/>
            <a:ext cx="182216" cy="17281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>
            <a:spLocks noGrp="1"/>
          </p:cNvSpPr>
          <p:nvPr>
            <p:ph type="title"/>
          </p:nvPr>
        </p:nvSpPr>
        <p:spPr>
          <a:xfrm>
            <a:off x="250825" y="0"/>
            <a:ext cx="8713790" cy="1169988"/>
          </a:xfrm>
          <a:prstGeom prst="rect">
            <a:avLst/>
          </a:prstGeom>
        </p:spPr>
        <p:txBody>
          <a:bodyPr anchor="ctr"/>
          <a:lstStyle>
            <a:lvl1pPr defTabSz="914400">
              <a:defRPr sz="30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hape 147"/>
          <p:cNvSpPr>
            <a:spLocks noGrp="1"/>
          </p:cNvSpPr>
          <p:nvPr>
            <p:ph type="sldNum" sz="quarter" idx="2"/>
          </p:nvPr>
        </p:nvSpPr>
        <p:spPr>
          <a:xfrm>
            <a:off x="6837710" y="6478587"/>
            <a:ext cx="182216" cy="17281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>
            <a:spLocks noGrp="1"/>
          </p:cNvSpPr>
          <p:nvPr>
            <p:ph type="title"/>
          </p:nvPr>
        </p:nvSpPr>
        <p:spPr>
          <a:xfrm>
            <a:off x="250825" y="117475"/>
            <a:ext cx="8713790" cy="935038"/>
          </a:xfrm>
          <a:prstGeom prst="rect">
            <a:avLst/>
          </a:prstGeom>
        </p:spPr>
        <p:txBody>
          <a:bodyPr anchor="ctr"/>
          <a:lstStyle>
            <a:lvl1pPr defTabSz="914400">
              <a:defRPr sz="3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155" name="Shape 155"/>
          <p:cNvSpPr>
            <a:spLocks noGrp="1"/>
          </p:cNvSpPr>
          <p:nvPr>
            <p:ph type="body" idx="1"/>
          </p:nvPr>
        </p:nvSpPr>
        <p:spPr>
          <a:xfrm>
            <a:off x="250825" y="1052512"/>
            <a:ext cx="8713790" cy="5805488"/>
          </a:xfrm>
          <a:prstGeom prst="rect">
            <a:avLst/>
          </a:prstGeom>
        </p:spPr>
        <p:txBody>
          <a:bodyPr/>
          <a:lstStyle>
            <a:lvl1pPr marL="5334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1286932" indent="-829732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4478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marL="19050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marL="2421464" indent="-592664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Shape 156"/>
          <p:cNvSpPr>
            <a:spLocks noGrp="1"/>
          </p:cNvSpPr>
          <p:nvPr>
            <p:ph type="sldNum" sz="quarter" idx="2"/>
          </p:nvPr>
        </p:nvSpPr>
        <p:spPr>
          <a:xfrm>
            <a:off x="6868221" y="6478587"/>
            <a:ext cx="151707" cy="177801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/>
          </p:cNvSpPr>
          <p:nvPr>
            <p:ph type="sldNum" sz="quarter" idx="2"/>
          </p:nvPr>
        </p:nvSpPr>
        <p:spPr>
          <a:xfrm>
            <a:off x="8367172" y="6184899"/>
            <a:ext cx="521246" cy="546101"/>
          </a:xfrm>
          <a:prstGeom prst="rect">
            <a:avLst/>
          </a:prstGeom>
        </p:spPr>
        <p:txBody>
          <a:bodyPr anchor="ctr"/>
          <a:lstStyle>
            <a:lvl1pPr>
              <a:defRPr sz="3600">
                <a:latin typeface="News Gothic MT"/>
                <a:ea typeface="News Gothic MT"/>
                <a:cs typeface="News Gothic MT"/>
                <a:sym typeface="News Gothic M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/>
          </p:cNvSpPr>
          <p:nvPr>
            <p:ph type="title"/>
          </p:nvPr>
        </p:nvSpPr>
        <p:spPr>
          <a:xfrm>
            <a:off x="250825" y="0"/>
            <a:ext cx="8713790" cy="1169988"/>
          </a:xfrm>
          <a:prstGeom prst="rect">
            <a:avLst/>
          </a:prstGeom>
        </p:spPr>
        <p:txBody>
          <a:bodyPr lIns="45718" tIns="45718" rIns="45718" bIns="45718" anchor="ctr"/>
          <a:lstStyle>
            <a:lvl1pPr defTabSz="914400">
              <a:defRPr sz="30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171" name="Shape 171"/>
          <p:cNvSpPr>
            <a:spLocks noGrp="1"/>
          </p:cNvSpPr>
          <p:nvPr>
            <p:ph type="sldNum" sz="quarter" idx="2"/>
          </p:nvPr>
        </p:nvSpPr>
        <p:spPr>
          <a:xfrm>
            <a:off x="6746273" y="6478587"/>
            <a:ext cx="273652" cy="264251"/>
          </a:xfrm>
          <a:prstGeom prst="rect">
            <a:avLst/>
          </a:prstGeom>
        </p:spPr>
        <p:txBody>
          <a:bodyPr lIns="45718" tIns="45718" rIns="45718" bIns="45718"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/>
          </p:cNvSpPr>
          <p:nvPr>
            <p:ph type="title"/>
          </p:nvPr>
        </p:nvSpPr>
        <p:spPr>
          <a:xfrm>
            <a:off x="250825" y="0"/>
            <a:ext cx="8713790" cy="1169988"/>
          </a:xfrm>
          <a:prstGeom prst="rect">
            <a:avLst/>
          </a:prstGeom>
        </p:spPr>
        <p:txBody>
          <a:bodyPr lIns="45718" tIns="45718" rIns="45718" bIns="45718" anchor="ctr"/>
          <a:lstStyle>
            <a:lvl1pPr defTabSz="914400">
              <a:defRPr sz="3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179" name="Shape 179"/>
          <p:cNvSpPr>
            <a:spLocks noGrp="1"/>
          </p:cNvSpPr>
          <p:nvPr>
            <p:ph type="sldNum" sz="quarter" idx="2"/>
          </p:nvPr>
        </p:nvSpPr>
        <p:spPr>
          <a:xfrm>
            <a:off x="6746273" y="6478587"/>
            <a:ext cx="273652" cy="264251"/>
          </a:xfrm>
          <a:prstGeom prst="rect">
            <a:avLst/>
          </a:prstGeom>
        </p:spPr>
        <p:txBody>
          <a:bodyPr lIns="45718" tIns="45718" rIns="45718" bIns="45718"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7" name="Shape 18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hape 18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>
            <a:spLocks noGrp="1"/>
          </p:cNvSpPr>
          <p:nvPr>
            <p:ph type="sldNum" sz="quarter" idx="2"/>
          </p:nvPr>
        </p:nvSpPr>
        <p:spPr>
          <a:xfrm>
            <a:off x="6868221" y="6478587"/>
            <a:ext cx="151707" cy="177801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>
            <a:spLocks noGrp="1"/>
          </p:cNvSpPr>
          <p:nvPr>
            <p:ph type="title"/>
          </p:nvPr>
        </p:nvSpPr>
        <p:spPr>
          <a:xfrm>
            <a:off x="250825" y="117475"/>
            <a:ext cx="8713790" cy="935038"/>
          </a:xfrm>
          <a:prstGeom prst="rect">
            <a:avLst/>
          </a:prstGeom>
        </p:spPr>
        <p:txBody>
          <a:bodyPr anchor="ctr"/>
          <a:lstStyle>
            <a:lvl1pPr defTabSz="914400">
              <a:defRPr sz="3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203" name="Shape 203"/>
          <p:cNvSpPr>
            <a:spLocks noGrp="1"/>
          </p:cNvSpPr>
          <p:nvPr>
            <p:ph type="body" idx="1"/>
          </p:nvPr>
        </p:nvSpPr>
        <p:spPr>
          <a:xfrm>
            <a:off x="250825" y="1052512"/>
            <a:ext cx="8713790" cy="5805490"/>
          </a:xfrm>
          <a:prstGeom prst="rect">
            <a:avLst/>
          </a:prstGeom>
        </p:spPr>
        <p:txBody>
          <a:bodyPr/>
          <a:lstStyle>
            <a:lvl1pPr marL="5334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9906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4478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marL="19050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marL="23622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4" name="Shape 204"/>
          <p:cNvSpPr>
            <a:spLocks noGrp="1"/>
          </p:cNvSpPr>
          <p:nvPr>
            <p:ph type="sldNum" sz="quarter" idx="2"/>
          </p:nvPr>
        </p:nvSpPr>
        <p:spPr>
          <a:xfrm>
            <a:off x="6837710" y="6478587"/>
            <a:ext cx="182216" cy="17281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>
            <a:spLocks noGrp="1"/>
          </p:cNvSpPr>
          <p:nvPr>
            <p:ph type="title"/>
          </p:nvPr>
        </p:nvSpPr>
        <p:spPr>
          <a:xfrm>
            <a:off x="250825" y="117475"/>
            <a:ext cx="8713790" cy="935038"/>
          </a:xfrm>
          <a:prstGeom prst="rect">
            <a:avLst/>
          </a:prstGeom>
        </p:spPr>
        <p:txBody>
          <a:bodyPr anchor="ctr"/>
          <a:lstStyle>
            <a:lvl1pPr defTabSz="914400">
              <a:defRPr sz="3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212" name="Shape 212"/>
          <p:cNvSpPr>
            <a:spLocks noGrp="1"/>
          </p:cNvSpPr>
          <p:nvPr>
            <p:ph type="body" idx="1"/>
          </p:nvPr>
        </p:nvSpPr>
        <p:spPr>
          <a:xfrm>
            <a:off x="250825" y="1052512"/>
            <a:ext cx="8713790" cy="5805488"/>
          </a:xfrm>
          <a:prstGeom prst="rect">
            <a:avLst/>
          </a:prstGeom>
        </p:spPr>
        <p:txBody>
          <a:bodyPr/>
          <a:lstStyle>
            <a:lvl1pPr marL="5334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marL="1286932" indent="-829732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marL="14478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3pPr>
            <a:lvl4pPr marL="1905000" indent="-533400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4pPr>
            <a:lvl5pPr marL="2421464" indent="-592664" defTabSz="914400">
              <a:spcBef>
                <a:spcPts val="600"/>
              </a:spcBef>
              <a:buClr>
                <a:srgbClr val="FF9900"/>
              </a:buClr>
              <a:buSzPct val="100000"/>
              <a:buFont typeface="Wingdings"/>
              <a:buChar char="▪"/>
              <a:defRPr sz="2800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3" name="Shape 213"/>
          <p:cNvSpPr>
            <a:spLocks noGrp="1"/>
          </p:cNvSpPr>
          <p:nvPr>
            <p:ph type="sldNum" sz="quarter" idx="2"/>
          </p:nvPr>
        </p:nvSpPr>
        <p:spPr>
          <a:xfrm>
            <a:off x="6868220" y="6478587"/>
            <a:ext cx="151706" cy="177801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mo2016_powerpoint_standard_v2-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cbs-16@wmo.int</a:t>
            </a:r>
          </a:p>
        </p:txBody>
      </p:sp>
    </p:spTree>
    <p:extLst>
      <p:ext uri="{BB962C8B-B14F-4D97-AF65-F5344CB8AC3E}">
        <p14:creationId xmlns:p14="http://schemas.microsoft.com/office/powerpoint/2010/main" val="73611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jpeg" descr="wmo_ppt_2012.jpg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457200" y="274635"/>
            <a:ext cx="8229600" cy="132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6668194" y="6478587"/>
            <a:ext cx="351731" cy="34562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7" r:id="rId3"/>
    <p:sldLayoutId id="2147483658" r:id="rId4"/>
    <p:sldLayoutId id="2147483659" r:id="rId5"/>
    <p:sldLayoutId id="2147483662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4" r:id="rId16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536575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107315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1609725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514600" marR="0" indent="-228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▪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2971800" marR="0" indent="-228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▪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429000" marR="0" indent="-228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▪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3886200" marR="0" indent="-228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Tx/>
        <a:buChar char="▪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mo.int/pages/prog/www/wigos/index_en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mo.int/pages/prog/www/OSY/GOS-RRR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wmo.int/pages/prog/www/OSY/gos-vision.html#egos-ip" TargetMode="External"/><Relationship Id="rId3" Type="http://schemas.openxmlformats.org/officeDocument/2006/relationships/hyperlink" Target="http://www.wmo-sat.info/oscar/requirements" TargetMode="External"/><Relationship Id="rId7" Type="http://schemas.openxmlformats.org/officeDocument/2006/relationships/hyperlink" Target="http://www.wmo.int/pages/prog/www/OSY/gos-vision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.wmo.int/pages/prog/www/OSY/GOS-RRR.html#SOG" TargetMode="External"/><Relationship Id="rId5" Type="http://schemas.openxmlformats.org/officeDocument/2006/relationships/hyperlink" Target="https://oscar.wmo.int/OSCAR/index.html#/" TargetMode="External"/><Relationship Id="rId4" Type="http://schemas.openxmlformats.org/officeDocument/2006/relationships/hyperlink" Target="http://www.wmo-sat.info/oscar/spacecapabilities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mo.int/oscar/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755576" y="2420888"/>
            <a:ext cx="8208912" cy="2722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5100" b="1" dirty="0">
                <a:solidFill>
                  <a:srgbClr val="000090"/>
                </a:solidFill>
              </a:rPr>
              <a:t>Introduction to the WMO Integrated Global Observing System (WIGOS) and OSCAR/Surface;</a:t>
            </a:r>
          </a:p>
          <a:p>
            <a:pPr>
              <a:lnSpc>
                <a:spcPct val="120000"/>
              </a:lnSpc>
            </a:pPr>
            <a:endParaRPr lang="en-US" sz="5100" b="1" dirty="0">
              <a:solidFill>
                <a:srgbClr val="000090"/>
              </a:solidFill>
            </a:endParaRPr>
          </a:p>
          <a:p>
            <a:pPr>
              <a:lnSpc>
                <a:spcPct val="120000"/>
              </a:lnSpc>
            </a:pPr>
            <a:endParaRPr lang="en-US" sz="4800" dirty="0">
              <a:solidFill>
                <a:srgbClr val="00009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dirty="0">
                <a:solidFill>
                  <a:srgbClr val="000090"/>
                </a:solidFill>
              </a:rPr>
              <a:t>Lars Peter </a:t>
            </a:r>
            <a:r>
              <a:rPr lang="en-US" sz="3400" dirty="0" err="1">
                <a:solidFill>
                  <a:srgbClr val="000090"/>
                </a:solidFill>
              </a:rPr>
              <a:t>Riishojgaard</a:t>
            </a:r>
            <a:endParaRPr lang="en-US" sz="3400" dirty="0">
              <a:solidFill>
                <a:srgbClr val="00009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3400" dirty="0">
                <a:solidFill>
                  <a:srgbClr val="000090"/>
                </a:solidFill>
              </a:rPr>
              <a:t>WMO Secretariat, Geneva</a:t>
            </a:r>
          </a:p>
        </p:txBody>
      </p:sp>
    </p:spTree>
    <p:extLst>
      <p:ext uri="{BB962C8B-B14F-4D97-AF65-F5344CB8AC3E}">
        <p14:creationId xmlns:p14="http://schemas.microsoft.com/office/powerpoint/2010/main" val="145163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/>
          <p:nvPr/>
        </p:nvSpPr>
        <p:spPr>
          <a:xfrm>
            <a:off x="228600" y="1358899"/>
            <a:ext cx="152400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WMO</a:t>
            </a:r>
          </a:p>
        </p:txBody>
      </p:sp>
      <p:sp>
        <p:nvSpPr>
          <p:cNvPr id="235" name="Shape 235"/>
          <p:cNvSpPr>
            <a:spLocks noGrp="1"/>
          </p:cNvSpPr>
          <p:nvPr>
            <p:ph type="ctrTitle" idx="4294967295"/>
          </p:nvPr>
        </p:nvSpPr>
        <p:spPr>
          <a:xfrm>
            <a:off x="250824" y="188903"/>
            <a:ext cx="8713790" cy="7921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>
                <a:lumMod val="50000"/>
              </a:schemeClr>
            </a:solidFill>
          </a:ln>
        </p:spPr>
        <p:txBody>
          <a:bodyPr anchor="ctr"/>
          <a:lstStyle>
            <a:lvl1pPr algn="ctr" defTabSz="914400">
              <a:defRPr sz="43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Outline</a:t>
            </a:r>
          </a:p>
        </p:txBody>
      </p:sp>
      <p:sp>
        <p:nvSpPr>
          <p:cNvPr id="236" name="Shape 236"/>
          <p:cNvSpPr>
            <a:spLocks noGrp="1"/>
          </p:cNvSpPr>
          <p:nvPr>
            <p:ph type="subTitle" idx="4294967295"/>
          </p:nvPr>
        </p:nvSpPr>
        <p:spPr>
          <a:xfrm>
            <a:off x="402802" y="1285869"/>
            <a:ext cx="8713791" cy="46826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582327" lvl="1" indent="-247047" defTabSz="804672">
              <a:spcBef>
                <a:spcPts val="1000"/>
              </a:spcBef>
              <a:buSzPct val="1000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2800" dirty="0"/>
              <a:t>Introduction to WIGOS</a:t>
            </a:r>
            <a:r>
              <a:rPr lang="fr-CH" sz="2800" dirty="0"/>
              <a:t>; what, why, when?</a:t>
            </a:r>
          </a:p>
          <a:p>
            <a:pPr marL="582327" lvl="1" indent="-247047" defTabSz="804672">
              <a:spcBef>
                <a:spcPts val="1000"/>
              </a:spcBef>
              <a:buSzPct val="1000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fr-CH" sz="2800" dirty="0"/>
              <a:t>The Rolling Review of Requirements (RRR);</a:t>
            </a:r>
          </a:p>
          <a:p>
            <a:pPr marL="582327" lvl="1" indent="-247047" defTabSz="804672">
              <a:spcBef>
                <a:spcPts val="1000"/>
              </a:spcBef>
              <a:buSzPct val="1000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fr-CH" sz="2800" dirty="0"/>
              <a:t>The Observing Systems Capabilities and Review tool (OSCAR);</a:t>
            </a:r>
          </a:p>
          <a:p>
            <a:pPr marL="582327" lvl="1" indent="-247047" defTabSz="804672">
              <a:spcBef>
                <a:spcPts val="1000"/>
              </a:spcBef>
              <a:buSzPct val="1000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fr-CH" sz="2800" dirty="0"/>
              <a:t>The WIGOS Data Quality Monitoring System (WDQMS);</a:t>
            </a:r>
          </a:p>
          <a:p>
            <a:pPr marL="582327" lvl="1" indent="-247047" defTabSz="804672">
              <a:spcBef>
                <a:spcPts val="1000"/>
              </a:spcBef>
              <a:buSzPct val="1000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fr-CH" sz="2800" dirty="0"/>
              <a:t>Regional WIGOS Centers;</a:t>
            </a:r>
          </a:p>
          <a:p>
            <a:pPr marL="582327" lvl="1" indent="-247047" defTabSz="804672">
              <a:spcBef>
                <a:spcPts val="1000"/>
              </a:spcBef>
              <a:buSzPct val="1000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fr-CH" sz="2800" dirty="0"/>
              <a:t>Vision for WIGOS in 2040;</a:t>
            </a:r>
          </a:p>
          <a:p>
            <a:pPr marL="582327" lvl="1" indent="-247047" defTabSz="804672">
              <a:spcBef>
                <a:spcPts val="1000"/>
              </a:spcBef>
              <a:buSzPct val="1000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fr-CH" sz="2800" dirty="0"/>
              <a:t>Summary and conclusions.</a:t>
            </a:r>
            <a:endParaRPr sz="2800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>
            <a:spLocks noGrp="1"/>
          </p:cNvSpPr>
          <p:nvPr>
            <p:ph type="title"/>
          </p:nvPr>
        </p:nvSpPr>
        <p:spPr>
          <a:xfrm>
            <a:off x="250824" y="188902"/>
            <a:ext cx="8713790" cy="10078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>
                <a:lumMod val="50000"/>
              </a:schemeClr>
            </a:solidFill>
          </a:ln>
        </p:spPr>
        <p:txBody>
          <a:bodyPr anchor="ctr">
            <a:normAutofit fontScale="90000"/>
          </a:bodyPr>
          <a:lstStyle>
            <a:lvl1pPr algn="ctr" defTabSz="914400">
              <a:defRPr sz="36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What is </a:t>
            </a:r>
            <a:r>
              <a:rPr lang="fr-CH" dirty="0"/>
              <a:t>the </a:t>
            </a:r>
            <a:r>
              <a:rPr dirty="0"/>
              <a:t>W</a:t>
            </a:r>
            <a:r>
              <a:rPr lang="fr-CH" dirty="0"/>
              <a:t>MO Integrated Global Observing System (W</a:t>
            </a:r>
            <a:r>
              <a:rPr dirty="0"/>
              <a:t>IGOS</a:t>
            </a:r>
            <a:r>
              <a:rPr lang="fr-CH" dirty="0"/>
              <a:t>)</a:t>
            </a:r>
            <a:r>
              <a:rPr dirty="0"/>
              <a:t>?</a:t>
            </a:r>
          </a:p>
        </p:txBody>
      </p:sp>
      <p:sp>
        <p:nvSpPr>
          <p:cNvPr id="239" name="Shape 239"/>
          <p:cNvSpPr>
            <a:spLocks noGrp="1"/>
          </p:cNvSpPr>
          <p:nvPr>
            <p:ph type="body" idx="1"/>
          </p:nvPr>
        </p:nvSpPr>
        <p:spPr>
          <a:xfrm>
            <a:off x="212725" y="1334217"/>
            <a:ext cx="8713790" cy="5335143"/>
          </a:xfrm>
          <a:prstGeom prst="rect">
            <a:avLst/>
          </a:prstGeom>
        </p:spPr>
        <p:txBody>
          <a:bodyPr/>
          <a:lstStyle/>
          <a:p>
            <a:pPr marL="428977" indent="-428977" defTabSz="914400">
              <a:spcBef>
                <a:spcPts val="200"/>
              </a:spcBef>
              <a:buSzPct val="100000"/>
              <a:buFont typeface="Arial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WMO foundational activity addressing the observing needs of the weather, climate, water and environmental services of its Members</a:t>
            </a:r>
          </a:p>
          <a:p>
            <a:pPr marL="428977" indent="-428977" defTabSz="914400">
              <a:spcBef>
                <a:spcPts val="200"/>
              </a:spcBef>
              <a:buSzPct val="100000"/>
              <a:buFont typeface="Arial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A framework for integrating all WMO observing systems and WMO contributions to co-sponsored observing systems under a common regulatory and management framework </a:t>
            </a:r>
          </a:p>
          <a:p>
            <a:pPr marL="428977" indent="-428977" defTabSz="914400">
              <a:spcBef>
                <a:spcPts val="200"/>
              </a:spcBef>
              <a:buSzPct val="100000"/>
              <a:buFont typeface="Arial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WIGOS is </a:t>
            </a:r>
            <a:r>
              <a:rPr u="sng" dirty="0"/>
              <a:t>not</a:t>
            </a:r>
            <a:r>
              <a:rPr dirty="0"/>
              <a:t>:</a:t>
            </a:r>
          </a:p>
          <a:p>
            <a:pPr marL="603805" lvl="1" indent="-222805" defTabSz="914400">
              <a:spcBef>
                <a:spcPts val="2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sz="2400" dirty="0"/>
              <a:t>Replacing or taking over existing observing systems, which will continue to be owned and operated by a diverse array of organizations and programmes, national as well as international.</a:t>
            </a:r>
            <a:endParaRPr lang="fr-CH" sz="2400" dirty="0"/>
          </a:p>
          <a:p>
            <a:pPr marL="381000" lvl="1" algn="ctr" defTabSz="914400">
              <a:spcBef>
                <a:spcPts val="800"/>
              </a:spcBef>
              <a:buSzPct val="100000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000" i="1" dirty="0">
                <a:hlinkClick r:id="rId2"/>
              </a:rPr>
              <a:t>WIGOS homepage</a:t>
            </a:r>
            <a:endParaRPr sz="2000" i="1" dirty="0"/>
          </a:p>
        </p:txBody>
      </p:sp>
    </p:spTree>
    <p:extLst>
      <p:ext uri="{BB962C8B-B14F-4D97-AF65-F5344CB8AC3E}">
        <p14:creationId xmlns:p14="http://schemas.microsoft.com/office/powerpoint/2010/main" val="3197524605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" grpId="0" build="p" bldLvl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>
            <a:spLocks noGrp="1"/>
          </p:cNvSpPr>
          <p:nvPr>
            <p:ph type="body" idx="1"/>
          </p:nvPr>
        </p:nvSpPr>
        <p:spPr>
          <a:xfrm>
            <a:off x="814388" y="1467379"/>
            <a:ext cx="3516313" cy="4747155"/>
          </a:xfrm>
          <a:prstGeom prst="rect">
            <a:avLst/>
          </a:prstGeom>
          <a:solidFill>
            <a:schemeClr val="accent6">
              <a:lumMod val="20000"/>
              <a:lumOff val="80000"/>
              <a:alpha val="71000"/>
            </a:schemeClr>
          </a:solidFill>
          <a:ln w="19050">
            <a:solidFill>
              <a:srgbClr val="000090"/>
            </a:solidFill>
          </a:ln>
        </p:spPr>
        <p:txBody>
          <a:bodyPr>
            <a:normAutofit/>
          </a:bodyPr>
          <a:lstStyle/>
          <a:p>
            <a:pPr marL="481658" indent="-481658" defTabSz="914400">
              <a:spcBef>
                <a:spcPts val="1200"/>
              </a:spcBef>
              <a:buSzPct val="100000"/>
              <a:buFont typeface="Arial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2000" dirty="0"/>
              <a:t>Global Observing System (WWW/</a:t>
            </a:r>
            <a:r>
              <a:rPr sz="2000" b="1" dirty="0"/>
              <a:t>GOS</a:t>
            </a:r>
            <a:r>
              <a:rPr sz="2000" dirty="0"/>
              <a:t>)</a:t>
            </a:r>
          </a:p>
          <a:p>
            <a:pPr marL="481658" indent="-481658" defTabSz="914400">
              <a:spcBef>
                <a:spcPts val="1200"/>
              </a:spcBef>
              <a:buSzPct val="100000"/>
              <a:buFont typeface="Arial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2000" dirty="0"/>
              <a:t>Observing component of Global Atmospheric Watch (</a:t>
            </a:r>
            <a:r>
              <a:rPr sz="2000" b="1" dirty="0"/>
              <a:t>GAW</a:t>
            </a:r>
            <a:r>
              <a:rPr sz="2000" dirty="0"/>
              <a:t>)</a:t>
            </a:r>
          </a:p>
          <a:p>
            <a:pPr marL="481658" indent="-481658" defTabSz="914400">
              <a:spcBef>
                <a:spcPts val="1200"/>
              </a:spcBef>
              <a:buSzPct val="100000"/>
              <a:buFont typeface="Arial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2000" dirty="0"/>
              <a:t>WMO Hydrological Observations (including </a:t>
            </a:r>
            <a:r>
              <a:rPr sz="2000" b="1" dirty="0"/>
              <a:t>WHYCOS</a:t>
            </a:r>
            <a:r>
              <a:rPr sz="2000" dirty="0"/>
              <a:t>) </a:t>
            </a:r>
          </a:p>
          <a:p>
            <a:pPr marL="481658" indent="-481658" defTabSz="914400">
              <a:spcBef>
                <a:spcPts val="1200"/>
              </a:spcBef>
              <a:buSzPct val="100000"/>
              <a:buFont typeface="Arial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2000" dirty="0"/>
              <a:t>Observing component of Global Cryosphere Watch (</a:t>
            </a:r>
            <a:r>
              <a:rPr sz="2000" b="1" dirty="0"/>
              <a:t>GCW</a:t>
            </a:r>
            <a:r>
              <a:rPr sz="2000" dirty="0"/>
              <a:t>)</a:t>
            </a:r>
          </a:p>
        </p:txBody>
      </p:sp>
      <p:pic>
        <p:nvPicPr>
          <p:cNvPr id="246" name="image7.jpeg" descr="GOS-fullsiz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9362" y="260344"/>
            <a:ext cx="3258589" cy="2753507"/>
          </a:xfrm>
          <a:prstGeom prst="rect">
            <a:avLst/>
          </a:prstGeom>
          <a:ln w="22225">
            <a:solidFill>
              <a:srgbClr val="000090"/>
            </a:solidFill>
            <a:miter lim="400000"/>
          </a:ln>
        </p:spPr>
      </p:pic>
      <p:pic>
        <p:nvPicPr>
          <p:cNvPr id="245" name="image6.jpeg" descr="15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42084" y="1888055"/>
            <a:ext cx="2485505" cy="2200101"/>
          </a:xfrm>
          <a:prstGeom prst="rect">
            <a:avLst/>
          </a:prstGeom>
          <a:ln w="22225">
            <a:solidFill>
              <a:srgbClr val="000090"/>
            </a:solidFill>
            <a:miter lim="400000"/>
          </a:ln>
        </p:spPr>
      </p:pic>
      <p:pic>
        <p:nvPicPr>
          <p:cNvPr id="244" name="image5.jpeg" descr="WaterSensor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99062" y="3382433"/>
            <a:ext cx="2743200" cy="2438400"/>
          </a:xfrm>
          <a:prstGeom prst="rect">
            <a:avLst/>
          </a:prstGeom>
          <a:ln w="22225">
            <a:solidFill>
              <a:srgbClr val="000090"/>
            </a:solidFill>
            <a:miter lim="400000"/>
          </a:ln>
        </p:spPr>
      </p:pic>
      <p:pic>
        <p:nvPicPr>
          <p:cNvPr id="243" name="image4.jpeg" descr="atmos_observatories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37442" y="4334401"/>
            <a:ext cx="2564352" cy="2357433"/>
          </a:xfrm>
          <a:prstGeom prst="rect">
            <a:avLst/>
          </a:prstGeom>
          <a:ln w="22225">
            <a:solidFill>
              <a:srgbClr val="000090"/>
            </a:solidFill>
            <a:miter lim="400000"/>
          </a:ln>
        </p:spPr>
      </p:pic>
      <p:sp>
        <p:nvSpPr>
          <p:cNvPr id="242" name="Shape 242"/>
          <p:cNvSpPr/>
          <p:nvPr/>
        </p:nvSpPr>
        <p:spPr>
          <a:xfrm>
            <a:off x="212724" y="396699"/>
            <a:ext cx="4664076" cy="8002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rgbClr val="00009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3600" b="1" u="sng">
                <a:solidFill>
                  <a:schemeClr val="accent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pPr algn="ctr"/>
            <a:r>
              <a:rPr sz="3200" u="none" dirty="0">
                <a:solidFill>
                  <a:srgbClr val="000090"/>
                </a:solidFill>
              </a:rPr>
              <a:t>WIGOS Components</a:t>
            </a:r>
            <a:endParaRPr lang="fr-CH" sz="3200" u="none" dirty="0">
              <a:solidFill>
                <a:srgbClr val="000090"/>
              </a:solidFill>
            </a:endParaRPr>
          </a:p>
          <a:p>
            <a:pPr algn="ctr"/>
            <a:r>
              <a:rPr lang="fr-CH" sz="2000" b="0" i="1" u="none" dirty="0">
                <a:solidFill>
                  <a:srgbClr val="000090"/>
                </a:solidFill>
              </a:rPr>
              <a:t>(by discipline)</a:t>
            </a:r>
            <a:endParaRPr sz="2000" b="0" i="1" u="none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86490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>
            <a:spLocks noGrp="1"/>
          </p:cNvSpPr>
          <p:nvPr>
            <p:ph type="title"/>
          </p:nvPr>
        </p:nvSpPr>
        <p:spPr>
          <a:xfrm>
            <a:off x="263524" y="188903"/>
            <a:ext cx="8713790" cy="7921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>
                <a:lumMod val="50000"/>
              </a:schemeClr>
            </a:solidFill>
          </a:ln>
        </p:spPr>
        <p:txBody>
          <a:bodyPr anchor="ctr"/>
          <a:lstStyle>
            <a:lvl1pPr algn="ctr" defTabSz="914400">
              <a:defRPr sz="36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Why do we need WIGOS?</a:t>
            </a:r>
          </a:p>
        </p:txBody>
      </p:sp>
      <p:sp>
        <p:nvSpPr>
          <p:cNvPr id="249" name="Shape 249"/>
          <p:cNvSpPr>
            <a:spLocks noGrp="1"/>
          </p:cNvSpPr>
          <p:nvPr>
            <p:ph type="body" idx="1"/>
          </p:nvPr>
        </p:nvSpPr>
        <p:spPr>
          <a:xfrm>
            <a:off x="187324" y="1103311"/>
            <a:ext cx="8713790" cy="510084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23923" indent="-423923" defTabSz="905255">
              <a:spcBef>
                <a:spcPts val="600"/>
              </a:spcBef>
              <a:buClr>
                <a:srgbClr val="011993"/>
              </a:buClr>
              <a:buSzPct val="100000"/>
              <a:buFont typeface="Arial"/>
              <a:buChar char="•"/>
              <a:defRPr sz="2300" b="1">
                <a:solidFill>
                  <a:srgbClr val="01199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I. NMHS mandate typically broader now than when the World Weather Watch and the GOS were created, including e.g.</a:t>
            </a:r>
          </a:p>
          <a:p>
            <a:pPr marL="603805" lvl="1" indent="-22280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Climate monitoring, climate change, mitigation </a:t>
            </a:r>
          </a:p>
          <a:p>
            <a:pPr marL="603805" lvl="1" indent="-22280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Air quality, atmospheric composition from urban to planetary scales</a:t>
            </a:r>
          </a:p>
          <a:p>
            <a:pPr marL="603805" lvl="1" indent="-22280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Oceans</a:t>
            </a:r>
          </a:p>
          <a:p>
            <a:pPr marL="603805" lvl="1" indent="-22280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Cryosphere</a:t>
            </a:r>
          </a:p>
          <a:p>
            <a:pPr marL="603805" lvl="1" indent="-22280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Water resources</a:t>
            </a:r>
          </a:p>
          <a:p>
            <a:pPr marL="423923" indent="-423923" defTabSz="905255">
              <a:spcBef>
                <a:spcPts val="600"/>
              </a:spcBef>
              <a:buClr>
                <a:srgbClr val="011993"/>
              </a:buClr>
              <a:buSzPct val="100000"/>
              <a:buFont typeface="Arial"/>
              <a:buChar char="•"/>
              <a:defRPr sz="2300" b="1">
                <a:solidFill>
                  <a:srgbClr val="01199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II. Technical and scientific advances:</a:t>
            </a:r>
          </a:p>
          <a:p>
            <a:pPr marL="603805" lvl="1" indent="-22280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Observing technology</a:t>
            </a:r>
          </a:p>
          <a:p>
            <a:pPr marL="603805" lvl="1" indent="-22280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Telecommunications</a:t>
            </a:r>
          </a:p>
          <a:p>
            <a:pPr marL="603805" lvl="1" indent="-22280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Numerical modeling and data assimilation </a:t>
            </a:r>
          </a:p>
          <a:p>
            <a:pPr marL="603805" lvl="1" indent="-22280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Increased user demand to access and use observations in decision making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>
            <a:spLocks noGrp="1"/>
          </p:cNvSpPr>
          <p:nvPr>
            <p:ph type="title"/>
          </p:nvPr>
        </p:nvSpPr>
        <p:spPr>
          <a:xfrm>
            <a:off x="250824" y="188903"/>
            <a:ext cx="8713790" cy="7921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>
                <a:lumMod val="50000"/>
              </a:schemeClr>
            </a:solidFill>
          </a:ln>
        </p:spPr>
        <p:txBody>
          <a:bodyPr anchor="ctr"/>
          <a:lstStyle>
            <a:lvl1pPr algn="ctr" defTabSz="914400">
              <a:defRPr sz="36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Why do we need WIGOS?</a:t>
            </a:r>
          </a:p>
        </p:txBody>
      </p:sp>
      <p:sp>
        <p:nvSpPr>
          <p:cNvPr id="252" name="Shape 252"/>
          <p:cNvSpPr>
            <a:spLocks noGrp="1"/>
          </p:cNvSpPr>
          <p:nvPr>
            <p:ph type="body" idx="1"/>
          </p:nvPr>
        </p:nvSpPr>
        <p:spPr>
          <a:xfrm>
            <a:off x="261192" y="1421059"/>
            <a:ext cx="8483902" cy="460022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23923" indent="-423923" defTabSz="905255">
              <a:spcBef>
                <a:spcPts val="600"/>
              </a:spcBef>
              <a:buClr>
                <a:srgbClr val="011993"/>
              </a:buClr>
              <a:buSzPct val="100000"/>
              <a:buFont typeface="Arial"/>
              <a:buChar char="•"/>
              <a:defRPr sz="2300" b="1">
                <a:solidFill>
                  <a:srgbClr val="01199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III. </a:t>
            </a:r>
            <a:r>
              <a:rPr sz="2400" dirty="0"/>
              <a:t>Economic realities</a:t>
            </a:r>
          </a:p>
          <a:p>
            <a:pPr marL="742243" lvl="1" indent="-361244" defTabSz="905255">
              <a:spcBef>
                <a:spcPts val="600"/>
              </a:spcBef>
              <a:buSzPct val="100000"/>
              <a:buFont typeface="Arial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Budgetary pressure on many NMHS, in spite of expanding mandates and increasing demand for services</a:t>
            </a:r>
          </a:p>
          <a:p>
            <a:pPr marL="742243" lvl="1" indent="-361244" defTabSz="905255">
              <a:spcBef>
                <a:spcPts val="600"/>
              </a:spcBef>
              <a:buSzPct val="100000"/>
              <a:buFont typeface="Arial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Efficiency by exploiting synergies</a:t>
            </a:r>
          </a:p>
          <a:p>
            <a:pPr marL="950147" lvl="2" indent="-18814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Integration of observing networks across disciplines (e.g. weather and climate)</a:t>
            </a:r>
          </a:p>
          <a:p>
            <a:pPr marL="950147" lvl="2" indent="-18814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Integration across organizational boundaries, e.g. between different national ministries/departments operating observing systems</a:t>
            </a:r>
          </a:p>
          <a:p>
            <a:pPr marL="950147" lvl="2" indent="-188145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Integration across technological boundaries, e.g. between surface- and space-based systems</a:t>
            </a:r>
          </a:p>
          <a:p>
            <a:pPr marL="762002" lvl="2" defTabSz="905255">
              <a:spcBef>
                <a:spcPts val="600"/>
              </a:spcBef>
              <a:buSzPct val="100000"/>
              <a:defRPr sz="200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>
            <a:spLocks noGrp="1"/>
          </p:cNvSpPr>
          <p:nvPr>
            <p:ph type="title"/>
          </p:nvPr>
        </p:nvSpPr>
        <p:spPr>
          <a:xfrm>
            <a:off x="250824" y="188903"/>
            <a:ext cx="8713790" cy="7921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>
                <a:lumMod val="50000"/>
              </a:schemeClr>
            </a:solidFill>
          </a:ln>
        </p:spPr>
        <p:txBody>
          <a:bodyPr anchor="ctr">
            <a:normAutofit/>
          </a:bodyPr>
          <a:lstStyle>
            <a:lvl1pPr algn="ctr" defTabSz="914400">
              <a:defRPr sz="36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fr-CH" dirty="0"/>
              <a:t>What do we mean by Integration?</a:t>
            </a:r>
            <a:endParaRPr dirty="0"/>
          </a:p>
        </p:txBody>
      </p:sp>
      <p:sp>
        <p:nvSpPr>
          <p:cNvPr id="252" name="Shape 252"/>
          <p:cNvSpPr>
            <a:spLocks noGrp="1"/>
          </p:cNvSpPr>
          <p:nvPr>
            <p:ph type="body" idx="1"/>
          </p:nvPr>
        </p:nvSpPr>
        <p:spPr>
          <a:xfrm>
            <a:off x="35496" y="1268760"/>
            <a:ext cx="8784976" cy="496026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276352" lvl="2" indent="-514350" defTabSz="905255">
              <a:spcBef>
                <a:spcPts val="600"/>
              </a:spcBef>
              <a:buSzPct val="100000"/>
              <a:buAutoNum type="romanUcPeriod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b="1" dirty="0">
                <a:latin typeface="Arial" panose="020B0604020202020204" pitchFamily="34" charset="0"/>
                <a:cs typeface="Arial" panose="020B0604020202020204" pitchFamily="34" charset="0"/>
              </a:rPr>
              <a:t>Integrated network design, e.g. across national borders:</a:t>
            </a:r>
          </a:p>
          <a:p>
            <a:pPr marL="1635127" lvl="3" indent="-514350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000" dirty="0">
                <a:latin typeface="Arial" panose="020B0604020202020204" pitchFamily="34" charset="0"/>
                <a:cs typeface="Arial" panose="020B0604020202020204" pitchFamily="34" charset="0"/>
              </a:rPr>
              <a:t>Radar and lightning detection networks</a:t>
            </a:r>
          </a:p>
          <a:p>
            <a:pPr marL="1635127" lvl="3" indent="-514350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000" dirty="0">
                <a:latin typeface="Arial" panose="020B0604020202020204" pitchFamily="34" charset="0"/>
                <a:cs typeface="Arial" panose="020B0604020202020204" pitchFamily="34" charset="0"/>
              </a:rPr>
              <a:t>Radiosonde networks designed together with those of neighboring countries</a:t>
            </a:r>
          </a:p>
          <a:p>
            <a:pPr marL="1276352" lvl="2" indent="-514350" defTabSz="905255">
              <a:spcBef>
                <a:spcPts val="600"/>
              </a:spcBef>
              <a:buSzPct val="100000"/>
              <a:buAutoNum type="romanUcPeriod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b="1" dirty="0">
                <a:latin typeface="Arial" panose="020B0604020202020204" pitchFamily="34" charset="0"/>
                <a:cs typeface="Arial" panose="020B0604020202020204" pitchFamily="34" charset="0"/>
              </a:rPr>
              <a:t>Integration across disciplines: Multi-purpose networks</a:t>
            </a:r>
          </a:p>
          <a:p>
            <a:pPr marL="1635127" lvl="3" indent="-514350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000" dirty="0">
                <a:latin typeface="Arial" panose="020B0604020202020204" pitchFamily="34" charset="0"/>
                <a:cs typeface="Arial" panose="020B0604020202020204" pitchFamily="34" charset="0"/>
              </a:rPr>
              <a:t>No separate networks for application areas that rely on measurements of the same variables, e.g. weather and climate</a:t>
            </a:r>
          </a:p>
          <a:p>
            <a:pPr marL="1276352" lvl="2" indent="-514350" defTabSz="905255">
              <a:spcBef>
                <a:spcPts val="600"/>
              </a:spcBef>
              <a:buSzPct val="100000"/>
              <a:buAutoNum type="romanUcPeriod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b="1" dirty="0">
                <a:latin typeface="Arial" panose="020B0604020202020204" pitchFamily="34" charset="0"/>
                <a:cs typeface="Arial" panose="020B0604020202020204" pitchFamily="34" charset="0"/>
              </a:rPr>
              <a:t>Integration across organizational boundaries:</a:t>
            </a:r>
          </a:p>
          <a:p>
            <a:pPr marL="1635127" lvl="3" indent="-514350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000" dirty="0">
                <a:latin typeface="Arial" panose="020B0604020202020204" pitchFamily="34" charset="0"/>
                <a:cs typeface="Arial" panose="020B0604020202020204" pitchFamily="34" charset="0"/>
              </a:rPr>
              <a:t>Take advantage of other organizations outside the NMHS that operated observing systems; partner with them where possible</a:t>
            </a:r>
          </a:p>
        </p:txBody>
      </p:sp>
    </p:spTree>
    <p:extLst>
      <p:ext uri="{BB962C8B-B14F-4D97-AF65-F5344CB8AC3E}">
        <p14:creationId xmlns:p14="http://schemas.microsoft.com/office/powerpoint/2010/main" val="405241916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>
            <a:spLocks noGrp="1"/>
          </p:cNvSpPr>
          <p:nvPr>
            <p:ph type="title"/>
          </p:nvPr>
        </p:nvSpPr>
        <p:spPr>
          <a:xfrm>
            <a:off x="250824" y="188903"/>
            <a:ext cx="8713790" cy="7921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>
                <a:lumMod val="50000"/>
              </a:schemeClr>
            </a:solidFill>
          </a:ln>
        </p:spPr>
        <p:txBody>
          <a:bodyPr anchor="ctr">
            <a:normAutofit/>
          </a:bodyPr>
          <a:lstStyle>
            <a:lvl1pPr algn="ctr" defTabSz="914400">
              <a:defRPr sz="36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fr-CH" dirty="0"/>
              <a:t>What do we mean by Integration? (II)</a:t>
            </a:r>
            <a:endParaRPr dirty="0"/>
          </a:p>
        </p:txBody>
      </p:sp>
      <p:sp>
        <p:nvSpPr>
          <p:cNvPr id="252" name="Shape 252"/>
          <p:cNvSpPr>
            <a:spLocks noGrp="1"/>
          </p:cNvSpPr>
          <p:nvPr>
            <p:ph type="body" idx="1"/>
          </p:nvPr>
        </p:nvSpPr>
        <p:spPr>
          <a:xfrm>
            <a:off x="179512" y="1268760"/>
            <a:ext cx="8483902" cy="4960269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1276352" lvl="2" indent="-514350" defTabSz="905255">
              <a:spcBef>
                <a:spcPts val="600"/>
              </a:spcBef>
              <a:buSzPct val="100000"/>
              <a:buFont typeface="+mj-lt"/>
              <a:buAutoNum type="romanUcPeriod" startAt="4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b="1" dirty="0">
                <a:latin typeface="Arial" panose="020B0604020202020204" pitchFamily="34" charset="0"/>
                <a:cs typeface="Arial" panose="020B0604020202020204" pitchFamily="34" charset="0"/>
              </a:rPr>
              <a:t>Integration across technological boundaries; space- and surface-based observing system as one</a:t>
            </a:r>
          </a:p>
          <a:p>
            <a:pPr marL="1635127" lvl="3" indent="-514350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dirty="0">
                <a:latin typeface="Arial" panose="020B0604020202020204" pitchFamily="34" charset="0"/>
                <a:cs typeface="Arial" panose="020B0604020202020204" pitchFamily="34" charset="0"/>
              </a:rPr>
              <a:t>Space-based components provide excellent spatial and temporal coverage</a:t>
            </a:r>
          </a:p>
          <a:p>
            <a:pPr marL="1635127" lvl="3" indent="-514350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dirty="0">
                <a:latin typeface="Arial" panose="020B0604020202020204" pitchFamily="34" charset="0"/>
                <a:cs typeface="Arial" panose="020B0604020202020204" pitchFamily="34" charset="0"/>
              </a:rPr>
              <a:t>Ground-based components provide fine-scaled structure, in situ validation and can provide measurements not possible from space</a:t>
            </a:r>
          </a:p>
          <a:p>
            <a:pPr marL="1276352" lvl="2" indent="-514350" defTabSz="905255">
              <a:spcBef>
                <a:spcPts val="600"/>
              </a:spcBef>
              <a:buSzPct val="100000"/>
              <a:buAutoNum type="romanUcPeriod" startAt="4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b="1" dirty="0">
                <a:latin typeface="Arial" panose="020B0604020202020204" pitchFamily="34" charset="0"/>
                <a:cs typeface="Arial" panose="020B0604020202020204" pitchFamily="34" charset="0"/>
              </a:rPr>
              <a:t>Integration across different levels of performance; concept of tiered networks can include e.g.</a:t>
            </a:r>
          </a:p>
          <a:p>
            <a:pPr marL="1635127" lvl="3" indent="-514350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dirty="0">
                <a:latin typeface="Arial" panose="020B0604020202020204" pitchFamily="34" charset="0"/>
                <a:cs typeface="Arial" panose="020B0604020202020204" pitchFamily="34" charset="0"/>
              </a:rPr>
              <a:t>Crowd-sourced data, IoT observations (massive amounts of data, poor or unknown quality)</a:t>
            </a:r>
          </a:p>
          <a:p>
            <a:pPr marL="1635127" lvl="3" indent="-514350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dirty="0">
                <a:latin typeface="Arial" panose="020B0604020202020204" pitchFamily="34" charset="0"/>
                <a:cs typeface="Arial" panose="020B0604020202020204" pitchFamily="34" charset="0"/>
              </a:rPr>
              <a:t>Standard networks; routine, operational quality data</a:t>
            </a:r>
          </a:p>
          <a:p>
            <a:pPr marL="1635127" lvl="3" indent="-514350" defTabSz="905255">
              <a:spcBef>
                <a:spcPts val="600"/>
              </a:spcBef>
              <a:buSzPct val="100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dirty="0">
                <a:latin typeface="Arial" panose="020B0604020202020204" pitchFamily="34" charset="0"/>
                <a:cs typeface="Arial" panose="020B0604020202020204" pitchFamily="34" charset="0"/>
              </a:rPr>
              <a:t>Reference networks with data traceable to SI standards (fewer data, very high quality)</a:t>
            </a:r>
          </a:p>
        </p:txBody>
      </p:sp>
    </p:spTree>
    <p:extLst>
      <p:ext uri="{BB962C8B-B14F-4D97-AF65-F5344CB8AC3E}">
        <p14:creationId xmlns:p14="http://schemas.microsoft.com/office/powerpoint/2010/main" val="886040093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>
            <a:spLocks noGrp="1"/>
          </p:cNvSpPr>
          <p:nvPr>
            <p:ph type="title"/>
          </p:nvPr>
        </p:nvSpPr>
        <p:spPr>
          <a:xfrm>
            <a:off x="322706" y="188898"/>
            <a:ext cx="8713790" cy="12238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>
                <a:lumMod val="50000"/>
              </a:schemeClr>
            </a:solidFill>
          </a:ln>
        </p:spPr>
        <p:txBody>
          <a:bodyPr anchor="ctr"/>
          <a:lstStyle>
            <a:lvl1pPr algn="ctr" defTabSz="685800">
              <a:defRPr sz="28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The WIGOS Pre-Operational Phase (2016-2019)</a:t>
            </a:r>
            <a:br>
              <a:rPr lang="fr-CH" dirty="0"/>
            </a:br>
            <a:r>
              <a:rPr lang="fr-CH" sz="2400" b="0" i="1" dirty="0"/>
              <a:t>decided by Cg-17 in 2015</a:t>
            </a:r>
            <a:endParaRPr sz="2400" b="0" i="1" dirty="0"/>
          </a:p>
        </p:txBody>
      </p:sp>
      <p:sp>
        <p:nvSpPr>
          <p:cNvPr id="251" name="Shape 251"/>
          <p:cNvSpPr>
            <a:spLocks noGrp="1"/>
          </p:cNvSpPr>
          <p:nvPr>
            <p:ph type="body" idx="1"/>
          </p:nvPr>
        </p:nvSpPr>
        <p:spPr>
          <a:xfrm>
            <a:off x="323528" y="1445807"/>
            <a:ext cx="8642350" cy="500752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70933" indent="-270933" defTabSz="824420">
              <a:lnSpc>
                <a:spcPct val="90000"/>
              </a:lnSpc>
              <a:spcBef>
                <a:spcPts val="800"/>
              </a:spcBef>
              <a:buSzPct val="1000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Increased emphasis on regional and national activities</a:t>
            </a:r>
            <a:endParaRPr sz="1800" dirty="0"/>
          </a:p>
          <a:p>
            <a:pPr marL="270933" indent="-270933" defTabSz="824420">
              <a:lnSpc>
                <a:spcPct val="90000"/>
              </a:lnSpc>
              <a:spcBef>
                <a:spcPts val="800"/>
              </a:spcBef>
              <a:buSzPct val="100000"/>
              <a:buChar char="•"/>
              <a:defRPr sz="2400" u="sng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Five main priority areas:</a:t>
            </a:r>
          </a:p>
          <a:p>
            <a:pPr marL="880532" lvl="1" indent="-474132" defTabSz="824420">
              <a:lnSpc>
                <a:spcPct val="90000"/>
              </a:lnSpc>
              <a:spcBef>
                <a:spcPts val="800"/>
              </a:spcBef>
              <a:buSzPct val="100000"/>
              <a:buAutoNum type="romanU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2400" dirty="0"/>
              <a:t>WIGOS Regulatory Material, supplemented with necessary </a:t>
            </a:r>
            <a:r>
              <a:rPr sz="2400" u="sng" dirty="0"/>
              <a:t>guidance material</a:t>
            </a:r>
            <a:endParaRPr lang="fr-CH" sz="2400" u="sng" dirty="0"/>
          </a:p>
          <a:p>
            <a:pPr marL="880532" lvl="1" indent="-474132" defTabSz="824420">
              <a:lnSpc>
                <a:spcPct val="90000"/>
              </a:lnSpc>
              <a:spcBef>
                <a:spcPts val="800"/>
              </a:spcBef>
              <a:buSzPct val="100000"/>
              <a:buAutoNum type="romanU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dirty="0"/>
              <a:t>WIGOS Information Resource, including the Observing Systems Capabilities analysis and Review tool (OSCAR), especially OSCAR/Surface</a:t>
            </a:r>
            <a:endParaRPr sz="2400" dirty="0"/>
          </a:p>
          <a:p>
            <a:pPr marL="880532" lvl="1" indent="-474132" defTabSz="824420">
              <a:lnSpc>
                <a:spcPct val="90000"/>
              </a:lnSpc>
              <a:spcBef>
                <a:spcPts val="800"/>
              </a:spcBef>
              <a:buSzPct val="100000"/>
              <a:buFontTx/>
              <a:buAutoNum type="romanU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dirty="0"/>
              <a:t>WIGOS Data Quality Monitoring System (WDQMS)</a:t>
            </a:r>
          </a:p>
          <a:p>
            <a:pPr marL="880532" lvl="1" indent="-474132" defTabSz="824420">
              <a:lnSpc>
                <a:spcPct val="90000"/>
              </a:lnSpc>
              <a:spcBef>
                <a:spcPts val="800"/>
              </a:spcBef>
              <a:buSzPct val="100000"/>
              <a:buFontTx/>
              <a:buAutoNum type="romanU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dirty="0"/>
              <a:t>Regional Structure; </a:t>
            </a:r>
            <a:r>
              <a:rPr lang="fr-CH" sz="2400" i="1" u="sng" dirty="0"/>
              <a:t>Regional WIGOS Centers</a:t>
            </a:r>
            <a:endParaRPr sz="2400" i="1" u="sng" dirty="0"/>
          </a:p>
          <a:p>
            <a:pPr marL="880532" lvl="1" indent="-474132" defTabSz="824420">
              <a:lnSpc>
                <a:spcPct val="90000"/>
              </a:lnSpc>
              <a:spcBef>
                <a:spcPts val="800"/>
              </a:spcBef>
              <a:buSzPct val="100000"/>
              <a:buAutoNum type="romanU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2400" dirty="0"/>
              <a:t>National WIGOS Implementation, coordination and governance mechanisms </a:t>
            </a:r>
          </a:p>
        </p:txBody>
      </p:sp>
    </p:spTree>
    <p:extLst>
      <p:ext uri="{BB962C8B-B14F-4D97-AF65-F5344CB8AC3E}">
        <p14:creationId xmlns:p14="http://schemas.microsoft.com/office/powerpoint/2010/main" val="841995091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>
            <a:spLocks noGrp="1"/>
          </p:cNvSpPr>
          <p:nvPr>
            <p:ph type="subTitle" idx="4294967295"/>
          </p:nvPr>
        </p:nvSpPr>
        <p:spPr>
          <a:xfrm>
            <a:off x="441326" y="1139029"/>
            <a:ext cx="8383699" cy="14552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38666" indent="-338666" defTabSz="914400">
              <a:spcBef>
                <a:spcPts val="1200"/>
              </a:spcBef>
              <a:buSzPct val="1000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2000" dirty="0">
                <a:solidFill>
                  <a:schemeClr val="tx1"/>
                </a:solidFill>
              </a:rPr>
              <a:t>WMO Congress: All WMO and WMO co-sponsored observing systems shall use the RRR to design networks, plan evolution and assess performance.</a:t>
            </a:r>
            <a:endParaRPr lang="en-AU" sz="2000" dirty="0">
              <a:solidFill>
                <a:schemeClr val="tx1"/>
              </a:solidFill>
            </a:endParaRPr>
          </a:p>
          <a:p>
            <a:pPr marL="338666" indent="-338666" defTabSz="914400">
              <a:spcBef>
                <a:spcPts val="1200"/>
              </a:spcBef>
              <a:buSzPct val="1000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endParaRPr lang="en-AU" sz="2000" dirty="0">
              <a:solidFill>
                <a:schemeClr val="tx1"/>
              </a:solidFill>
            </a:endParaRPr>
          </a:p>
          <a:p>
            <a:pPr marL="338666" indent="-338666" defTabSz="914400">
              <a:spcBef>
                <a:spcPts val="1200"/>
              </a:spcBef>
              <a:buSzPct val="1000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pPr>
            <a:endParaRPr sz="20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290" y="2376839"/>
            <a:ext cx="5010206" cy="3860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hape 255"/>
          <p:cNvSpPr txBox="1">
            <a:spLocks/>
          </p:cNvSpPr>
          <p:nvPr/>
        </p:nvSpPr>
        <p:spPr>
          <a:xfrm>
            <a:off x="323528" y="2276872"/>
            <a:ext cx="3528392" cy="3227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8666" indent="-338666" defTabSz="914400">
              <a:spcBef>
                <a:spcPts val="1200"/>
              </a:spcBef>
              <a:buSzPct val="100000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en-US" sz="2000" dirty="0">
                <a:ea typeface="Arial"/>
                <a:cs typeface="Arial"/>
                <a:sym typeface="Arial"/>
              </a:rPr>
              <a:t>The RRR is the process used by WMO to collect, vet and record user requirements for all WMO application areas and match them against observational capabilities</a:t>
            </a:r>
          </a:p>
          <a:p>
            <a:pPr marL="0" indent="0" defTabSz="914400">
              <a:spcBef>
                <a:spcPts val="1200"/>
              </a:spcBef>
              <a:buSzPct val="100000"/>
              <a:buNone/>
              <a:defRPr sz="2400">
                <a:latin typeface="Arial"/>
                <a:ea typeface="Arial"/>
                <a:cs typeface="Arial"/>
                <a:sym typeface="Arial"/>
              </a:defRPr>
            </a:pPr>
            <a:endParaRPr lang="en-US" sz="2000" dirty="0">
              <a:ea typeface="Arial"/>
              <a:cs typeface="Arial"/>
              <a:sym typeface="Arial"/>
            </a:endParaRPr>
          </a:p>
          <a:p>
            <a:pPr marL="338666" indent="-338666" defTabSz="914400">
              <a:spcBef>
                <a:spcPts val="1200"/>
              </a:spcBef>
              <a:buSzPct val="100000"/>
              <a:defRPr sz="2400">
                <a:latin typeface="Arial"/>
                <a:ea typeface="Arial"/>
                <a:cs typeface="Arial"/>
                <a:sym typeface="Arial"/>
              </a:defRPr>
            </a:pPr>
            <a:endParaRPr lang="en-US" sz="2000" dirty="0">
              <a:ea typeface="Arial"/>
              <a:cs typeface="Arial"/>
              <a:sym typeface="Arial"/>
            </a:endParaRPr>
          </a:p>
          <a:p>
            <a:pPr marL="0" lvl="1" indent="0" defTabSz="914400">
              <a:spcBef>
                <a:spcPts val="1200"/>
              </a:spcBef>
              <a:buSzPct val="100000"/>
              <a:buNone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en-US" sz="1600" i="1" u="sng" dirty="0">
                <a:hlinkClick r:id="rId3"/>
              </a:rPr>
              <a:t>Rolling Review of Requirements</a:t>
            </a:r>
            <a:endParaRPr lang="en-US" sz="1600" i="1" u="sng" dirty="0"/>
          </a:p>
          <a:p>
            <a:pPr marL="338666" indent="-338666" defTabSz="914400">
              <a:spcBef>
                <a:spcPts val="1200"/>
              </a:spcBef>
              <a:buSzPct val="100000"/>
              <a:defRPr sz="2400">
                <a:latin typeface="Arial"/>
                <a:ea typeface="Arial"/>
                <a:cs typeface="Arial"/>
                <a:sym typeface="Arial"/>
              </a:defRPr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  <p:sp>
        <p:nvSpPr>
          <p:cNvPr id="7" name="Shape 254"/>
          <p:cNvSpPr txBox="1">
            <a:spLocks/>
          </p:cNvSpPr>
          <p:nvPr/>
        </p:nvSpPr>
        <p:spPr>
          <a:xfrm>
            <a:off x="250824" y="188908"/>
            <a:ext cx="8713790" cy="7921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u="none" strike="noStrike" cap="none" spc="0" baseline="0">
                <a:ln>
                  <a:noFill/>
                </a:ln>
                <a:solidFill>
                  <a:schemeClr val="accent2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r>
              <a:rPr lang="en-US" dirty="0"/>
              <a:t>Rolling Review of Requirements (RRR)</a:t>
            </a:r>
          </a:p>
        </p:txBody>
      </p:sp>
    </p:spTree>
    <p:extLst>
      <p:ext uri="{BB962C8B-B14F-4D97-AF65-F5344CB8AC3E}">
        <p14:creationId xmlns:p14="http://schemas.microsoft.com/office/powerpoint/2010/main" val="800757101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>
            <a:spLocks noGrp="1"/>
          </p:cNvSpPr>
          <p:nvPr>
            <p:ph type="ctrTitle" idx="4294967295"/>
          </p:nvPr>
        </p:nvSpPr>
        <p:spPr>
          <a:xfrm>
            <a:off x="250824" y="188906"/>
            <a:ext cx="8713790" cy="7921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/>
            </a:solidFill>
          </a:ln>
        </p:spPr>
        <p:txBody>
          <a:bodyPr lIns="45718" tIns="45718" rIns="45718" bIns="45718" anchor="ctr">
            <a:normAutofit/>
          </a:bodyPr>
          <a:lstStyle/>
          <a:p>
            <a:pPr algn="ctr" defTabSz="868680">
              <a:defRPr sz="24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2800" dirty="0"/>
              <a:t>WMO Application Areas listed in the RRR</a:t>
            </a:r>
          </a:p>
        </p:txBody>
      </p:sp>
      <p:sp>
        <p:nvSpPr>
          <p:cNvPr id="258" name="Shape 258"/>
          <p:cNvSpPr>
            <a:spLocks noGrp="1"/>
          </p:cNvSpPr>
          <p:nvPr>
            <p:ph type="subTitle" idx="4294967295"/>
          </p:nvPr>
        </p:nvSpPr>
        <p:spPr>
          <a:xfrm>
            <a:off x="394714" y="933052"/>
            <a:ext cx="8713790" cy="5232252"/>
          </a:xfrm>
          <a:prstGeom prst="rect">
            <a:avLst/>
          </a:prstGeom>
        </p:spPr>
        <p:txBody>
          <a:bodyPr lIns="45718" tIns="45718" rIns="45718" bIns="45718">
            <a:normAutofit/>
          </a:bodyPr>
          <a:lstStyle/>
          <a:p>
            <a:pPr marL="457200" indent="-457200" defTabSz="914400">
              <a:buSzPct val="100000"/>
              <a:buFont typeface="+mj-lt"/>
              <a:buAutoNum type="arabi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Global numerical weather prediction </a:t>
            </a:r>
            <a:endParaRPr sz="1800" dirty="0"/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High-resolution numerical weather prediction</a:t>
            </a:r>
            <a:endParaRPr sz="1800" dirty="0"/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Nowcasting and very short range forecasting </a:t>
            </a:r>
            <a:endParaRPr sz="1800" dirty="0"/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Seasonal and inter-annual forecasting </a:t>
            </a:r>
            <a:endParaRPr sz="1800" dirty="0"/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Aeronautical meteorology </a:t>
            </a:r>
            <a:endParaRPr sz="1800" dirty="0"/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solidFill>
                  <a:srgbClr val="9411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chemeClr val="tx1"/>
                </a:solidFill>
              </a:rPr>
              <a:t>Forecasting atmospheric composition</a:t>
            </a:r>
            <a:endParaRPr sz="1800" dirty="0">
              <a:solidFill>
                <a:schemeClr val="tx1"/>
              </a:solidFill>
            </a:endParaRPr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solidFill>
                  <a:srgbClr val="9411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chemeClr val="tx1"/>
                </a:solidFill>
              </a:rPr>
              <a:t>Monitoring atmospheric composition</a:t>
            </a:r>
            <a:endParaRPr sz="1800" dirty="0">
              <a:solidFill>
                <a:schemeClr val="tx1"/>
              </a:solidFill>
            </a:endParaRPr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solidFill>
                  <a:srgbClr val="9411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chemeClr val="tx1"/>
                </a:solidFill>
              </a:rPr>
              <a:t>Atmospheric composition for urban applications</a:t>
            </a:r>
            <a:endParaRPr sz="1800" dirty="0">
              <a:solidFill>
                <a:schemeClr val="tx1"/>
              </a:solidFill>
            </a:endParaRPr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solidFill>
                  <a:srgbClr val="9411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chemeClr val="tx1"/>
                </a:solidFill>
              </a:rPr>
              <a:t>Ocean applications </a:t>
            </a:r>
            <a:endParaRPr sz="1800" dirty="0">
              <a:solidFill>
                <a:schemeClr val="tx1"/>
              </a:solidFill>
            </a:endParaRPr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Agricultural meteorology </a:t>
            </a:r>
            <a:endParaRPr sz="1800" dirty="0"/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Hydrology </a:t>
            </a:r>
            <a:endParaRPr sz="1800" dirty="0"/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Climate monitoring </a:t>
            </a:r>
            <a:r>
              <a:rPr lang="fr-CH" sz="1800" i="1" dirty="0"/>
              <a:t>(currently under revision by GCOS and WCRP)</a:t>
            </a:r>
            <a:r>
              <a:rPr sz="1800" i="1" dirty="0"/>
              <a:t> </a:t>
            </a:r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Climate applications </a:t>
            </a:r>
            <a:r>
              <a:rPr lang="en-US" sz="1800" i="1" dirty="0"/>
              <a:t>(currently under revision by GCOS and WCRP) </a:t>
            </a:r>
            <a:endParaRPr sz="1800" dirty="0"/>
          </a:p>
          <a:p>
            <a:pPr marL="457200" indent="-457200" defTabSz="914400">
              <a:buSzPct val="100000"/>
              <a:buFont typeface="+mj-lt"/>
              <a:buAutoNum type="arabicPeriod"/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Space weather </a:t>
            </a:r>
          </a:p>
        </p:txBody>
      </p:sp>
    </p:spTree>
    <p:extLst>
      <p:ext uri="{BB962C8B-B14F-4D97-AF65-F5344CB8AC3E}">
        <p14:creationId xmlns:p14="http://schemas.microsoft.com/office/powerpoint/2010/main" val="686645535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30" y="332656"/>
            <a:ext cx="8353425" cy="592177"/>
          </a:xfr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txBody>
          <a:bodyPr>
            <a:noAutofit/>
          </a:bodyPr>
          <a:lstStyle/>
          <a:p>
            <a:pPr algn="ctr"/>
            <a:r>
              <a:rPr lang="de-DE" altLang="de-DE" sz="2400" dirty="0"/>
              <a:t>Rolling Review </a:t>
            </a:r>
            <a:r>
              <a:rPr lang="de-DE" altLang="de-DE" sz="2400" dirty="0" err="1"/>
              <a:t>of</a:t>
            </a:r>
            <a:r>
              <a:rPr lang="de-DE" altLang="de-DE" sz="2400" dirty="0"/>
              <a:t> </a:t>
            </a:r>
            <a:r>
              <a:rPr lang="de-DE" altLang="de-DE" sz="2400" dirty="0" err="1"/>
              <a:t>Requirements</a:t>
            </a:r>
            <a:r>
              <a:rPr lang="de-DE" altLang="de-DE" sz="2400" dirty="0"/>
              <a:t>: </a:t>
            </a:r>
            <a:r>
              <a:rPr lang="de-DE" altLang="de-DE" sz="2400" dirty="0" err="1"/>
              <a:t>Four</a:t>
            </a:r>
            <a:r>
              <a:rPr lang="de-DE" altLang="de-DE" sz="2400" dirty="0"/>
              <a:t> </a:t>
            </a:r>
            <a:r>
              <a:rPr lang="de-DE" altLang="de-DE" sz="2400" dirty="0" err="1"/>
              <a:t>levels</a:t>
            </a:r>
            <a:r>
              <a:rPr lang="de-DE" altLang="de-DE" sz="2400" dirty="0"/>
              <a:t> </a:t>
            </a:r>
            <a:r>
              <a:rPr lang="de-DE" altLang="de-DE" sz="2400" dirty="0" err="1"/>
              <a:t>of</a:t>
            </a:r>
            <a:r>
              <a:rPr lang="de-DE" altLang="de-DE" sz="2400" dirty="0"/>
              <a:t> </a:t>
            </a:r>
            <a:r>
              <a:rPr lang="de-DE" altLang="de-DE" sz="2400" dirty="0" err="1"/>
              <a:t>tools</a:t>
            </a:r>
            <a:endParaRPr lang="de-DE" altLang="de-DE" sz="24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33388" y="1195767"/>
            <a:ext cx="8353425" cy="53071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de-DE" sz="2400" b="1" dirty="0">
                <a:solidFill>
                  <a:schemeClr val="accent2"/>
                </a:solidFill>
              </a:rPr>
              <a:t>Databases; OSCAR </a:t>
            </a:r>
            <a:r>
              <a:rPr lang="en-US" altLang="de-DE" sz="2400" dirty="0"/>
              <a:t>(</a:t>
            </a:r>
            <a:r>
              <a:rPr lang="en-GB" altLang="de-DE" sz="2400" dirty="0"/>
              <a:t>Observing Systems Capability Analysis and Review Tool)</a:t>
            </a:r>
            <a:br>
              <a:rPr lang="en-GB" altLang="de-DE" sz="2400" dirty="0"/>
            </a:br>
            <a:r>
              <a:rPr lang="en-GB" altLang="de-DE" sz="2000" dirty="0"/>
              <a:t>   </a:t>
            </a:r>
            <a:r>
              <a:rPr lang="en-US" altLang="de-DE" sz="2000" dirty="0"/>
              <a:t>User requirements:   </a:t>
            </a:r>
            <a:br>
              <a:rPr lang="en-US" altLang="de-DE" sz="2000" dirty="0"/>
            </a:br>
            <a:r>
              <a:rPr lang="en-US" altLang="de-DE" sz="2000" dirty="0">
                <a:solidFill>
                  <a:schemeClr val="accent2"/>
                </a:solidFill>
              </a:rPr>
              <a:t>	</a:t>
            </a:r>
            <a:r>
              <a:rPr lang="en-US" altLang="de-DE" sz="2000" dirty="0">
                <a:hlinkClick r:id="rId3"/>
              </a:rPr>
              <a:t>http://www.wmo-sat.info/oscar/requirements</a:t>
            </a:r>
            <a:r>
              <a:rPr lang="en-US" altLang="de-DE" sz="2000" dirty="0"/>
              <a:t> </a:t>
            </a:r>
            <a:br>
              <a:rPr lang="en-US" altLang="de-DE" sz="2000" dirty="0">
                <a:solidFill>
                  <a:schemeClr val="accent2"/>
                </a:solidFill>
              </a:rPr>
            </a:br>
            <a:r>
              <a:rPr lang="en-US" altLang="de-DE" sz="2000" dirty="0">
                <a:solidFill>
                  <a:schemeClr val="accent2"/>
                </a:solidFill>
              </a:rPr>
              <a:t> </a:t>
            </a:r>
            <a:r>
              <a:rPr lang="en-US" altLang="de-DE" sz="2000" dirty="0"/>
              <a:t>  Space-based capabilities:   	</a:t>
            </a:r>
            <a:br>
              <a:rPr lang="en-US" altLang="de-DE" sz="2000" dirty="0"/>
            </a:br>
            <a:r>
              <a:rPr lang="en-US" altLang="de-DE" sz="2000" dirty="0">
                <a:solidFill>
                  <a:schemeClr val="accent2"/>
                </a:solidFill>
              </a:rPr>
              <a:t>	</a:t>
            </a:r>
            <a:r>
              <a:rPr lang="en-US" altLang="de-DE" sz="2000" dirty="0">
                <a:solidFill>
                  <a:schemeClr val="accent2"/>
                </a:solidFill>
                <a:hlinkClick r:id="rId4"/>
              </a:rPr>
              <a:t>h</a:t>
            </a:r>
            <a:r>
              <a:rPr lang="en-US" altLang="de-DE" sz="2000" dirty="0">
                <a:hlinkClick r:id="rId4"/>
              </a:rPr>
              <a:t>ttp://www.wmo-sat.info/oscar/spacecapabilities</a:t>
            </a:r>
            <a:r>
              <a:rPr lang="en-US" altLang="de-DE" sz="2000" dirty="0"/>
              <a:t>  </a:t>
            </a:r>
            <a:br>
              <a:rPr lang="en-US" altLang="de-DE" sz="2000" dirty="0"/>
            </a:br>
            <a:r>
              <a:rPr lang="en-US" altLang="de-DE" sz="2000" dirty="0"/>
              <a:t>   Surface-based observing (under development):</a:t>
            </a:r>
            <a:br>
              <a:rPr lang="en-US" altLang="de-DE" sz="2000" dirty="0"/>
            </a:br>
            <a:r>
              <a:rPr lang="en-US" altLang="de-DE" sz="2000" dirty="0">
                <a:solidFill>
                  <a:schemeClr val="accent2"/>
                </a:solidFill>
              </a:rPr>
              <a:t>	</a:t>
            </a:r>
            <a:r>
              <a:rPr lang="en-US" altLang="de-DE" sz="2000" dirty="0">
                <a:solidFill>
                  <a:schemeClr val="accent2"/>
                </a:solidFill>
                <a:hlinkClick r:id="rId5"/>
              </a:rPr>
              <a:t>https://oscar.wmo.int/OSCAR/index.html#/</a:t>
            </a:r>
            <a:r>
              <a:rPr lang="en-US" altLang="de-DE" sz="2000" dirty="0">
                <a:solidFill>
                  <a:schemeClr val="accent2"/>
                </a:solidFill>
              </a:rPr>
              <a:t>  </a:t>
            </a:r>
          </a:p>
          <a:p>
            <a:pPr marL="0" indent="0">
              <a:buNone/>
            </a:pPr>
            <a:r>
              <a:rPr lang="en-US" altLang="de-DE" sz="2400" u="sng" dirty="0">
                <a:solidFill>
                  <a:schemeClr val="accent2"/>
                </a:solidFill>
              </a:rPr>
              <a:t>Gap Analyses </a:t>
            </a:r>
            <a:r>
              <a:rPr lang="en-US" altLang="de-DE" sz="2400" dirty="0">
                <a:solidFill>
                  <a:schemeClr val="accent2"/>
                </a:solidFill>
              </a:rPr>
              <a:t>(Statements of Guidance, </a:t>
            </a:r>
            <a:r>
              <a:rPr lang="en-US" altLang="de-DE" sz="2400" dirty="0" err="1">
                <a:solidFill>
                  <a:schemeClr val="accent2"/>
                </a:solidFill>
              </a:rPr>
              <a:t>SoGs</a:t>
            </a:r>
            <a:r>
              <a:rPr lang="en-US" altLang="de-DE" sz="2400" dirty="0">
                <a:solidFill>
                  <a:schemeClr val="accent2"/>
                </a:solidFill>
              </a:rPr>
              <a:t>)</a:t>
            </a:r>
            <a:br>
              <a:rPr lang="en-US" altLang="de-DE" sz="2400" dirty="0">
                <a:solidFill>
                  <a:schemeClr val="accent2"/>
                </a:solidFill>
              </a:rPr>
            </a:br>
            <a:r>
              <a:rPr lang="en-US" altLang="de-DE" sz="2000" dirty="0">
                <a:solidFill>
                  <a:schemeClr val="accent2"/>
                </a:solidFill>
              </a:rPr>
              <a:t>	</a:t>
            </a:r>
            <a:r>
              <a:rPr lang="en-US" altLang="de-DE" sz="2000" dirty="0">
                <a:hlinkClick r:id="rId6"/>
              </a:rPr>
              <a:t>http://www.wmo.int/pages/prog/www/OSY/GOS-RRR.html#SOG</a:t>
            </a:r>
            <a:r>
              <a:rPr lang="en-US" altLang="de-DE" sz="2000" dirty="0"/>
              <a:t> </a:t>
            </a:r>
          </a:p>
          <a:p>
            <a:pPr marL="0" indent="0">
              <a:buNone/>
            </a:pPr>
            <a:r>
              <a:rPr lang="en-US" altLang="de-DE" sz="2400" b="1" u="sng" dirty="0">
                <a:solidFill>
                  <a:schemeClr val="accent2"/>
                </a:solidFill>
              </a:rPr>
              <a:t>Vision:</a:t>
            </a:r>
            <a:r>
              <a:rPr lang="en-US" altLang="de-DE" sz="2400" dirty="0"/>
              <a:t> </a:t>
            </a:r>
            <a:br>
              <a:rPr lang="en-US" altLang="de-DE" sz="2000" dirty="0"/>
            </a:br>
            <a:r>
              <a:rPr lang="en-US" altLang="de-DE" sz="2000" dirty="0"/>
              <a:t>	</a:t>
            </a:r>
            <a:r>
              <a:rPr lang="en-US" altLang="de-DE" sz="2000" dirty="0">
                <a:hlinkClick r:id="rId7"/>
              </a:rPr>
              <a:t>http://www.wmo.int/pages/prog/www/OSY/gos-vision.html</a:t>
            </a:r>
            <a:r>
              <a:rPr lang="en-US" altLang="de-DE" sz="2000" dirty="0"/>
              <a:t> </a:t>
            </a:r>
          </a:p>
          <a:p>
            <a:pPr marL="0" indent="0">
              <a:buNone/>
            </a:pPr>
            <a:r>
              <a:rPr lang="en-US" altLang="de-DE" sz="2400" u="sng" dirty="0">
                <a:solidFill>
                  <a:schemeClr val="accent2"/>
                </a:solidFill>
              </a:rPr>
              <a:t>Implementation Plan</a:t>
            </a:r>
            <a:r>
              <a:rPr lang="en-US" altLang="de-DE" sz="2400" dirty="0">
                <a:solidFill>
                  <a:schemeClr val="accent2"/>
                </a:solidFill>
              </a:rPr>
              <a:t>, EGOS-IP</a:t>
            </a:r>
            <a:r>
              <a:rPr lang="en-US" altLang="de-DE" sz="2000" dirty="0">
                <a:solidFill>
                  <a:schemeClr val="accent2"/>
                </a:solidFill>
              </a:rPr>
              <a:t>: </a:t>
            </a:r>
            <a:r>
              <a:rPr lang="en-US" altLang="de-DE" sz="2000" dirty="0"/>
              <a:t>	</a:t>
            </a:r>
            <a:br>
              <a:rPr lang="en-US" altLang="de-DE" sz="2000" dirty="0"/>
            </a:br>
            <a:r>
              <a:rPr lang="en-US" altLang="de-DE" sz="2000" dirty="0"/>
              <a:t>	</a:t>
            </a:r>
            <a:r>
              <a:rPr lang="en-US" altLang="de-DE" sz="2000" dirty="0">
                <a:solidFill>
                  <a:schemeClr val="hlink"/>
                </a:solidFill>
                <a:hlinkClick r:id="rId8"/>
              </a:rPr>
              <a:t>http://www.wmo.int/pages/prog/www/OSY/gos-vision.html</a:t>
            </a:r>
            <a:r>
              <a:rPr lang="en-US" altLang="de-DE" sz="1400" dirty="0">
                <a:solidFill>
                  <a:schemeClr val="hlink"/>
                </a:solidFill>
                <a:hlinkClick r:id="rId8"/>
              </a:rPr>
              <a:t>#egos-ip</a:t>
            </a:r>
            <a:r>
              <a:rPr lang="en-US" altLang="de-DE" sz="1400" dirty="0">
                <a:solidFill>
                  <a:schemeClr val="hlink"/>
                </a:solidFill>
              </a:rPr>
              <a:t> </a:t>
            </a:r>
            <a:endParaRPr lang="de-DE" altLang="de-DE" sz="1400" dirty="0"/>
          </a:p>
        </p:txBody>
      </p:sp>
    </p:spTree>
    <p:extLst>
      <p:ext uri="{BB962C8B-B14F-4D97-AF65-F5344CB8AC3E}">
        <p14:creationId xmlns:p14="http://schemas.microsoft.com/office/powerpoint/2010/main" val="2174916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>
            <a:spLocks noGrp="1"/>
          </p:cNvSpPr>
          <p:nvPr>
            <p:ph type="ctrTitle" idx="4294967295"/>
          </p:nvPr>
        </p:nvSpPr>
        <p:spPr>
          <a:xfrm>
            <a:off x="250824" y="188908"/>
            <a:ext cx="8713790" cy="7921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/>
            </a:solidFill>
          </a:ln>
        </p:spPr>
        <p:txBody>
          <a:bodyPr anchor="ctr"/>
          <a:lstStyle>
            <a:lvl1pPr algn="ctr" defTabSz="914400">
              <a:defRPr sz="36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OSCAR</a:t>
            </a:r>
          </a:p>
        </p:txBody>
      </p:sp>
      <p:sp>
        <p:nvSpPr>
          <p:cNvPr id="261" name="Shape 261"/>
          <p:cNvSpPr>
            <a:spLocks noGrp="1"/>
          </p:cNvSpPr>
          <p:nvPr>
            <p:ph type="subTitle" idx="4294967295"/>
          </p:nvPr>
        </p:nvSpPr>
        <p:spPr>
          <a:xfrm>
            <a:off x="238124" y="1196752"/>
            <a:ext cx="8713790" cy="4897438"/>
          </a:xfrm>
          <a:prstGeom prst="rect">
            <a:avLst/>
          </a:prstGeom>
        </p:spPr>
        <p:txBody>
          <a:bodyPr/>
          <a:lstStyle/>
          <a:p>
            <a:pPr marL="352870" indent="-352870" defTabSz="850391">
              <a:spcBef>
                <a:spcPts val="1100"/>
              </a:spcBef>
              <a:buSzPct val="100000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The RRR is supported by three key databases of </a:t>
            </a:r>
            <a:r>
              <a:rPr b="1" dirty="0"/>
              <a:t>OSCAR</a:t>
            </a:r>
            <a:r>
              <a:rPr dirty="0"/>
              <a:t>, the </a:t>
            </a:r>
            <a:r>
              <a:rPr i="1" u="sng" dirty="0"/>
              <a:t>Observation Systems Capabilities and Review</a:t>
            </a:r>
            <a:r>
              <a:rPr lang="fr-CH" dirty="0"/>
              <a:t>  </a:t>
            </a:r>
            <a:r>
              <a:rPr dirty="0"/>
              <a:t>tool :</a:t>
            </a:r>
          </a:p>
          <a:p>
            <a:pPr marL="688628" lvl="1" indent="-334298" defTabSz="850391">
              <a:spcBef>
                <a:spcPts val="1100"/>
              </a:spcBef>
              <a:buSzPct val="100000"/>
              <a:buFont typeface="Arial"/>
              <a:buChar char="•"/>
              <a:defRPr sz="22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OSCAR/Requirements</a:t>
            </a:r>
            <a:r>
              <a:rPr b="0" dirty="0"/>
              <a:t>, in which “technology free” requirements are provided for each application area, expressed in units of geophysical variables (260 in total currently), not </a:t>
            </a:r>
            <a:r>
              <a:rPr b="0" dirty="0" err="1"/>
              <a:t>measurands</a:t>
            </a:r>
            <a:r>
              <a:rPr b="0" dirty="0"/>
              <a:t>; not just atmosphere, also terrestrial, ocean, cryosphere, …</a:t>
            </a:r>
          </a:p>
          <a:p>
            <a:pPr marL="688628" lvl="1" indent="-334298" defTabSz="850391">
              <a:spcBef>
                <a:spcPts val="1100"/>
              </a:spcBef>
              <a:buSzPct val="100000"/>
              <a:buFont typeface="Arial"/>
              <a:buChar char="•"/>
              <a:defRPr sz="22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OSCAR/Space, </a:t>
            </a:r>
            <a:r>
              <a:rPr b="0" dirty="0"/>
              <a:t>listing the capabilities of all satellite sensors, whether historical, operational or planned</a:t>
            </a:r>
          </a:p>
          <a:p>
            <a:pPr marL="688628" lvl="1" indent="-334298" defTabSz="850391">
              <a:spcBef>
                <a:spcPts val="1100"/>
              </a:spcBef>
              <a:buSzPct val="100000"/>
              <a:buFont typeface="Arial"/>
              <a:buChar char="•"/>
              <a:defRPr sz="22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OSCAR/Surface, </a:t>
            </a:r>
            <a:r>
              <a:rPr b="0" dirty="0"/>
              <a:t>list surface-based capabilities; developed by </a:t>
            </a:r>
            <a:r>
              <a:rPr b="0" dirty="0" err="1"/>
              <a:t>MeteoSwiss</a:t>
            </a:r>
            <a:r>
              <a:rPr b="0" dirty="0"/>
              <a:t> for WMO</a:t>
            </a:r>
            <a:r>
              <a:rPr lang="fr-CH" b="0" dirty="0"/>
              <a:t>, operational since May 2016</a:t>
            </a:r>
            <a:endParaRPr lang="fr-CH" dirty="0"/>
          </a:p>
          <a:p>
            <a:pPr marL="688628" lvl="1" indent="-334298" defTabSz="850391">
              <a:spcBef>
                <a:spcPts val="1100"/>
              </a:spcBef>
              <a:buSzPct val="100000"/>
              <a:buFont typeface="Arial"/>
              <a:buChar char="•"/>
              <a:defRPr sz="2200" b="1">
                <a:latin typeface="Arial"/>
                <a:ea typeface="Arial"/>
                <a:cs typeface="Arial"/>
                <a:sym typeface="Arial"/>
              </a:defRPr>
            </a:pPr>
            <a:endParaRPr lang="fr-CH" i="1" dirty="0">
              <a:hlinkClick r:id="rId2"/>
            </a:endParaRPr>
          </a:p>
          <a:p>
            <a:pPr marL="354330" lvl="1" algn="ctr" defTabSz="850391">
              <a:spcBef>
                <a:spcPts val="1100"/>
              </a:spcBef>
              <a:buSzPct val="100000"/>
              <a:defRPr sz="2200" b="1">
                <a:latin typeface="Arial"/>
                <a:ea typeface="Arial"/>
                <a:cs typeface="Arial"/>
                <a:sym typeface="Arial"/>
              </a:defRPr>
            </a:pPr>
            <a:r>
              <a:rPr lang="en-US" i="1" dirty="0">
                <a:hlinkClick r:id="rId2"/>
              </a:rPr>
              <a:t>OSCAR homepage</a:t>
            </a:r>
            <a:endParaRPr i="1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2713057356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/>
          </p:cNvSpPr>
          <p:nvPr>
            <p:ph type="title" idx="4294967295"/>
          </p:nvPr>
        </p:nvSpPr>
        <p:spPr>
          <a:xfrm>
            <a:off x="250824" y="188909"/>
            <a:ext cx="8713790" cy="6478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/>
            </a:solidFill>
          </a:ln>
        </p:spPr>
        <p:txBody>
          <a:bodyPr lIns="0" tIns="0" rIns="0" bIns="0">
            <a:normAutofit/>
          </a:bodyPr>
          <a:lstStyle>
            <a:lvl1pPr algn="ctr">
              <a:defRPr sz="3600">
                <a:solidFill>
                  <a:srgbClr val="333399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 b="1" dirty="0">
                <a:solidFill>
                  <a:srgbClr val="333399"/>
                </a:solidFill>
              </a:rPr>
              <a:t>OSCAR/Requirements</a:t>
            </a:r>
          </a:p>
        </p:txBody>
      </p:sp>
      <p:sp>
        <p:nvSpPr>
          <p:cNvPr id="168" name="Shape 168"/>
          <p:cNvSpPr>
            <a:spLocks noGrp="1"/>
          </p:cNvSpPr>
          <p:nvPr>
            <p:ph type="body" idx="4294967295"/>
          </p:nvPr>
        </p:nvSpPr>
        <p:spPr>
          <a:xfrm>
            <a:off x="200024" y="1116012"/>
            <a:ext cx="8713790" cy="489743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213234" lvl="0" indent="-213234" defTabSz="579975">
              <a:lnSpc>
                <a:spcPct val="110000"/>
              </a:lnSpc>
              <a:buClrTx/>
              <a:buFontTx/>
              <a:buChar char="•"/>
              <a:defRPr sz="1800"/>
            </a:pPr>
            <a:r>
              <a:rPr sz="2400" dirty="0"/>
              <a:t>The following requirements are listed for each of the </a:t>
            </a:r>
            <a:r>
              <a:rPr lang="fr-CH" sz="2400" dirty="0"/>
              <a:t>(currently </a:t>
            </a:r>
            <a:r>
              <a:rPr sz="2400" dirty="0"/>
              <a:t>1</a:t>
            </a:r>
            <a:r>
              <a:rPr lang="fr-CH" sz="2400" dirty="0"/>
              <a:t>4</a:t>
            </a:r>
            <a:r>
              <a:rPr sz="2400" dirty="0"/>
              <a:t> application</a:t>
            </a:r>
            <a:r>
              <a:rPr lang="fr-CH" sz="2400" dirty="0"/>
              <a:t>)</a:t>
            </a:r>
            <a:r>
              <a:rPr sz="2400" dirty="0"/>
              <a:t> areas and for all relevant </a:t>
            </a:r>
            <a:r>
              <a:rPr lang="fr-CH" sz="2400" dirty="0"/>
              <a:t>geophysical </a:t>
            </a:r>
            <a:r>
              <a:rPr sz="2400" dirty="0"/>
              <a:t>variables</a:t>
            </a:r>
            <a:r>
              <a:rPr lang="fr-CH" sz="2400" dirty="0"/>
              <a:t> (currently more than 200</a:t>
            </a:r>
            <a:r>
              <a:rPr sz="2400" dirty="0"/>
              <a:t>):</a:t>
            </a:r>
          </a:p>
          <a:p>
            <a:pPr marL="475883" lvl="1" indent="-152033" defTabSz="579975">
              <a:lnSpc>
                <a:spcPct val="110000"/>
              </a:lnSpc>
              <a:buClrTx/>
              <a:buFontTx/>
              <a:buChar char="•"/>
              <a:defRPr sz="1800"/>
            </a:pPr>
            <a:r>
              <a:rPr sz="1800" dirty="0"/>
              <a:t>Spatial (horizontal and vertical) and temporal resolution, uncertainty, data latency, required coverage area, source, and level of confidence</a:t>
            </a:r>
          </a:p>
          <a:p>
            <a:pPr marL="213234" lvl="0" indent="-213234" defTabSz="579975">
              <a:lnSpc>
                <a:spcPct val="110000"/>
              </a:lnSpc>
              <a:buClrTx/>
              <a:buFontTx/>
              <a:buChar char="•"/>
              <a:defRPr sz="1800"/>
            </a:pPr>
            <a:r>
              <a:rPr sz="2400" dirty="0"/>
              <a:t>Each requirement is expressed in terms of three separate values:</a:t>
            </a:r>
          </a:p>
          <a:p>
            <a:pPr marL="475883" lvl="1" indent="-152033" defTabSz="579975">
              <a:lnSpc>
                <a:spcPct val="110000"/>
              </a:lnSpc>
              <a:buClrTx/>
              <a:buFontTx/>
              <a:buChar char="•"/>
              <a:defRPr sz="1800"/>
            </a:pPr>
            <a:r>
              <a:rPr sz="1800" dirty="0"/>
              <a:t>Threshold (observations not useful unless this is met)</a:t>
            </a:r>
          </a:p>
          <a:p>
            <a:pPr marL="475883" lvl="1" indent="-152033" defTabSz="579975">
              <a:lnSpc>
                <a:spcPct val="110000"/>
              </a:lnSpc>
              <a:buClrTx/>
              <a:buFontTx/>
              <a:buChar char="•"/>
              <a:defRPr sz="1800"/>
            </a:pPr>
            <a:r>
              <a:rPr sz="1800" dirty="0"/>
              <a:t>Break-through (optimum cost-benefit ratio)</a:t>
            </a:r>
          </a:p>
          <a:p>
            <a:pPr marL="475883" lvl="1" indent="-152033" defTabSz="579975">
              <a:lnSpc>
                <a:spcPct val="110000"/>
              </a:lnSpc>
              <a:buClrTx/>
              <a:buFontTx/>
              <a:buChar char="•"/>
              <a:defRPr sz="1800"/>
            </a:pPr>
            <a:r>
              <a:rPr sz="1800" dirty="0"/>
              <a:t>Goal (exceeding this provides no additional benefit)</a:t>
            </a:r>
          </a:p>
          <a:p>
            <a:pPr marL="213234" lvl="0" indent="-213234" defTabSz="579975">
              <a:lnSpc>
                <a:spcPct val="110000"/>
              </a:lnSpc>
              <a:buClrTx/>
              <a:buFontTx/>
              <a:buChar char="•"/>
              <a:defRPr sz="1800"/>
            </a:pPr>
            <a:r>
              <a:rPr sz="2400" dirty="0"/>
              <a:t>OSCAR/Requirements information content is assembled by CBS and other WMO Inter-Program Expert Teams and Task Teams and  is informed by the broader scientific community</a:t>
            </a:r>
          </a:p>
        </p:txBody>
      </p:sp>
    </p:spTree>
    <p:extLst>
      <p:ext uri="{BB962C8B-B14F-4D97-AF65-F5344CB8AC3E}">
        <p14:creationId xmlns:p14="http://schemas.microsoft.com/office/powerpoint/2010/main" val="258094669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/>
          </p:cNvSpPr>
          <p:nvPr>
            <p:ph type="title"/>
          </p:nvPr>
        </p:nvSpPr>
        <p:spPr>
          <a:xfrm>
            <a:off x="250824" y="188909"/>
            <a:ext cx="8713790" cy="79217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endParaRPr/>
          </a:p>
        </p:txBody>
      </p:sp>
      <p:sp>
        <p:nvSpPr>
          <p:cNvPr id="171" name="Shape 171"/>
          <p:cNvSpPr>
            <a:spLocks noGrp="1"/>
          </p:cNvSpPr>
          <p:nvPr>
            <p:ph type="body" idx="1"/>
          </p:nvPr>
        </p:nvSpPr>
        <p:spPr>
          <a:xfrm>
            <a:off x="250824" y="1052512"/>
            <a:ext cx="8713790" cy="489743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endParaRPr/>
          </a:p>
        </p:txBody>
      </p:sp>
      <p:pic>
        <p:nvPicPr>
          <p:cNvPr id="172" name="image7.jpeg"/>
          <p:cNvPicPr/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12725" y="106362"/>
            <a:ext cx="9290050" cy="657148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8291887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>
            <a:spLocks noGrp="1"/>
          </p:cNvSpPr>
          <p:nvPr>
            <p:ph type="title"/>
          </p:nvPr>
        </p:nvSpPr>
        <p:spPr>
          <a:xfrm>
            <a:off x="250824" y="188909"/>
            <a:ext cx="8713790" cy="79217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endParaRPr/>
          </a:p>
        </p:txBody>
      </p:sp>
      <p:sp>
        <p:nvSpPr>
          <p:cNvPr id="175" name="Shape 175"/>
          <p:cNvSpPr>
            <a:spLocks noGrp="1"/>
          </p:cNvSpPr>
          <p:nvPr>
            <p:ph type="body" idx="1"/>
          </p:nvPr>
        </p:nvSpPr>
        <p:spPr>
          <a:xfrm>
            <a:off x="250824" y="1052512"/>
            <a:ext cx="8713790" cy="4897438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endParaRPr/>
          </a:p>
        </p:txBody>
      </p:sp>
      <p:pic>
        <p:nvPicPr>
          <p:cNvPr id="176" name="image8.jpeg"/>
          <p:cNvPicPr/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50825" y="80958"/>
            <a:ext cx="9442450" cy="667929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2286154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>
            <a:spLocks noGrp="1"/>
          </p:cNvSpPr>
          <p:nvPr>
            <p:ph type="ctrTitle" idx="4294967295"/>
          </p:nvPr>
        </p:nvSpPr>
        <p:spPr>
          <a:xfrm>
            <a:off x="250824" y="188909"/>
            <a:ext cx="8713790" cy="7254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/>
            </a:solidFill>
          </a:ln>
        </p:spPr>
        <p:txBody>
          <a:bodyPr anchor="ctr"/>
          <a:lstStyle/>
          <a:p>
            <a:pPr algn="ctr" defTabSz="914400"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OSCAR/Space</a:t>
            </a:r>
          </a:p>
        </p:txBody>
      </p:sp>
      <p:sp>
        <p:nvSpPr>
          <p:cNvPr id="281" name="Shape 281"/>
          <p:cNvSpPr>
            <a:spLocks noGrp="1"/>
          </p:cNvSpPr>
          <p:nvPr>
            <p:ph type="subTitle" idx="4294967295"/>
          </p:nvPr>
        </p:nvSpPr>
        <p:spPr>
          <a:xfrm>
            <a:off x="238124" y="1395411"/>
            <a:ext cx="8713790" cy="454987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10674" indent="-410674" defTabSz="877822">
              <a:spcBef>
                <a:spcPts val="4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Repository of metadata about </a:t>
            </a:r>
            <a:r>
              <a:rPr i="1" u="sng" dirty="0"/>
              <a:t>all satellite sensors (past, present and future) relevant to WMO Programs and Application Areas</a:t>
            </a:r>
          </a:p>
          <a:p>
            <a:pPr marL="776435" lvl="1" indent="-410674" defTabSz="877822">
              <a:spcBef>
                <a:spcPts val="4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Instrument type, measurement technique, high-level characteristics (mass, power, data rate)</a:t>
            </a:r>
          </a:p>
          <a:p>
            <a:pPr marL="776435" lvl="1" indent="-410674" defTabSz="877822">
              <a:spcBef>
                <a:spcPts val="4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Programmatic information, e.g. agency, measurement program, operating period, heritage, etc.</a:t>
            </a:r>
          </a:p>
          <a:p>
            <a:pPr marL="776435" lvl="1" indent="-410674" defTabSz="877822">
              <a:spcBef>
                <a:spcPts val="4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Orbit, coverage, repeat frequency, resolution</a:t>
            </a:r>
          </a:p>
          <a:p>
            <a:pPr marL="776435" lvl="1" indent="-410674" defTabSz="877822">
              <a:spcBef>
                <a:spcPts val="4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b="1" i="1" dirty="0"/>
              <a:t>Capabilities, expressed in terms of geophysical variables that can be derived from the measurements provided by the sensor, listed in order of decreasing fidelity</a:t>
            </a:r>
          </a:p>
          <a:p>
            <a:pPr marL="410674" indent="-410674" defTabSz="877822">
              <a:spcBef>
                <a:spcPts val="4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OSCAR/Space 2.0 released </a:t>
            </a:r>
            <a:r>
              <a:rPr lang="fr-CH" dirty="0"/>
              <a:t> in </a:t>
            </a:r>
            <a:r>
              <a:rPr dirty="0"/>
              <a:t>June 2016</a:t>
            </a:r>
          </a:p>
          <a:p>
            <a:pPr marL="776435" lvl="1" indent="-410674" defTabSz="877822">
              <a:spcBef>
                <a:spcPts val="4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Objective, rule-based assessment of capabilities</a:t>
            </a:r>
          </a:p>
        </p:txBody>
      </p:sp>
      <p:sp>
        <p:nvSpPr>
          <p:cNvPr id="4" name="Shape 269"/>
          <p:cNvSpPr/>
          <p:nvPr/>
        </p:nvSpPr>
        <p:spPr>
          <a:xfrm>
            <a:off x="331248" y="3717032"/>
            <a:ext cx="9137296" cy="1794310"/>
          </a:xfrm>
          <a:prstGeom prst="ellipse">
            <a:avLst/>
          </a:prstGeom>
          <a:ln w="50800">
            <a:solidFill>
              <a:srgbClr val="94110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spcBef>
                <a:spcPts val="1400"/>
              </a:spcBef>
              <a:defRPr sz="2400">
                <a:latin typeface="Avenir Roman"/>
                <a:ea typeface="Avenir Roman"/>
                <a:cs typeface="Avenir Roman"/>
                <a:sym typeface="Avenir Roman"/>
              </a:defRPr>
            </a:pPr>
            <a:endParaRPr/>
          </a:p>
        </p:txBody>
      </p:sp>
      <p:sp>
        <p:nvSpPr>
          <p:cNvPr id="5" name="Shape 271"/>
          <p:cNvSpPr/>
          <p:nvPr/>
        </p:nvSpPr>
        <p:spPr>
          <a:xfrm>
            <a:off x="5096082" y="5754711"/>
            <a:ext cx="3780791" cy="482601"/>
          </a:xfrm>
          <a:prstGeom prst="rect">
            <a:avLst/>
          </a:prstGeom>
          <a:solidFill>
            <a:srgbClr val="FFD479"/>
          </a:solidFill>
          <a:ln w="50800">
            <a:solidFill>
              <a:srgbClr val="941100"/>
            </a:solidFill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>
            <a:lvl1pPr indent="152400">
              <a:defRPr sz="2500">
                <a:latin typeface="Avenir Roman"/>
                <a:ea typeface="Avenir Roman"/>
                <a:cs typeface="Avenir Roman"/>
                <a:sym typeface="Avenir Roman"/>
              </a:defRPr>
            </a:lvl1pPr>
          </a:lstStyle>
          <a:p>
            <a:r>
              <a:t>Unique to OSCAR/Space</a:t>
            </a:r>
          </a:p>
        </p:txBody>
      </p:sp>
    </p:spTree>
    <p:extLst>
      <p:ext uri="{BB962C8B-B14F-4D97-AF65-F5344CB8AC3E}">
        <p14:creationId xmlns:p14="http://schemas.microsoft.com/office/powerpoint/2010/main" val="981719660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 build="p" bldLvl="5" animBg="1" advAuto="0"/>
      <p:bldP spid="4" grpId="0" animBg="1" advAuto="0"/>
      <p:bldP spid="5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 descr="Screen Shot 2016-12-06 at 11.07.1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6900"/>
            <a:ext cx="9144000" cy="5659458"/>
          </a:xfrm>
          <a:prstGeom prst="rect">
            <a:avLst/>
          </a:prstGeom>
        </p:spPr>
      </p:pic>
      <p:pic>
        <p:nvPicPr>
          <p:cNvPr id="4" name="Picture 3" descr="Screen Shot 2016-12-06 at 11.08.0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300" y="139700"/>
            <a:ext cx="6527800" cy="768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196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>
            <a:spLocks noGrp="1"/>
          </p:cNvSpPr>
          <p:nvPr>
            <p:ph type="title"/>
          </p:nvPr>
        </p:nvSpPr>
        <p:spPr>
          <a:xfrm>
            <a:off x="250824" y="188898"/>
            <a:ext cx="8713790" cy="9711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accent6"/>
            </a:solidFill>
          </a:ln>
        </p:spPr>
        <p:txBody>
          <a:bodyPr anchor="ctr"/>
          <a:lstStyle/>
          <a:p>
            <a:pPr algn="ctr" defTabSz="685800"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OSCAR/Surface</a:t>
            </a:r>
          </a:p>
          <a:p>
            <a:pPr algn="ctr" defTabSz="685800">
              <a:defRPr sz="2400" b="1" i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(“What is WIGOS?”)</a:t>
            </a:r>
          </a:p>
        </p:txBody>
      </p:sp>
      <p:sp>
        <p:nvSpPr>
          <p:cNvPr id="274" name="Shape 274"/>
          <p:cNvSpPr>
            <a:spLocks noGrp="1"/>
          </p:cNvSpPr>
          <p:nvPr>
            <p:ph type="body" idx="1"/>
          </p:nvPr>
        </p:nvSpPr>
        <p:spPr>
          <a:xfrm>
            <a:off x="415923" y="1301744"/>
            <a:ext cx="8310717" cy="5007529"/>
          </a:xfrm>
          <a:prstGeom prst="rect">
            <a:avLst/>
          </a:prstGeom>
        </p:spPr>
        <p:txBody>
          <a:bodyPr/>
          <a:lstStyle/>
          <a:p>
            <a:pPr marL="228298" indent="-228298" defTabSz="791853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Implementation layer of the </a:t>
            </a:r>
            <a:r>
              <a:rPr i="1" dirty="0"/>
              <a:t>WIGOS Metadata Standard</a:t>
            </a:r>
            <a:r>
              <a:rPr dirty="0"/>
              <a:t>: </a:t>
            </a:r>
            <a:r>
              <a:rPr b="1" dirty="0"/>
              <a:t> Modern, electronic, searchable inventory of metadata for all observing stations/platforms under WIGOS</a:t>
            </a:r>
          </a:p>
          <a:p>
            <a:pPr marL="605487" lvl="1" indent="-228298" defTabSz="791853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300"/>
            </a:pPr>
            <a:r>
              <a:rPr dirty="0"/>
              <a:t>OSCAR/Surface</a:t>
            </a:r>
            <a:r>
              <a:rPr dirty="0">
                <a:latin typeface="Arial"/>
                <a:ea typeface="Arial"/>
                <a:cs typeface="Arial"/>
                <a:sym typeface="Arial"/>
              </a:rPr>
              <a:t> will replace </a:t>
            </a:r>
            <a:r>
              <a:rPr i="1" dirty="0">
                <a:latin typeface="Arial"/>
                <a:ea typeface="Arial"/>
                <a:cs typeface="Arial"/>
                <a:sym typeface="Arial"/>
              </a:rPr>
              <a:t>WMO Pub. 9, Volume A</a:t>
            </a:r>
            <a:r>
              <a:rPr dirty="0">
                <a:latin typeface="Arial"/>
                <a:ea typeface="Arial"/>
                <a:cs typeface="Arial"/>
                <a:sym typeface="Arial"/>
              </a:rPr>
              <a:t>, but will also include information from  similar inventories for other (non-GOS) components of WIGOS </a:t>
            </a:r>
          </a:p>
          <a:p>
            <a:pPr marL="605487" lvl="1" indent="-228298" defTabSz="791853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300"/>
            </a:pPr>
            <a:r>
              <a:rPr dirty="0"/>
              <a:t>Developed jointly by WMO and </a:t>
            </a:r>
            <a:r>
              <a:rPr dirty="0" err="1"/>
              <a:t>MeteoSwiss</a:t>
            </a:r>
            <a:r>
              <a:rPr dirty="0"/>
              <a:t>, with the Swiss government providing the major part of the funding </a:t>
            </a:r>
          </a:p>
          <a:p>
            <a:pPr marL="605487" lvl="1" indent="-228298" defTabSz="791853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300" u="sng"/>
            </a:pPr>
            <a:r>
              <a:rPr lang="fr-CH" dirty="0"/>
              <a:t>O</a:t>
            </a:r>
            <a:r>
              <a:rPr dirty="0" err="1"/>
              <a:t>perational</a:t>
            </a:r>
            <a:r>
              <a:rPr dirty="0"/>
              <a:t> </a:t>
            </a:r>
            <a:r>
              <a:rPr lang="fr-CH" dirty="0" err="1"/>
              <a:t>since</a:t>
            </a:r>
            <a:r>
              <a:rPr lang="fr-CH" dirty="0"/>
              <a:t> </a:t>
            </a:r>
            <a:r>
              <a:rPr dirty="0"/>
              <a:t>May 2016</a:t>
            </a:r>
          </a:p>
          <a:p>
            <a:pPr marL="605487" lvl="1" indent="-228298" defTabSz="791853">
              <a:lnSpc>
                <a:spcPct val="90000"/>
              </a:lnSpc>
              <a:spcBef>
                <a:spcPts val="1000"/>
              </a:spcBef>
              <a:buSzPct val="100000"/>
              <a:buChar char="•"/>
              <a:defRPr sz="2300"/>
            </a:pPr>
            <a:r>
              <a:rPr dirty="0"/>
              <a:t>Education and training Members in populating, editing and using OSCAR/Surface is a major priority for 2016-2019</a:t>
            </a:r>
            <a:r>
              <a:rPr lang="fr-CH" dirty="0"/>
              <a:t> </a:t>
            </a:r>
            <a:r>
              <a:rPr lang="fr-CH" dirty="0" err="1"/>
              <a:t>financial</a:t>
            </a:r>
            <a:r>
              <a:rPr lang="fr-CH" dirty="0"/>
              <a:t> </a:t>
            </a:r>
            <a:r>
              <a:rPr lang="fr-CH" dirty="0" err="1"/>
              <a:t>period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2476879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SCAR Surface Hom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0"/>
            <a:ext cx="88693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7284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OSCAR quick </a:t>
            </a:r>
            <a:r>
              <a:rPr lang="de-CH" dirty="0" err="1"/>
              <a:t>access</a:t>
            </a:r>
            <a:r>
              <a:rPr lang="de-CH" dirty="0"/>
              <a:t> &amp; </a:t>
            </a:r>
            <a:r>
              <a:rPr lang="de-CH" dirty="0" err="1"/>
              <a:t>reports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5" y="2861196"/>
            <a:ext cx="3228657" cy="26489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916832"/>
            <a:ext cx="2146494" cy="3951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391531"/>
            <a:ext cx="1789648" cy="105060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532" y="2861197"/>
            <a:ext cx="1975624" cy="30390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Callout 4"/>
          <p:cNvSpPr/>
          <p:nvPr/>
        </p:nvSpPr>
        <p:spPr bwMode="auto">
          <a:xfrm>
            <a:off x="1403921" y="1124744"/>
            <a:ext cx="1943945" cy="968864"/>
          </a:xfrm>
          <a:prstGeom prst="wedgeEllipseCallout">
            <a:avLst>
              <a:gd name="adj1" fmla="val -35870"/>
              <a:gd name="adj2" fmla="val 155173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Quick </a:t>
            </a:r>
            <a:r>
              <a:rPr kumimoji="0" lang="de-CH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access</a:t>
            </a:r>
            <a:endParaRPr kumimoji="0" lang="de-CH" sz="1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CH" sz="1400" b="1" dirty="0">
                <a:solidFill>
                  <a:srgbClr val="FF0000"/>
                </a:solidFill>
              </a:rPr>
              <a:t>&amp;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CH" sz="1400" b="1" dirty="0" err="1">
                <a:solidFill>
                  <a:srgbClr val="FF0000"/>
                </a:solidFill>
              </a:rPr>
              <a:t>Map</a:t>
            </a:r>
            <a:r>
              <a:rPr lang="de-CH" sz="1400" b="1" dirty="0">
                <a:solidFill>
                  <a:srgbClr val="FF0000"/>
                </a:solidFill>
              </a:rPr>
              <a:t> </a:t>
            </a:r>
            <a:r>
              <a:rPr lang="de-CH" sz="1400" b="1" dirty="0" err="1">
                <a:solidFill>
                  <a:srgbClr val="FF0000"/>
                </a:solidFill>
              </a:rPr>
              <a:t>filter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0" name="Oval Callout 9"/>
          <p:cNvSpPr/>
          <p:nvPr/>
        </p:nvSpPr>
        <p:spPr bwMode="auto">
          <a:xfrm>
            <a:off x="4828589" y="5157192"/>
            <a:ext cx="1943945" cy="832957"/>
          </a:xfrm>
          <a:prstGeom prst="wedgeEllipseCallout">
            <a:avLst>
              <a:gd name="adj1" fmla="val 77806"/>
              <a:gd name="adj2" fmla="val -132296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Detailed</a:t>
            </a:r>
            <a:r>
              <a:rPr kumimoji="0" lang="de-CH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de-CH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station</a:t>
            </a:r>
            <a:r>
              <a:rPr kumimoji="0" lang="de-CH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de-CH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report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92574" y="1709085"/>
            <a:ext cx="17634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          + </a:t>
            </a:r>
            <a:r>
              <a:rPr lang="de-CH" dirty="0" err="1"/>
              <a:t>click</a:t>
            </a:r>
            <a:endParaRPr lang="de-CH" dirty="0"/>
          </a:p>
          <a:p>
            <a:endParaRPr lang="de-CH" dirty="0"/>
          </a:p>
          <a:p>
            <a:r>
              <a:rPr lang="de-CH" dirty="0"/>
              <a:t>          =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52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337 0.06921 L -0.00712 -0.03588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24" y="-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966 0.38843 L 3.88889E-6 -1.48148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83" y="-19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5662"/>
          </a:xfrm>
        </p:spPr>
        <p:txBody>
          <a:bodyPr/>
          <a:lstStyle/>
          <a:p>
            <a:r>
              <a:rPr lang="de-CH" dirty="0"/>
              <a:t>OSCAR/Surface Station Report (I)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" y="1277938"/>
            <a:ext cx="4427537" cy="213894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3243000"/>
            <a:ext cx="7696200" cy="335623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49618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OSCAR/Surface Station Report (II)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7" y="1184157"/>
            <a:ext cx="4557713" cy="495969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639" y="1184157"/>
            <a:ext cx="4127961" cy="32031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099" y="3581512"/>
            <a:ext cx="4965701" cy="311681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57587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191" y="1309293"/>
            <a:ext cx="3910686" cy="363100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OSCAR/Surface Station Report (III)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1309293"/>
            <a:ext cx="4710728" cy="524390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600" y="3047608"/>
            <a:ext cx="3622674" cy="350559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046" y="2617589"/>
            <a:ext cx="4450108" cy="37101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5118100" y="1417638"/>
            <a:ext cx="685800" cy="4365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394991" y="4978400"/>
            <a:ext cx="685800" cy="4365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201191" y="3835400"/>
            <a:ext cx="685800" cy="4365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67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606861"/>
            <a:ext cx="2232247" cy="2443635"/>
          </a:xfrm>
          <a:prstGeom prst="rect">
            <a:avLst/>
          </a:prstGeom>
          <a:noFill/>
          <a:ln w="9525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860" y="1757833"/>
            <a:ext cx="3919877" cy="31579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OSCAR </a:t>
            </a:r>
            <a:r>
              <a:rPr lang="de-CH" dirty="0" err="1"/>
              <a:t>detailed</a:t>
            </a:r>
            <a:r>
              <a:rPr lang="de-CH" dirty="0"/>
              <a:t> </a:t>
            </a:r>
            <a:r>
              <a:rPr lang="de-CH" dirty="0" err="1"/>
              <a:t>search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418998" y="2081754"/>
            <a:ext cx="1948805" cy="1385878"/>
            <a:chOff x="539552" y="2691194"/>
            <a:chExt cx="1948805" cy="1385877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2691194"/>
              <a:ext cx="1948805" cy="111036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63072" y="3815461"/>
              <a:ext cx="146065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de-CH" sz="1100" b="1" dirty="0">
                  <a:solidFill>
                    <a:schemeClr val="bg2"/>
                  </a:solidFill>
                </a:rPr>
                <a:t>Instruments (</a:t>
              </a:r>
              <a:r>
                <a:rPr lang="de-CH" sz="1100" b="1" dirty="0" err="1">
                  <a:solidFill>
                    <a:schemeClr val="bg2"/>
                  </a:solidFill>
                </a:rPr>
                <a:t>soon</a:t>
              </a:r>
              <a:r>
                <a:rPr lang="de-CH" sz="1100" b="1" dirty="0">
                  <a:solidFill>
                    <a:schemeClr val="bg2"/>
                  </a:solidFill>
                </a:rPr>
                <a:t>)</a:t>
              </a:r>
            </a:p>
          </p:txBody>
        </p:sp>
      </p:grpSp>
      <p:sp>
        <p:nvSpPr>
          <p:cNvPr id="5" name="Oval Callout 4"/>
          <p:cNvSpPr/>
          <p:nvPr/>
        </p:nvSpPr>
        <p:spPr bwMode="auto">
          <a:xfrm>
            <a:off x="675453" y="1020229"/>
            <a:ext cx="2088232" cy="824295"/>
          </a:xfrm>
          <a:prstGeom prst="wedgeEllipseCallout">
            <a:avLst>
              <a:gd name="adj1" fmla="val -18233"/>
              <a:gd name="adj2" fmla="val 12796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CH" sz="1400" b="1" dirty="0" err="1">
                <a:solidFill>
                  <a:srgbClr val="FF0000"/>
                </a:solidFill>
              </a:rPr>
              <a:t>Various</a:t>
            </a:r>
            <a:r>
              <a:rPr lang="de-CH" sz="1400" b="1" dirty="0">
                <a:solidFill>
                  <a:srgbClr val="FF0000"/>
                </a:solidFill>
              </a:rPr>
              <a:t> </a:t>
            </a:r>
            <a:r>
              <a:rPr lang="de-CH" sz="1400" b="1" dirty="0" err="1">
                <a:solidFill>
                  <a:srgbClr val="FF0000"/>
                </a:solidFill>
              </a:rPr>
              <a:t>search</a:t>
            </a:r>
            <a:r>
              <a:rPr lang="de-CH" sz="1400" b="1" dirty="0">
                <a:solidFill>
                  <a:srgbClr val="FF0000"/>
                </a:solidFill>
              </a:rPr>
              <a:t> </a:t>
            </a:r>
            <a:r>
              <a:rPr lang="de-CH" sz="1400" b="1" dirty="0" err="1">
                <a:solidFill>
                  <a:srgbClr val="FF0000"/>
                </a:solidFill>
              </a:rPr>
              <a:t>targets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2" y="1407109"/>
            <a:ext cx="1513305" cy="37896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Oval Callout 9"/>
          <p:cNvSpPr/>
          <p:nvPr/>
        </p:nvSpPr>
        <p:spPr bwMode="auto">
          <a:xfrm>
            <a:off x="4828589" y="5157192"/>
            <a:ext cx="1943945" cy="832957"/>
          </a:xfrm>
          <a:prstGeom prst="wedgeEllipseCallout">
            <a:avLst>
              <a:gd name="adj1" fmla="val -15524"/>
              <a:gd name="adj2" fmla="val -116613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CH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Finely</a:t>
            </a:r>
            <a:r>
              <a:rPr kumimoji="0" lang="de-CH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de-CH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tuned</a:t>
            </a:r>
            <a:r>
              <a:rPr kumimoji="0" lang="de-CH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de-CH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</a:rPr>
              <a:t>search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4872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76 0.21087 L 0.00104 -0.03029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-12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99 0.23075 L 1.66667E-6 3.4104E-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86" y="-115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7968 0.07099 L -3.05556E-6 -4.85549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976" y="-35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/>
          </p:cNvSpPr>
          <p:nvPr>
            <p:ph type="title"/>
          </p:nvPr>
        </p:nvSpPr>
        <p:spPr>
          <a:xfrm>
            <a:off x="251520" y="260648"/>
            <a:ext cx="3731735" cy="17282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anchor="ctr">
            <a:normAutofit/>
          </a:bodyPr>
          <a:lstStyle>
            <a:lvl1pPr algn="ctr" defTabSz="678941">
              <a:defRPr sz="27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2800" dirty="0">
                <a:solidFill>
                  <a:schemeClr val="tx1"/>
                </a:solidFill>
              </a:rPr>
              <a:t>WIGOS Data Quality Monitoring System (WDQMS)</a:t>
            </a:r>
          </a:p>
        </p:txBody>
      </p:sp>
      <p:sp>
        <p:nvSpPr>
          <p:cNvPr id="313" name="Shape 313"/>
          <p:cNvSpPr>
            <a:spLocks noGrp="1"/>
          </p:cNvSpPr>
          <p:nvPr>
            <p:ph type="body" idx="1"/>
          </p:nvPr>
        </p:nvSpPr>
        <p:spPr>
          <a:xfrm>
            <a:off x="491461" y="2667089"/>
            <a:ext cx="8321676" cy="5442431"/>
          </a:xfrm>
          <a:prstGeom prst="rect">
            <a:avLst/>
          </a:prstGeom>
        </p:spPr>
        <p:txBody>
          <a:bodyPr>
            <a:noAutofit/>
          </a:bodyPr>
          <a:lstStyle/>
          <a:p>
            <a:pPr marL="218373" indent="-218373" defTabSz="782863">
              <a:spcBef>
                <a:spcPts val="7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sz="1800" dirty="0"/>
              <a:t>Real-time monitoring of performance (data availability and data quality) of all WIGOS components, searchable by region, country, station type, period, etc.</a:t>
            </a:r>
            <a:endParaRPr lang="fr-CH" sz="1800" dirty="0"/>
          </a:p>
          <a:p>
            <a:pPr marL="218373" indent="-218373" defTabSz="782863">
              <a:spcBef>
                <a:spcPts val="700"/>
              </a:spcBef>
              <a:buSzPct val="100000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sz="1800" dirty="0"/>
              <a:t>Delayed mode monitoring of data quality as measured against reference sources of information will be included for non-real time observations</a:t>
            </a:r>
          </a:p>
          <a:p>
            <a:pPr marL="195513" indent="-218373" defTabSz="782863">
              <a:spcBef>
                <a:spcPts val="700"/>
              </a:spcBef>
              <a:buSzPct val="100000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sz="1800" dirty="0"/>
              <a:t>Incident management component for mitigation of performance issues</a:t>
            </a:r>
            <a:endParaRPr sz="1800" dirty="0"/>
          </a:p>
          <a:p>
            <a:pPr marL="218373" indent="-218373" defTabSz="782863">
              <a:spcBef>
                <a:spcPts val="700"/>
              </a:spcBef>
              <a:buSzPct val="100000"/>
              <a:buChar char="•"/>
              <a:defRPr sz="2300" b="1">
                <a:latin typeface="Arial"/>
                <a:ea typeface="Arial"/>
                <a:cs typeface="Arial"/>
                <a:sym typeface="Arial"/>
              </a:defRPr>
            </a:pPr>
            <a:r>
              <a:rPr sz="1800" dirty="0"/>
              <a:t>The WDQMS will provide a complete description of how well WIGOS is functioning</a:t>
            </a:r>
          </a:p>
          <a:p>
            <a:pPr marL="195513" indent="-218373" defTabSz="782863">
              <a:spcBef>
                <a:spcPts val="700"/>
              </a:spcBef>
              <a:buSzPct val="100000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sz="1800" dirty="0"/>
              <a:t>Current activities</a:t>
            </a:r>
            <a:endParaRPr sz="1800" dirty="0"/>
          </a:p>
          <a:p>
            <a:pPr marL="595563" lvl="1" indent="-218373" defTabSz="782863">
              <a:spcBef>
                <a:spcPts val="7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sz="1800" b="1" dirty="0"/>
              <a:t>Pilot project</a:t>
            </a:r>
            <a:r>
              <a:rPr lang="fr-CH" sz="1800" b="1" dirty="0"/>
              <a:t> on NWP-based monitoring; </a:t>
            </a:r>
            <a:r>
              <a:rPr sz="1800" b="1" dirty="0"/>
              <a:t>ECMWF, NCEP, DWD, </a:t>
            </a:r>
            <a:r>
              <a:rPr lang="fr-CH" sz="1800" b="1" dirty="0"/>
              <a:t>JMA</a:t>
            </a:r>
          </a:p>
          <a:p>
            <a:pPr marL="595563" lvl="1" indent="-218373" defTabSz="782863">
              <a:spcBef>
                <a:spcPts val="7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sz="1800" b="1" dirty="0"/>
              <a:t>RA-I Demonstration Project of monitoring and incident management involving Kenya and Tanzania running through 2017</a:t>
            </a:r>
            <a:endParaRPr sz="1800" b="1" dirty="0">
              <a:sym typeface="Helvetica"/>
            </a:endParaRPr>
          </a:p>
        </p:txBody>
      </p:sp>
      <p:pic>
        <p:nvPicPr>
          <p:cNvPr id="2" name="Picture 1" descr="WDQMS Pilot Hom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227483"/>
            <a:ext cx="4536504" cy="240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99352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>
            <a:spLocks noGrp="1"/>
          </p:cNvSpPr>
          <p:nvPr>
            <p:ph type="title"/>
          </p:nvPr>
        </p:nvSpPr>
        <p:spPr>
          <a:xfrm>
            <a:off x="250698" y="103932"/>
            <a:ext cx="8713790" cy="8367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0">
            <a:solidFill>
              <a:schemeClr val="accent6"/>
            </a:solidFill>
          </a:ln>
        </p:spPr>
        <p:txBody>
          <a:bodyPr anchor="ctr">
            <a:normAutofit fontScale="90000"/>
          </a:bodyPr>
          <a:lstStyle>
            <a:lvl1pPr algn="ctr" defTabSz="685800">
              <a:defRPr sz="28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spcBef>
                <a:spcPts val="600"/>
              </a:spcBef>
            </a:pPr>
            <a:r>
              <a:rPr lang="en-US" dirty="0">
                <a:solidFill>
                  <a:srgbClr val="000090"/>
                </a:solidFill>
                <a:ea typeface="MS PGothic" charset="0"/>
              </a:rPr>
              <a:t>Current status of WDQMS NWP pilot </a:t>
            </a:r>
            <a:br>
              <a:rPr lang="en-US" dirty="0">
                <a:solidFill>
                  <a:srgbClr val="000090"/>
                </a:solidFill>
                <a:ea typeface="MS PGothic" charset="0"/>
              </a:rPr>
            </a:br>
            <a:r>
              <a:rPr lang="en-US" b="0" i="1" dirty="0">
                <a:solidFill>
                  <a:srgbClr val="000090"/>
                </a:solidFill>
                <a:ea typeface="MS PGothic" charset="0"/>
              </a:rPr>
              <a:t>(example)</a:t>
            </a:r>
          </a:p>
        </p:txBody>
      </p:sp>
      <p:sp>
        <p:nvSpPr>
          <p:cNvPr id="251" name="Shape 251"/>
          <p:cNvSpPr>
            <a:spLocks noGrp="1"/>
          </p:cNvSpPr>
          <p:nvPr>
            <p:ph type="body" idx="1"/>
          </p:nvPr>
        </p:nvSpPr>
        <p:spPr>
          <a:xfrm>
            <a:off x="251520" y="1196752"/>
            <a:ext cx="2652691" cy="4575481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24420">
              <a:lnSpc>
                <a:spcPct val="90000"/>
              </a:lnSpc>
              <a:spcBef>
                <a:spcPts val="600"/>
              </a:spcBef>
              <a:buSzPct val="100000"/>
              <a:defRPr sz="2400">
                <a:latin typeface="Arial"/>
                <a:ea typeface="Arial"/>
                <a:cs typeface="Arial"/>
                <a:sym typeface="Arial"/>
              </a:defRPr>
            </a:pPr>
            <a:endParaRPr lang="fr-CH" sz="2400" b="1" dirty="0"/>
          </a:p>
          <a:p>
            <a:pPr marL="342900" indent="-342900">
              <a:buFont typeface="Arial"/>
              <a:buChar char="•"/>
            </a:pPr>
            <a:endParaRPr sz="2000" dirty="0">
              <a:latin typeface="Arial"/>
              <a:cs typeface="Arial"/>
            </a:endParaRPr>
          </a:p>
        </p:txBody>
      </p:sp>
      <p:pic>
        <p:nvPicPr>
          <p:cNvPr id="2" name="Picture 1" descr="WDMQS World SYNOP ALL 2018 08 10 18Z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68" y="1052800"/>
            <a:ext cx="7254240" cy="4587240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990972" y="5631532"/>
            <a:ext cx="7365628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i="1" dirty="0">
                <a:latin typeface="Arial"/>
                <a:ea typeface="MS PGothic" charset="0"/>
                <a:cs typeface="Arial"/>
              </a:rPr>
              <a:t>Current availability of critical data for global NWP  (example: Surface pressure observations received by global NWP Centers on August 10 2018, 18Z)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632" y="1323925"/>
            <a:ext cx="4392488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600" dirty="0"/>
              <a:t>Green: Fully reporting (hourly)</a:t>
            </a:r>
          </a:p>
          <a:p>
            <a:pPr marL="342900" indent="-342900">
              <a:buFont typeface="Arial"/>
              <a:buChar char="•"/>
            </a:pPr>
            <a:r>
              <a:rPr lang="en-US" sz="1600" dirty="0"/>
              <a:t>Orange: Partly reporting (mostly 3-hourly)</a:t>
            </a:r>
          </a:p>
          <a:p>
            <a:pPr marL="342900" indent="-342900">
              <a:buFont typeface="Arial"/>
              <a:buChar char="•"/>
            </a:pPr>
            <a:r>
              <a:rPr lang="en-US" sz="1600" b="1" dirty="0"/>
              <a:t>Red: Few reports (mostly daytime only)</a:t>
            </a:r>
          </a:p>
          <a:p>
            <a:pPr marL="342900" indent="-342900">
              <a:buFont typeface="Arial"/>
              <a:buChar char="•"/>
            </a:pPr>
            <a:r>
              <a:rPr lang="en-US" sz="1600" b="1" dirty="0"/>
              <a:t>Black: Silent stations</a:t>
            </a:r>
          </a:p>
          <a:p>
            <a:pPr marL="342900" indent="-342900">
              <a:buFont typeface="Arial"/>
              <a:buChar char="•"/>
            </a:pPr>
            <a:r>
              <a:rPr lang="en-US" sz="1600" i="1" dirty="0"/>
              <a:t>(Purple or yellow: metadata problems</a:t>
            </a:r>
            <a:r>
              <a:rPr lang="en-US" i="1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04800" y="2819400"/>
            <a:ext cx="92329" cy="4001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45122695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>
            <a:spLocks noGrp="1"/>
          </p:cNvSpPr>
          <p:nvPr>
            <p:ph type="title"/>
          </p:nvPr>
        </p:nvSpPr>
        <p:spPr>
          <a:xfrm>
            <a:off x="250824" y="188896"/>
            <a:ext cx="8713790" cy="7921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anchor="ctr"/>
          <a:lstStyle>
            <a:lvl1pPr algn="ctr" defTabSz="678941"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 Regional WIGOS Centers (RWC)</a:t>
            </a:r>
          </a:p>
        </p:txBody>
      </p:sp>
      <p:sp>
        <p:nvSpPr>
          <p:cNvPr id="308" name="Shape 308"/>
          <p:cNvSpPr>
            <a:spLocks noGrp="1"/>
          </p:cNvSpPr>
          <p:nvPr>
            <p:ph type="body" idx="1"/>
          </p:nvPr>
        </p:nvSpPr>
        <p:spPr>
          <a:xfrm>
            <a:off x="235617" y="1235263"/>
            <a:ext cx="8744203" cy="521807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05444" indent="-205444" defTabSz="736516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208" u="sng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Why?</a:t>
            </a:r>
          </a:p>
          <a:p>
            <a:pPr marL="560304" lvl="1" indent="-205444" defTabSz="736516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208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Many WMO Members requesting support from Secretariat for national implementation efforts</a:t>
            </a:r>
          </a:p>
          <a:p>
            <a:pPr marL="560304" lvl="1" indent="-205444" defTabSz="736516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208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Can be addressed more efficiently and effectively at regional level</a:t>
            </a:r>
          </a:p>
          <a:p>
            <a:pPr marL="205444" indent="-205444" defTabSz="736516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208" u="sng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What?</a:t>
            </a:r>
          </a:p>
          <a:p>
            <a:pPr marL="560304" lvl="1" indent="-205444" defTabSz="736516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208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Initial role or RWC will be to support national WIGOS Implementation efforts, in particular as concerns</a:t>
            </a:r>
          </a:p>
          <a:p>
            <a:pPr marL="707267" lvl="2" indent="-205444" defTabSz="736516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208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OSCAR/Surface; ensuring metadata input and QC</a:t>
            </a:r>
          </a:p>
          <a:p>
            <a:pPr marL="707267" lvl="2" indent="-205444" defTabSz="736516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208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WDQMS; especially fault management component</a:t>
            </a:r>
          </a:p>
          <a:p>
            <a:pPr marL="205444" indent="-205444" defTabSz="736516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208" u="sng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How?</a:t>
            </a:r>
          </a:p>
          <a:p>
            <a:pPr marL="560304" lvl="1" indent="-205444" defTabSz="736516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208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To be decided by individual WMO Regions - will likely take place primarily at the sub-Regional level</a:t>
            </a:r>
            <a:r>
              <a:rPr lang="fr-CH" dirty="0"/>
              <a:t>, aligned with existing cultural, linguistic and/or political groupings of countries</a:t>
            </a:r>
            <a:endParaRPr dirty="0"/>
          </a:p>
          <a:p>
            <a:pPr marL="707267" lvl="2" indent="-205444" defTabSz="736516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208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0945553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" grpId="0" build="p" bldLvl="5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>
            <a:spLocks noGrp="1"/>
          </p:cNvSpPr>
          <p:nvPr>
            <p:ph type="title"/>
          </p:nvPr>
        </p:nvSpPr>
        <p:spPr>
          <a:xfrm>
            <a:off x="250824" y="188896"/>
            <a:ext cx="8713790" cy="7921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anchor="ctr"/>
          <a:lstStyle>
            <a:lvl1pPr algn="ctr" defTabSz="678941">
              <a:defRPr sz="32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 Regional WIGOS Centers (</a:t>
            </a:r>
            <a:r>
              <a:rPr lang="fr-CH" dirty="0"/>
              <a:t>II</a:t>
            </a:r>
            <a:r>
              <a:rPr dirty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5576" y="1340768"/>
            <a:ext cx="7848872" cy="51706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b="1" dirty="0"/>
              <a:t>Region I</a:t>
            </a:r>
            <a:r>
              <a:rPr lang="en-US" dirty="0"/>
              <a:t>:  Interest (e.g. Morocco, Tanzania); limited national resources, WMO seeking donor funds; sub-regional basis;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b="1" dirty="0"/>
              <a:t>Region II</a:t>
            </a:r>
            <a:r>
              <a:rPr lang="en-US" dirty="0"/>
              <a:t>: Interest from China, Saudi Arabia; will be done on a sub-regional basis;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b="1" dirty="0"/>
              <a:t>Region III</a:t>
            </a:r>
            <a:r>
              <a:rPr lang="en-US" dirty="0"/>
              <a:t>: Plans for Virtual RWC maturing; Region VI used as model;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b="1" dirty="0"/>
              <a:t>Region IV</a:t>
            </a:r>
            <a:r>
              <a:rPr lang="en-US" dirty="0"/>
              <a:t>: No way forward yet;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b="1" dirty="0">
                <a:solidFill>
                  <a:schemeClr val="tx1"/>
                </a:solidFill>
              </a:rPr>
              <a:t>Region V</a:t>
            </a:r>
            <a:r>
              <a:rPr lang="en-US" dirty="0">
                <a:solidFill>
                  <a:schemeClr val="tx1"/>
                </a:solidFill>
              </a:rPr>
              <a:t>: RWC to be operated in pilot mode by Australia and Singapore, tentatively with contributions from Fiji and/or Indonesia;  will be discussed during RA-V-17 in Tonga, Oct 2018;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lang="en-US" b="1" dirty="0"/>
              <a:t>Region VI</a:t>
            </a:r>
            <a:r>
              <a:rPr lang="en-US" dirty="0"/>
              <a:t>: successful RWC operating in pilot mode at DWD thanks to EUTMETNET engagement; interest from Croatia (marine observations) and Belarus (Eurasian countries in RA II and RA VI).</a:t>
            </a: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11068334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378664"/>
            <a:ext cx="7950200" cy="520840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 serve as reference for WMO Members and other observing system operators, providing context and expected boundary conditions relevant for observing system developments</a:t>
            </a:r>
          </a:p>
          <a:p>
            <a:pPr>
              <a:lnSpc>
                <a:spcPct val="90000"/>
              </a:lnSpc>
            </a:pPr>
            <a:r>
              <a:rPr lang="en-AU" sz="2400" dirty="0"/>
              <a:t>To inform long-term planning of satellite agencies about expected evolution of user requirements</a:t>
            </a:r>
          </a:p>
          <a:p>
            <a:pPr marL="857250" lvl="1" indent="-457200">
              <a:lnSpc>
                <a:spcPct val="90000"/>
              </a:lnSpc>
            </a:pPr>
            <a:r>
              <a:rPr lang="en-AU" sz="2000" dirty="0"/>
              <a:t> This drives the 2040 timeline; current 2025 Vision too near-term</a:t>
            </a:r>
          </a:p>
          <a:p>
            <a:pPr>
              <a:lnSpc>
                <a:spcPct val="90000"/>
              </a:lnSpc>
            </a:pPr>
            <a:r>
              <a:rPr lang="en-AU" sz="2400" dirty="0"/>
              <a:t>To inform planning efforts of users of observations (NHMSs,  NWP </a:t>
            </a:r>
            <a:r>
              <a:rPr lang="en-AU" sz="2400" dirty="0" err="1"/>
              <a:t>centers</a:t>
            </a:r>
            <a:r>
              <a:rPr lang="en-AU" sz="2400" dirty="0"/>
              <a:t>, …) regarding systems development and required computing and communication capabilities</a:t>
            </a:r>
          </a:p>
        </p:txBody>
      </p:sp>
      <p:sp>
        <p:nvSpPr>
          <p:cNvPr id="6" name="Shape 312"/>
          <p:cNvSpPr txBox="1">
            <a:spLocks/>
          </p:cNvSpPr>
          <p:nvPr/>
        </p:nvSpPr>
        <p:spPr>
          <a:xfrm>
            <a:off x="357562" y="288499"/>
            <a:ext cx="8468927" cy="792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rgbClr val="00009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678941" rtl="0" eaLnBrk="1" latinLnBrk="0" hangingPunct="1">
              <a:spcBef>
                <a:spcPct val="0"/>
              </a:spcBef>
              <a:buNone/>
              <a:defRPr sz="2700" b="1" kern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fr-CH" sz="2800" dirty="0">
                <a:solidFill>
                  <a:srgbClr val="000090"/>
                </a:solidFill>
              </a:rPr>
              <a:t>Why a Vision for WIGOS in 2040?</a:t>
            </a:r>
            <a:endParaRPr lang="fr-CH" sz="2800" i="1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7821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900" y="1268760"/>
            <a:ext cx="8686800" cy="520840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External (societal)</a:t>
            </a:r>
          </a:p>
          <a:p>
            <a:pPr lvl="1">
              <a:lnSpc>
                <a:spcPct val="90000"/>
              </a:lnSpc>
            </a:pPr>
            <a:r>
              <a:rPr lang="en-AU" sz="2000" dirty="0"/>
              <a:t>Climate change; new requirements for information on all time scales</a:t>
            </a:r>
          </a:p>
          <a:p>
            <a:pPr lvl="2">
              <a:lnSpc>
                <a:spcPct val="90000"/>
              </a:lnSpc>
            </a:pPr>
            <a:r>
              <a:rPr lang="en-AU" sz="2000" dirty="0"/>
              <a:t>Support for Paris Agreement, SDGs. Sendai Framework, …</a:t>
            </a:r>
          </a:p>
          <a:p>
            <a:pPr lvl="1">
              <a:lnSpc>
                <a:spcPct val="90000"/>
              </a:lnSpc>
            </a:pPr>
            <a:r>
              <a:rPr lang="en-AU" sz="2000" dirty="0"/>
              <a:t>New application areas, renewed emphasis on existing application areas </a:t>
            </a:r>
          </a:p>
          <a:p>
            <a:pPr lvl="1">
              <a:lnSpc>
                <a:spcPct val="90000"/>
              </a:lnSpc>
            </a:pPr>
            <a:r>
              <a:rPr lang="en-AU" sz="2000" dirty="0"/>
              <a:t>Demographic changes (urbanization, mass migration, …)</a:t>
            </a:r>
          </a:p>
          <a:p>
            <a:pPr lvl="1">
              <a:lnSpc>
                <a:spcPct val="90000"/>
              </a:lnSpc>
            </a:pPr>
            <a:r>
              <a:rPr lang="en-AU" sz="2000" dirty="0"/>
              <a:t>Increasing overall demand for meteorological information</a:t>
            </a:r>
          </a:p>
          <a:p>
            <a:pPr>
              <a:lnSpc>
                <a:spcPct val="90000"/>
              </a:lnSpc>
            </a:pPr>
            <a:r>
              <a:rPr lang="en-AU" sz="2000" dirty="0"/>
              <a:t>Internal to the world of meteorology</a:t>
            </a:r>
          </a:p>
          <a:p>
            <a:pPr lvl="1">
              <a:lnSpc>
                <a:spcPct val="90000"/>
              </a:lnSpc>
            </a:pPr>
            <a:r>
              <a:rPr lang="en-AU" sz="2000" dirty="0"/>
              <a:t>Evolving technical capabilities (sensing, telecommunication, computing)</a:t>
            </a:r>
          </a:p>
          <a:p>
            <a:pPr lvl="1">
              <a:lnSpc>
                <a:spcPct val="90000"/>
              </a:lnSpc>
            </a:pPr>
            <a:r>
              <a:rPr lang="en-AU" sz="2000" dirty="0"/>
              <a:t>Move toward integrated earth system </a:t>
            </a:r>
            <a:r>
              <a:rPr lang="en-AU" sz="2000" dirty="0" err="1"/>
              <a:t>modeling</a:t>
            </a:r>
            <a:endParaRPr lang="en-AU" sz="2000" dirty="0"/>
          </a:p>
          <a:p>
            <a:pPr lvl="1">
              <a:lnSpc>
                <a:spcPct val="90000"/>
              </a:lnSpc>
            </a:pPr>
            <a:r>
              <a:rPr lang="en-AU" sz="2000" dirty="0"/>
              <a:t>Increasing recognition of economic value of meteorological information</a:t>
            </a:r>
          </a:p>
          <a:p>
            <a:pPr lvl="2">
              <a:lnSpc>
                <a:spcPct val="90000"/>
              </a:lnSpc>
            </a:pPr>
            <a:r>
              <a:rPr lang="en-AU" sz="2000" dirty="0"/>
              <a:t>Private sector interested in owning and operating observing systems</a:t>
            </a:r>
          </a:p>
          <a:p>
            <a:pPr>
              <a:lnSpc>
                <a:spcPct val="90000"/>
              </a:lnSpc>
            </a:pPr>
            <a:endParaRPr lang="en-AU" sz="2000" dirty="0"/>
          </a:p>
        </p:txBody>
      </p:sp>
      <p:sp>
        <p:nvSpPr>
          <p:cNvPr id="6" name="Shape 312"/>
          <p:cNvSpPr txBox="1">
            <a:spLocks/>
          </p:cNvSpPr>
          <p:nvPr/>
        </p:nvSpPr>
        <p:spPr>
          <a:xfrm>
            <a:off x="357562" y="288499"/>
            <a:ext cx="8468927" cy="792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rgbClr val="00009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678941" rtl="0" eaLnBrk="1" latinLnBrk="0" hangingPunct="1">
              <a:spcBef>
                <a:spcPct val="0"/>
              </a:spcBef>
              <a:buNone/>
              <a:defRPr sz="2700" b="1" kern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fr-CH" sz="2800" dirty="0">
                <a:solidFill>
                  <a:srgbClr val="000090"/>
                </a:solidFill>
              </a:rPr>
              <a:t>A few of the key drivers behind new </a:t>
            </a:r>
            <a:r>
              <a:rPr lang="fr-CH" sz="2800" i="1" dirty="0">
                <a:solidFill>
                  <a:srgbClr val="000090"/>
                </a:solidFill>
              </a:rPr>
              <a:t>Vision</a:t>
            </a:r>
          </a:p>
        </p:txBody>
      </p:sp>
    </p:spTree>
    <p:extLst>
      <p:ext uri="{BB962C8B-B14F-4D97-AF65-F5344CB8AC3E}">
        <p14:creationId xmlns:p14="http://schemas.microsoft.com/office/powerpoint/2010/main" val="426117561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12530"/>
            <a:ext cx="8686800" cy="520840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Chapter I; context, purpose, scope</a:t>
            </a:r>
          </a:p>
          <a:p>
            <a:pPr lvl="1">
              <a:lnSpc>
                <a:spcPct val="90000"/>
              </a:lnSpc>
            </a:pPr>
            <a:r>
              <a:rPr lang="en-AU" sz="2000" dirty="0"/>
              <a:t>Why a new vision, what are the main drivers of change; what does the concept of “integration” in WIGOS entail;</a:t>
            </a:r>
          </a:p>
          <a:p>
            <a:pPr>
              <a:lnSpc>
                <a:spcPct val="90000"/>
              </a:lnSpc>
            </a:pPr>
            <a:r>
              <a:rPr lang="en-AU" sz="2400" dirty="0"/>
              <a:t>Chapter II; Space-based WIGOS components</a:t>
            </a:r>
          </a:p>
          <a:p>
            <a:pPr lvl="1">
              <a:lnSpc>
                <a:spcPct val="90000"/>
              </a:lnSpc>
            </a:pPr>
            <a:r>
              <a:rPr lang="en-AU" sz="2000" dirty="0"/>
              <a:t>Trends in Requirements and Capabilities; text and tables introducing the four tiers of space-based systems contributing to WIGOS; </a:t>
            </a:r>
          </a:p>
          <a:p>
            <a:pPr>
              <a:lnSpc>
                <a:spcPct val="90000"/>
              </a:lnSpc>
            </a:pPr>
            <a:r>
              <a:rPr lang="en-AU" sz="2400" dirty="0"/>
              <a:t>Chapter III; Surface-based WIGOS components</a:t>
            </a:r>
          </a:p>
          <a:p>
            <a:pPr lvl="1">
              <a:lnSpc>
                <a:spcPct val="90000"/>
              </a:lnSpc>
            </a:pPr>
            <a:r>
              <a:rPr lang="en-AU" sz="2000" dirty="0"/>
              <a:t>Trends and issues (technology, requirements, private sector involvement, commoditization of sensors, processing, communication, …); tables of available and emerging technologies.</a:t>
            </a:r>
          </a:p>
        </p:txBody>
      </p:sp>
      <p:sp>
        <p:nvSpPr>
          <p:cNvPr id="6" name="Shape 312"/>
          <p:cNvSpPr txBox="1">
            <a:spLocks/>
          </p:cNvSpPr>
          <p:nvPr/>
        </p:nvSpPr>
        <p:spPr>
          <a:xfrm>
            <a:off x="357562" y="288499"/>
            <a:ext cx="8468927" cy="792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2225">
            <a:solidFill>
              <a:srgbClr val="00009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678941" rtl="0" eaLnBrk="1" latinLnBrk="0" hangingPunct="1">
              <a:spcBef>
                <a:spcPct val="0"/>
              </a:spcBef>
              <a:buNone/>
              <a:defRPr sz="2700" b="1" kern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fr-CH" sz="2800" dirty="0">
                <a:solidFill>
                  <a:srgbClr val="000090"/>
                </a:solidFill>
              </a:rPr>
              <a:t>Document Structure</a:t>
            </a:r>
            <a:endParaRPr lang="fr-CH" sz="2800" i="1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52773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/>
          </p:cNvSpPr>
          <p:nvPr>
            <p:ph type="title"/>
          </p:nvPr>
        </p:nvSpPr>
        <p:spPr>
          <a:xfrm>
            <a:off x="357562" y="288499"/>
            <a:ext cx="8468927" cy="792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0090"/>
            </a:solidFill>
          </a:ln>
        </p:spPr>
        <p:txBody>
          <a:bodyPr anchor="ctr">
            <a:normAutofit/>
          </a:bodyPr>
          <a:lstStyle>
            <a:lvl1pPr algn="ctr" defTabSz="678941">
              <a:defRPr sz="27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fr-CH" sz="2800" dirty="0">
                <a:solidFill>
                  <a:srgbClr val="000090"/>
                </a:solidFill>
              </a:rPr>
              <a:t>Next steps</a:t>
            </a:r>
            <a:endParaRPr sz="2800" i="1" dirty="0">
              <a:solidFill>
                <a:srgbClr val="000090"/>
              </a:solidFill>
            </a:endParaRPr>
          </a:p>
        </p:txBody>
      </p:sp>
      <p:sp>
        <p:nvSpPr>
          <p:cNvPr id="313" name="Shape 313"/>
          <p:cNvSpPr>
            <a:spLocks noGrp="1"/>
          </p:cNvSpPr>
          <p:nvPr>
            <p:ph type="body" idx="1"/>
          </p:nvPr>
        </p:nvSpPr>
        <p:spPr>
          <a:xfrm>
            <a:off x="1043608" y="1671023"/>
            <a:ext cx="7579691" cy="5214361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782863">
              <a:spcBef>
                <a:spcPts val="600"/>
              </a:spcBef>
              <a:buSzPct val="100000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dirty="0"/>
              <a:t>On June 22 WMO Executive Council endorsed </a:t>
            </a:r>
            <a:r>
              <a:rPr lang="fr-CH" sz="2400" i="1" dirty="0"/>
              <a:t>Vision</a:t>
            </a:r>
            <a:r>
              <a:rPr lang="fr-CH" sz="2400" dirty="0"/>
              <a:t> development as part of its WIGOS deliberations and recommended submitting document in its final form to Congress-18 in 2019;</a:t>
            </a:r>
          </a:p>
          <a:p>
            <a:pPr defTabSz="782863">
              <a:spcBef>
                <a:spcPts val="600"/>
              </a:spcBef>
              <a:buSzPct val="100000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sz="2400" dirty="0"/>
              <a:t>Final round of consultation to take place prior to translation into all WMO languages and dissemination to all Members for review in preparation for Congress;</a:t>
            </a:r>
          </a:p>
          <a:p>
            <a:pPr lvl="1" defTabSz="782863">
              <a:spcBef>
                <a:spcPts val="600"/>
              </a:spcBef>
              <a:buSzPct val="100000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sz="2000" dirty="0"/>
              <a:t>Consultations will include all WMO technical commissions and program areas, (GCOS and GCW), CEOS, other UN agencies (FAO, UNESCO, UNDP,…) and major contributing programs such as Copernicus;</a:t>
            </a:r>
          </a:p>
          <a:p>
            <a:pPr marL="618423" lvl="1" indent="-218373" defTabSz="782863">
              <a:lnSpc>
                <a:spcPct val="90000"/>
              </a:lnSpc>
              <a:spcBef>
                <a:spcPts val="7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endParaRPr lang="fr-CH" sz="2000" dirty="0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2"/>
          </p:nvPr>
        </p:nvSpPr>
        <p:spPr>
          <a:xfrm>
            <a:off x="8487101" y="6313668"/>
            <a:ext cx="199699" cy="215444"/>
          </a:xfrm>
          <a:prstGeom prst="rect">
            <a:avLst/>
          </a:prstGeom>
        </p:spPr>
        <p:txBody>
          <a:bodyPr/>
          <a:lstStyle/>
          <a:p>
            <a:pPr algn="r"/>
            <a:fld id="{9259AF2F-52C6-9B46-B8B2-0579234AE62E}" type="slidenum">
              <a:rPr lang="en-US" sz="1400" smtClean="0"/>
              <a:pPr algn="r"/>
              <a:t>33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84454615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>
            <a:spLocks noGrp="1"/>
          </p:cNvSpPr>
          <p:nvPr>
            <p:ph type="title"/>
          </p:nvPr>
        </p:nvSpPr>
        <p:spPr>
          <a:xfrm>
            <a:off x="215105" y="176203"/>
            <a:ext cx="8713790" cy="7921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txBody>
          <a:bodyPr anchor="ctr"/>
          <a:lstStyle>
            <a:lvl1pPr algn="ctr" defTabSz="487529">
              <a:defRPr sz="3600" b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Summary and Conclusions</a:t>
            </a:r>
          </a:p>
        </p:txBody>
      </p:sp>
      <p:sp>
        <p:nvSpPr>
          <p:cNvPr id="320" name="Shape 320"/>
          <p:cNvSpPr>
            <a:spLocks noGrp="1"/>
          </p:cNvSpPr>
          <p:nvPr>
            <p:ph type="body" idx="1"/>
          </p:nvPr>
        </p:nvSpPr>
        <p:spPr>
          <a:xfrm>
            <a:off x="352425" y="1181093"/>
            <a:ext cx="8642350" cy="500754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35817" indent="-235817" defTabSz="751857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WIGOS </a:t>
            </a:r>
            <a:r>
              <a:rPr lang="fr-CH" dirty="0"/>
              <a:t>is a </a:t>
            </a:r>
            <a:r>
              <a:rPr dirty="0"/>
              <a:t>global framework </a:t>
            </a:r>
            <a:r>
              <a:rPr lang="fr-CH" dirty="0"/>
              <a:t>for integrating all WMO observing systems under common regulatory and management umbrella;</a:t>
            </a:r>
          </a:p>
          <a:p>
            <a:pPr marL="235817" indent="-235817" defTabSz="751857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dirty="0"/>
              <a:t>Purpose is to help WMO Members provide and gain access to more observational data at reduced cost via integrated approach;</a:t>
            </a:r>
          </a:p>
          <a:p>
            <a:pPr marL="235817" indent="-235817" defTabSz="751857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dirty="0"/>
              <a:t>Regulatory material and technical systems implemented by WMO and is still undergoing further development;</a:t>
            </a:r>
          </a:p>
          <a:p>
            <a:pPr marL="235817" indent="-235817" defTabSz="751857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dirty="0"/>
              <a:t>Strong involvement from Members is necessary; beginning to happen;</a:t>
            </a:r>
          </a:p>
          <a:p>
            <a:pPr marL="235817" indent="-235817" defTabSz="751857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Regional WIGOS Centers</a:t>
            </a:r>
            <a:r>
              <a:rPr lang="fr-CH" dirty="0"/>
              <a:t> to</a:t>
            </a:r>
            <a:r>
              <a:rPr dirty="0"/>
              <a:t> provide important support function</a:t>
            </a:r>
            <a:r>
              <a:rPr lang="fr-CH" dirty="0"/>
              <a:t>s for Members;</a:t>
            </a:r>
          </a:p>
          <a:p>
            <a:pPr marL="235817" indent="-235817" defTabSz="751857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dirty="0"/>
              <a:t>Due to its origin and heritage, WIGOS is still weather (and to some extent) climate-dominated;</a:t>
            </a:r>
          </a:p>
          <a:p>
            <a:pPr marL="683492" lvl="1" indent="-235817" defTabSz="751857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dirty="0"/>
              <a:t>Integration workshop held in 2017 to facilitate integration of observing systems for hydrology, atmospheric composition, cryosphere;</a:t>
            </a:r>
          </a:p>
          <a:p>
            <a:pPr marL="683492" lvl="1" indent="-235817" defTabSz="751857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sz="2300">
                <a:latin typeface="Arial"/>
                <a:ea typeface="Arial"/>
                <a:cs typeface="Arial"/>
                <a:sym typeface="Arial"/>
              </a:defRPr>
            </a:pPr>
            <a:r>
              <a:rPr lang="fr-CH" dirty="0"/>
              <a:t>Second integration workshop planned for 2019.</a:t>
            </a:r>
          </a:p>
        </p:txBody>
      </p:sp>
    </p:spTree>
    <p:extLst>
      <p:ext uri="{BB962C8B-B14F-4D97-AF65-F5344CB8AC3E}">
        <p14:creationId xmlns:p14="http://schemas.microsoft.com/office/powerpoint/2010/main" val="1233829815"/>
      </p:ext>
    </p:extLst>
  </p:cSld>
  <p:clrMapOvr>
    <a:masterClrMapping/>
  </p:clrMapOvr>
  <p:transition spd="slow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 build="p" bldLvl="5" animBg="1" advAuto="0"/>
    </p:bldLst>
  </p:timing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8ECED"/>
      </a:accent5>
      <a:accent6>
        <a:srgbClr val="2E2E8B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8ECED"/>
      </a:accent5>
      <a:accent6>
        <a:srgbClr val="2E2E8B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3550</TotalTime>
  <Words>2181</Words>
  <Application>Microsoft Macintosh PowerPoint</Application>
  <PresentationFormat>On-screen Show (4:3)</PresentationFormat>
  <Paragraphs>214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MS PGothic</vt:lpstr>
      <vt:lpstr>Arial</vt:lpstr>
      <vt:lpstr>Arial Black</vt:lpstr>
      <vt:lpstr>Arial Bold</vt:lpstr>
      <vt:lpstr>Arial Narrow</vt:lpstr>
      <vt:lpstr>Avenir Roman</vt:lpstr>
      <vt:lpstr>Helvetica</vt:lpstr>
      <vt:lpstr>Helvetica Neue</vt:lpstr>
      <vt:lpstr>News Gothic MT</vt:lpstr>
      <vt:lpstr>Wingdings</vt:lpstr>
      <vt:lpstr>Default</vt:lpstr>
      <vt:lpstr>PowerPoint Presentation</vt:lpstr>
      <vt:lpstr>Outline</vt:lpstr>
      <vt:lpstr>What is the WMO Integrated Global Observing System (WIGOS)?</vt:lpstr>
      <vt:lpstr>PowerPoint Presentation</vt:lpstr>
      <vt:lpstr>Why do we need WIGOS?</vt:lpstr>
      <vt:lpstr>Why do we need WIGOS?</vt:lpstr>
      <vt:lpstr>What do we mean by Integration?</vt:lpstr>
      <vt:lpstr>What do we mean by Integration? (II)</vt:lpstr>
      <vt:lpstr>The WIGOS Pre-Operational Phase (2016-2019) decided by Cg-17 in 2015</vt:lpstr>
      <vt:lpstr>PowerPoint Presentation</vt:lpstr>
      <vt:lpstr>WMO Application Areas listed in the RRR</vt:lpstr>
      <vt:lpstr>Rolling Review of Requirements: Four levels of tools</vt:lpstr>
      <vt:lpstr>OSCAR</vt:lpstr>
      <vt:lpstr>OSCAR/Requirements</vt:lpstr>
      <vt:lpstr>PowerPoint Presentation</vt:lpstr>
      <vt:lpstr>PowerPoint Presentation</vt:lpstr>
      <vt:lpstr>OSCAR/Space</vt:lpstr>
      <vt:lpstr>PowerPoint Presentation</vt:lpstr>
      <vt:lpstr>OSCAR/Surface (“What is WIGOS?”)</vt:lpstr>
      <vt:lpstr>PowerPoint Presentation</vt:lpstr>
      <vt:lpstr>OSCAR quick access &amp; reports</vt:lpstr>
      <vt:lpstr>OSCAR/Surface Station Report (I)</vt:lpstr>
      <vt:lpstr>OSCAR/Surface Station Report (II)</vt:lpstr>
      <vt:lpstr>OSCAR/Surface Station Report (III)</vt:lpstr>
      <vt:lpstr>OSCAR detailed search</vt:lpstr>
      <vt:lpstr>WIGOS Data Quality Monitoring System (WDQMS)</vt:lpstr>
      <vt:lpstr>Current status of WDQMS NWP pilot  (example)</vt:lpstr>
      <vt:lpstr> Regional WIGOS Centers (RWC)</vt:lpstr>
      <vt:lpstr> Regional WIGOS Centers (II)</vt:lpstr>
      <vt:lpstr>PowerPoint Presentation</vt:lpstr>
      <vt:lpstr>PowerPoint Presentation</vt:lpstr>
      <vt:lpstr>PowerPoint Presentation</vt:lpstr>
      <vt:lpstr>Next steps</vt:lpstr>
      <vt:lpstr>Summary and Conclusions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WMO view of  AMS Annual Meeting Seattle, January 24 2017</dc:title>
  <cp:lastModifiedBy>Tony Boston</cp:lastModifiedBy>
  <cp:revision>86</cp:revision>
  <dcterms:modified xsi:type="dcterms:W3CDTF">2018-09-17T13:21:53Z</dcterms:modified>
</cp:coreProperties>
</file>