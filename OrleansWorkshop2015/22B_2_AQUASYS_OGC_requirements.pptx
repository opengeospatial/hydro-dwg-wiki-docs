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2"/>
  </p:notesMasterIdLst>
  <p:sldIdLst>
    <p:sldId id="315" r:id="rId2"/>
    <p:sldId id="328" r:id="rId3"/>
    <p:sldId id="326" r:id="rId4"/>
    <p:sldId id="325" r:id="rId5"/>
    <p:sldId id="330" r:id="rId6"/>
    <p:sldId id="331" r:id="rId7"/>
    <p:sldId id="332" r:id="rId8"/>
    <p:sldId id="316" r:id="rId9"/>
    <p:sldId id="327" r:id="rId10"/>
    <p:sldId id="323" r:id="rId11"/>
  </p:sldIdLst>
  <p:sldSz cx="9144000" cy="6858000" type="screen4x3"/>
  <p:notesSz cx="7099300" cy="10234613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Times New Roman" pitchFamily="16" charset="0"/>
        <a:ea typeface="Lucida Sans Unicode" pitchFamily="32" charset="0"/>
        <a:cs typeface="Lucida Sans Unicode" pitchFamily="32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1494" autoAdjust="0"/>
  </p:normalViewPr>
  <p:slideViewPr>
    <p:cSldViewPr>
      <p:cViewPr>
        <p:scale>
          <a:sx n="75" d="100"/>
          <a:sy n="75" d="100"/>
        </p:scale>
        <p:origin x="-1698" y="-150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75" d="100"/>
        <a:sy n="75" d="100"/>
      </p:scale>
      <p:origin x="0" y="0"/>
    </p:cViewPr>
  </p:notesTextViewPr>
  <p:notesViewPr>
    <p:cSldViewPr>
      <p:cViewPr varScale="1">
        <p:scale>
          <a:sx n="58" d="100"/>
          <a:sy n="58" d="100"/>
        </p:scale>
        <p:origin x="-3366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AutoShape 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36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67" name="AutoShape 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68" name="AutoShape 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69" name="AutoShape 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0" name="AutoShape 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1" name="AutoShape 6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2" name="AutoShape 7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3" name="AutoShape 8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4" name="AutoShape 9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5" name="AutoShape 10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6" name="AutoShape 11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7" name="AutoShape 12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19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8" name="AutoShape 13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79" name="AutoShape 14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80" name="AutoShape 15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81" name="AutoShape 16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82" name="AutoShape 17"/>
          <p:cNvSpPr>
            <a:spLocks noChangeArrowheads="1"/>
          </p:cNvSpPr>
          <p:nvPr/>
        </p:nvSpPr>
        <p:spPr bwMode="auto">
          <a:xfrm>
            <a:off x="0" y="0"/>
            <a:ext cx="7099300" cy="10234613"/>
          </a:xfrm>
          <a:prstGeom prst="roundRect">
            <a:avLst>
              <a:gd name="adj" fmla="val 23"/>
            </a:avLst>
          </a:prstGeom>
          <a:solidFill>
            <a:srgbClr val="FFFFFF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fr-FR" altLang="fr-FR"/>
          </a:p>
        </p:txBody>
      </p:sp>
      <p:sp>
        <p:nvSpPr>
          <p:cNvPr id="36883" name="Rectangle 18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-12463463" y="-8575675"/>
            <a:ext cx="24911051" cy="18678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067" name="Rectangle 19"/>
          <p:cNvSpPr>
            <a:spLocks noGrp="1" noChangeArrowheads="1"/>
          </p:cNvSpPr>
          <p:nvPr>
            <p:ph type="body"/>
          </p:nvPr>
        </p:nvSpPr>
        <p:spPr bwMode="auto">
          <a:xfrm>
            <a:off x="709613" y="4860925"/>
            <a:ext cx="5651500" cy="4584700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fr-FR" noProof="0" smtClean="0"/>
          </a:p>
        </p:txBody>
      </p:sp>
    </p:spTree>
    <p:extLst>
      <p:ext uri="{BB962C8B-B14F-4D97-AF65-F5344CB8AC3E}">
        <p14:creationId xmlns:p14="http://schemas.microsoft.com/office/powerpoint/2010/main" val="226273203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ext Box 1"/>
          <p:cNvSpPr>
            <a:spLocks noGrp="1" noChangeArrowheads="1"/>
          </p:cNvSpPr>
          <p:nvPr>
            <p:ph type="body"/>
          </p:nvPr>
        </p:nvSpPr>
        <p:spPr>
          <a:xfrm>
            <a:off x="709613" y="806450"/>
            <a:ext cx="5673725" cy="351631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ChangeArrowheads="1"/>
          </p:cNvSpPr>
          <p:nvPr>
            <p:ph type="body"/>
          </p:nvPr>
        </p:nvSpPr>
        <p:spPr>
          <a:xfrm>
            <a:off x="661988" y="403225"/>
            <a:ext cx="5673725" cy="4462463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>
              <a:lnSpc>
                <a:spcPct val="98000"/>
              </a:lnSpc>
              <a:spcBef>
                <a:spcPts val="450"/>
              </a:spcBef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fr-FR" altLang="fr-FR" sz="1400" b="1" dirty="0" smtClean="0">
              <a:ea typeface="MS Gothic" pitchFamily="49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63962AC-3FC5-4B9F-B850-5195105155AC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55019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A5EDA6C-58BB-4058-A44F-E3DF10BB261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23977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A3BBAD0-9841-45ED-AFC3-30C2CE60F650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5818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66F9D8-4302-4294-9A3F-1E0225318115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17848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2BE156-74BE-4286-99CE-FF1B082491A0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350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6175083"/>
            <a:ext cx="9144000" cy="688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62BE156-74BE-4286-99CE-FF1B082491A0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5" name="Rectangle 4"/>
          <p:cNvSpPr/>
          <p:nvPr userDrawn="1"/>
        </p:nvSpPr>
        <p:spPr>
          <a:xfrm>
            <a:off x="0" y="4207"/>
            <a:ext cx="9144000" cy="6884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5234" name="Picture 2" descr="http://www.aquasys.fr/css/images/aquasys.gif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336" y="186525"/>
            <a:ext cx="1352550" cy="323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vergnet.aquasys.fr/demoAdministration/services/downloadContentPicture/10525/ADMIN/1427287444488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9670" y="6264627"/>
            <a:ext cx="1440160" cy="509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7102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EC64E4-8E45-43F1-9440-14A17A921386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95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18FCAD-BA2D-4FE1-8F48-E1DBAFB76D1E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4815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D11A66-E3DB-40C4-85ED-2F5AB2699509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77770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E49799-A9BA-40B9-89AC-35E0D5AB29BA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892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7912D63-D3D4-4B26-B529-82B9DE82A26F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60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53AFD5A-7A40-49FF-8B39-D557F5007A84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5124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E28CCC-20DC-4A36-A2B1-1E3F4D660700}" type="datetimeFigureOut">
              <a:rPr lang="fr-FR" smtClean="0"/>
              <a:pPr/>
              <a:t>21/09/2015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AF3C18C-877F-4F37-B08A-1FF78EC8C9CB}" type="slidenum">
              <a:rPr lang="fr-FR" smtClean="0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62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7" r:id="rId6"/>
    <p:sldLayoutId id="2147483665" r:id="rId7"/>
    <p:sldLayoutId id="2147483666" r:id="rId8"/>
    <p:sldLayoutId id="2147483668" r:id="rId9"/>
    <p:sldLayoutId id="2147483669" r:id="rId10"/>
    <p:sldLayoutId id="2147483670" r:id="rId11"/>
    <p:sldLayoutId id="214748367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hyperlink" Target="http://showcase.aquasys.fr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gif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jpeg"/><Relationship Id="rId4" Type="http://schemas.openxmlformats.org/officeDocument/2006/relationships/image" Target="../media/image6.png"/><Relationship Id="rId9" Type="http://schemas.openxmlformats.org/officeDocument/2006/relationships/image" Target="../media/image11.gi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13" Type="http://schemas.openxmlformats.org/officeDocument/2006/relationships/image" Target="../media/image23.jpeg"/><Relationship Id="rId18" Type="http://schemas.openxmlformats.org/officeDocument/2006/relationships/image" Target="../media/image2.png"/><Relationship Id="rId3" Type="http://schemas.openxmlformats.org/officeDocument/2006/relationships/image" Target="../media/image14.png"/><Relationship Id="rId21" Type="http://schemas.openxmlformats.org/officeDocument/2006/relationships/image" Target="../media/image28.png"/><Relationship Id="rId7" Type="http://schemas.openxmlformats.org/officeDocument/2006/relationships/image" Target="../media/image17.jpeg"/><Relationship Id="rId12" Type="http://schemas.openxmlformats.org/officeDocument/2006/relationships/image" Target="../media/image22.png"/><Relationship Id="rId17" Type="http://schemas.openxmlformats.org/officeDocument/2006/relationships/image" Target="../media/image27.jpe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20" Type="http://schemas.openxmlformats.org/officeDocument/2006/relationships/hyperlink" Target="http://vergnet-hydro.aquasys.fr/demo/" TargetMode="Externa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19" Type="http://schemas.openxmlformats.org/officeDocument/2006/relationships/image" Target="../media/image1.gif"/><Relationship Id="rId4" Type="http://schemas.openxmlformats.org/officeDocument/2006/relationships/image" Target="../media/image8.gif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29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vergnet-hydro.aquasys.fr/demo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vergnet-hydro.aquasys.fr/burkina/" TargetMode="External"/><Relationship Id="rId4" Type="http://schemas.openxmlformats.org/officeDocument/2006/relationships/hyperlink" Target="http://vergnet-hydro.aquasys.fr/rdc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ecole-village-assainis-bdd.cd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://www.rgc.cd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Text Box 2"/>
          <p:cNvSpPr txBox="1">
            <a:spLocks noChangeArrowheads="1"/>
          </p:cNvSpPr>
          <p:nvPr/>
        </p:nvSpPr>
        <p:spPr bwMode="auto">
          <a:xfrm>
            <a:off x="539552" y="3656993"/>
            <a:ext cx="6408737" cy="1047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eaLnBrk="0" hangingPunct="0">
              <a:lnSpc>
                <a:spcPct val="106000"/>
              </a:lnSpc>
              <a:spcBef>
                <a:spcPts val="8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32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1pPr>
            <a:lvl2pPr eaLnBrk="0" hangingPunct="0">
              <a:lnSpc>
                <a:spcPct val="106000"/>
              </a:lnSpc>
              <a:spcBef>
                <a:spcPts val="7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8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2pPr>
            <a:lvl3pPr eaLnBrk="0" hangingPunct="0">
              <a:lnSpc>
                <a:spcPct val="106000"/>
              </a:lnSpc>
              <a:spcBef>
                <a:spcPts val="6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3pPr>
            <a:lvl4pPr eaLnBrk="0" hangingPunct="0">
              <a:lnSpc>
                <a:spcPct val="106000"/>
              </a:lnSpc>
              <a:spcBef>
                <a:spcPts val="5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4pPr>
            <a:lvl5pPr eaLnBrk="0" hangingPunct="0">
              <a:lnSpc>
                <a:spcPct val="106000"/>
              </a:lnSpc>
              <a:spcBef>
                <a:spcPts val="5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5pPr>
            <a:lvl6pPr marL="2514600" indent="-228600" defTabSz="449263" eaLnBrk="0" fontAlgn="base" hangingPunct="0">
              <a:lnSpc>
                <a:spcPct val="106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6pPr>
            <a:lvl7pPr marL="2971800" indent="-228600" defTabSz="449263" eaLnBrk="0" fontAlgn="base" hangingPunct="0">
              <a:lnSpc>
                <a:spcPct val="106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7pPr>
            <a:lvl8pPr marL="3429000" indent="-228600" defTabSz="449263" eaLnBrk="0" fontAlgn="base" hangingPunct="0">
              <a:lnSpc>
                <a:spcPct val="106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8pPr>
            <a:lvl9pPr marL="3886200" indent="-228600" defTabSz="449263" eaLnBrk="0" fontAlgn="base" hangingPunct="0">
              <a:lnSpc>
                <a:spcPct val="106000"/>
              </a:lnSpc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000">
                <a:solidFill>
                  <a:srgbClr val="3333CC"/>
                </a:solidFill>
                <a:latin typeface="Tahoma" pitchFamily="32" charset="0"/>
                <a:ea typeface="Lucida Sans Unicode" pitchFamily="32" charset="0"/>
                <a:cs typeface="Lucida Sans Unicode" pitchFamily="32" charset="0"/>
              </a:defRPr>
            </a:lvl9pPr>
          </a:lstStyle>
          <a:p>
            <a:pPr eaLnBrk="1" hangingPunct="1">
              <a:lnSpc>
                <a:spcPct val="86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fr-FR" sz="2400" dirty="0">
                <a:solidFill>
                  <a:srgbClr val="22228B"/>
                </a:solidFill>
                <a:latin typeface="Arial" charset="0"/>
              </a:rPr>
              <a:t>Water Sensor Monitoring in Kinshasa</a:t>
            </a:r>
            <a:endParaRPr lang="fr-FR" altLang="fr-FR" sz="2400" dirty="0" smtClean="0">
              <a:solidFill>
                <a:srgbClr val="22228B"/>
              </a:solidFill>
              <a:latin typeface="Arial" charset="0"/>
            </a:endParaRPr>
          </a:p>
          <a:p>
            <a:pPr eaLnBrk="1" hangingPunct="1">
              <a:lnSpc>
                <a:spcPct val="86000"/>
              </a:lnSpc>
              <a:spcBef>
                <a:spcPct val="0"/>
              </a:spcBef>
              <a:buClrTx/>
              <a:buFontTx/>
              <a:buNone/>
            </a:pPr>
            <a:endParaRPr lang="fr-FR" altLang="fr-FR" sz="1600" dirty="0" smtClean="0">
              <a:solidFill>
                <a:srgbClr val="22228B"/>
              </a:solidFill>
              <a:latin typeface="Arial" charset="0"/>
            </a:endParaRPr>
          </a:p>
          <a:p>
            <a:pPr eaLnBrk="1" hangingPunct="1">
              <a:lnSpc>
                <a:spcPct val="86000"/>
              </a:lnSpc>
              <a:spcBef>
                <a:spcPct val="0"/>
              </a:spcBef>
              <a:buClrTx/>
              <a:buFontTx/>
              <a:buNone/>
            </a:pPr>
            <a:r>
              <a:rPr lang="fr-FR" altLang="fr-FR" sz="1600" dirty="0" smtClean="0">
                <a:solidFill>
                  <a:srgbClr val="22228B"/>
                </a:solidFill>
                <a:latin typeface="Arial" charset="0"/>
              </a:rPr>
              <a:t>stephane.barthon@aquasys.fr</a:t>
            </a:r>
          </a:p>
          <a:p>
            <a:pPr eaLnBrk="1" hangingPunct="1">
              <a:lnSpc>
                <a:spcPct val="86000"/>
              </a:lnSpc>
              <a:spcBef>
                <a:spcPct val="0"/>
              </a:spcBef>
              <a:buClrTx/>
              <a:buFontTx/>
              <a:buNone/>
            </a:pPr>
            <a:r>
              <a:rPr lang="fr-FR" altLang="fr-FR" sz="1600" dirty="0" smtClean="0">
                <a:solidFill>
                  <a:srgbClr val="22228B"/>
                </a:solidFill>
                <a:latin typeface="Arial" charset="0"/>
              </a:rPr>
              <a:t>09/2015</a:t>
            </a:r>
            <a:endParaRPr lang="fr-FR" altLang="fr-FR" sz="1600" dirty="0">
              <a:solidFill>
                <a:srgbClr val="22228B"/>
              </a:solidFill>
              <a:latin typeface="Arial" charset="0"/>
            </a:endParaRPr>
          </a:p>
        </p:txBody>
      </p:sp>
      <p:sp>
        <p:nvSpPr>
          <p:cNvPr id="3" name="AutoShape 4" descr="http://eausout.cg49.fr/aep49publication/services/downloadContentPicture/50891/ADMIN/1400661305666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 dirty="0"/>
          </a:p>
        </p:txBody>
      </p:sp>
      <p:pic>
        <p:nvPicPr>
          <p:cNvPr id="6" name="Picture 11" descr="http://www.aquasys.fr/css/images/aquasys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4437112"/>
            <a:ext cx="2105169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http://vergnet.aquasys.fr/demoAdministration/services/downloadContentPicture/10525/ADMIN/142728744448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889" y="3409138"/>
            <a:ext cx="2181225" cy="771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6752"/>
            <a:ext cx="9144000" cy="2083380"/>
          </a:xfrm>
          <a:prstGeom prst="rect">
            <a:avLst/>
          </a:prstGeom>
        </p:spPr>
      </p:pic>
      <p:pic>
        <p:nvPicPr>
          <p:cNvPr id="1026" name="Picture 2" descr="http://www.annefrank.ch/tl_files/content/unicef_logo_cyan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5386596"/>
            <a:ext cx="2105169" cy="50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9448694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Presentation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pic>
        <p:nvPicPr>
          <p:cNvPr id="5" name="Picture 2" descr="W:\temp\test\css\images\aquasys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131840" y="996504"/>
            <a:ext cx="2540433" cy="608508"/>
          </a:xfrm>
          <a:prstGeom prst="rect">
            <a:avLst/>
          </a:prstGeom>
          <a:noFill/>
        </p:spPr>
      </p:pic>
      <p:sp>
        <p:nvSpPr>
          <p:cNvPr id="6" name="ZoneTexte 5"/>
          <p:cNvSpPr txBox="1"/>
          <p:nvPr/>
        </p:nvSpPr>
        <p:spPr>
          <a:xfrm>
            <a:off x="539552" y="1988840"/>
            <a:ext cx="835292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Company</a:t>
            </a: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chemeClr val="tx2"/>
              </a:buClr>
            </a:pP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Since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1996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 for Water ressource management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Provider for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companies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which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manage water networks</a:t>
            </a:r>
          </a:p>
          <a:p>
            <a:pPr marL="285750" indent="-285750"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7808307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2" name="Picture 8" descr="http://maxit.com.au/wp-content/uploads/2014/06/cloud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8750" y="3040112"/>
            <a:ext cx="1418287" cy="1418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59" y="996744"/>
            <a:ext cx="2443365" cy="2658234"/>
          </a:xfrm>
          <a:prstGeom prst="rect">
            <a:avLst/>
          </a:prstGeom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Sensor</a:t>
            </a:r>
            <a:r>
              <a:rPr lang="fr-FR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 Network Management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4725144"/>
            <a:ext cx="9144000" cy="13033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3" name="Groupe 12"/>
          <p:cNvGrpSpPr/>
          <p:nvPr/>
        </p:nvGrpSpPr>
        <p:grpSpPr>
          <a:xfrm>
            <a:off x="786575" y="1386608"/>
            <a:ext cx="1769742" cy="1515077"/>
            <a:chOff x="755576" y="1707008"/>
            <a:chExt cx="2750023" cy="2328089"/>
          </a:xfrm>
        </p:grpSpPr>
        <p:pic>
          <p:nvPicPr>
            <p:cNvPr id="10" name="Image 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5576" y="1957984"/>
              <a:ext cx="404168" cy="501951"/>
            </a:xfrm>
            <a:prstGeom prst="rect">
              <a:avLst/>
            </a:prstGeom>
          </p:spPr>
        </p:pic>
        <p:pic>
          <p:nvPicPr>
            <p:cNvPr id="14" name="Image 1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9744" y="2720134"/>
              <a:ext cx="404168" cy="501951"/>
            </a:xfrm>
            <a:prstGeom prst="rect">
              <a:avLst/>
            </a:prstGeom>
          </p:spPr>
        </p:pic>
        <p:pic>
          <p:nvPicPr>
            <p:cNvPr id="15" name="Imag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21150" y="3084718"/>
              <a:ext cx="404168" cy="501951"/>
            </a:xfrm>
            <a:prstGeom prst="rect">
              <a:avLst/>
            </a:prstGeom>
          </p:spPr>
        </p:pic>
        <p:pic>
          <p:nvPicPr>
            <p:cNvPr id="16" name="Image 15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488" y="1707008"/>
              <a:ext cx="404168" cy="501951"/>
            </a:xfrm>
            <a:prstGeom prst="rect">
              <a:avLst/>
            </a:prstGeom>
          </p:spPr>
        </p:pic>
        <p:pic>
          <p:nvPicPr>
            <p:cNvPr id="17" name="Image 16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23234" y="1859408"/>
              <a:ext cx="404168" cy="501951"/>
            </a:xfrm>
            <a:prstGeom prst="rect">
              <a:avLst/>
            </a:prstGeom>
          </p:spPr>
        </p:pic>
        <p:pic>
          <p:nvPicPr>
            <p:cNvPr id="18" name="Image 17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01431" y="2262783"/>
              <a:ext cx="404168" cy="501951"/>
            </a:xfrm>
            <a:prstGeom prst="rect">
              <a:avLst/>
            </a:prstGeom>
          </p:spPr>
        </p:pic>
        <p:pic>
          <p:nvPicPr>
            <p:cNvPr id="19" name="Image 18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49663" y="3533146"/>
              <a:ext cx="404168" cy="501951"/>
            </a:xfrm>
            <a:prstGeom prst="rect">
              <a:avLst/>
            </a:prstGeom>
          </p:spPr>
        </p:pic>
        <p:pic>
          <p:nvPicPr>
            <p:cNvPr id="20" name="Image 19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61828" y="3481868"/>
              <a:ext cx="404168" cy="501951"/>
            </a:xfrm>
            <a:prstGeom prst="rect">
              <a:avLst/>
            </a:prstGeom>
          </p:spPr>
        </p:pic>
      </p:grpSp>
      <p:pic>
        <p:nvPicPr>
          <p:cNvPr id="1026" name="Picture 2" descr="http://findicons.com/files/icons/1714/dropline_neu/128/network_server.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0396" y="3088504"/>
            <a:ext cx="969885" cy="969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 Box 14"/>
          <p:cNvSpPr txBox="1">
            <a:spLocks noChangeArrowheads="1"/>
          </p:cNvSpPr>
          <p:nvPr/>
        </p:nvSpPr>
        <p:spPr bwMode="auto">
          <a:xfrm>
            <a:off x="4363870" y="876095"/>
            <a:ext cx="4780130" cy="578959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>
                <a:latin typeface="Arial Black" pitchFamily="34" charset="0"/>
              </a:rPr>
              <a:t>Multiple data types: </a:t>
            </a:r>
            <a:r>
              <a:rPr lang="fr-FR" sz="1600" dirty="0" err="1" smtClean="0">
                <a:latin typeface="Arial Black" pitchFamily="34" charset="0"/>
              </a:rPr>
              <a:t>piezometers</a:t>
            </a:r>
            <a:r>
              <a:rPr lang="fr-FR" sz="1600" dirty="0" smtClean="0">
                <a:latin typeface="Arial Black" pitchFamily="34" charset="0"/>
              </a:rPr>
              <a:t>, </a:t>
            </a:r>
            <a:r>
              <a:rPr lang="fr-FR" sz="1600" dirty="0" err="1">
                <a:latin typeface="Arial Black" pitchFamily="34" charset="0"/>
              </a:rPr>
              <a:t>rain</a:t>
            </a:r>
            <a:r>
              <a:rPr lang="fr-FR" sz="1600" dirty="0">
                <a:latin typeface="Arial Black" pitchFamily="34" charset="0"/>
              </a:rPr>
              <a:t> </a:t>
            </a:r>
            <a:r>
              <a:rPr lang="fr-FR" sz="1600" dirty="0" err="1" smtClean="0">
                <a:latin typeface="Arial Black" pitchFamily="34" charset="0"/>
              </a:rPr>
              <a:t>sensors</a:t>
            </a:r>
            <a:r>
              <a:rPr lang="fr-FR" sz="1600" dirty="0" smtClean="0">
                <a:latin typeface="Arial Black" pitchFamily="34" charset="0"/>
              </a:rPr>
              <a:t>, </a:t>
            </a:r>
            <a:r>
              <a:rPr lang="fr-FR" sz="1600" dirty="0" err="1">
                <a:latin typeface="Arial Black" pitchFamily="34" charset="0"/>
              </a:rPr>
              <a:t>quality</a:t>
            </a:r>
            <a:r>
              <a:rPr lang="fr-FR" sz="1600" dirty="0">
                <a:latin typeface="Arial Black" pitchFamily="34" charset="0"/>
              </a:rPr>
              <a:t>, </a:t>
            </a:r>
            <a:r>
              <a:rPr lang="fr-FR" sz="1600" dirty="0" err="1">
                <a:latin typeface="Arial Black" pitchFamily="34" charset="0"/>
              </a:rPr>
              <a:t>pumping</a:t>
            </a:r>
            <a:r>
              <a:rPr lang="fr-FR" sz="1600" dirty="0">
                <a:latin typeface="Arial Black" pitchFamily="34" charset="0"/>
              </a:rPr>
              <a:t> volumes, …</a:t>
            </a:r>
          </a:p>
        </p:txBody>
      </p:sp>
      <p:sp>
        <p:nvSpPr>
          <p:cNvPr id="31" name="Text Box 14"/>
          <p:cNvSpPr txBox="1">
            <a:spLocks noChangeArrowheads="1"/>
          </p:cNvSpPr>
          <p:nvPr/>
        </p:nvSpPr>
        <p:spPr bwMode="auto">
          <a:xfrm>
            <a:off x="4363870" y="1646078"/>
            <a:ext cx="4809722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>
                <a:latin typeface="Arial Black" pitchFamily="34" charset="0"/>
              </a:rPr>
              <a:t>Independent </a:t>
            </a:r>
            <a:r>
              <a:rPr lang="fr-FR" sz="1600" dirty="0" err="1">
                <a:latin typeface="Arial Black" pitchFamily="34" charset="0"/>
              </a:rPr>
              <a:t>from</a:t>
            </a:r>
            <a:r>
              <a:rPr lang="fr-FR" sz="1600" dirty="0">
                <a:latin typeface="Arial Black" pitchFamily="34" charset="0"/>
              </a:rPr>
              <a:t> </a:t>
            </a:r>
            <a:r>
              <a:rPr lang="fr-FR" sz="1600" dirty="0" err="1">
                <a:latin typeface="Arial Black" pitchFamily="34" charset="0"/>
              </a:rPr>
              <a:t>equipment</a:t>
            </a:r>
            <a:r>
              <a:rPr lang="fr-FR" sz="1600" dirty="0">
                <a:latin typeface="Arial Black" pitchFamily="34" charset="0"/>
              </a:rPr>
              <a:t> providers</a:t>
            </a:r>
          </a:p>
        </p:txBody>
      </p:sp>
      <p:sp>
        <p:nvSpPr>
          <p:cNvPr id="32" name="Text Box 14"/>
          <p:cNvSpPr txBox="1">
            <a:spLocks noChangeArrowheads="1"/>
          </p:cNvSpPr>
          <p:nvPr/>
        </p:nvSpPr>
        <p:spPr bwMode="auto">
          <a:xfrm>
            <a:off x="4363870" y="2175006"/>
            <a:ext cx="4809722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 err="1">
                <a:latin typeface="Arial Black" pitchFamily="34" charset="0"/>
              </a:rPr>
              <a:t>Multichannels</a:t>
            </a:r>
            <a:r>
              <a:rPr lang="fr-FR" sz="1600" dirty="0">
                <a:latin typeface="Arial Black" pitchFamily="34" charset="0"/>
              </a:rPr>
              <a:t>: modem, email, SMS, </a:t>
            </a:r>
            <a:r>
              <a:rPr lang="fr-FR" sz="1600" dirty="0" smtClean="0">
                <a:latin typeface="Arial Black" pitchFamily="34" charset="0"/>
              </a:rPr>
              <a:t>FTP</a:t>
            </a:r>
            <a:endParaRPr lang="fr-FR" sz="1600" dirty="0">
              <a:latin typeface="Arial Black" pitchFamily="34" charset="0"/>
            </a:endParaRPr>
          </a:p>
        </p:txBody>
      </p:sp>
      <p:sp>
        <p:nvSpPr>
          <p:cNvPr id="33" name="Text Box 14"/>
          <p:cNvSpPr txBox="1">
            <a:spLocks noChangeArrowheads="1"/>
          </p:cNvSpPr>
          <p:nvPr/>
        </p:nvSpPr>
        <p:spPr bwMode="auto">
          <a:xfrm>
            <a:off x="4363870" y="2755766"/>
            <a:ext cx="4809722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>
                <a:latin typeface="Arial Black" pitchFamily="34" charset="0"/>
              </a:rPr>
              <a:t>Internet solutions for publication</a:t>
            </a:r>
            <a:endParaRPr lang="fr-FR" sz="1600" dirty="0" smtClean="0">
              <a:latin typeface="Arial Black" pitchFamily="34" charset="0"/>
            </a:endParaRPr>
          </a:p>
        </p:txBody>
      </p:sp>
      <p:grpSp>
        <p:nvGrpSpPr>
          <p:cNvPr id="22" name="Groupe 21"/>
          <p:cNvGrpSpPr/>
          <p:nvPr/>
        </p:nvGrpSpPr>
        <p:grpSpPr>
          <a:xfrm>
            <a:off x="1665373" y="1372520"/>
            <a:ext cx="1871224" cy="2376736"/>
            <a:chOff x="1665373" y="1372520"/>
            <a:chExt cx="1871224" cy="2376736"/>
          </a:xfrm>
        </p:grpSpPr>
        <p:pic>
          <p:nvPicPr>
            <p:cNvPr id="1028" name="Picture 4" descr="https://upload.wikimedia.org/wikipedia/commons/c/c0/Gnome-fs-ftp.png"/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85045" y="1372520"/>
              <a:ext cx="751552" cy="7515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http://www.giga-concept.fr/media/uploads/products/icons/gsm-gprs.gif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65373" y="3105520"/>
              <a:ext cx="472948" cy="64373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http://media.ldlc.com/common/products/00/00/82/48/CO0000824828.jpg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2696" y="2325861"/>
              <a:ext cx="476250" cy="4762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036" name="Picture 12" descr="http://bxl.indymedia.org/IMG/png/internet-web-browser-3.png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0294" y="3529737"/>
            <a:ext cx="1009724" cy="100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Text Box 14"/>
          <p:cNvSpPr txBox="1">
            <a:spLocks noChangeArrowheads="1"/>
          </p:cNvSpPr>
          <p:nvPr/>
        </p:nvSpPr>
        <p:spPr bwMode="auto">
          <a:xfrm>
            <a:off x="6013152" y="4125661"/>
            <a:ext cx="3131840" cy="33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 smtClean="0">
                <a:latin typeface="Arial Black" pitchFamily="34" charset="0"/>
                <a:hlinkClick r:id="rId12"/>
              </a:rPr>
              <a:t>http://showcase.aquasys.fr</a:t>
            </a:r>
            <a:endParaRPr lang="fr-FR" sz="1600" dirty="0" smtClean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0131269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0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Water Sensor Monitoring </a:t>
            </a:r>
            <a:r>
              <a:rPr lang="en-US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in Africa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119598" y="1844824"/>
            <a:ext cx="422583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« real-time »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snapshoot</a:t>
            </a:r>
            <a:endParaRPr lang="fr-FR" sz="2000" b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Station description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Events</a:t>
            </a:r>
          </a:p>
          <a:p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Gathering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automatically</a:t>
            </a:r>
            <a:endParaRPr lang="fr-FR" sz="2000" b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Pumping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Piezometer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Sending</a:t>
            </a:r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feedback for financer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 as transparent as possible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Indicators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running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days</a:t>
            </a:r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4736356" y="1844824"/>
            <a:ext cx="43204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 </a:t>
            </a:r>
            <a:r>
              <a:rPr lang="fr-FR" sz="2000" b="1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working</a:t>
            </a:r>
            <a:r>
              <a:rPr lang="fr-FR" sz="20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conditions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power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supply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communication </a:t>
            </a:r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r>
              <a:rPr lang="fr-FR" sz="20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Maintenance</a:t>
            </a:r>
            <a:endParaRPr lang="fr-FR" sz="2000" b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Cost</a:t>
            </a:r>
            <a:endParaRPr lang="fr-FR" sz="2000" b="1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equipments</a:t>
            </a:r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exchange </a:t>
            </a: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0" y="1161479"/>
            <a:ext cx="4139952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 algn="r"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 err="1" smtClean="0">
                <a:latin typeface="Arial Black" pitchFamily="34" charset="0"/>
              </a:rPr>
              <a:t>Functional</a:t>
            </a:r>
            <a:r>
              <a:rPr lang="fr-FR" sz="1600" dirty="0" smtClean="0">
                <a:latin typeface="Arial Black" pitchFamily="34" charset="0"/>
              </a:rPr>
              <a:t> </a:t>
            </a:r>
            <a:r>
              <a:rPr lang="fr-FR" sz="1600" dirty="0" err="1" smtClean="0">
                <a:latin typeface="Arial Black" pitchFamily="34" charset="0"/>
              </a:rPr>
              <a:t>requirements</a:t>
            </a:r>
            <a:endParaRPr lang="fr-FR" sz="1600" dirty="0">
              <a:latin typeface="Arial Black" pitchFamily="34" charset="0"/>
            </a:endParaRP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4638824" y="1161479"/>
            <a:ext cx="4505176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 err="1" smtClean="0">
                <a:latin typeface="Arial Black" pitchFamily="34" charset="0"/>
              </a:rPr>
              <a:t>Technical</a:t>
            </a:r>
            <a:r>
              <a:rPr lang="fr-FR" sz="1600" dirty="0" smtClean="0">
                <a:latin typeface="Arial Black" pitchFamily="34" charset="0"/>
              </a:rPr>
              <a:t> </a:t>
            </a:r>
            <a:r>
              <a:rPr lang="fr-FR" sz="1600" dirty="0" err="1" smtClean="0">
                <a:latin typeface="Arial Black" pitchFamily="34" charset="0"/>
              </a:rPr>
              <a:t>requirements</a:t>
            </a:r>
            <a:endParaRPr lang="fr-FR" sz="1600" dirty="0">
              <a:latin typeface="Arial Black" pitchFamily="34" charset="0"/>
            </a:endParaRPr>
          </a:p>
        </p:txBody>
      </p:sp>
      <p:cxnSp>
        <p:nvCxnSpPr>
          <p:cNvPr id="8" name="Connecteur droit 7"/>
          <p:cNvCxnSpPr/>
          <p:nvPr/>
        </p:nvCxnSpPr>
        <p:spPr>
          <a:xfrm>
            <a:off x="4383287" y="659883"/>
            <a:ext cx="0" cy="5577429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311959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41" y="3063383"/>
            <a:ext cx="3450384" cy="3092498"/>
          </a:xfrm>
          <a:prstGeom prst="rect">
            <a:avLst/>
          </a:prstGeom>
        </p:spPr>
      </p:pic>
      <p:pic>
        <p:nvPicPr>
          <p:cNvPr id="46" name="Image 4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3547" y="4508368"/>
            <a:ext cx="260097" cy="326660"/>
          </a:xfrm>
          <a:prstGeom prst="rect">
            <a:avLst/>
          </a:prstGeom>
        </p:spPr>
      </p:pic>
      <p:pic>
        <p:nvPicPr>
          <p:cNvPr id="40" name="Image 3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3420" y="3567162"/>
            <a:ext cx="260097" cy="326660"/>
          </a:xfrm>
          <a:prstGeom prst="rect">
            <a:avLst/>
          </a:prstGeom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6035" y="4666642"/>
            <a:ext cx="260097" cy="326660"/>
          </a:xfrm>
          <a:prstGeom prst="rect">
            <a:avLst/>
          </a:prstGeom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2302" y="4258983"/>
            <a:ext cx="260097" cy="326660"/>
          </a:xfrm>
          <a:prstGeom prst="rect">
            <a:avLst/>
          </a:prstGeom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6084" y="4369181"/>
            <a:ext cx="260097" cy="326660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9723" y="3744484"/>
            <a:ext cx="260097" cy="326660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82" y="3706068"/>
            <a:ext cx="260097" cy="326660"/>
          </a:xfrm>
          <a:prstGeom prst="rect">
            <a:avLst/>
          </a:prstGeom>
        </p:spPr>
      </p:pic>
      <p:pic>
        <p:nvPicPr>
          <p:cNvPr id="47" name="Image 4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2344" y="3518314"/>
            <a:ext cx="260097" cy="326660"/>
          </a:xfrm>
          <a:prstGeom prst="rect">
            <a:avLst/>
          </a:prstGeom>
        </p:spPr>
      </p:pic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3000" dirty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Water Sensor Monitoring </a:t>
            </a:r>
            <a:r>
              <a:rPr lang="en-US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in Africa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cxnSp>
        <p:nvCxnSpPr>
          <p:cNvPr id="6" name="Connecteur droit 5"/>
          <p:cNvCxnSpPr>
            <a:cxnSpLocks noChangeShapeType="1"/>
            <a:stCxn id="31" idx="0"/>
          </p:cNvCxnSpPr>
          <p:nvPr/>
        </p:nvCxnSpPr>
        <p:spPr bwMode="auto">
          <a:xfrm flipV="1">
            <a:off x="5998170" y="2837583"/>
            <a:ext cx="1108670" cy="778386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7" name="Connecteur droit 6"/>
          <p:cNvCxnSpPr>
            <a:cxnSpLocks noChangeShapeType="1"/>
          </p:cNvCxnSpPr>
          <p:nvPr/>
        </p:nvCxnSpPr>
        <p:spPr bwMode="auto">
          <a:xfrm>
            <a:off x="3854847" y="1971675"/>
            <a:ext cx="3021409" cy="41433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6248" y="766088"/>
            <a:ext cx="2274761" cy="1524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Connecteur droit 8"/>
          <p:cNvCxnSpPr>
            <a:cxnSpLocks noChangeShapeType="1"/>
          </p:cNvCxnSpPr>
          <p:nvPr/>
        </p:nvCxnSpPr>
        <p:spPr bwMode="auto">
          <a:xfrm flipV="1">
            <a:off x="4235425" y="2669040"/>
            <a:ext cx="2640831" cy="337086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10" name="Image 9" descr="burkina.jp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99" y="2661747"/>
            <a:ext cx="1339552" cy="721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necteur droit 10"/>
          <p:cNvCxnSpPr>
            <a:cxnSpLocks noChangeShapeType="1"/>
          </p:cNvCxnSpPr>
          <p:nvPr/>
        </p:nvCxnSpPr>
        <p:spPr bwMode="auto">
          <a:xfrm flipV="1">
            <a:off x="5154216" y="2780928"/>
            <a:ext cx="1722040" cy="60590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</p:spPr>
      </p:cxnSp>
      <p:pic>
        <p:nvPicPr>
          <p:cNvPr id="16" name="Picture 1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735" y="1056384"/>
            <a:ext cx="727075" cy="617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8" name="Image 17" descr="rdc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484" y="3133273"/>
            <a:ext cx="1265238" cy="681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" name="Picture 2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4684" y="5485768"/>
            <a:ext cx="2063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0" name="Picture 2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441" y="5591741"/>
            <a:ext cx="206375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grpSp>
        <p:nvGrpSpPr>
          <p:cNvPr id="21" name="Groupe 20"/>
          <p:cNvGrpSpPr>
            <a:grpSpLocks/>
          </p:cNvGrpSpPr>
          <p:nvPr/>
        </p:nvGrpSpPr>
        <p:grpSpPr bwMode="auto">
          <a:xfrm>
            <a:off x="2726700" y="5318373"/>
            <a:ext cx="1873250" cy="746514"/>
            <a:chOff x="83865" y="3881586"/>
            <a:chExt cx="1873250" cy="747008"/>
          </a:xfrm>
        </p:grpSpPr>
        <p:pic>
          <p:nvPicPr>
            <p:cNvPr id="22" name="Picture 2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6490" y="3881586"/>
              <a:ext cx="508000" cy="523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23" name="Text Box 3"/>
            <p:cNvSpPr txBox="1">
              <a:spLocks noChangeArrowheads="1"/>
            </p:cNvSpPr>
            <p:nvPr/>
          </p:nvSpPr>
          <p:spPr bwMode="auto">
            <a:xfrm>
              <a:off x="83865" y="4383236"/>
              <a:ext cx="1873250" cy="2453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89000"/>
                </a:lnSpc>
                <a:buClrTx/>
                <a:buFontTx/>
                <a:buNone/>
              </a:pPr>
              <a:r>
                <a:rPr lang="fr-FR" altLang="fr-FR" sz="1100" dirty="0" err="1" smtClean="0">
                  <a:solidFill>
                    <a:srgbClr val="000000"/>
                  </a:solidFill>
                  <a:latin typeface="Arial Black" pitchFamily="32" charset="0"/>
                </a:rPr>
                <a:t>Craftsmen</a:t>
              </a:r>
              <a:endParaRPr lang="fr-FR" altLang="fr-FR" sz="1100" dirty="0">
                <a:solidFill>
                  <a:srgbClr val="000000"/>
                </a:solidFill>
                <a:latin typeface="Arial Black" pitchFamily="32" charset="0"/>
              </a:endParaRPr>
            </a:p>
          </p:txBody>
        </p:sp>
      </p:grpSp>
      <p:grpSp>
        <p:nvGrpSpPr>
          <p:cNvPr id="24" name="Group 4"/>
          <p:cNvGrpSpPr>
            <a:grpSpLocks/>
          </p:cNvGrpSpPr>
          <p:nvPr/>
        </p:nvGrpSpPr>
        <p:grpSpPr bwMode="auto">
          <a:xfrm>
            <a:off x="982935" y="5365982"/>
            <a:ext cx="1103313" cy="760413"/>
            <a:chOff x="131" y="3294"/>
            <a:chExt cx="695" cy="479"/>
          </a:xfrm>
        </p:grpSpPr>
        <p:pic>
          <p:nvPicPr>
            <p:cNvPr id="25" name="Picture 5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4" y="3294"/>
              <a:ext cx="304" cy="2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pic>
        <p:sp>
          <p:nvSpPr>
            <p:cNvPr id="26" name="Text Box 6"/>
            <p:cNvSpPr txBox="1">
              <a:spLocks noChangeArrowheads="1"/>
            </p:cNvSpPr>
            <p:nvPr/>
          </p:nvSpPr>
          <p:spPr bwMode="auto">
            <a:xfrm>
              <a:off x="131" y="3524"/>
              <a:ext cx="695" cy="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lIns="90000" tIns="46800" rIns="90000" bIns="46800">
              <a:spAutoFit/>
            </a:bodyPr>
            <a:lstStyle>
              <a:defPPr>
                <a:defRPr lang="en-GB"/>
              </a:defPPr>
              <a:lvl1pPr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1pPr>
              <a:lvl2pPr marL="742950" indent="-28575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2pPr>
              <a:lvl3pPr marL="11430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3pPr>
              <a:lvl4pPr marL="16002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4pPr>
              <a:lvl5pPr marL="2057400" indent="-228600" algn="l" defTabSz="449263" rtl="0" fontAlgn="base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6" charset="0"/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2400" kern="1200">
                  <a:solidFill>
                    <a:schemeClr val="bg1"/>
                  </a:solidFill>
                  <a:latin typeface="Times New Roman" pitchFamily="16" charset="0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89000"/>
                </a:lnSpc>
                <a:buClrTx/>
                <a:buFontTx/>
                <a:buNone/>
              </a:pPr>
              <a:r>
                <a:rPr lang="fr-FR" altLang="fr-FR" sz="1100" dirty="0" smtClean="0">
                  <a:solidFill>
                    <a:srgbClr val="000000"/>
                  </a:solidFill>
                  <a:latin typeface="Arial Black" pitchFamily="32" charset="0"/>
                </a:rPr>
                <a:t>Station</a:t>
              </a:r>
            </a:p>
            <a:p>
              <a:pPr algn="ctr" eaLnBrk="1" hangingPunct="1">
                <a:lnSpc>
                  <a:spcPct val="89000"/>
                </a:lnSpc>
                <a:buClrTx/>
                <a:buFontTx/>
                <a:buNone/>
              </a:pPr>
              <a:r>
                <a:rPr lang="fr-FR" altLang="fr-FR" sz="1100" dirty="0" smtClean="0">
                  <a:solidFill>
                    <a:srgbClr val="000000"/>
                  </a:solidFill>
                  <a:latin typeface="Arial Black" pitchFamily="32" charset="0"/>
                </a:rPr>
                <a:t>managers</a:t>
              </a:r>
              <a:endParaRPr lang="fr-FR" altLang="fr-FR" sz="1100" dirty="0">
                <a:solidFill>
                  <a:srgbClr val="000000"/>
                </a:solidFill>
                <a:latin typeface="Arial Black" pitchFamily="32" charset="0"/>
              </a:endParaRPr>
            </a:p>
          </p:txBody>
        </p:sp>
      </p:grpSp>
      <p:pic>
        <p:nvPicPr>
          <p:cNvPr id="27" name="Picture 9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6300527">
            <a:off x="1298442" y="794086"/>
            <a:ext cx="2014964" cy="3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29" name="Picture 2" descr="http://serveur-web.eu/serveur6.jp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8065" y="1605951"/>
            <a:ext cx="1428750" cy="1400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http://www.clipartbest.com/cliparts/ace/qnG/aceqnGrc4.png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7871" y="1848584"/>
            <a:ext cx="660518" cy="66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Image 30" descr="rdc.jp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5551" y="3615969"/>
            <a:ext cx="1265238" cy="681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Image 32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9281" y="4546749"/>
            <a:ext cx="977778" cy="812698"/>
          </a:xfrm>
          <a:prstGeom prst="rect">
            <a:avLst/>
          </a:prstGeom>
        </p:spPr>
      </p:pic>
      <p:pic>
        <p:nvPicPr>
          <p:cNvPr id="35" name="Image 34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412" y="4077851"/>
            <a:ext cx="977778" cy="812698"/>
          </a:xfrm>
          <a:prstGeom prst="rect">
            <a:avLst/>
          </a:prstGeom>
        </p:spPr>
      </p:pic>
      <p:sp>
        <p:nvSpPr>
          <p:cNvPr id="36" name="Text Box 9"/>
          <p:cNvSpPr txBox="1">
            <a:spLocks noChangeArrowheads="1"/>
          </p:cNvSpPr>
          <p:nvPr/>
        </p:nvSpPr>
        <p:spPr bwMode="auto">
          <a:xfrm>
            <a:off x="1213266" y="4799618"/>
            <a:ext cx="1368426" cy="3958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bg1"/>
                </a:solidFill>
                <a:latin typeface="Times New Roman" pitchFamily="16" charset="0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89000"/>
              </a:lnSpc>
              <a:buClrTx/>
              <a:buFontTx/>
              <a:buNone/>
            </a:pPr>
            <a:r>
              <a:rPr lang="fr-FR" altLang="fr-FR" sz="1100" dirty="0" smtClean="0">
                <a:solidFill>
                  <a:srgbClr val="000000"/>
                </a:solidFill>
                <a:latin typeface="Arial Black" pitchFamily="32" charset="0"/>
              </a:rPr>
              <a:t>Network</a:t>
            </a:r>
          </a:p>
          <a:p>
            <a:pPr algn="ctr" eaLnBrk="1" hangingPunct="1">
              <a:lnSpc>
                <a:spcPct val="89000"/>
              </a:lnSpc>
              <a:buClrTx/>
              <a:buFontTx/>
              <a:buNone/>
            </a:pPr>
            <a:r>
              <a:rPr lang="fr-FR" altLang="fr-FR" sz="1100" dirty="0" smtClean="0">
                <a:solidFill>
                  <a:srgbClr val="000000"/>
                </a:solidFill>
                <a:latin typeface="Arial Black" pitchFamily="32" charset="0"/>
              </a:rPr>
              <a:t>managers</a:t>
            </a:r>
            <a:endParaRPr lang="fr-FR" altLang="fr-FR" sz="1100" dirty="0">
              <a:solidFill>
                <a:srgbClr val="000000"/>
              </a:solidFill>
              <a:latin typeface="Arial Black" pitchFamily="32" charset="0"/>
            </a:endParaRPr>
          </a:p>
        </p:txBody>
      </p:sp>
      <p:pic>
        <p:nvPicPr>
          <p:cNvPr id="37" name="Image 36"/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041" y="4100197"/>
            <a:ext cx="1127400" cy="893105"/>
          </a:xfrm>
          <a:prstGeom prst="rect">
            <a:avLst/>
          </a:prstGeom>
        </p:spPr>
      </p:pic>
      <p:sp>
        <p:nvSpPr>
          <p:cNvPr id="38" name="Text Box 14"/>
          <p:cNvSpPr txBox="1">
            <a:spLocks noChangeArrowheads="1"/>
          </p:cNvSpPr>
          <p:nvPr/>
        </p:nvSpPr>
        <p:spPr bwMode="auto">
          <a:xfrm>
            <a:off x="6393258" y="1161479"/>
            <a:ext cx="2750741" cy="332738"/>
          </a:xfrm>
          <a:prstGeom prst="rect">
            <a:avLst/>
          </a:prstGeom>
          <a:solidFill>
            <a:schemeClr val="tx2"/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 smtClean="0">
                <a:latin typeface="Arial Black" pitchFamily="34" charset="0"/>
              </a:rPr>
              <a:t>Aquasys Solution</a:t>
            </a:r>
            <a:endParaRPr lang="fr-FR" sz="1600" dirty="0">
              <a:latin typeface="Arial Black" pitchFamily="34" charset="0"/>
            </a:endParaRPr>
          </a:p>
        </p:txBody>
      </p:sp>
      <p:pic>
        <p:nvPicPr>
          <p:cNvPr id="55" name="Picture 2" descr="http://www.annefrank.ch/tl_files/content/unicef_logo_cyan.jp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730" y="5176905"/>
            <a:ext cx="1355783" cy="32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2" descr="http://vergnet.aquasys.fr/demoAdministration/services/downloadContentPicture/10525/ADMIN/1427287444488"/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941" y="1525458"/>
            <a:ext cx="1306407" cy="462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7" name="Picture 11" descr="http://www.aquasys.fr/css/images/aquasys.gif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9317" y="2839968"/>
            <a:ext cx="1378622" cy="330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8" name="Image 57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2315" y="4230251"/>
            <a:ext cx="977778" cy="812698"/>
          </a:xfrm>
          <a:prstGeom prst="rect">
            <a:avLst/>
          </a:prstGeom>
        </p:spPr>
      </p:pic>
      <p:pic>
        <p:nvPicPr>
          <p:cNvPr id="59" name="Image 58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715" y="4382651"/>
            <a:ext cx="977778" cy="812698"/>
          </a:xfrm>
          <a:prstGeom prst="rect">
            <a:avLst/>
          </a:prstGeom>
        </p:spPr>
      </p:pic>
      <p:sp>
        <p:nvSpPr>
          <p:cNvPr id="60" name="Text Box 14"/>
          <p:cNvSpPr txBox="1">
            <a:spLocks noChangeArrowheads="1"/>
          </p:cNvSpPr>
          <p:nvPr/>
        </p:nvSpPr>
        <p:spPr bwMode="auto">
          <a:xfrm>
            <a:off x="4695775" y="5732149"/>
            <a:ext cx="4448225" cy="332738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600" dirty="0">
                <a:latin typeface="Arial Black" pitchFamily="34" charset="0"/>
                <a:hlinkClick r:id="rId20"/>
              </a:rPr>
              <a:t>http://vergnet-hydro.aquasys.fr/demo/</a:t>
            </a:r>
            <a:endParaRPr lang="fr-FR" sz="1600" dirty="0">
              <a:latin typeface="Arial Black" pitchFamily="34" charset="0"/>
            </a:endParaRPr>
          </a:p>
        </p:txBody>
      </p:sp>
      <p:pic>
        <p:nvPicPr>
          <p:cNvPr id="1026" name="Picture 2" descr="http://ischia.fr/orario/sms.pn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489" y="5611744"/>
            <a:ext cx="372744" cy="37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Image 53"/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1" y="3656743"/>
            <a:ext cx="589778" cy="604901"/>
          </a:xfrm>
          <a:prstGeom prst="rect">
            <a:avLst/>
          </a:prstGeom>
        </p:spPr>
      </p:pic>
      <p:pic>
        <p:nvPicPr>
          <p:cNvPr id="63" name="Picture 2" descr="http://ischia.fr/orario/sms.png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053" y="5511311"/>
            <a:ext cx="372744" cy="372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6760321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7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6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</a:rPr>
              <a:t>Actual Status of the project</a:t>
            </a:r>
            <a:endParaRPr lang="fr-FR" sz="3000" dirty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23528" y="908720"/>
            <a:ext cx="792088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production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dedicated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servers in France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Kinshasa</a:t>
            </a:r>
          </a:p>
          <a:p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SMS Server</a:t>
            </a:r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25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equipments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pumping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volumes in Burkina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WS and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transferts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Funders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must go to the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website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check information</a:t>
            </a:r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>
            <a:off x="5076056" y="5747538"/>
            <a:ext cx="4067944" cy="30196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400" dirty="0">
                <a:latin typeface="Arial Black" pitchFamily="34" charset="0"/>
                <a:hlinkClick r:id="rId3"/>
              </a:rPr>
              <a:t>http://vergnet-hydro.aquasys.fr/demo/</a:t>
            </a:r>
            <a:endParaRPr lang="fr-FR" sz="1400" dirty="0">
              <a:latin typeface="Arial Black" pitchFamily="34" charset="0"/>
            </a:endParaRPr>
          </a:p>
        </p:txBody>
      </p:sp>
      <p:sp>
        <p:nvSpPr>
          <p:cNvPr id="6" name="Text Box 14"/>
          <p:cNvSpPr txBox="1">
            <a:spLocks noChangeArrowheads="1"/>
          </p:cNvSpPr>
          <p:nvPr/>
        </p:nvSpPr>
        <p:spPr bwMode="auto">
          <a:xfrm>
            <a:off x="5076056" y="5172581"/>
            <a:ext cx="4102348" cy="30196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400" dirty="0">
                <a:latin typeface="Arial Black" pitchFamily="34" charset="0"/>
                <a:hlinkClick r:id="rId4"/>
              </a:rPr>
              <a:t>http://</a:t>
            </a:r>
            <a:r>
              <a:rPr lang="fr-FR" sz="1400" dirty="0" smtClean="0">
                <a:latin typeface="Arial Black" pitchFamily="34" charset="0"/>
                <a:hlinkClick r:id="rId4"/>
              </a:rPr>
              <a:t>vergnet-hydro.aquasys.fr/rdc/</a:t>
            </a:r>
            <a:endParaRPr lang="fr-FR" sz="1400" dirty="0">
              <a:latin typeface="Arial Black" pitchFamily="34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5364088" y="2020603"/>
            <a:ext cx="2880320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Burkina</a:t>
            </a:r>
          </a:p>
          <a:p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 networks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265 </a:t>
            </a:r>
            <a:r>
              <a:rPr lang="fr-FR" sz="2000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equipments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5076056" y="4653136"/>
            <a:ext cx="4102348" cy="301960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round/>
            <a:headEnd/>
            <a:tailEnd/>
          </a:ln>
        </p:spPr>
        <p:txBody>
          <a:bodyPr wrap="square" lIns="82800" tIns="42840" rIns="82800" bIns="42840" anchor="ctr">
            <a:spAutoFit/>
          </a:bodyPr>
          <a:lstStyle/>
          <a:p>
            <a:pPr>
              <a:lnSpc>
                <a:spcPct val="100000"/>
              </a:lnSpc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fr-FR" sz="1400" dirty="0">
                <a:latin typeface="Arial Black" pitchFamily="34" charset="0"/>
                <a:hlinkClick r:id="rId5"/>
              </a:rPr>
              <a:t>http://</a:t>
            </a:r>
            <a:r>
              <a:rPr lang="fr-FR" sz="1400" dirty="0" smtClean="0">
                <a:latin typeface="Arial Black" pitchFamily="34" charset="0"/>
                <a:hlinkClick r:id="rId5"/>
              </a:rPr>
              <a:t>vergnet-hydro.aquasys.fr/burkina/</a:t>
            </a:r>
            <a:endParaRPr lang="fr-FR" sz="1400" dirty="0"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1304152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Next</a:t>
            </a:r>
            <a:r>
              <a:rPr lang="fr-FR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 </a:t>
            </a: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steps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9552" y="908720"/>
            <a:ext cx="756084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fr-FR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ntegrating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counters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piezometer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water flow, …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Releasing data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public web services 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in the Unicef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environment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station description,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status</a:t>
            </a: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Pushing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SMS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alerts</a:t>
            </a:r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680330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Next</a:t>
            </a:r>
            <a:r>
              <a:rPr lang="fr-FR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 </a:t>
            </a: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steps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539552" y="908720"/>
            <a:ext cx="777686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fr-FR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Exchanging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standard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protocols</a:t>
            </a: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solution in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different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countries and 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uptodate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equipments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monitored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by the Unicef programs:</a:t>
            </a: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https://ecole-village-assainis-bdd.cd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/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fr-FR" sz="20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http://www.rgc.cd</a:t>
            </a:r>
            <a:r>
              <a:rPr lang="fr-FR" sz="2000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/</a:t>
            </a:r>
            <a:endParaRPr lang="fr-FR" sz="2000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sz="20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503660" y="3933056"/>
            <a:ext cx="743857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</a:t>
            </a:r>
            <a:r>
              <a:rPr lang="fr-FR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3</a:t>
            </a: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realtime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sensors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new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channels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GPRS</a:t>
            </a:r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Sigfox</a:t>
            </a:r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Spreading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solutions in </a:t>
            </a:r>
            <a:r>
              <a:rPr lang="fr-FR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684143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Aquasys </a:t>
            </a:r>
            <a:r>
              <a:rPr lang="fr-FR" sz="3000" dirty="0" err="1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Requirements</a:t>
            </a:r>
            <a:endParaRPr lang="fr-FR" sz="3000" dirty="0" smtClean="0">
              <a:solidFill>
                <a:srgbClr val="FFFF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ahoma" pitchFamily="32" charset="0"/>
              <a:ea typeface="+mn-ea"/>
              <a:cs typeface="+mn-cs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683568" y="1412776"/>
            <a:ext cx="7416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Normalizing</a:t>
            </a:r>
            <a:r>
              <a:rPr lang="fr-FR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the station description and data</a:t>
            </a:r>
          </a:p>
          <a:p>
            <a:endParaRPr lang="fr-FR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information about standards,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protocols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web services, … </a:t>
            </a:r>
          </a:p>
          <a:p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supports for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solutions</a:t>
            </a:r>
          </a:p>
          <a:p>
            <a:endParaRPr lang="fr-FR" dirty="0" smtClean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« Marketing » supports to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decide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our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partners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into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 err="1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these</a:t>
            </a:r>
            <a:r>
              <a:rPr lang="fr-FR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technologies</a:t>
            </a:r>
            <a:endParaRPr lang="fr-FR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9890294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5" name="Rectangle 5"/>
          <p:cNvSpPr>
            <a:spLocks noChangeArrowheads="1"/>
          </p:cNvSpPr>
          <p:nvPr/>
        </p:nvSpPr>
        <p:spPr bwMode="auto">
          <a:xfrm>
            <a:off x="381000" y="103704"/>
            <a:ext cx="6278563" cy="55617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 anchor="ctr">
            <a:spAutoFit/>
          </a:bodyPr>
          <a:lstStyle/>
          <a:p>
            <a:pPr>
              <a:buClrTx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fr-FR" sz="300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ahoma" pitchFamily="32" charset="0"/>
                <a:ea typeface="+mn-ea"/>
                <a:cs typeface="+mn-cs"/>
              </a:rPr>
              <a:t>Supports</a:t>
            </a:r>
          </a:p>
        </p:txBody>
      </p:sp>
      <p:grpSp>
        <p:nvGrpSpPr>
          <p:cNvPr id="15" name="Groupe 14"/>
          <p:cNvGrpSpPr/>
          <p:nvPr/>
        </p:nvGrpSpPr>
        <p:grpSpPr>
          <a:xfrm>
            <a:off x="381000" y="1858093"/>
            <a:ext cx="8016986" cy="2374671"/>
            <a:chOff x="-110058" y="1015129"/>
            <a:chExt cx="8016986" cy="2374671"/>
          </a:xfrm>
        </p:grpSpPr>
        <p:pic>
          <p:nvPicPr>
            <p:cNvPr id="2052" name="Picture 4" descr="https://media.licdn.com/mpr/mpr/shrinknp_400_400/p/4/005/03a/18c/1344cb9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77095" y="1302099"/>
              <a:ext cx="1226596" cy="12265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54" name="Picture 6" descr="http://www.poledream.org/wp-content/uploads/2012/05/LogoAquasys-300x70.jpg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16773" y="1015129"/>
              <a:ext cx="2304256" cy="5376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ZoneTexte 15"/>
            <p:cNvSpPr txBox="1"/>
            <p:nvPr/>
          </p:nvSpPr>
          <p:spPr>
            <a:xfrm>
              <a:off x="3830873" y="1635474"/>
              <a:ext cx="4076055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2"/>
                </a:buClr>
              </a:pPr>
              <a:r>
                <a:rPr lang="fr-FR" sz="20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www.aquasys.fr</a:t>
              </a:r>
            </a:p>
            <a:p>
              <a:pPr algn="ctr">
                <a:buClr>
                  <a:schemeClr val="tx2"/>
                </a:buClr>
              </a:pPr>
              <a:r>
                <a:rPr lang="fr-FR" sz="20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Stephane.barthon@aquasys.fr</a:t>
              </a:r>
            </a:p>
            <a:p>
              <a:pPr algn="ctr">
                <a:buClr>
                  <a:schemeClr val="tx2"/>
                </a:buClr>
              </a:pPr>
              <a:r>
                <a:rPr lang="fr-FR" sz="20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+33 (0)6 70 75 41 97</a:t>
              </a:r>
            </a:p>
            <a:p>
              <a:pPr algn="ctr">
                <a:buClr>
                  <a:schemeClr val="tx2"/>
                </a:buClr>
              </a:pPr>
              <a:endParaRPr lang="fr-FR" sz="1600" b="1" dirty="0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buClr>
                  <a:schemeClr val="tx2"/>
                </a:buClr>
              </a:pPr>
              <a:r>
                <a:rPr lang="fr-FR" sz="16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2, Rue de Nantes</a:t>
              </a:r>
            </a:p>
            <a:p>
              <a:pPr algn="ctr">
                <a:buClr>
                  <a:schemeClr val="tx2"/>
                </a:buClr>
              </a:pPr>
              <a:r>
                <a:rPr lang="fr-FR" sz="16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44710 PORT ST PÈRE - FRANCE</a:t>
              </a:r>
            </a:p>
          </p:txBody>
        </p:sp>
        <p:sp>
          <p:nvSpPr>
            <p:cNvPr id="22" name="ZoneTexte 21"/>
            <p:cNvSpPr txBox="1"/>
            <p:nvPr/>
          </p:nvSpPr>
          <p:spPr>
            <a:xfrm>
              <a:off x="-110058" y="2651136"/>
              <a:ext cx="407605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buClr>
                  <a:schemeClr val="tx2"/>
                </a:buClr>
              </a:pPr>
              <a:r>
                <a:rPr lang="fr-FR" sz="1800" b="1" dirty="0" smtClean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Stéphane Barthon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2049505"/>
      </p:ext>
    </p:extLst>
  </p:cSld>
  <p:clrMapOvr>
    <a:masterClrMapping/>
  </p:clrMapOvr>
  <p:transition spd="med">
    <p:diamond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3723</TotalTime>
  <Words>173</Words>
  <Application>Microsoft Office PowerPoint</Application>
  <PresentationFormat>Affichage à l'écran (4:3)</PresentationFormat>
  <Paragraphs>109</Paragraphs>
  <Slides>10</Slides>
  <Notes>10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</dc:creator>
  <cp:lastModifiedBy>Aquasys</cp:lastModifiedBy>
  <cp:revision>240</cp:revision>
  <cp:lastPrinted>1601-01-01T00:00:00Z</cp:lastPrinted>
  <dcterms:created xsi:type="dcterms:W3CDTF">1601-01-01T00:00:00Z</dcterms:created>
  <dcterms:modified xsi:type="dcterms:W3CDTF">2015-09-21T14:26:19Z</dcterms:modified>
</cp:coreProperties>
</file>