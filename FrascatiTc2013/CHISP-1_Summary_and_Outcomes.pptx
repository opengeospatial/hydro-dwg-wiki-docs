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4" r:id="rId1"/>
  </p:sldMasterIdLst>
  <p:notesMasterIdLst>
    <p:notesMasterId r:id="rId14"/>
  </p:notesMasterIdLst>
  <p:handoutMasterIdLst>
    <p:handoutMasterId r:id="rId15"/>
  </p:handoutMasterIdLst>
  <p:sldIdLst>
    <p:sldId id="256" r:id="rId2"/>
    <p:sldId id="264" r:id="rId3"/>
    <p:sldId id="266" r:id="rId4"/>
    <p:sldId id="281" r:id="rId5"/>
    <p:sldId id="282" r:id="rId6"/>
    <p:sldId id="283" r:id="rId7"/>
    <p:sldId id="274" r:id="rId8"/>
    <p:sldId id="275" r:id="rId9"/>
    <p:sldId id="276" r:id="rId10"/>
    <p:sldId id="286" r:id="rId11"/>
    <p:sldId id="287" r:id="rId12"/>
    <p:sldId id="285" r:id="rId13"/>
  </p:sldIdLst>
  <p:sldSz cx="9144000" cy="6858000" type="screen4x3"/>
  <p:notesSz cx="6904038" cy="9220200"/>
  <p:defaultTextStyle>
    <a:defPPr>
      <a:defRPr lang="en-US"/>
    </a:defPPr>
    <a:lvl1pPr algn="l" rtl="0" fontAlgn="base">
      <a:spcBef>
        <a:spcPct val="0"/>
      </a:spcBef>
      <a:spcAft>
        <a:spcPct val="0"/>
      </a:spcAft>
      <a:defRPr sz="1000" b="1" kern="1200">
        <a:solidFill>
          <a:schemeClr val="tx1"/>
        </a:solidFill>
        <a:latin typeface="CG Times" charset="0"/>
        <a:ea typeface="ＭＳ Ｐゴシック" charset="0"/>
        <a:cs typeface="ＭＳ Ｐゴシック" charset="0"/>
      </a:defRPr>
    </a:lvl1pPr>
    <a:lvl2pPr marL="457200" algn="l" rtl="0" fontAlgn="base">
      <a:spcBef>
        <a:spcPct val="0"/>
      </a:spcBef>
      <a:spcAft>
        <a:spcPct val="0"/>
      </a:spcAft>
      <a:defRPr sz="1000" b="1" kern="1200">
        <a:solidFill>
          <a:schemeClr val="tx1"/>
        </a:solidFill>
        <a:latin typeface="CG Times" charset="0"/>
        <a:ea typeface="ＭＳ Ｐゴシック" charset="0"/>
        <a:cs typeface="ＭＳ Ｐゴシック" charset="0"/>
      </a:defRPr>
    </a:lvl2pPr>
    <a:lvl3pPr marL="914400" algn="l" rtl="0" fontAlgn="base">
      <a:spcBef>
        <a:spcPct val="0"/>
      </a:spcBef>
      <a:spcAft>
        <a:spcPct val="0"/>
      </a:spcAft>
      <a:defRPr sz="1000" b="1" kern="1200">
        <a:solidFill>
          <a:schemeClr val="tx1"/>
        </a:solidFill>
        <a:latin typeface="CG Times" charset="0"/>
        <a:ea typeface="ＭＳ Ｐゴシック" charset="0"/>
        <a:cs typeface="ＭＳ Ｐゴシック" charset="0"/>
      </a:defRPr>
    </a:lvl3pPr>
    <a:lvl4pPr marL="1371600" algn="l" rtl="0" fontAlgn="base">
      <a:spcBef>
        <a:spcPct val="0"/>
      </a:spcBef>
      <a:spcAft>
        <a:spcPct val="0"/>
      </a:spcAft>
      <a:defRPr sz="1000" b="1" kern="1200">
        <a:solidFill>
          <a:schemeClr val="tx1"/>
        </a:solidFill>
        <a:latin typeface="CG Times" charset="0"/>
        <a:ea typeface="ＭＳ Ｐゴシック" charset="0"/>
        <a:cs typeface="ＭＳ Ｐゴシック" charset="0"/>
      </a:defRPr>
    </a:lvl4pPr>
    <a:lvl5pPr marL="1828800" algn="l" rtl="0" fontAlgn="base">
      <a:spcBef>
        <a:spcPct val="0"/>
      </a:spcBef>
      <a:spcAft>
        <a:spcPct val="0"/>
      </a:spcAft>
      <a:defRPr sz="1000" b="1" kern="1200">
        <a:solidFill>
          <a:schemeClr val="tx1"/>
        </a:solidFill>
        <a:latin typeface="CG Times" charset="0"/>
        <a:ea typeface="ＭＳ Ｐゴシック" charset="0"/>
        <a:cs typeface="ＭＳ Ｐゴシック" charset="0"/>
      </a:defRPr>
    </a:lvl5pPr>
    <a:lvl6pPr marL="2286000" algn="l" defTabSz="457200" rtl="0" eaLnBrk="1" latinLnBrk="0" hangingPunct="1">
      <a:defRPr sz="1000" b="1" kern="1200">
        <a:solidFill>
          <a:schemeClr val="tx1"/>
        </a:solidFill>
        <a:latin typeface="CG Times" charset="0"/>
        <a:ea typeface="ＭＳ Ｐゴシック" charset="0"/>
        <a:cs typeface="ＭＳ Ｐゴシック" charset="0"/>
      </a:defRPr>
    </a:lvl6pPr>
    <a:lvl7pPr marL="2743200" algn="l" defTabSz="457200" rtl="0" eaLnBrk="1" latinLnBrk="0" hangingPunct="1">
      <a:defRPr sz="1000" b="1" kern="1200">
        <a:solidFill>
          <a:schemeClr val="tx1"/>
        </a:solidFill>
        <a:latin typeface="CG Times" charset="0"/>
        <a:ea typeface="ＭＳ Ｐゴシック" charset="0"/>
        <a:cs typeface="ＭＳ Ｐゴシック" charset="0"/>
      </a:defRPr>
    </a:lvl7pPr>
    <a:lvl8pPr marL="3200400" algn="l" defTabSz="457200" rtl="0" eaLnBrk="1" latinLnBrk="0" hangingPunct="1">
      <a:defRPr sz="1000" b="1" kern="1200">
        <a:solidFill>
          <a:schemeClr val="tx1"/>
        </a:solidFill>
        <a:latin typeface="CG Times" charset="0"/>
        <a:ea typeface="ＭＳ Ｐゴシック" charset="0"/>
        <a:cs typeface="ＭＳ Ｐゴシック" charset="0"/>
      </a:defRPr>
    </a:lvl8pPr>
    <a:lvl9pPr marL="3657600" algn="l" defTabSz="457200" rtl="0" eaLnBrk="1" latinLnBrk="0" hangingPunct="1">
      <a:defRPr sz="1000" b="1" kern="1200">
        <a:solidFill>
          <a:schemeClr val="tx1"/>
        </a:solidFill>
        <a:latin typeface="CG Times" charset="0"/>
        <a:ea typeface="ＭＳ Ｐゴシック" charset="0"/>
        <a:cs typeface="ＭＳ Ｐゴシック"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4181"/>
    <a:srgbClr val="666666"/>
    <a:srgbClr val="FF0000"/>
    <a:srgbClr val="006600"/>
    <a:srgbClr val="000066"/>
    <a:srgbClr val="FFFF99"/>
    <a:srgbClr val="969696"/>
    <a:srgbClr val="CCFFFF"/>
    <a:srgbClr val="5C0909"/>
    <a:srgbClr val="092E5C"/>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8399" autoAdjust="0"/>
  </p:normalViewPr>
  <p:slideViewPr>
    <p:cSldViewPr snapToGrid="0" showGuides="1">
      <p:cViewPr varScale="1">
        <p:scale>
          <a:sx n="105" d="100"/>
          <a:sy n="105" d="100"/>
        </p:scale>
        <p:origin x="-1640" y="-104"/>
      </p:cViewPr>
      <p:guideLst>
        <p:guide orient="horz" pos="2160"/>
        <p:guide pos="2897"/>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120" d="100"/>
        <a:sy n="120" d="100"/>
      </p:scale>
      <p:origin x="0" y="0"/>
    </p:cViewPr>
  </p:sorterViewPr>
  <p:notesViewPr>
    <p:cSldViewPr snapToGrid="0" showGuides="1">
      <p:cViewPr varScale="1">
        <p:scale>
          <a:sx n="77" d="100"/>
          <a:sy n="77" d="100"/>
        </p:scale>
        <p:origin x="-2064" y="-112"/>
      </p:cViewPr>
      <p:guideLst>
        <p:guide orient="horz" pos="2904"/>
        <p:guide pos="2174"/>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printerSettings" Target="printerSettings/printerSettings1.bin"/><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4722" name="Rectangle 2"/>
          <p:cNvSpPr>
            <a:spLocks noGrp="1" noChangeArrowheads="1"/>
          </p:cNvSpPr>
          <p:nvPr>
            <p:ph type="hdr" sz="quarter"/>
          </p:nvPr>
        </p:nvSpPr>
        <p:spPr bwMode="auto">
          <a:xfrm>
            <a:off x="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414723" name="Rectangle 3"/>
          <p:cNvSpPr>
            <a:spLocks noGrp="1" noChangeArrowheads="1"/>
          </p:cNvSpPr>
          <p:nvPr>
            <p:ph type="dt" sz="quarter" idx="1"/>
          </p:nvPr>
        </p:nvSpPr>
        <p:spPr bwMode="auto">
          <a:xfrm>
            <a:off x="391160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algn="r" defTabSz="920750" eaLnBrk="0" hangingPunct="0">
              <a:defRPr sz="1200">
                <a:latin typeface="Arial" charset="0"/>
                <a:ea typeface="+mn-ea"/>
                <a:cs typeface="+mn-cs"/>
              </a:defRPr>
            </a:lvl1pPr>
          </a:lstStyle>
          <a:p>
            <a:pPr>
              <a:defRPr/>
            </a:pPr>
            <a:endParaRPr lang="en-US"/>
          </a:p>
        </p:txBody>
      </p:sp>
      <p:sp>
        <p:nvSpPr>
          <p:cNvPr id="414724" name="Rectangle 4"/>
          <p:cNvSpPr>
            <a:spLocks noGrp="1" noChangeArrowheads="1"/>
          </p:cNvSpPr>
          <p:nvPr>
            <p:ph type="ftr" sz="quarter" idx="2"/>
          </p:nvPr>
        </p:nvSpPr>
        <p:spPr bwMode="auto">
          <a:xfrm>
            <a:off x="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414725" name="Rectangle 5"/>
          <p:cNvSpPr>
            <a:spLocks noGrp="1" noChangeArrowheads="1"/>
          </p:cNvSpPr>
          <p:nvPr>
            <p:ph type="sldNum" sz="quarter" idx="3"/>
          </p:nvPr>
        </p:nvSpPr>
        <p:spPr bwMode="auto">
          <a:xfrm>
            <a:off x="391160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algn="r" defTabSz="920750" eaLnBrk="0" hangingPunct="0">
              <a:defRPr sz="1200">
                <a:latin typeface="Arial" charset="0"/>
                <a:cs typeface="Arial" charset="0"/>
              </a:defRPr>
            </a:lvl1pPr>
          </a:lstStyle>
          <a:p>
            <a:pPr>
              <a:defRPr/>
            </a:pPr>
            <a:fld id="{FAF4EBBE-C928-EA4F-A4F1-7B5AC8AAFAFF}" type="slidenum">
              <a:rPr lang="en-US"/>
              <a:pPr>
                <a:defRPr/>
              </a:pPr>
              <a:t>‹#›</a:t>
            </a:fld>
            <a:endParaRPr lang="en-US"/>
          </a:p>
        </p:txBody>
      </p:sp>
    </p:spTree>
    <p:extLst>
      <p:ext uri="{BB962C8B-B14F-4D97-AF65-F5344CB8AC3E}">
        <p14:creationId xmlns:p14="http://schemas.microsoft.com/office/powerpoint/2010/main" val="23291710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911600" y="0"/>
            <a:ext cx="2992438" cy="460375"/>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lvl1pPr algn="r" defTabSz="920750" eaLnBrk="0" hangingPunct="0">
              <a:defRPr sz="1200">
                <a:latin typeface="Arial" charset="0"/>
                <a:ea typeface="+mn-ea"/>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47763" y="692150"/>
            <a:ext cx="4610100" cy="3457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5125" name="Rectangle 5"/>
          <p:cNvSpPr>
            <a:spLocks noGrp="1" noChangeArrowheads="1"/>
          </p:cNvSpPr>
          <p:nvPr>
            <p:ph type="body" sz="quarter" idx="3"/>
          </p:nvPr>
        </p:nvSpPr>
        <p:spPr bwMode="auto">
          <a:xfrm>
            <a:off x="920750" y="4379913"/>
            <a:ext cx="5062538" cy="4148137"/>
          </a:xfrm>
          <a:prstGeom prst="rect">
            <a:avLst/>
          </a:prstGeom>
          <a:noFill/>
          <a:ln w="9525">
            <a:noFill/>
            <a:miter lim="800000"/>
            <a:headEnd/>
            <a:tailEnd/>
          </a:ln>
          <a:effectLst/>
        </p:spPr>
        <p:txBody>
          <a:bodyPr vert="horz" wrap="square" lIns="92135" tIns="46067" rIns="92135" bIns="46067" numCol="1" anchor="t" anchorCtr="0" compatLnSpc="1">
            <a:prstTxWarp prst="textNoShape">
              <a:avLst/>
            </a:prstTxWarp>
          </a:bodyPr>
          <a:lstStyle/>
          <a:p>
            <a:pPr lvl="0"/>
            <a:r>
              <a:rPr lang="en-US" noProof="0" smtClean="0"/>
              <a:t>Click to edit Master text styles</a:t>
            </a:r>
          </a:p>
          <a:p>
            <a:pPr lvl="0"/>
            <a:r>
              <a:rPr lang="en-US" noProof="0" smtClean="0"/>
              <a:t>Second level</a:t>
            </a:r>
          </a:p>
          <a:p>
            <a:pPr lvl="0"/>
            <a:r>
              <a:rPr lang="en-US" noProof="0" smtClean="0"/>
              <a:t>Third level</a:t>
            </a:r>
          </a:p>
          <a:p>
            <a:pPr lvl="0"/>
            <a:r>
              <a:rPr lang="en-US" noProof="0" smtClean="0"/>
              <a:t>Fourth level</a:t>
            </a:r>
          </a:p>
          <a:p>
            <a:pPr lvl="0"/>
            <a:r>
              <a:rPr lang="en-US" noProof="0" smtClean="0"/>
              <a:t>Fifth level</a:t>
            </a:r>
          </a:p>
        </p:txBody>
      </p:sp>
      <p:sp>
        <p:nvSpPr>
          <p:cNvPr id="5126" name="Rectangle 6"/>
          <p:cNvSpPr>
            <a:spLocks noGrp="1" noChangeArrowheads="1"/>
          </p:cNvSpPr>
          <p:nvPr>
            <p:ph type="ftr" sz="quarter" idx="4"/>
          </p:nvPr>
        </p:nvSpPr>
        <p:spPr bwMode="auto">
          <a:xfrm>
            <a:off x="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defTabSz="920750" eaLnBrk="0" hangingPunct="0">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911600" y="8759825"/>
            <a:ext cx="2992438" cy="460375"/>
          </a:xfrm>
          <a:prstGeom prst="rect">
            <a:avLst/>
          </a:prstGeom>
          <a:noFill/>
          <a:ln w="9525">
            <a:noFill/>
            <a:miter lim="800000"/>
            <a:headEnd/>
            <a:tailEnd/>
          </a:ln>
          <a:effectLst/>
        </p:spPr>
        <p:txBody>
          <a:bodyPr vert="horz" wrap="square" lIns="92135" tIns="46067" rIns="92135" bIns="46067" numCol="1" anchor="b" anchorCtr="0" compatLnSpc="1">
            <a:prstTxWarp prst="textNoShape">
              <a:avLst/>
            </a:prstTxWarp>
          </a:bodyPr>
          <a:lstStyle>
            <a:lvl1pPr algn="r" defTabSz="920750" eaLnBrk="0" hangingPunct="0">
              <a:defRPr sz="1200">
                <a:latin typeface="Arial" charset="0"/>
                <a:cs typeface="Arial" charset="0"/>
              </a:defRPr>
            </a:lvl1pPr>
          </a:lstStyle>
          <a:p>
            <a:pPr>
              <a:defRPr/>
            </a:pPr>
            <a:fld id="{9864014D-E847-A547-8836-8943745FFC2F}" type="slidenum">
              <a:rPr lang="en-US"/>
              <a:pPr>
                <a:defRPr/>
              </a:pPr>
              <a:t>‹#›</a:t>
            </a:fld>
            <a:endParaRPr lang="en-US"/>
          </a:p>
        </p:txBody>
      </p:sp>
    </p:spTree>
    <p:extLst>
      <p:ext uri="{BB962C8B-B14F-4D97-AF65-F5344CB8AC3E}">
        <p14:creationId xmlns:p14="http://schemas.microsoft.com/office/powerpoint/2010/main" val="11969137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pitchFamily="-106" charset="-128"/>
        <a:cs typeface="ＭＳ Ｐゴシック" pitchFamily="-106" charset="-128"/>
      </a:defRPr>
    </a:lvl1pPr>
    <a:lvl2pPr marL="742950" indent="-285750" algn="l" rtl="0" eaLnBrk="0" fontAlgn="base" hangingPunct="0">
      <a:spcBef>
        <a:spcPct val="30000"/>
      </a:spcBef>
      <a:spcAft>
        <a:spcPct val="0"/>
      </a:spcAft>
      <a:defRPr sz="1200" kern="1200">
        <a:solidFill>
          <a:schemeClr val="tx1"/>
        </a:solidFill>
        <a:latin typeface="Times New Roman" charset="0"/>
        <a:ea typeface="ＭＳ Ｐゴシック" pitchFamily="-106" charset="-128"/>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ＭＳ Ｐゴシック" pitchFamily="-106" charset="-128"/>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ＭＳ Ｐゴシック" pitchFamily="-106" charset="-128"/>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a:ln/>
        </p:spPr>
      </p:sp>
      <p:sp>
        <p:nvSpPr>
          <p:cNvPr id="1638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endParaRPr lang="en-US">
              <a:ea typeface="ＭＳ Ｐゴシック" charset="0"/>
              <a:cs typeface="ＭＳ Ｐゴシック" charset="0"/>
            </a:endParaRPr>
          </a:p>
        </p:txBody>
      </p:sp>
      <p:sp>
        <p:nvSpPr>
          <p:cNvPr id="1638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eaLnBrk="0" hangingPunct="0">
              <a:defRPr sz="1000" b="1">
                <a:solidFill>
                  <a:schemeClr val="tx1"/>
                </a:solidFill>
                <a:latin typeface="CG Times" charset="0"/>
                <a:ea typeface="ＭＳ Ｐゴシック" charset="0"/>
                <a:cs typeface="ＭＳ Ｐゴシック" charset="0"/>
              </a:defRPr>
            </a:lvl1pPr>
            <a:lvl2pPr marL="742950" indent="-285750" defTabSz="920750" eaLnBrk="0" hangingPunct="0">
              <a:defRPr sz="1000" b="1">
                <a:solidFill>
                  <a:schemeClr val="tx1"/>
                </a:solidFill>
                <a:latin typeface="CG Times" charset="0"/>
                <a:ea typeface="ＭＳ Ｐゴシック" charset="0"/>
              </a:defRPr>
            </a:lvl2pPr>
            <a:lvl3pPr marL="1143000" indent="-228600" defTabSz="920750" eaLnBrk="0" hangingPunct="0">
              <a:defRPr sz="1000" b="1">
                <a:solidFill>
                  <a:schemeClr val="tx1"/>
                </a:solidFill>
                <a:latin typeface="CG Times" charset="0"/>
                <a:ea typeface="ＭＳ Ｐゴシック" charset="0"/>
              </a:defRPr>
            </a:lvl3pPr>
            <a:lvl4pPr marL="1600200" indent="-228600" defTabSz="920750" eaLnBrk="0" hangingPunct="0">
              <a:defRPr sz="1000" b="1">
                <a:solidFill>
                  <a:schemeClr val="tx1"/>
                </a:solidFill>
                <a:latin typeface="CG Times" charset="0"/>
                <a:ea typeface="ＭＳ Ｐゴシック" charset="0"/>
              </a:defRPr>
            </a:lvl4pPr>
            <a:lvl5pPr marL="2057400" indent="-228600" defTabSz="920750" eaLnBrk="0" hangingPunct="0">
              <a:defRPr sz="1000" b="1">
                <a:solidFill>
                  <a:schemeClr val="tx1"/>
                </a:solidFill>
                <a:latin typeface="CG Times" charset="0"/>
                <a:ea typeface="ＭＳ Ｐゴシック" charset="0"/>
              </a:defRPr>
            </a:lvl5pPr>
            <a:lvl6pPr marL="2514600" indent="-228600" defTabSz="92075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defTabSz="92075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defTabSz="92075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defTabSz="920750" eaLnBrk="0" fontAlgn="base" hangingPunct="0">
              <a:spcBef>
                <a:spcPct val="0"/>
              </a:spcBef>
              <a:spcAft>
                <a:spcPct val="0"/>
              </a:spcAft>
              <a:defRPr sz="1000" b="1">
                <a:solidFill>
                  <a:schemeClr val="tx1"/>
                </a:solidFill>
                <a:latin typeface="CG Times" charset="0"/>
                <a:ea typeface="ＭＳ Ｐゴシック" charset="0"/>
              </a:defRPr>
            </a:lvl9pPr>
          </a:lstStyle>
          <a:p>
            <a:fld id="{6EC1D334-7AF0-1745-A000-7A0C1A113865}" type="slidenum">
              <a:rPr lang="en-US" sz="1200">
                <a:latin typeface="Arial" charset="0"/>
              </a:rPr>
              <a:pPr/>
              <a:t>1</a:t>
            </a:fld>
            <a:endParaRPr lang="en-US" sz="120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smtClean="0"/>
              <a:t>This </a:t>
            </a:r>
            <a:r>
              <a:rPr lang="en-US" baseline="0" dirty="0" smtClean="0"/>
              <a:t>Pilot project was conceived, in this initial phase, to develop and demonstrate </a:t>
            </a:r>
            <a:r>
              <a:rPr lang="en-US" dirty="0" smtClean="0"/>
              <a:t>a virtual observatory system</a:t>
            </a:r>
            <a:r>
              <a:rPr lang="en-US" baseline="0" dirty="0" smtClean="0"/>
              <a:t> to integrate the use of </a:t>
            </a:r>
            <a:r>
              <a:rPr lang="en-US" dirty="0" smtClean="0"/>
              <a:t> </a:t>
            </a:r>
          </a:p>
          <a:p>
            <a:pPr marL="172753" indent="-172753">
              <a:buFont typeface="Arial"/>
              <a:buChar char="•"/>
            </a:pPr>
            <a:r>
              <a:rPr lang="en-US" dirty="0" smtClean="0"/>
              <a:t>water resource observations for</a:t>
            </a:r>
            <a:r>
              <a:rPr lang="en-US" baseline="0" dirty="0" smtClean="0"/>
              <a:t> </a:t>
            </a:r>
            <a:r>
              <a:rPr lang="en-US" dirty="0" smtClean="0"/>
              <a:t>the</a:t>
            </a:r>
            <a:r>
              <a:rPr lang="en-US" baseline="0" dirty="0" smtClean="0"/>
              <a:t> </a:t>
            </a:r>
            <a:r>
              <a:rPr lang="en-US" dirty="0" smtClean="0"/>
              <a:t>U.S. and Canada, </a:t>
            </a:r>
          </a:p>
          <a:p>
            <a:pPr marL="172753" indent="-172753">
              <a:buFont typeface="Arial"/>
              <a:buChar char="•"/>
            </a:pPr>
            <a:r>
              <a:rPr lang="en-US" dirty="0" smtClean="0"/>
              <a:t>While building on existing</a:t>
            </a:r>
            <a:r>
              <a:rPr lang="en-US" baseline="0" dirty="0" smtClean="0"/>
              <a:t> </a:t>
            </a:r>
            <a:r>
              <a:rPr lang="en-US" dirty="0" smtClean="0"/>
              <a:t>networks and capabilities,</a:t>
            </a:r>
            <a:r>
              <a:rPr lang="en-US" baseline="0" dirty="0" smtClean="0"/>
              <a:t> and exploring opportunities for enhancement of these networks using geospatial standards.</a:t>
            </a:r>
            <a:endParaRPr lang="en-US" dirty="0" smtClean="0"/>
          </a:p>
          <a:p>
            <a:endParaRPr lang="en-US" dirty="0" smtClean="0"/>
          </a:p>
          <a:p>
            <a:r>
              <a:rPr lang="en-US" dirty="0" smtClean="0"/>
              <a:t>This</a:t>
            </a:r>
            <a:r>
              <a:rPr lang="en-US" baseline="0" dirty="0" smtClean="0"/>
              <a:t> project aimed to l</a:t>
            </a:r>
            <a:r>
              <a:rPr lang="en-US" dirty="0" smtClean="0"/>
              <a:t>ink water resource</a:t>
            </a:r>
            <a:r>
              <a:rPr lang="en-US" baseline="0" dirty="0" smtClean="0"/>
              <a:t> </a:t>
            </a:r>
            <a:r>
              <a:rPr lang="en-US" dirty="0" smtClean="0"/>
              <a:t>observations, encoded using</a:t>
            </a:r>
            <a:r>
              <a:rPr lang="en-US" baseline="0" dirty="0" smtClean="0"/>
              <a:t> OGC’s Water Markup Language Version 2, or WaterML2,</a:t>
            </a:r>
            <a:r>
              <a:rPr lang="en-US" dirty="0" smtClean="0"/>
              <a:t> with river and stream network resources.</a:t>
            </a:r>
            <a:r>
              <a:rPr lang="en-US" baseline="0" dirty="0" smtClean="0"/>
              <a:t> </a:t>
            </a:r>
          </a:p>
          <a:p>
            <a:endParaRPr lang="en-US" baseline="0" dirty="0" smtClean="0"/>
          </a:p>
          <a:p>
            <a:r>
              <a:rPr lang="en-US" baseline="0" dirty="0" smtClean="0"/>
              <a:t>This linkage with stream network resources</a:t>
            </a:r>
            <a:endParaRPr lang="en-US" dirty="0" smtClean="0"/>
          </a:p>
          <a:p>
            <a:pPr marL="172753" indent="-172753">
              <a:buFont typeface="Arial"/>
              <a:buChar char="•"/>
            </a:pPr>
            <a:r>
              <a:rPr lang="en-US" dirty="0" smtClean="0"/>
              <a:t>Enabled queries of</a:t>
            </a:r>
            <a:r>
              <a:rPr lang="en-US" baseline="0" dirty="0" smtClean="0"/>
              <a:t> surface and ground water </a:t>
            </a:r>
            <a:r>
              <a:rPr lang="en-US" dirty="0" smtClean="0"/>
              <a:t>conditions upstream</a:t>
            </a:r>
            <a:r>
              <a:rPr lang="en-US" baseline="0" dirty="0" smtClean="0"/>
              <a:t> in a watershed</a:t>
            </a:r>
            <a:r>
              <a:rPr lang="en-US" dirty="0" smtClean="0"/>
              <a:t> from a given location to </a:t>
            </a:r>
          </a:p>
          <a:p>
            <a:pPr marL="172753" indent="-172753">
              <a:buFont typeface="Arial"/>
              <a:buChar char="•"/>
            </a:pPr>
            <a:r>
              <a:rPr lang="en-US" dirty="0" smtClean="0"/>
              <a:t>Identify</a:t>
            </a:r>
            <a:r>
              <a:rPr lang="en-US" baseline="0" dirty="0" smtClean="0"/>
              <a:t> sensors for </a:t>
            </a:r>
            <a:r>
              <a:rPr lang="en-US" dirty="0" smtClean="0"/>
              <a:t>relevant </a:t>
            </a:r>
            <a:r>
              <a:rPr lang="en-US" baseline="0" dirty="0" smtClean="0"/>
              <a:t>surface </a:t>
            </a:r>
            <a:r>
              <a:rPr lang="en-US" dirty="0" smtClean="0"/>
              <a:t>gauges and </a:t>
            </a:r>
            <a:r>
              <a:rPr lang="en-US" baseline="0" dirty="0" smtClean="0"/>
              <a:t>and groundwater </a:t>
            </a:r>
            <a:r>
              <a:rPr lang="en-US" dirty="0" smtClean="0"/>
              <a:t>well locations and </a:t>
            </a:r>
            <a:r>
              <a:rPr lang="en-US" baseline="0" dirty="0" smtClean="0"/>
              <a:t>then </a:t>
            </a:r>
            <a:endParaRPr lang="en-US" dirty="0" smtClean="0"/>
          </a:p>
          <a:p>
            <a:pPr marL="172753" indent="-172753">
              <a:buFont typeface="Arial"/>
              <a:buChar char="•"/>
            </a:pPr>
            <a:r>
              <a:rPr lang="en-US" baseline="0" dirty="0" smtClean="0"/>
              <a:t>Retrieve historical and real-time sensor measurements</a:t>
            </a:r>
            <a:endParaRPr lang="en-US" dirty="0" smtClean="0"/>
          </a:p>
          <a:p>
            <a:endParaRPr lang="en-US" dirty="0"/>
          </a:p>
        </p:txBody>
      </p:sp>
      <p:sp>
        <p:nvSpPr>
          <p:cNvPr id="4" name="Slide Number Placeholder 3"/>
          <p:cNvSpPr>
            <a:spLocks noGrp="1"/>
          </p:cNvSpPr>
          <p:nvPr>
            <p:ph type="sldNum" sz="quarter" idx="10"/>
          </p:nvPr>
        </p:nvSpPr>
        <p:spPr/>
        <p:txBody>
          <a:bodyPr/>
          <a:lstStyle/>
          <a:p>
            <a:fld id="{FDC279B7-D6DD-4DBA-B8E0-48AFA40ED0C5}" type="slidenum">
              <a:rPr lang="en-US" smtClean="0"/>
              <a:t>2</a:t>
            </a:fld>
            <a:endParaRPr lang="en-US"/>
          </a:p>
        </p:txBody>
      </p:sp>
    </p:spTree>
    <p:extLst>
      <p:ext uri="{BB962C8B-B14F-4D97-AF65-F5344CB8AC3E}">
        <p14:creationId xmlns:p14="http://schemas.microsoft.com/office/powerpoint/2010/main" val="492778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1349" eaLnBrk="1" fontAlgn="auto" hangingPunct="1">
              <a:spcBef>
                <a:spcPts val="0"/>
              </a:spcBef>
              <a:spcAft>
                <a:spcPts val="0"/>
              </a:spcAft>
              <a:defRPr/>
            </a:pPr>
            <a:r>
              <a:rPr lang="en-US" dirty="0">
                <a:latin typeface="Lucida Grande" charset="0"/>
                <a:ea typeface="ＭＳ Ｐゴシック" charset="0"/>
                <a:cs typeface="+mn-cs"/>
              </a:rPr>
              <a:t>To focus the efforts for test and demonstration, this project considered two basins with portions in both the U.S. and Canada.  The Milk River basin includes parts of Alberta, Saskatchewan, and Montana and the Souris River basin includes parts of Manitoba, North Dakota, and Saskatchewan</a:t>
            </a:r>
            <a:r>
              <a:rPr lang="en-US" dirty="0">
                <a:latin typeface="+mn-lt"/>
                <a:ea typeface="+mn-ea"/>
                <a:cs typeface="+mn-cs"/>
              </a:rPr>
              <a:t>. This project selected the Milk River basin to demonstrate the systems functions and capabilities.</a:t>
            </a:r>
            <a:endParaRPr lang="en-US" dirty="0"/>
          </a:p>
        </p:txBody>
      </p:sp>
      <p:sp>
        <p:nvSpPr>
          <p:cNvPr id="4" name="Slide Number Placeholder 3"/>
          <p:cNvSpPr>
            <a:spLocks noGrp="1"/>
          </p:cNvSpPr>
          <p:nvPr>
            <p:ph type="sldNum" sz="quarter" idx="10"/>
          </p:nvPr>
        </p:nvSpPr>
        <p:spPr/>
        <p:txBody>
          <a:bodyPr/>
          <a:lstStyle/>
          <a:p>
            <a:fld id="{FDC279B7-D6DD-4DBA-B8E0-48AFA40ED0C5}" type="slidenum">
              <a:rPr lang="en-US" smtClean="0"/>
              <a:t>3</a:t>
            </a:fld>
            <a:endParaRPr lang="en-US"/>
          </a:p>
        </p:txBody>
      </p:sp>
    </p:spTree>
    <p:extLst>
      <p:ext uri="{BB962C8B-B14F-4D97-AF65-F5344CB8AC3E}">
        <p14:creationId xmlns:p14="http://schemas.microsoft.com/office/powerpoint/2010/main" val="3654959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p:cNvSpPr>
            <a:spLocks noGrp="1" noRot="1" noChangeAspect="1"/>
          </p:cNvSpPr>
          <p:nvPr>
            <p:ph type="sldImg"/>
          </p:nvPr>
        </p:nvSpPr>
        <p:spPr>
          <a:ln/>
        </p:spPr>
      </p:sp>
      <p:sp>
        <p:nvSpPr>
          <p:cNvPr id="1945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ea typeface="ＭＳ Ｐゴシック" charset="0"/>
                <a:cs typeface="ＭＳ Ｐゴシック" charset="0"/>
              </a:rPr>
              <a:t>SPARQL Server </a:t>
            </a:r>
            <a:r>
              <a:rPr lang="en-US" dirty="0" smtClean="0">
                <a:ea typeface="ＭＳ Ｐゴシック" charset="0"/>
                <a:cs typeface="ＭＳ Ｐゴシック" charset="0"/>
              </a:rPr>
              <a:t>was</a:t>
            </a:r>
            <a:r>
              <a:rPr lang="en-US" baseline="0" dirty="0" smtClean="0">
                <a:ea typeface="ＭＳ Ｐゴシック" charset="0"/>
                <a:cs typeface="ＭＳ Ｐゴシック" charset="0"/>
              </a:rPr>
              <a:t> </a:t>
            </a:r>
            <a:r>
              <a:rPr lang="en-US" dirty="0" smtClean="0">
                <a:ea typeface="ＭＳ Ｐゴシック" charset="0"/>
                <a:cs typeface="ＭＳ Ｐゴシック" charset="0"/>
              </a:rPr>
              <a:t>deployed </a:t>
            </a:r>
            <a:r>
              <a:rPr lang="en-US" dirty="0">
                <a:ea typeface="ＭＳ Ｐゴシック" charset="0"/>
                <a:cs typeface="ＭＳ Ｐゴシック" charset="0"/>
              </a:rPr>
              <a:t>by sponsor, but ontology data </a:t>
            </a:r>
            <a:r>
              <a:rPr lang="en-US" dirty="0" smtClean="0">
                <a:ea typeface="ＭＳ Ｐゴシック" charset="0"/>
                <a:cs typeface="ＭＳ Ｐゴシック" charset="0"/>
              </a:rPr>
              <a:t>was not </a:t>
            </a:r>
            <a:r>
              <a:rPr lang="en-US" dirty="0">
                <a:ea typeface="ＭＳ Ｐゴシック" charset="0"/>
                <a:cs typeface="ＭＳ Ｐゴシック" charset="0"/>
              </a:rPr>
              <a:t>loaded due to </a:t>
            </a:r>
            <a:r>
              <a:rPr lang="en-US" dirty="0" smtClean="0">
                <a:ea typeface="ＭＳ Ｐゴシック" charset="0"/>
                <a:cs typeface="ＭＳ Ｐゴシック" charset="0"/>
              </a:rPr>
              <a:t>personnel</a:t>
            </a:r>
            <a:r>
              <a:rPr lang="en-US" baseline="0" dirty="0" smtClean="0">
                <a:ea typeface="ＭＳ Ｐゴシック" charset="0"/>
                <a:cs typeface="ＭＳ Ｐゴシック" charset="0"/>
              </a:rPr>
              <a:t> resource </a:t>
            </a:r>
            <a:r>
              <a:rPr lang="en-US" dirty="0" smtClean="0">
                <a:ea typeface="ＭＳ Ｐゴシック" charset="0"/>
                <a:cs typeface="ＭＳ Ｐゴシック" charset="0"/>
              </a:rPr>
              <a:t>time constraints; </a:t>
            </a:r>
            <a:r>
              <a:rPr lang="en-US" dirty="0">
                <a:ea typeface="ＭＳ Ｐゴシック" charset="0"/>
                <a:cs typeface="ＭＳ Ｐゴシック" charset="0"/>
              </a:rPr>
              <a:t>alternatively, </a:t>
            </a:r>
            <a:r>
              <a:rPr lang="en-US" dirty="0" smtClean="0">
                <a:ea typeface="ＭＳ Ｐゴシック" charset="0"/>
                <a:cs typeface="ＭＳ Ｐゴシック" charset="0"/>
              </a:rPr>
              <a:t>the project used </a:t>
            </a:r>
            <a:r>
              <a:rPr lang="en-US" dirty="0">
                <a:ea typeface="ＭＳ Ｐゴシック" charset="0"/>
                <a:cs typeface="ＭＳ Ｐゴシック" charset="0"/>
              </a:rPr>
              <a:t>an simple internal cross-reference database to accommodate differences in terminology.</a:t>
            </a:r>
          </a:p>
        </p:txBody>
      </p:sp>
      <p:sp>
        <p:nvSpPr>
          <p:cNvPr id="1945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0750" eaLnBrk="0" hangingPunct="0">
              <a:defRPr sz="1000" b="1">
                <a:solidFill>
                  <a:schemeClr val="tx1"/>
                </a:solidFill>
                <a:latin typeface="CG Times" charset="0"/>
                <a:ea typeface="ＭＳ Ｐゴシック" charset="0"/>
                <a:cs typeface="ＭＳ Ｐゴシック" charset="0"/>
              </a:defRPr>
            </a:lvl1pPr>
            <a:lvl2pPr marL="742950" indent="-285750" defTabSz="920750" eaLnBrk="0" hangingPunct="0">
              <a:defRPr sz="1000" b="1">
                <a:solidFill>
                  <a:schemeClr val="tx1"/>
                </a:solidFill>
                <a:latin typeface="CG Times" charset="0"/>
                <a:ea typeface="ＭＳ Ｐゴシック" charset="0"/>
              </a:defRPr>
            </a:lvl2pPr>
            <a:lvl3pPr marL="1143000" indent="-228600" defTabSz="920750" eaLnBrk="0" hangingPunct="0">
              <a:defRPr sz="1000" b="1">
                <a:solidFill>
                  <a:schemeClr val="tx1"/>
                </a:solidFill>
                <a:latin typeface="CG Times" charset="0"/>
                <a:ea typeface="ＭＳ Ｐゴシック" charset="0"/>
              </a:defRPr>
            </a:lvl3pPr>
            <a:lvl4pPr marL="1600200" indent="-228600" defTabSz="920750" eaLnBrk="0" hangingPunct="0">
              <a:defRPr sz="1000" b="1">
                <a:solidFill>
                  <a:schemeClr val="tx1"/>
                </a:solidFill>
                <a:latin typeface="CG Times" charset="0"/>
                <a:ea typeface="ＭＳ Ｐゴシック" charset="0"/>
              </a:defRPr>
            </a:lvl4pPr>
            <a:lvl5pPr marL="2057400" indent="-228600" defTabSz="920750" eaLnBrk="0" hangingPunct="0">
              <a:defRPr sz="1000" b="1">
                <a:solidFill>
                  <a:schemeClr val="tx1"/>
                </a:solidFill>
                <a:latin typeface="CG Times" charset="0"/>
                <a:ea typeface="ＭＳ Ｐゴシック" charset="0"/>
              </a:defRPr>
            </a:lvl5pPr>
            <a:lvl6pPr marL="2514600" indent="-228600" defTabSz="92075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defTabSz="92075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defTabSz="92075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defTabSz="920750" eaLnBrk="0" fontAlgn="base" hangingPunct="0">
              <a:spcBef>
                <a:spcPct val="0"/>
              </a:spcBef>
              <a:spcAft>
                <a:spcPct val="0"/>
              </a:spcAft>
              <a:defRPr sz="1000" b="1">
                <a:solidFill>
                  <a:schemeClr val="tx1"/>
                </a:solidFill>
                <a:latin typeface="CG Times" charset="0"/>
                <a:ea typeface="ＭＳ Ｐゴシック" charset="0"/>
              </a:defRPr>
            </a:lvl9pPr>
          </a:lstStyle>
          <a:p>
            <a:fld id="{13594A62-5B40-E247-B044-BD349167C112}" type="slidenum">
              <a:rPr lang="en-US" sz="1200">
                <a:latin typeface="Arial" charset="0"/>
                <a:cs typeface="Arial" charset="0"/>
              </a:rPr>
              <a:pPr/>
              <a:t>5</a:t>
            </a:fld>
            <a:endParaRPr lang="en-US" sz="1200">
              <a:latin typeface="Arial" charset="0"/>
              <a:cs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1349" eaLnBrk="1" fontAlgn="auto" hangingPunct="1">
              <a:spcBef>
                <a:spcPts val="0"/>
              </a:spcBef>
              <a:spcAft>
                <a:spcPts val="0"/>
              </a:spcAft>
              <a:defRPr/>
            </a:pPr>
            <a:r>
              <a:rPr lang="en-US" sz="1000" dirty="0"/>
              <a:t>This slide and the next provides a brief summary of the Achievements that were realized during this project</a:t>
            </a:r>
          </a:p>
          <a:p>
            <a:endParaRPr lang="en-US" sz="1000" dirty="0"/>
          </a:p>
          <a:p>
            <a:r>
              <a:rPr lang="en-US" sz="1000" dirty="0"/>
              <a:t>Map-based subscription web client</a:t>
            </a:r>
          </a:p>
          <a:p>
            <a:pPr marL="172753" indent="-172753">
              <a:buFont typeface="Arial"/>
              <a:buChar char="•"/>
            </a:pPr>
            <a:r>
              <a:rPr lang="en-US" sz="1000" dirty="0"/>
              <a:t>Displays a map and allows client to choose flood monitoring point/gauge</a:t>
            </a:r>
          </a:p>
          <a:p>
            <a:r>
              <a:rPr lang="en-US" sz="1000" dirty="0"/>
              <a:t>Python implementation of CSW (PYCSW)</a:t>
            </a:r>
          </a:p>
          <a:p>
            <a:pPr marL="172753" indent="-172753">
              <a:buFont typeface="Arial" pitchFamily="34" charset="0"/>
              <a:buChar char="•"/>
            </a:pPr>
            <a:r>
              <a:rPr lang="en-US" sz="1000" dirty="0"/>
              <a:t>Deployed and tested open source CSW server </a:t>
            </a:r>
          </a:p>
          <a:p>
            <a:pPr marL="172753" indent="-172753">
              <a:buFont typeface="Arial" pitchFamily="34" charset="0"/>
              <a:buChar char="•"/>
            </a:pPr>
            <a:r>
              <a:rPr lang="en-US" sz="1000" dirty="0"/>
              <a:t>Found and corrected a number of bugs (community service)</a:t>
            </a:r>
          </a:p>
          <a:p>
            <a:r>
              <a:rPr lang="en-US" sz="1000" dirty="0" err="1"/>
              <a:t>GetDataAvailability</a:t>
            </a:r>
            <a:endParaRPr lang="en-US" sz="1000" dirty="0"/>
          </a:p>
          <a:p>
            <a:pPr marL="172753" indent="-172753">
              <a:buFont typeface="Arial" pitchFamily="34" charset="0"/>
              <a:buChar char="•"/>
            </a:pPr>
            <a:r>
              <a:rPr lang="en-US" sz="1000" dirty="0"/>
              <a:t>Not yet an approved operation of the SOS standard. </a:t>
            </a:r>
          </a:p>
          <a:p>
            <a:pPr marL="633428" lvl="1" indent="-172753">
              <a:buFont typeface="Arial" pitchFamily="34" charset="0"/>
              <a:buChar char="•"/>
            </a:pPr>
            <a:r>
              <a:rPr lang="en-US" sz="1000" dirty="0"/>
              <a:t>Developed and used a prototype implementation for the operation and tested during CHISP-1</a:t>
            </a:r>
          </a:p>
          <a:p>
            <a:pPr marL="172753" indent="-172753">
              <a:buFont typeface="Arial" pitchFamily="34" charset="0"/>
              <a:buChar char="•"/>
            </a:pPr>
            <a:r>
              <a:rPr lang="en-US" sz="1000" dirty="0"/>
              <a:t>Extends 52-North source to include GDA operation</a:t>
            </a:r>
          </a:p>
          <a:p>
            <a:pPr marL="633428" lvl="1" indent="-172753">
              <a:buFont typeface="Arial" pitchFamily="34" charset="0"/>
              <a:buChar char="•"/>
            </a:pPr>
            <a:r>
              <a:rPr lang="en-US" sz="1000" dirty="0"/>
              <a:t>Plan to migrate this code into the existing 52North code base for community use</a:t>
            </a:r>
          </a:p>
          <a:p>
            <a:pPr marL="172753" indent="-172753">
              <a:buFont typeface="Arial" pitchFamily="34" charset="0"/>
              <a:buChar char="•"/>
            </a:pPr>
            <a:r>
              <a:rPr lang="en-US" sz="1000" dirty="0"/>
              <a:t>Harmonize GDA response across all servers in CHISP-1</a:t>
            </a:r>
          </a:p>
          <a:p>
            <a:pPr marL="0" lvl="1" indent="0" defTabSz="921349" eaLnBrk="1" fontAlgn="auto" hangingPunct="1">
              <a:spcBef>
                <a:spcPts val="0"/>
              </a:spcBef>
              <a:spcAft>
                <a:spcPts val="0"/>
              </a:spcAft>
              <a:defRPr/>
            </a:pPr>
            <a:r>
              <a:rPr lang="en-US" sz="1000" dirty="0"/>
              <a:t>Notification broker</a:t>
            </a:r>
          </a:p>
          <a:p>
            <a:pPr marL="172753" lvl="1" indent="-172753" defTabSz="921349" eaLnBrk="1" fontAlgn="auto" hangingPunct="1">
              <a:spcBef>
                <a:spcPts val="0"/>
              </a:spcBef>
              <a:spcAft>
                <a:spcPts val="0"/>
              </a:spcAft>
              <a:buFont typeface="Arial" pitchFamily="34" charset="0"/>
              <a:buChar char="•"/>
              <a:defRPr/>
            </a:pPr>
            <a:r>
              <a:rPr lang="en-US" sz="1000" dirty="0"/>
              <a:t>Coordinating service that interacts with multiple services in the CHISP-1 architecture</a:t>
            </a:r>
          </a:p>
          <a:p>
            <a:pPr marL="633428" lvl="2" indent="-172753" defTabSz="921349" eaLnBrk="1" fontAlgn="auto" hangingPunct="1">
              <a:spcBef>
                <a:spcPts val="0"/>
              </a:spcBef>
              <a:spcAft>
                <a:spcPts val="0"/>
              </a:spcAft>
              <a:buFont typeface="Arial" pitchFamily="34" charset="0"/>
              <a:buChar char="•"/>
              <a:defRPr/>
            </a:pPr>
            <a:r>
              <a:rPr lang="en-US" sz="1000" dirty="0"/>
              <a:t>Upstream WPS, WNS, NRCAN/USGS SOS’s, CSW, Harvester Module</a:t>
            </a:r>
          </a:p>
          <a:p>
            <a:pPr marL="172753" lvl="1" indent="-172753" defTabSz="921349" eaLnBrk="1" fontAlgn="auto" hangingPunct="1">
              <a:spcBef>
                <a:spcPts val="0"/>
              </a:spcBef>
              <a:spcAft>
                <a:spcPts val="0"/>
              </a:spcAft>
              <a:buFont typeface="Arial" pitchFamily="34" charset="0"/>
              <a:buChar char="•"/>
              <a:defRPr/>
            </a:pPr>
            <a:r>
              <a:rPr lang="en-US" sz="1000" dirty="0"/>
              <a:t>Checks sensor reading to see if they exceed thresholds set during subscription</a:t>
            </a:r>
          </a:p>
          <a:p>
            <a:pPr marL="172753" lvl="1" indent="-172753" defTabSz="921349" eaLnBrk="1" fontAlgn="auto" hangingPunct="1">
              <a:spcBef>
                <a:spcPts val="0"/>
              </a:spcBef>
              <a:spcAft>
                <a:spcPts val="0"/>
              </a:spcAft>
              <a:buFont typeface="Arial" pitchFamily="34" charset="0"/>
              <a:buChar char="•"/>
              <a:defRPr/>
            </a:pPr>
            <a:r>
              <a:rPr lang="en-US" sz="1000" dirty="0"/>
              <a:t>Performs notification using the Web Notification Service (WNS)</a:t>
            </a:r>
          </a:p>
          <a:p>
            <a:pPr marL="0" lvl="1" indent="0" defTabSz="921349" eaLnBrk="1" fontAlgn="auto" hangingPunct="1">
              <a:spcBef>
                <a:spcPts val="0"/>
              </a:spcBef>
              <a:spcAft>
                <a:spcPts val="0"/>
              </a:spcAft>
              <a:defRPr/>
            </a:pPr>
            <a:r>
              <a:rPr lang="en-US" sz="1000" dirty="0" smtClean="0"/>
              <a:t>Harvester Module</a:t>
            </a:r>
          </a:p>
          <a:p>
            <a:pPr marL="172753" lvl="1" indent="-172753" defTabSz="921349" eaLnBrk="1" fontAlgn="auto" hangingPunct="1">
              <a:spcBef>
                <a:spcPts val="0"/>
              </a:spcBef>
              <a:spcAft>
                <a:spcPts val="0"/>
              </a:spcAft>
              <a:buFont typeface="Arial" pitchFamily="34" charset="0"/>
              <a:buChar char="•"/>
              <a:defRPr/>
            </a:pPr>
            <a:r>
              <a:rPr lang="en-US" sz="1000" dirty="0" smtClean="0"/>
              <a:t>Reads and stores last value from sensors/gauges in order to perform threshold tests</a:t>
            </a:r>
          </a:p>
          <a:p>
            <a:pPr marL="172753" lvl="1" indent="-172753" defTabSz="921349" eaLnBrk="1" fontAlgn="auto" hangingPunct="1">
              <a:spcBef>
                <a:spcPts val="0"/>
              </a:spcBef>
              <a:spcAft>
                <a:spcPts val="0"/>
              </a:spcAft>
              <a:buFont typeface="Arial" pitchFamily="34" charset="0"/>
              <a:buChar char="•"/>
              <a:defRPr/>
            </a:pPr>
            <a:r>
              <a:rPr lang="en-US" sz="1000" dirty="0" smtClean="0"/>
              <a:t>Stores last value in the catalog (CSW) along with station metadata</a:t>
            </a:r>
          </a:p>
          <a:p>
            <a:pPr marL="0" lvl="1" indent="0" defTabSz="921349" eaLnBrk="1" fontAlgn="auto" hangingPunct="1">
              <a:spcBef>
                <a:spcPts val="0"/>
              </a:spcBef>
              <a:spcAft>
                <a:spcPts val="0"/>
              </a:spcAft>
              <a:defRPr/>
            </a:pPr>
            <a:r>
              <a:rPr lang="en-US" sz="1000" dirty="0" smtClean="0"/>
              <a:t>CAP </a:t>
            </a:r>
            <a:r>
              <a:rPr lang="en-US" sz="1000" dirty="0"/>
              <a:t>Alert client</a:t>
            </a:r>
          </a:p>
          <a:p>
            <a:pPr marL="230337" lvl="1" indent="-230337" defTabSz="921349" eaLnBrk="1" fontAlgn="auto" hangingPunct="1">
              <a:spcBef>
                <a:spcPts val="0"/>
              </a:spcBef>
              <a:spcAft>
                <a:spcPts val="0"/>
              </a:spcAft>
              <a:buFont typeface="Arial" pitchFamily="34" charset="0"/>
              <a:buChar char="•"/>
              <a:defRPr/>
            </a:pPr>
            <a:r>
              <a:rPr lang="en-US" sz="1000" dirty="0"/>
              <a:t>Web-based client to enter parameters necessary to send information for a CAP alert</a:t>
            </a:r>
          </a:p>
          <a:p>
            <a:pPr marL="230337" lvl="1" indent="-230337" defTabSz="921349" eaLnBrk="1" fontAlgn="auto" hangingPunct="1">
              <a:spcBef>
                <a:spcPts val="0"/>
              </a:spcBef>
              <a:spcAft>
                <a:spcPts val="0"/>
              </a:spcAft>
              <a:buFont typeface="Arial" pitchFamily="34" charset="0"/>
              <a:buChar char="•"/>
              <a:defRPr/>
            </a:pPr>
            <a:r>
              <a:rPr lang="en-US" sz="1000" dirty="0"/>
              <a:t>Interfaces with the MASAS system to form and send the </a:t>
            </a:r>
            <a:r>
              <a:rPr lang="en-US" sz="1000" dirty="0" smtClean="0"/>
              <a:t>alert</a:t>
            </a:r>
            <a:endParaRPr lang="en-US" sz="1000" dirty="0"/>
          </a:p>
        </p:txBody>
      </p:sp>
      <p:sp>
        <p:nvSpPr>
          <p:cNvPr id="4" name="Slide Number Placeholder 3"/>
          <p:cNvSpPr>
            <a:spLocks noGrp="1"/>
          </p:cNvSpPr>
          <p:nvPr>
            <p:ph type="sldNum" sz="quarter" idx="10"/>
          </p:nvPr>
        </p:nvSpPr>
        <p:spPr/>
        <p:txBody>
          <a:bodyPr/>
          <a:lstStyle/>
          <a:p>
            <a:fld id="{FDC279B7-D6DD-4DBA-B8E0-48AFA40ED0C5}" type="slidenum">
              <a:rPr lang="en-US" smtClean="0"/>
              <a:t>7</a:t>
            </a:fld>
            <a:endParaRPr lang="en-US"/>
          </a:p>
        </p:txBody>
      </p:sp>
    </p:spTree>
    <p:extLst>
      <p:ext uri="{BB962C8B-B14F-4D97-AF65-F5344CB8AC3E}">
        <p14:creationId xmlns:p14="http://schemas.microsoft.com/office/powerpoint/2010/main" val="867723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First:</a:t>
            </a:r>
          </a:p>
          <a:p>
            <a:r>
              <a:rPr lang="en-US" sz="1100" dirty="0"/>
              <a:t>NLCS client</a:t>
            </a:r>
          </a:p>
          <a:p>
            <a:pPr marL="172753" indent="-172753">
              <a:buFont typeface="Arial"/>
              <a:buChar char="•"/>
            </a:pPr>
            <a:r>
              <a:rPr lang="en-US" sz="1100" dirty="0"/>
              <a:t>Deployed as a Web-based client that allows the user to choose a Great Lake and </a:t>
            </a:r>
            <a:r>
              <a:rPr lang="en-US" sz="1100" dirty="0" err="1"/>
              <a:t>analyte</a:t>
            </a:r>
            <a:r>
              <a:rPr lang="en-US" sz="1100" dirty="0"/>
              <a:t> in order to compute nutrient loads entering the lake</a:t>
            </a:r>
          </a:p>
          <a:p>
            <a:endParaRPr lang="en-US" sz="1100" dirty="0"/>
          </a:p>
          <a:p>
            <a:r>
              <a:rPr lang="en-US" sz="1100" dirty="0"/>
              <a:t>Water quality SOS façade was created to:</a:t>
            </a:r>
          </a:p>
          <a:p>
            <a:pPr marL="172753" indent="-172753">
              <a:buFont typeface="Arial"/>
              <a:buChar char="•"/>
            </a:pPr>
            <a:r>
              <a:rPr lang="en-US" sz="1100" dirty="0"/>
              <a:t>Integrate existing non-OGC water quality source data services</a:t>
            </a:r>
          </a:p>
          <a:p>
            <a:pPr marL="172753" indent="-172753">
              <a:buFont typeface="Arial"/>
              <a:buChar char="•"/>
            </a:pPr>
            <a:r>
              <a:rPr lang="en-US" sz="1100" dirty="0"/>
              <a:t>Using an OGC compliant Sensor Observation Service (SOS) API (i.e. façade) for access to those sources</a:t>
            </a:r>
          </a:p>
          <a:p>
            <a:endParaRPr lang="en-US" sz="1100" dirty="0"/>
          </a:p>
          <a:p>
            <a:r>
              <a:rPr lang="en-US" sz="1100" dirty="0"/>
              <a:t>Nutrient Load Calculation Service (NLCS) was developed</a:t>
            </a:r>
          </a:p>
          <a:p>
            <a:pPr marL="172753" indent="-172753">
              <a:buFont typeface="Arial"/>
              <a:buChar char="•"/>
            </a:pPr>
            <a:r>
              <a:rPr lang="en-US" sz="1100" dirty="0"/>
              <a:t>Given the selection of a Great Lake and an </a:t>
            </a:r>
            <a:r>
              <a:rPr lang="en-US" sz="1100" dirty="0" err="1"/>
              <a:t>analyte</a:t>
            </a:r>
            <a:r>
              <a:rPr lang="en-US" sz="1100" dirty="0"/>
              <a:t>, the NLCS computes the nutrient loads using</a:t>
            </a:r>
          </a:p>
          <a:p>
            <a:pPr marL="691012" lvl="1" indent="-230337">
              <a:buFont typeface="+mj-lt"/>
              <a:buAutoNum type="arabicPeriod"/>
            </a:pPr>
            <a:r>
              <a:rPr lang="en-US" sz="1100" dirty="0"/>
              <a:t>An Indexing service that</a:t>
            </a:r>
          </a:p>
          <a:p>
            <a:pPr marL="1094102" lvl="2" indent="-172753">
              <a:buFont typeface="Arial"/>
              <a:buChar char="•"/>
              <a:defRPr/>
            </a:pPr>
            <a:r>
              <a:rPr lang="en-US" sz="1100" dirty="0"/>
              <a:t>Identifies stream flow gauges and water quality stations –  and tributaries and lakes with which they are associated </a:t>
            </a:r>
          </a:p>
          <a:p>
            <a:pPr marL="1094102" lvl="2" indent="-172753">
              <a:buFont typeface="Arial"/>
              <a:buChar char="•"/>
              <a:defRPr/>
            </a:pPr>
            <a:r>
              <a:rPr lang="en-US" sz="1100" dirty="0"/>
              <a:t>The Indexing service was deployed as a local data store</a:t>
            </a:r>
          </a:p>
          <a:p>
            <a:pPr lvl="1"/>
            <a:r>
              <a:rPr lang="en-US" sz="1100" dirty="0"/>
              <a:t>2. Upstream service</a:t>
            </a:r>
          </a:p>
          <a:p>
            <a:pPr marL="1094102" lvl="2" indent="-172753">
              <a:buFont typeface="Arial"/>
              <a:buChar char="•"/>
            </a:pPr>
            <a:r>
              <a:rPr lang="en-US" sz="1100" dirty="0"/>
              <a:t>Identifies upstream gauges and sensors given a selected point of interest</a:t>
            </a:r>
          </a:p>
          <a:p>
            <a:pPr marL="1094102" lvl="2" indent="-172753">
              <a:buFont typeface="Arial"/>
              <a:buChar char="•"/>
            </a:pPr>
            <a:r>
              <a:rPr lang="en-US" sz="1100" dirty="0"/>
              <a:t>Deployed as a WPS</a:t>
            </a:r>
          </a:p>
          <a:p>
            <a:r>
              <a:rPr lang="en-US" sz="1100" dirty="0"/>
              <a:t>Lastly:</a:t>
            </a:r>
          </a:p>
          <a:p>
            <a:r>
              <a:rPr lang="en-US" sz="1100" dirty="0"/>
              <a:t>SPARQL server</a:t>
            </a:r>
          </a:p>
          <a:p>
            <a:pPr marL="172753" indent="-172753">
              <a:buFont typeface="Arial"/>
              <a:buChar char="•"/>
            </a:pPr>
            <a:r>
              <a:rPr lang="en-US" sz="1100" dirty="0"/>
              <a:t>Deployed to serve as a semantic mediator of </a:t>
            </a:r>
            <a:r>
              <a:rPr lang="en-US" sz="1100" dirty="0" err="1"/>
              <a:t>analyte</a:t>
            </a:r>
            <a:r>
              <a:rPr lang="en-US" sz="1100" dirty="0"/>
              <a:t> vocabularies between US and Canada</a:t>
            </a:r>
          </a:p>
          <a:p>
            <a:pPr marL="172753" indent="-172753" defTabSz="921349" eaLnBrk="1" fontAlgn="auto" hangingPunct="1">
              <a:spcBef>
                <a:spcPts val="0"/>
              </a:spcBef>
              <a:spcAft>
                <a:spcPts val="0"/>
              </a:spcAft>
              <a:buFont typeface="Arial"/>
              <a:buChar char="•"/>
              <a:defRPr/>
            </a:pPr>
            <a:r>
              <a:rPr lang="en-US" sz="1100" dirty="0"/>
              <a:t>Loading of ontology data was not </a:t>
            </a:r>
            <a:r>
              <a:rPr lang="en-US" sz="1100" dirty="0" smtClean="0"/>
              <a:t>completed </a:t>
            </a:r>
            <a:r>
              <a:rPr lang="en-US" sz="1100" dirty="0"/>
              <a:t>in time for this </a:t>
            </a:r>
            <a:r>
              <a:rPr lang="en-US" sz="1100" dirty="0" smtClean="0"/>
              <a:t>demo due</a:t>
            </a:r>
            <a:r>
              <a:rPr lang="en-US" sz="1100" baseline="0" dirty="0" smtClean="0"/>
              <a:t> to personnel resource constraints</a:t>
            </a:r>
            <a:endParaRPr lang="en-US" sz="1100" dirty="0"/>
          </a:p>
          <a:p>
            <a:pPr marL="172753" indent="-172753">
              <a:buFont typeface="Arial"/>
              <a:buChar char="•"/>
            </a:pPr>
            <a:r>
              <a:rPr lang="en-US" sz="1100" dirty="0"/>
              <a:t>In the meantime, the NLCS </a:t>
            </a:r>
            <a:r>
              <a:rPr lang="en-US" sz="1100" dirty="0" smtClean="0"/>
              <a:t>used </a:t>
            </a:r>
            <a:r>
              <a:rPr lang="en-US" sz="1100" dirty="0"/>
              <a:t>a local, internal mapping of vocabularies for mediation</a:t>
            </a:r>
          </a:p>
          <a:p>
            <a:pPr marL="172753" indent="-172753">
              <a:buFont typeface="Arial"/>
              <a:buChar char="•"/>
            </a:pPr>
            <a:endParaRPr lang="en-US" dirty="0"/>
          </a:p>
        </p:txBody>
      </p:sp>
      <p:sp>
        <p:nvSpPr>
          <p:cNvPr id="4" name="Slide Number Placeholder 3"/>
          <p:cNvSpPr>
            <a:spLocks noGrp="1"/>
          </p:cNvSpPr>
          <p:nvPr>
            <p:ph type="sldNum" sz="quarter" idx="10"/>
          </p:nvPr>
        </p:nvSpPr>
        <p:spPr/>
        <p:txBody>
          <a:bodyPr/>
          <a:lstStyle/>
          <a:p>
            <a:fld id="{FDC279B7-D6DD-4DBA-B8E0-48AFA40ED0C5}" type="slidenum">
              <a:rPr lang="en-US" smtClean="0"/>
              <a:t>8</a:t>
            </a:fld>
            <a:endParaRPr lang="en-US"/>
          </a:p>
        </p:txBody>
      </p:sp>
    </p:spTree>
    <p:extLst>
      <p:ext uri="{BB962C8B-B14F-4D97-AF65-F5344CB8AC3E}">
        <p14:creationId xmlns:p14="http://schemas.microsoft.com/office/powerpoint/2010/main" val="867723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dirty="0"/>
              <a:t>Service performance and stability</a:t>
            </a:r>
          </a:p>
          <a:p>
            <a:pPr marL="921349" lvl="1" indent="-460675">
              <a:buFont typeface="Arial" pitchFamily="34" charset="0"/>
              <a:buChar char="•"/>
            </a:pPr>
            <a:r>
              <a:rPr lang="en-US" sz="2800" dirty="0"/>
              <a:t>There were issues of stability and performance with some of the backend services necessitating the development of more robust error handling</a:t>
            </a:r>
          </a:p>
          <a:p>
            <a:r>
              <a:rPr lang="en-US" sz="3200" dirty="0"/>
              <a:t>Large networks of sensors are not sufficiently supported in SOS standard</a:t>
            </a:r>
          </a:p>
          <a:p>
            <a:pPr marL="921349" lvl="1" indent="-460675">
              <a:buFont typeface="Arial" pitchFamily="34" charset="0"/>
              <a:buChar char="•"/>
            </a:pPr>
            <a:r>
              <a:rPr lang="en-US" sz="2800" dirty="0"/>
              <a:t>Listing all procedures and features of interest is not usually manageable for large </a:t>
            </a:r>
            <a:r>
              <a:rPr lang="en-US" sz="2800" dirty="0" smtClean="0"/>
              <a:t>networks</a:t>
            </a:r>
            <a:r>
              <a:rPr lang="en-US" sz="2800" baseline="0" dirty="0" smtClean="0"/>
              <a:t> (</a:t>
            </a:r>
            <a:r>
              <a:rPr lang="en-US" sz="2800" baseline="0" dirty="0" err="1" smtClean="0"/>
              <a:t>getCapabilities</a:t>
            </a:r>
            <a:r>
              <a:rPr lang="en-US" sz="2800" baseline="0" dirty="0" smtClean="0"/>
              <a:t> response can become very large and unmanageable)</a:t>
            </a:r>
            <a:endParaRPr lang="en-US" sz="2800" dirty="0"/>
          </a:p>
          <a:p>
            <a:r>
              <a:rPr lang="en-US" sz="3200" dirty="0"/>
              <a:t>Catalogue issues</a:t>
            </a:r>
          </a:p>
          <a:p>
            <a:pPr marL="921349" lvl="1" indent="-460675">
              <a:buFont typeface="Arial" pitchFamily="34" charset="0"/>
              <a:buChar char="•"/>
            </a:pPr>
            <a:r>
              <a:rPr lang="en-US" sz="2800" dirty="0"/>
              <a:t>The initial </a:t>
            </a:r>
            <a:r>
              <a:rPr lang="en-US" sz="2800" dirty="0" smtClean="0"/>
              <a:t>deployment </a:t>
            </a:r>
            <a:r>
              <a:rPr lang="en-US" sz="2800" dirty="0"/>
              <a:t>using </a:t>
            </a:r>
            <a:r>
              <a:rPr lang="en-US" sz="2800" dirty="0" err="1"/>
              <a:t>GeoNetwork</a:t>
            </a:r>
            <a:r>
              <a:rPr lang="en-US" sz="2800" dirty="0"/>
              <a:t> CSW was not stable or complete; moving to </a:t>
            </a:r>
            <a:r>
              <a:rPr lang="en-US" sz="2800" dirty="0" err="1"/>
              <a:t>pycsw</a:t>
            </a:r>
            <a:r>
              <a:rPr lang="en-US" sz="2800" dirty="0"/>
              <a:t> – developed by Tom </a:t>
            </a:r>
            <a:r>
              <a:rPr lang="en-US" sz="2800" dirty="0" err="1"/>
              <a:t>Kralidis</a:t>
            </a:r>
            <a:r>
              <a:rPr lang="en-US" sz="2800" dirty="0"/>
              <a:t> from EC resolved most of the issues</a:t>
            </a:r>
          </a:p>
          <a:p>
            <a:r>
              <a:rPr lang="en-US" sz="3200" dirty="0"/>
              <a:t>SPARQL server </a:t>
            </a:r>
          </a:p>
          <a:p>
            <a:pPr marL="921349" lvl="1" indent="-460675">
              <a:buFont typeface="Arial" pitchFamily="34" charset="0"/>
              <a:buChar char="•"/>
            </a:pPr>
            <a:r>
              <a:rPr lang="en-US" sz="3200" dirty="0"/>
              <a:t>Deployed but </a:t>
            </a:r>
            <a:r>
              <a:rPr lang="en-US" sz="3200" dirty="0" smtClean="0"/>
              <a:t>not populated </a:t>
            </a:r>
            <a:r>
              <a:rPr lang="en-US" sz="3200" dirty="0"/>
              <a:t>with ontologies because </a:t>
            </a:r>
            <a:r>
              <a:rPr lang="en-US" sz="3200" dirty="0" smtClean="0"/>
              <a:t>of personnel resource </a:t>
            </a:r>
            <a:r>
              <a:rPr lang="en-US" sz="3200" dirty="0"/>
              <a:t>time constraints</a:t>
            </a:r>
          </a:p>
          <a:p>
            <a:r>
              <a:rPr lang="en-US" sz="3200" dirty="0"/>
              <a:t>NLCS WPS</a:t>
            </a:r>
          </a:p>
          <a:p>
            <a:pPr marL="921349" lvl="1" indent="-460675">
              <a:buFont typeface="Arial" pitchFamily="34" charset="0"/>
              <a:buChar char="•"/>
            </a:pPr>
            <a:r>
              <a:rPr lang="en-US" sz="2800" dirty="0"/>
              <a:t>Bugs with the open source </a:t>
            </a:r>
            <a:r>
              <a:rPr lang="en-US" sz="2800" dirty="0" smtClean="0"/>
              <a:t>software libraries </a:t>
            </a:r>
            <a:r>
              <a:rPr lang="en-US" sz="2800" dirty="0"/>
              <a:t>used to implement the model and the </a:t>
            </a:r>
            <a:r>
              <a:rPr lang="en-US" sz="2800" dirty="0" smtClean="0"/>
              <a:t>sparseness </a:t>
            </a:r>
            <a:r>
              <a:rPr lang="en-US" sz="2800" dirty="0"/>
              <a:t>of data on the Canadian side necessitated the move to a simpler model</a:t>
            </a:r>
          </a:p>
          <a:p>
            <a:r>
              <a:rPr lang="en-US" sz="3200" dirty="0"/>
              <a:t>Harvester module issues</a:t>
            </a:r>
          </a:p>
          <a:p>
            <a:pPr marL="921349" lvl="1" indent="-460675">
              <a:buFont typeface="Arial" pitchFamily="34" charset="0"/>
              <a:buChar char="•"/>
            </a:pPr>
            <a:r>
              <a:rPr lang="en-US" sz="2800" dirty="0" smtClean="0"/>
              <a:t>The last-value </a:t>
            </a:r>
            <a:r>
              <a:rPr lang="en-US" sz="2800" dirty="0"/>
              <a:t>harvester module was impacted by the previously mentioned performance issues with the SOSs</a:t>
            </a:r>
          </a:p>
          <a:p>
            <a:pPr marL="921349" lvl="1" indent="-460675">
              <a:buFont typeface="Arial" pitchFamily="34" charset="0"/>
              <a:buChar char="•"/>
            </a:pPr>
            <a:r>
              <a:rPr lang="en-US" sz="2800" u="none" strike="sngStrike" dirty="0"/>
              <a:t>It is very difficult to demonstrate a back-end service and the client that was demonstrated by GIS-FCU was developed to step through in processing actions</a:t>
            </a:r>
          </a:p>
          <a:p>
            <a:r>
              <a:rPr lang="en-US" sz="3200" dirty="0"/>
              <a:t>GDA extension for SOS</a:t>
            </a:r>
          </a:p>
          <a:p>
            <a:pPr marL="921349" lvl="1" indent="-460675">
              <a:buFont typeface="Arial" pitchFamily="34" charset="0"/>
              <a:buChar char="•"/>
            </a:pPr>
            <a:r>
              <a:rPr lang="en-US" sz="2800" dirty="0" err="1" smtClean="0"/>
              <a:t>GetDataAvailability</a:t>
            </a:r>
            <a:r>
              <a:rPr lang="en-US" sz="2800" dirty="0" smtClean="0"/>
              <a:t> </a:t>
            </a:r>
            <a:r>
              <a:rPr lang="en-US" sz="2800" dirty="0"/>
              <a:t>operations conforming to the </a:t>
            </a:r>
            <a:r>
              <a:rPr lang="en-US" sz="2800" dirty="0" err="1" smtClean="0"/>
              <a:t>NRCan</a:t>
            </a:r>
            <a:r>
              <a:rPr lang="en-US" sz="2800" dirty="0" smtClean="0"/>
              <a:t> SOS </a:t>
            </a:r>
            <a:r>
              <a:rPr lang="en-US" sz="2800" dirty="0"/>
              <a:t>profile was implemented using the latest 52North code base</a:t>
            </a:r>
          </a:p>
          <a:p>
            <a:pPr marL="921349" lvl="1" indent="-460675">
              <a:buFont typeface="Arial" pitchFamily="34" charset="0"/>
              <a:buChar char="•"/>
            </a:pPr>
            <a:r>
              <a:rPr lang="en-US" sz="2800" dirty="0" smtClean="0"/>
              <a:t>However, since the current</a:t>
            </a:r>
            <a:r>
              <a:rPr lang="en-US" sz="2800" baseline="0" dirty="0" smtClean="0"/>
              <a:t> </a:t>
            </a:r>
            <a:r>
              <a:rPr lang="en-US" sz="2800" dirty="0" smtClean="0"/>
              <a:t>52North SOS code </a:t>
            </a:r>
            <a:r>
              <a:rPr lang="en-US" sz="2800" dirty="0"/>
              <a:t>base </a:t>
            </a:r>
            <a:r>
              <a:rPr lang="en-US" sz="2800" dirty="0" smtClean="0"/>
              <a:t>did</a:t>
            </a:r>
            <a:r>
              <a:rPr lang="en-US" sz="2800" baseline="0" dirty="0" smtClean="0"/>
              <a:t> </a:t>
            </a:r>
            <a:r>
              <a:rPr lang="en-US" sz="2800" dirty="0" smtClean="0"/>
              <a:t>not </a:t>
            </a:r>
            <a:r>
              <a:rPr lang="en-US" sz="2800" dirty="0"/>
              <a:t>yet include the necessary </a:t>
            </a:r>
            <a:r>
              <a:rPr lang="en-US" sz="2800" dirty="0" smtClean="0"/>
              <a:t>database migration scripts </a:t>
            </a:r>
            <a:r>
              <a:rPr lang="en-US" sz="2800" dirty="0" smtClean="0"/>
              <a:t>in order to </a:t>
            </a:r>
            <a:r>
              <a:rPr lang="en-US" sz="2800" dirty="0" smtClean="0"/>
              <a:t>move</a:t>
            </a:r>
            <a:r>
              <a:rPr lang="en-US" sz="2800" baseline="0" dirty="0" smtClean="0"/>
              <a:t> the existing data to the newer </a:t>
            </a:r>
            <a:r>
              <a:rPr lang="en-US" sz="2800" baseline="0" dirty="0" smtClean="0"/>
              <a:t>SOS version</a:t>
            </a:r>
            <a:r>
              <a:rPr lang="en-US" sz="2800" dirty="0" smtClean="0"/>
              <a:t> </a:t>
            </a:r>
            <a:r>
              <a:rPr lang="en-US" sz="2800" dirty="0"/>
              <a:t>to </a:t>
            </a:r>
            <a:r>
              <a:rPr lang="en-US" sz="2800" dirty="0" smtClean="0"/>
              <a:t>demonstrate </a:t>
            </a:r>
            <a:r>
              <a:rPr lang="en-US" sz="2800" dirty="0"/>
              <a:t>the operation with </a:t>
            </a:r>
            <a:r>
              <a:rPr lang="en-US" sz="2800" dirty="0" smtClean="0"/>
              <a:t>most</a:t>
            </a:r>
            <a:r>
              <a:rPr lang="en-US" sz="2800" baseline="0" dirty="0" smtClean="0"/>
              <a:t> </a:t>
            </a:r>
            <a:r>
              <a:rPr lang="en-US" sz="2800" baseline="0" dirty="0" smtClean="0"/>
              <a:t>current </a:t>
            </a:r>
            <a:r>
              <a:rPr lang="en-US" sz="2800" dirty="0" smtClean="0"/>
              <a:t>data</a:t>
            </a:r>
            <a:endParaRPr lang="en-US" sz="2800" dirty="0"/>
          </a:p>
          <a:p>
            <a:endParaRPr lang="en-US" dirty="0"/>
          </a:p>
        </p:txBody>
      </p:sp>
      <p:sp>
        <p:nvSpPr>
          <p:cNvPr id="4" name="Slide Number Placeholder 3"/>
          <p:cNvSpPr>
            <a:spLocks noGrp="1"/>
          </p:cNvSpPr>
          <p:nvPr>
            <p:ph type="sldNum" sz="quarter" idx="10"/>
          </p:nvPr>
        </p:nvSpPr>
        <p:spPr/>
        <p:txBody>
          <a:bodyPr/>
          <a:lstStyle/>
          <a:p>
            <a:fld id="{FDC279B7-D6DD-4DBA-B8E0-48AFA40ED0C5}" type="slidenum">
              <a:rPr lang="en-US" smtClean="0"/>
              <a:t>9</a:t>
            </a:fld>
            <a:endParaRPr lang="en-US"/>
          </a:p>
        </p:txBody>
      </p:sp>
    </p:spTree>
    <p:extLst>
      <p:ext uri="{BB962C8B-B14F-4D97-AF65-F5344CB8AC3E}">
        <p14:creationId xmlns:p14="http://schemas.microsoft.com/office/powerpoint/2010/main" val="8677232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18"/>
          <p:cNvSpPr txBox="1">
            <a:spLocks noChangeArrowheads="1"/>
          </p:cNvSpPr>
          <p:nvPr userDrawn="1"/>
        </p:nvSpPr>
        <p:spPr bwMode="auto">
          <a:xfrm>
            <a:off x="7467600" y="214313"/>
            <a:ext cx="13462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med" len="lg"/>
                <a:tailEnd/>
              </a14:hiddenLine>
            </a:ext>
          </a:extLst>
        </p:spPr>
        <p:txBody>
          <a:bodyPr lIns="0" rIns="0">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defRPr/>
            </a:pPr>
            <a:r>
              <a:rPr lang="en-US" sz="800" smtClean="0">
                <a:solidFill>
                  <a:srgbClr val="FFFFFF"/>
                </a:solidFill>
                <a:latin typeface="Arial" charset="0"/>
                <a:cs typeface="Arial" charset="0"/>
              </a:rPr>
              <a:t>®</a:t>
            </a:r>
          </a:p>
        </p:txBody>
      </p:sp>
      <p:pic>
        <p:nvPicPr>
          <p:cNvPr id="5" name="Picture 10" descr="OGC header 20101220.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1" descr="whitelogo_OGC2-01-01.png"/>
          <p:cNvPicPr>
            <a:picLocks noChangeAspect="1"/>
          </p:cNvPicPr>
          <p:nvPr userDrawn="1"/>
        </p:nvPicPr>
        <p:blipFill>
          <a:blip r:embed="rId3">
            <a:extLst>
              <a:ext uri="{28A0092B-C50C-407E-A947-70E740481C1C}">
                <a14:useLocalDpi xmlns:a14="http://schemas.microsoft.com/office/drawing/2010/main" val="0"/>
              </a:ext>
            </a:extLst>
          </a:blip>
          <a:srcRect t="26393" b="14664"/>
          <a:stretch>
            <a:fillRect/>
          </a:stretch>
        </p:blipFill>
        <p:spPr bwMode="auto">
          <a:xfrm>
            <a:off x="7024688" y="69850"/>
            <a:ext cx="2119312"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userDrawn="1"/>
        </p:nvSpPr>
        <p:spPr bwMode="auto">
          <a:xfrm>
            <a:off x="8610600" y="50800"/>
            <a:ext cx="2794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eaLnBrk="1" hangingPunct="1">
              <a:defRPr/>
            </a:pPr>
            <a:r>
              <a:rPr lang="en-US" b="0" smtClean="0">
                <a:solidFill>
                  <a:srgbClr val="FFFFFF"/>
                </a:solidFill>
                <a:cs typeface="Arial" charset="0"/>
              </a:rPr>
              <a:t>®</a:t>
            </a:r>
          </a:p>
        </p:txBody>
      </p:sp>
      <p:sp>
        <p:nvSpPr>
          <p:cNvPr id="463875" name="Rectangle 3"/>
          <p:cNvSpPr>
            <a:spLocks noGrp="1" noChangeArrowheads="1"/>
          </p:cNvSpPr>
          <p:nvPr>
            <p:ph type="ctrTitle"/>
          </p:nvPr>
        </p:nvSpPr>
        <p:spPr>
          <a:xfrm>
            <a:off x="762000" y="2667000"/>
            <a:ext cx="7772400" cy="1143000"/>
          </a:xfrm>
        </p:spPr>
        <p:txBody>
          <a:bodyPr/>
          <a:lstStyle>
            <a:lvl1pPr>
              <a:defRPr>
                <a:latin typeface="Arial Black" pitchFamily="34" charset="0"/>
              </a:defRPr>
            </a:lvl1pPr>
          </a:lstStyle>
          <a:p>
            <a:r>
              <a:rPr lang="en-US" smtClean="0"/>
              <a:t>Click to edit Master title style</a:t>
            </a:r>
            <a:endParaRPr lang="en-US"/>
          </a:p>
        </p:txBody>
      </p:sp>
      <p:sp>
        <p:nvSpPr>
          <p:cNvPr id="463876" name="Rectangle 4"/>
          <p:cNvSpPr>
            <a:spLocks noGrp="1" noChangeArrowheads="1"/>
          </p:cNvSpPr>
          <p:nvPr>
            <p:ph type="subTitle" idx="1"/>
          </p:nvPr>
        </p:nvSpPr>
        <p:spPr>
          <a:xfrm>
            <a:off x="1447800" y="4114800"/>
            <a:ext cx="6400800" cy="1371600"/>
          </a:xfrm>
        </p:spPr>
        <p:txBody>
          <a:bodyPr/>
          <a:lstStyle>
            <a:lvl1pPr marL="0" indent="0" algn="ctr">
              <a:buFontTx/>
              <a:buNone/>
              <a:defRPr sz="1800">
                <a:solidFill>
                  <a:srgbClr val="092E5C"/>
                </a:solidFill>
              </a:defRPr>
            </a:lvl1pPr>
          </a:lstStyle>
          <a:p>
            <a:r>
              <a:rPr lang="en-US" smtClean="0"/>
              <a:t>Click to edit Master subtitle style</a:t>
            </a:r>
            <a:endParaRPr lang="en-US"/>
          </a:p>
        </p:txBody>
      </p:sp>
      <p:sp>
        <p:nvSpPr>
          <p:cNvPr id="8" name="Rectangle 2"/>
          <p:cNvSpPr>
            <a:spLocks noGrp="1" noChangeArrowheads="1"/>
          </p:cNvSpPr>
          <p:nvPr>
            <p:ph type="ftr" sz="quarter" idx="10"/>
          </p:nvPr>
        </p:nvSpPr>
        <p:spPr>
          <a:xfrm>
            <a:off x="3009900" y="6248400"/>
            <a:ext cx="3276600" cy="457200"/>
          </a:xfrm>
        </p:spPr>
        <p:txBody>
          <a:bodyPr/>
          <a:lstStyle>
            <a:lvl1pPr>
              <a:defRPr>
                <a:effectLst>
                  <a:outerShdw blurRad="38100" dist="38100" dir="2700000" algn="tl">
                    <a:srgbClr val="DDDDDD"/>
                  </a:outerShdw>
                </a:effectLst>
                <a:latin typeface="Arial" charset="0"/>
                <a:ea typeface="ＭＳ Ｐゴシック" charset="0"/>
                <a:cs typeface="Arial" charset="0"/>
              </a:defRPr>
            </a:lvl1pPr>
          </a:lstStyle>
          <a:p>
            <a:pPr>
              <a:defRPr/>
            </a:pPr>
            <a:r>
              <a:rPr lang="en-US" dirty="0"/>
              <a:t>© </a:t>
            </a:r>
            <a:r>
              <a:rPr lang="en-US" dirty="0" smtClean="0"/>
              <a:t>2013 </a:t>
            </a:r>
            <a:r>
              <a:rPr lang="en-US" dirty="0"/>
              <a:t>Open Geospatial Consortium</a:t>
            </a:r>
          </a:p>
          <a:p>
            <a:pPr>
              <a:defRPr/>
            </a:pPr>
            <a:r>
              <a:rPr lang="en-US" dirty="0"/>
              <a:t>http://</a:t>
            </a:r>
            <a:r>
              <a:rPr lang="en-US" dirty="0" err="1"/>
              <a:t>www.opengeospatial.org</a:t>
            </a:r>
            <a:r>
              <a:rPr lang="en-US" dirty="0"/>
              <a:t>.</a:t>
            </a:r>
          </a:p>
        </p:txBody>
      </p:sp>
    </p:spTree>
    <p:extLst>
      <p:ext uri="{BB962C8B-B14F-4D97-AF65-F5344CB8AC3E}">
        <p14:creationId xmlns:p14="http://schemas.microsoft.com/office/powerpoint/2010/main" val="29897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92E5C"/>
                </a:solidFil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a:defRPr>
                <a:solidFill>
                  <a:srgbClr val="092E5C"/>
                </a:solidFill>
              </a:defRPr>
            </a:lvl1pPr>
            <a:lvl2pPr>
              <a:defRPr>
                <a:solidFill>
                  <a:srgbClr val="092E5C"/>
                </a:solidFill>
              </a:defRPr>
            </a:lvl2pPr>
            <a:lvl3pPr>
              <a:defRPr>
                <a:solidFill>
                  <a:srgbClr val="092E5C"/>
                </a:solidFill>
              </a:defRPr>
            </a:lvl3pPr>
            <a:lvl4pPr>
              <a:defRPr>
                <a:solidFill>
                  <a:srgbClr val="092E5C"/>
                </a:solidFill>
              </a:defRPr>
            </a:lvl4pPr>
            <a:lvl5pPr>
              <a:defRPr>
                <a:solidFill>
                  <a:srgbClr val="092E5C"/>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dirty="0"/>
              <a:t>© </a:t>
            </a:r>
            <a:r>
              <a:rPr lang="en-US" dirty="0" smtClean="0"/>
              <a:t>2013 </a:t>
            </a:r>
            <a:r>
              <a:rPr lang="en-US" dirty="0"/>
              <a:t>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95D296B3-8B0B-AB4C-A40D-C76DAD708AC8}" type="slidenum">
              <a:rPr lang="en-US"/>
              <a:pPr>
                <a:defRPr/>
              </a:pPr>
              <a:t>‹#›</a:t>
            </a:fld>
            <a:endParaRPr lang="en-US"/>
          </a:p>
        </p:txBody>
      </p:sp>
    </p:spTree>
    <p:extLst>
      <p:ext uri="{BB962C8B-B14F-4D97-AF65-F5344CB8AC3E}">
        <p14:creationId xmlns:p14="http://schemas.microsoft.com/office/powerpoint/2010/main" val="3957483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dirty="0"/>
              <a:t>© </a:t>
            </a:r>
            <a:r>
              <a:rPr lang="en-US" dirty="0" smtClean="0"/>
              <a:t>2013 </a:t>
            </a:r>
            <a:r>
              <a:rPr lang="en-US" dirty="0"/>
              <a:t>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58B28B50-90A1-974B-B1F8-0D7492AF89D4}" type="slidenum">
              <a:rPr lang="en-US"/>
              <a:pPr>
                <a:defRPr/>
              </a:pPr>
              <a:t>‹#›</a:t>
            </a:fld>
            <a:endParaRPr lang="en-US"/>
          </a:p>
        </p:txBody>
      </p:sp>
    </p:spTree>
    <p:extLst>
      <p:ext uri="{BB962C8B-B14F-4D97-AF65-F5344CB8AC3E}">
        <p14:creationId xmlns:p14="http://schemas.microsoft.com/office/powerpoint/2010/main" val="541272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460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51375" y="1279525"/>
            <a:ext cx="4152900" cy="4891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dirty="0"/>
              <a:t>© </a:t>
            </a:r>
            <a:r>
              <a:rPr lang="en-US" dirty="0" smtClean="0"/>
              <a:t>2013 </a:t>
            </a:r>
            <a:r>
              <a:rPr lang="en-US" dirty="0"/>
              <a:t>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6E3990C6-8C26-0344-8A03-728229B674A4}" type="slidenum">
              <a:rPr lang="en-US"/>
              <a:pPr>
                <a:defRPr/>
              </a:pPr>
              <a:t>‹#›</a:t>
            </a:fld>
            <a:endParaRPr lang="en-US"/>
          </a:p>
        </p:txBody>
      </p:sp>
    </p:spTree>
    <p:extLst>
      <p:ext uri="{BB962C8B-B14F-4D97-AF65-F5344CB8AC3E}">
        <p14:creationId xmlns:p14="http://schemas.microsoft.com/office/powerpoint/2010/main" val="2618876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dirty="0"/>
              <a:t>© </a:t>
            </a:r>
            <a:r>
              <a:rPr lang="en-US" dirty="0" smtClean="0"/>
              <a:t>2013 </a:t>
            </a:r>
            <a:r>
              <a:rPr lang="en-US" dirty="0"/>
              <a:t>Open Geospatial Consortium</a:t>
            </a:r>
          </a:p>
        </p:txBody>
      </p:sp>
      <p:sp>
        <p:nvSpPr>
          <p:cNvPr id="8" name="Rectangle 6"/>
          <p:cNvSpPr>
            <a:spLocks noGrp="1" noChangeArrowheads="1"/>
          </p:cNvSpPr>
          <p:nvPr>
            <p:ph type="sldNum" sz="quarter" idx="11"/>
          </p:nvPr>
        </p:nvSpPr>
        <p:spPr>
          <a:ln/>
        </p:spPr>
        <p:txBody>
          <a:bodyPr/>
          <a:lstStyle>
            <a:lvl1pPr>
              <a:defRPr/>
            </a:lvl1pPr>
          </a:lstStyle>
          <a:p>
            <a:pPr>
              <a:defRPr/>
            </a:pPr>
            <a:fld id="{7F666720-9D48-9A4C-A9E2-5E7C32C98E10}" type="slidenum">
              <a:rPr lang="en-US"/>
              <a:pPr>
                <a:defRPr/>
              </a:pPr>
              <a:t>‹#›</a:t>
            </a:fld>
            <a:endParaRPr lang="en-US"/>
          </a:p>
        </p:txBody>
      </p:sp>
    </p:spTree>
    <p:extLst>
      <p:ext uri="{BB962C8B-B14F-4D97-AF65-F5344CB8AC3E}">
        <p14:creationId xmlns:p14="http://schemas.microsoft.com/office/powerpoint/2010/main" val="2377780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dirty="0"/>
              <a:t>© </a:t>
            </a:r>
            <a:r>
              <a:rPr lang="en-US" dirty="0" smtClean="0"/>
              <a:t>2013 </a:t>
            </a:r>
            <a:r>
              <a:rPr lang="en-US" dirty="0"/>
              <a:t>Open Geospatial Consortium</a:t>
            </a:r>
          </a:p>
        </p:txBody>
      </p:sp>
      <p:sp>
        <p:nvSpPr>
          <p:cNvPr id="4" name="Rectangle 6"/>
          <p:cNvSpPr>
            <a:spLocks noGrp="1" noChangeArrowheads="1"/>
          </p:cNvSpPr>
          <p:nvPr>
            <p:ph type="sldNum" sz="quarter" idx="11"/>
          </p:nvPr>
        </p:nvSpPr>
        <p:spPr>
          <a:ln/>
        </p:spPr>
        <p:txBody>
          <a:bodyPr/>
          <a:lstStyle>
            <a:lvl1pPr>
              <a:defRPr/>
            </a:lvl1pPr>
          </a:lstStyle>
          <a:p>
            <a:pPr>
              <a:defRPr/>
            </a:pPr>
            <a:fld id="{370E1C97-38F3-0047-A02E-BAB814513DDF}" type="slidenum">
              <a:rPr lang="en-US"/>
              <a:pPr>
                <a:defRPr/>
              </a:pPr>
              <a:t>‹#›</a:t>
            </a:fld>
            <a:endParaRPr lang="en-US"/>
          </a:p>
        </p:txBody>
      </p:sp>
    </p:spTree>
    <p:extLst>
      <p:ext uri="{BB962C8B-B14F-4D97-AF65-F5344CB8AC3E}">
        <p14:creationId xmlns:p14="http://schemas.microsoft.com/office/powerpoint/2010/main" val="2610772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dirty="0"/>
              <a:t>© </a:t>
            </a:r>
            <a:r>
              <a:rPr lang="en-US" dirty="0" smtClean="0"/>
              <a:t>2013 </a:t>
            </a:r>
            <a:r>
              <a:rPr lang="en-US" dirty="0"/>
              <a:t>Open Geospatial Consortium</a:t>
            </a:r>
          </a:p>
        </p:txBody>
      </p:sp>
      <p:sp>
        <p:nvSpPr>
          <p:cNvPr id="3" name="Rectangle 6"/>
          <p:cNvSpPr>
            <a:spLocks noGrp="1" noChangeArrowheads="1"/>
          </p:cNvSpPr>
          <p:nvPr>
            <p:ph type="sldNum" sz="quarter" idx="11"/>
          </p:nvPr>
        </p:nvSpPr>
        <p:spPr>
          <a:ln/>
        </p:spPr>
        <p:txBody>
          <a:bodyPr/>
          <a:lstStyle>
            <a:lvl1pPr>
              <a:defRPr/>
            </a:lvl1pPr>
          </a:lstStyle>
          <a:p>
            <a:pPr>
              <a:defRPr/>
            </a:pPr>
            <a:fld id="{2DED3C6C-5DDB-F24D-B2B9-71DA22DABC67}" type="slidenum">
              <a:rPr lang="en-US"/>
              <a:pPr>
                <a:defRPr/>
              </a:pPr>
              <a:t>‹#›</a:t>
            </a:fld>
            <a:endParaRPr lang="en-US"/>
          </a:p>
        </p:txBody>
      </p:sp>
    </p:spTree>
    <p:extLst>
      <p:ext uri="{BB962C8B-B14F-4D97-AF65-F5344CB8AC3E}">
        <p14:creationId xmlns:p14="http://schemas.microsoft.com/office/powerpoint/2010/main" val="2182245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dirty="0"/>
              <a:t>© </a:t>
            </a:r>
            <a:r>
              <a:rPr lang="en-US" dirty="0" smtClean="0"/>
              <a:t>2013 </a:t>
            </a:r>
            <a:r>
              <a:rPr lang="en-US" dirty="0"/>
              <a:t>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9A2BC4F1-672C-6D49-8A64-35E9229C0773}" type="slidenum">
              <a:rPr lang="en-US"/>
              <a:pPr>
                <a:defRPr/>
              </a:pPr>
              <a:t>‹#›</a:t>
            </a:fld>
            <a:endParaRPr lang="en-US"/>
          </a:p>
        </p:txBody>
      </p:sp>
    </p:spTree>
    <p:extLst>
      <p:ext uri="{BB962C8B-B14F-4D97-AF65-F5344CB8AC3E}">
        <p14:creationId xmlns:p14="http://schemas.microsoft.com/office/powerpoint/2010/main" val="2245619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dirty="0"/>
              <a:t>© </a:t>
            </a:r>
            <a:r>
              <a:rPr lang="en-US" dirty="0" smtClean="0"/>
              <a:t>2013 </a:t>
            </a:r>
            <a:r>
              <a:rPr lang="en-US" dirty="0"/>
              <a:t>Open Geospatial Consortium</a:t>
            </a:r>
          </a:p>
        </p:txBody>
      </p:sp>
      <p:sp>
        <p:nvSpPr>
          <p:cNvPr id="6" name="Rectangle 6"/>
          <p:cNvSpPr>
            <a:spLocks noGrp="1" noChangeArrowheads="1"/>
          </p:cNvSpPr>
          <p:nvPr>
            <p:ph type="sldNum" sz="quarter" idx="11"/>
          </p:nvPr>
        </p:nvSpPr>
        <p:spPr>
          <a:ln/>
        </p:spPr>
        <p:txBody>
          <a:bodyPr/>
          <a:lstStyle>
            <a:lvl1pPr>
              <a:defRPr/>
            </a:lvl1pPr>
          </a:lstStyle>
          <a:p>
            <a:pPr>
              <a:defRPr/>
            </a:pPr>
            <a:fld id="{F0175B08-67AA-AA48-B49D-B6A87B59CBE8}" type="slidenum">
              <a:rPr lang="en-US"/>
              <a:pPr>
                <a:defRPr/>
              </a:pPr>
              <a:t>‹#›</a:t>
            </a:fld>
            <a:endParaRPr lang="en-US"/>
          </a:p>
        </p:txBody>
      </p:sp>
    </p:spTree>
    <p:extLst>
      <p:ext uri="{BB962C8B-B14F-4D97-AF65-F5344CB8AC3E}">
        <p14:creationId xmlns:p14="http://schemas.microsoft.com/office/powerpoint/2010/main" val="3907404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dirty="0"/>
              <a:t>© </a:t>
            </a:r>
            <a:r>
              <a:rPr lang="en-US" dirty="0" smtClean="0"/>
              <a:t>2013 </a:t>
            </a:r>
            <a:r>
              <a:rPr lang="en-US" dirty="0"/>
              <a:t>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5B6FE50A-FE05-6048-B8F3-74BD716134D5}" type="slidenum">
              <a:rPr lang="en-US"/>
              <a:pPr>
                <a:defRPr/>
              </a:pPr>
              <a:t>‹#›</a:t>
            </a:fld>
            <a:endParaRPr lang="en-US"/>
          </a:p>
        </p:txBody>
      </p:sp>
    </p:spTree>
    <p:extLst>
      <p:ext uri="{BB962C8B-B14F-4D97-AF65-F5344CB8AC3E}">
        <p14:creationId xmlns:p14="http://schemas.microsoft.com/office/powerpoint/2010/main" val="2340657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5288" y="136525"/>
            <a:ext cx="2170112" cy="603408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31775" y="136525"/>
            <a:ext cx="6361113" cy="603408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dirty="0"/>
              <a:t>© </a:t>
            </a:r>
            <a:r>
              <a:rPr lang="en-US" dirty="0" smtClean="0"/>
              <a:t>2013 </a:t>
            </a:r>
            <a:r>
              <a:rPr lang="en-US" dirty="0"/>
              <a:t>Open Geospatial Consortium</a:t>
            </a:r>
          </a:p>
        </p:txBody>
      </p:sp>
      <p:sp>
        <p:nvSpPr>
          <p:cNvPr id="5" name="Rectangle 6"/>
          <p:cNvSpPr>
            <a:spLocks noGrp="1" noChangeArrowheads="1"/>
          </p:cNvSpPr>
          <p:nvPr>
            <p:ph type="sldNum" sz="quarter" idx="11"/>
          </p:nvPr>
        </p:nvSpPr>
        <p:spPr>
          <a:ln/>
        </p:spPr>
        <p:txBody>
          <a:bodyPr/>
          <a:lstStyle>
            <a:lvl1pPr>
              <a:defRPr/>
            </a:lvl1pPr>
          </a:lstStyle>
          <a:p>
            <a:pPr>
              <a:defRPr/>
            </a:pPr>
            <a:fld id="{77FAAA97-FAE2-7D4E-BEE3-602EE18683B0}" type="slidenum">
              <a:rPr lang="en-US"/>
              <a:pPr>
                <a:defRPr/>
              </a:pPr>
              <a:t>‹#›</a:t>
            </a:fld>
            <a:endParaRPr lang="en-US"/>
          </a:p>
        </p:txBody>
      </p:sp>
    </p:spTree>
    <p:extLst>
      <p:ext uri="{BB962C8B-B14F-4D97-AF65-F5344CB8AC3E}">
        <p14:creationId xmlns:p14="http://schemas.microsoft.com/office/powerpoint/2010/main" val="2225303535"/>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5125" y="776288"/>
            <a:ext cx="845502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2850" name="Rectangle 2"/>
          <p:cNvSpPr>
            <a:spLocks noGrp="1" noChangeArrowheads="1"/>
          </p:cNvSpPr>
          <p:nvPr>
            <p:ph type="title"/>
          </p:nvPr>
        </p:nvSpPr>
        <p:spPr bwMode="auto">
          <a:xfrm>
            <a:off x="231775" y="136525"/>
            <a:ext cx="8683625" cy="6858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Rectangle 3"/>
          <p:cNvSpPr>
            <a:spLocks noGrp="1" noChangeArrowheads="1"/>
          </p:cNvSpPr>
          <p:nvPr>
            <p:ph type="body" idx="1"/>
          </p:nvPr>
        </p:nvSpPr>
        <p:spPr bwMode="auto">
          <a:xfrm>
            <a:off x="346075" y="1279525"/>
            <a:ext cx="84582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62852" name="Rectangle 4"/>
          <p:cNvSpPr>
            <a:spLocks noGrp="1" noChangeArrowheads="1"/>
          </p:cNvSpPr>
          <p:nvPr>
            <p:ph type="ftr" sz="quarter" idx="3"/>
          </p:nvPr>
        </p:nvSpPr>
        <p:spPr bwMode="auto">
          <a:xfrm>
            <a:off x="2973388" y="6553200"/>
            <a:ext cx="32004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900" b="0">
                <a:solidFill>
                  <a:srgbClr val="092E5C"/>
                </a:solidFill>
                <a:latin typeface="Arial" pitchFamily="-106" charset="0"/>
                <a:ea typeface="Arial" pitchFamily="-106" charset="0"/>
                <a:cs typeface="Arial" pitchFamily="-106" charset="0"/>
              </a:defRPr>
            </a:lvl1pPr>
          </a:lstStyle>
          <a:p>
            <a:pPr>
              <a:defRPr/>
            </a:pPr>
            <a:r>
              <a:rPr lang="en-US" dirty="0"/>
              <a:t>© </a:t>
            </a:r>
            <a:r>
              <a:rPr lang="en-US" dirty="0" smtClean="0"/>
              <a:t>2013 </a:t>
            </a:r>
            <a:r>
              <a:rPr lang="en-US" dirty="0"/>
              <a:t>Open Geospatial Consortium</a:t>
            </a:r>
          </a:p>
        </p:txBody>
      </p:sp>
      <p:sp>
        <p:nvSpPr>
          <p:cNvPr id="462853" name="Text Box 5"/>
          <p:cNvSpPr txBox="1">
            <a:spLocks noChangeArrowheads="1"/>
          </p:cNvSpPr>
          <p:nvPr/>
        </p:nvSpPr>
        <p:spPr bwMode="auto">
          <a:xfrm>
            <a:off x="-1539875" y="3059113"/>
            <a:ext cx="184150" cy="304800"/>
          </a:xfrm>
          <a:prstGeom prst="rect">
            <a:avLst/>
          </a:prstGeom>
          <a:noFill/>
          <a:ln w="9525">
            <a:noFill/>
            <a:miter lim="800000"/>
            <a:headEnd/>
            <a:tailEnd/>
          </a:ln>
          <a:effectLst/>
        </p:spPr>
        <p:txBody>
          <a:bodyPr wrap="none">
            <a:spAutoFit/>
          </a:bodyPr>
          <a:lstStyle/>
          <a:p>
            <a:pPr eaLnBrk="0" hangingPunct="0">
              <a:defRPr/>
            </a:pPr>
            <a:endParaRPr lang="en-US" sz="1400">
              <a:effectLst>
                <a:outerShdw blurRad="38100" dist="38100" dir="2700000" algn="tl">
                  <a:srgbClr val="C0C0C0"/>
                </a:outerShdw>
              </a:effectLst>
              <a:latin typeface="Arial" charset="0"/>
              <a:ea typeface="+mn-ea"/>
              <a:cs typeface="+mn-cs"/>
            </a:endParaRPr>
          </a:p>
        </p:txBody>
      </p:sp>
      <p:sp>
        <p:nvSpPr>
          <p:cNvPr id="462854" name="Rectangle 6"/>
          <p:cNvSpPr>
            <a:spLocks noGrp="1" noChangeArrowheads="1"/>
          </p:cNvSpPr>
          <p:nvPr>
            <p:ph type="sldNum" sz="quarter" idx="4"/>
          </p:nvPr>
        </p:nvSpPr>
        <p:spPr bwMode="auto">
          <a:xfrm>
            <a:off x="6896100" y="65532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900" b="0">
                <a:solidFill>
                  <a:srgbClr val="092E5C"/>
                </a:solidFill>
                <a:latin typeface="Arial" charset="0"/>
                <a:cs typeface="Arial" charset="0"/>
              </a:defRPr>
            </a:lvl1pPr>
          </a:lstStyle>
          <a:p>
            <a:pPr>
              <a:defRPr/>
            </a:pPr>
            <a:fld id="{FE171C95-4748-9446-80B5-8612F9676D0E}" type="slidenum">
              <a:rPr lang="en-US"/>
              <a:pPr>
                <a:defRPr/>
              </a:pPr>
              <a:t>‹#›</a:t>
            </a:fld>
            <a:endParaRPr lang="en-US"/>
          </a:p>
        </p:txBody>
      </p:sp>
      <p:sp>
        <p:nvSpPr>
          <p:cNvPr id="1032" name="Text Box 16"/>
          <p:cNvSpPr txBox="1">
            <a:spLocks noChangeArrowheads="1"/>
          </p:cNvSpPr>
          <p:nvPr/>
        </p:nvSpPr>
        <p:spPr bwMode="auto">
          <a:xfrm>
            <a:off x="333375" y="6219825"/>
            <a:ext cx="11572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defRPr/>
            </a:pPr>
            <a:r>
              <a:rPr lang="en-US" sz="4000" smtClean="0">
                <a:solidFill>
                  <a:schemeClr val="tx2"/>
                </a:solidFill>
                <a:latin typeface="Times New Roman" charset="0"/>
              </a:rPr>
              <a:t>OGC</a:t>
            </a:r>
          </a:p>
        </p:txBody>
      </p:sp>
      <p:sp>
        <p:nvSpPr>
          <p:cNvPr id="1033" name="Text Box 20"/>
          <p:cNvSpPr txBox="1">
            <a:spLocks noChangeArrowheads="1"/>
          </p:cNvSpPr>
          <p:nvPr/>
        </p:nvSpPr>
        <p:spPr bwMode="auto">
          <a:xfrm>
            <a:off x="1498600" y="6270625"/>
            <a:ext cx="936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med" len="lg"/>
                <a:tailEnd/>
              </a14:hiddenLine>
            </a:ext>
          </a:extLst>
        </p:spPr>
        <p:txBody>
          <a:bodyPr wrap="none" lIns="0" rIns="0">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defRPr/>
            </a:pPr>
            <a:r>
              <a:rPr lang="en-US" smtClean="0">
                <a:solidFill>
                  <a:schemeClr val="tx2"/>
                </a:solidFill>
                <a:latin typeface="Arial" charset="0"/>
                <a:cs typeface="Arial" charset="0"/>
              </a:rPr>
              <a:t>®</a:t>
            </a:r>
          </a:p>
        </p:txBody>
      </p:sp>
    </p:spTree>
  </p:cSld>
  <p:clrMap bg1="lt1" tx1="dk1" bg2="lt2" tx2="dk2" accent1="accent1" accent2="accent2" accent3="accent3" accent4="accent4" accent5="accent5" accent6="accent6" hlink="hlink" folHlink="folHlink"/>
  <p:sldLayoutIdLst>
    <p:sldLayoutId id="2147483815"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Lst>
  <p:hf hdr="0" dt="0"/>
  <p:txStyles>
    <p:titleStyle>
      <a:lvl1pPr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mj-lt"/>
          <a:ea typeface="ＭＳ Ｐゴシック" pitchFamily="-106" charset="-128"/>
          <a:cs typeface="ＭＳ Ｐゴシック" pitchFamily="-106" charset="-128"/>
        </a:defRPr>
      </a:lvl1pPr>
      <a:lvl2pPr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ＭＳ Ｐゴシック" pitchFamily="-106" charset="-128"/>
          <a:cs typeface="ＭＳ Ｐゴシック" pitchFamily="-106" charset="-128"/>
        </a:defRPr>
      </a:lvl2pPr>
      <a:lvl3pPr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ＭＳ Ｐゴシック" pitchFamily="-106" charset="-128"/>
          <a:cs typeface="ＭＳ Ｐゴシック" pitchFamily="-106" charset="-128"/>
        </a:defRPr>
      </a:lvl3pPr>
      <a:lvl4pPr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ＭＳ Ｐゴシック" pitchFamily="-106" charset="-128"/>
          <a:cs typeface="ＭＳ Ｐゴシック" pitchFamily="-106" charset="-128"/>
        </a:defRPr>
      </a:lvl4pPr>
      <a:lvl5pPr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ea typeface="ＭＳ Ｐゴシック" pitchFamily="-106" charset="-128"/>
          <a:cs typeface="ＭＳ Ｐゴシック" pitchFamily="-106" charset="-128"/>
        </a:defRPr>
      </a:lvl5pPr>
      <a:lvl6pPr marL="457200"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6pPr>
      <a:lvl7pPr marL="914400"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7pPr>
      <a:lvl8pPr marL="1371600"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8pPr>
      <a:lvl9pPr marL="1828800" algn="ctr" rtl="0" eaLnBrk="1" fontAlgn="base" hangingPunct="1">
        <a:lnSpc>
          <a:spcPct val="90000"/>
        </a:lnSpc>
        <a:spcBef>
          <a:spcPct val="0"/>
        </a:spcBef>
        <a:spcAft>
          <a:spcPct val="0"/>
        </a:spcAft>
        <a:defRPr sz="3200">
          <a:solidFill>
            <a:srgbClr val="092E5C"/>
          </a:solidFill>
          <a:effectLst>
            <a:outerShdw blurRad="38100" dist="38100" dir="2700000" algn="tl">
              <a:srgbClr val="C0C0C0"/>
            </a:outerShdw>
          </a:effectLst>
          <a:latin typeface="Arial" charset="0"/>
        </a:defRPr>
      </a:lvl9pPr>
    </p:titleStyle>
    <p:bodyStyle>
      <a:lvl1pPr marL="233363" indent="-233363" algn="l" rtl="0" eaLnBrk="1" fontAlgn="base" hangingPunct="1">
        <a:spcBef>
          <a:spcPct val="20000"/>
        </a:spcBef>
        <a:spcAft>
          <a:spcPct val="0"/>
        </a:spcAft>
        <a:buClr>
          <a:srgbClr val="092E5C"/>
        </a:buClr>
        <a:buChar char="•"/>
        <a:defRPr sz="2400">
          <a:solidFill>
            <a:schemeClr val="tx2"/>
          </a:solidFill>
          <a:latin typeface="+mn-lt"/>
          <a:ea typeface="ＭＳ Ｐゴシック" pitchFamily="-106" charset="-128"/>
          <a:cs typeface="ＭＳ Ｐゴシック" pitchFamily="-106" charset="-128"/>
        </a:defRPr>
      </a:lvl1pPr>
      <a:lvl2pPr marL="569913" indent="-222250" algn="l" rtl="0" eaLnBrk="1" fontAlgn="base" hangingPunct="1">
        <a:spcBef>
          <a:spcPct val="20000"/>
        </a:spcBef>
        <a:spcAft>
          <a:spcPct val="0"/>
        </a:spcAft>
        <a:buClr>
          <a:srgbClr val="092E5C"/>
        </a:buClr>
        <a:buChar char="–"/>
        <a:defRPr sz="2000">
          <a:solidFill>
            <a:schemeClr val="tx2"/>
          </a:solidFill>
          <a:latin typeface="+mn-lt"/>
          <a:ea typeface="ＭＳ Ｐゴシック" pitchFamily="-106" charset="-128"/>
        </a:defRPr>
      </a:lvl2pPr>
      <a:lvl3pPr marL="912813" indent="-228600" algn="l" rtl="0" eaLnBrk="1" fontAlgn="base" hangingPunct="1">
        <a:spcBef>
          <a:spcPct val="20000"/>
        </a:spcBef>
        <a:spcAft>
          <a:spcPct val="0"/>
        </a:spcAft>
        <a:buClr>
          <a:srgbClr val="092E5C"/>
        </a:buClr>
        <a:buChar char="•"/>
        <a:defRPr>
          <a:solidFill>
            <a:schemeClr val="tx2"/>
          </a:solidFill>
          <a:latin typeface="+mn-lt"/>
          <a:ea typeface="ＭＳ Ｐゴシック" pitchFamily="-106" charset="-128"/>
        </a:defRPr>
      </a:lvl3pPr>
      <a:lvl4pPr marL="1255713" indent="-228600" algn="l" rtl="0" eaLnBrk="1" fontAlgn="base" hangingPunct="1">
        <a:spcBef>
          <a:spcPct val="20000"/>
        </a:spcBef>
        <a:spcAft>
          <a:spcPct val="0"/>
        </a:spcAft>
        <a:buClr>
          <a:srgbClr val="092E5C"/>
        </a:buClr>
        <a:buChar char="–"/>
        <a:defRPr sz="1600">
          <a:solidFill>
            <a:schemeClr val="tx2"/>
          </a:solidFill>
          <a:latin typeface="+mn-lt"/>
          <a:ea typeface="ＭＳ Ｐゴシック" pitchFamily="-106" charset="-128"/>
        </a:defRPr>
      </a:lvl4pPr>
      <a:lvl5pPr marL="1598613" indent="-228600" algn="l" rtl="0" eaLnBrk="1" fontAlgn="base" hangingPunct="1">
        <a:spcBef>
          <a:spcPct val="20000"/>
        </a:spcBef>
        <a:spcAft>
          <a:spcPct val="0"/>
        </a:spcAft>
        <a:buClr>
          <a:srgbClr val="092E5C"/>
        </a:buClr>
        <a:buChar char="»"/>
        <a:defRPr sz="1600">
          <a:solidFill>
            <a:schemeClr val="tx2"/>
          </a:solidFill>
          <a:latin typeface="+mn-lt"/>
          <a:ea typeface="ＭＳ Ｐゴシック" pitchFamily="-106" charset="-128"/>
        </a:defRPr>
      </a:lvl5pPr>
      <a:lvl6pPr marL="2055813" indent="-228600" algn="l" rtl="0" eaLnBrk="1" fontAlgn="base" hangingPunct="1">
        <a:spcBef>
          <a:spcPct val="20000"/>
        </a:spcBef>
        <a:spcAft>
          <a:spcPct val="0"/>
        </a:spcAft>
        <a:buClr>
          <a:srgbClr val="092E5C"/>
        </a:buClr>
        <a:buChar char="»"/>
        <a:defRPr sz="1600">
          <a:solidFill>
            <a:schemeClr val="tx2"/>
          </a:solidFill>
          <a:latin typeface="+mn-lt"/>
        </a:defRPr>
      </a:lvl6pPr>
      <a:lvl7pPr marL="2513013" indent="-228600" algn="l" rtl="0" eaLnBrk="1" fontAlgn="base" hangingPunct="1">
        <a:spcBef>
          <a:spcPct val="20000"/>
        </a:spcBef>
        <a:spcAft>
          <a:spcPct val="0"/>
        </a:spcAft>
        <a:buClr>
          <a:srgbClr val="092E5C"/>
        </a:buClr>
        <a:buChar char="»"/>
        <a:defRPr sz="1600">
          <a:solidFill>
            <a:schemeClr val="tx2"/>
          </a:solidFill>
          <a:latin typeface="+mn-lt"/>
        </a:defRPr>
      </a:lvl7pPr>
      <a:lvl8pPr marL="2970213" indent="-228600" algn="l" rtl="0" eaLnBrk="1" fontAlgn="base" hangingPunct="1">
        <a:spcBef>
          <a:spcPct val="20000"/>
        </a:spcBef>
        <a:spcAft>
          <a:spcPct val="0"/>
        </a:spcAft>
        <a:buClr>
          <a:srgbClr val="092E5C"/>
        </a:buClr>
        <a:buChar char="»"/>
        <a:defRPr sz="1600">
          <a:solidFill>
            <a:schemeClr val="tx2"/>
          </a:solidFill>
          <a:latin typeface="+mn-lt"/>
        </a:defRPr>
      </a:lvl8pPr>
      <a:lvl9pPr marL="3427413" indent="-228600" algn="l" rtl="0" eaLnBrk="1" fontAlgn="base" hangingPunct="1">
        <a:spcBef>
          <a:spcPct val="20000"/>
        </a:spcBef>
        <a:spcAft>
          <a:spcPct val="0"/>
        </a:spcAft>
        <a:buClr>
          <a:srgbClr val="092E5C"/>
        </a:buClr>
        <a:buChar char="»"/>
        <a:defRPr sz="16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4" Type="http://schemas.openxmlformats.org/officeDocument/2006/relationships/image" Target="../media/image5.png"/><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portal.opengeospatial.org/files/?artifact_id=55244&amp;version=1"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portal.opengeospatial.org/files/?artifact_id=55432&amp;version=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ftr" sz="quarter" idx="10"/>
          </p:nvPr>
        </p:nvSpPr>
        <p:spPr/>
        <p:txBody>
          <a:bodyPr/>
          <a:lstStyle>
            <a:lvl1pPr eaLnBrk="0" hangingPunct="0">
              <a:defRPr sz="1000" b="1">
                <a:solidFill>
                  <a:schemeClr val="tx1"/>
                </a:solidFill>
                <a:latin typeface="CG Times" charset="0"/>
                <a:ea typeface="ＭＳ Ｐゴシック" charset="0"/>
                <a:cs typeface="Arial" charset="0"/>
              </a:defRPr>
            </a:lvl1pPr>
            <a:lvl2pPr marL="37931725" indent="-37474525" eaLnBrk="0" hangingPunct="0">
              <a:defRPr sz="1000" b="1">
                <a:solidFill>
                  <a:schemeClr val="tx1"/>
                </a:solidFill>
                <a:latin typeface="CG Times" charset="0"/>
                <a:ea typeface="Arial" charset="0"/>
                <a:cs typeface="Arial" charset="0"/>
              </a:defRPr>
            </a:lvl2pPr>
            <a:lvl3pPr eaLnBrk="0" hangingPunct="0">
              <a:defRPr sz="1000" b="1">
                <a:solidFill>
                  <a:schemeClr val="tx1"/>
                </a:solidFill>
                <a:latin typeface="CG Times" charset="0"/>
                <a:ea typeface="Arial" charset="0"/>
                <a:cs typeface="Arial" charset="0"/>
              </a:defRPr>
            </a:lvl3pPr>
            <a:lvl4pPr eaLnBrk="0" hangingPunct="0">
              <a:defRPr sz="1000" b="1">
                <a:solidFill>
                  <a:schemeClr val="tx1"/>
                </a:solidFill>
                <a:latin typeface="CG Times" charset="0"/>
                <a:ea typeface="Arial" charset="0"/>
                <a:cs typeface="Arial" charset="0"/>
              </a:defRPr>
            </a:lvl4pPr>
            <a:lvl5pPr eaLnBrk="0" hangingPunct="0">
              <a:defRPr sz="1000" b="1">
                <a:solidFill>
                  <a:schemeClr val="tx1"/>
                </a:solidFill>
                <a:latin typeface="CG Times" charset="0"/>
                <a:ea typeface="Arial" charset="0"/>
                <a:cs typeface="Arial" charset="0"/>
              </a:defRPr>
            </a:lvl5pPr>
            <a:lvl6pPr marL="457200" eaLnBrk="0" fontAlgn="base" hangingPunct="0">
              <a:spcBef>
                <a:spcPct val="0"/>
              </a:spcBef>
              <a:spcAft>
                <a:spcPct val="0"/>
              </a:spcAft>
              <a:defRPr sz="1000" b="1">
                <a:solidFill>
                  <a:schemeClr val="tx1"/>
                </a:solidFill>
                <a:latin typeface="CG Times" charset="0"/>
                <a:ea typeface="Arial" charset="0"/>
                <a:cs typeface="Arial" charset="0"/>
              </a:defRPr>
            </a:lvl6pPr>
            <a:lvl7pPr marL="914400" eaLnBrk="0" fontAlgn="base" hangingPunct="0">
              <a:spcBef>
                <a:spcPct val="0"/>
              </a:spcBef>
              <a:spcAft>
                <a:spcPct val="0"/>
              </a:spcAft>
              <a:defRPr sz="1000" b="1">
                <a:solidFill>
                  <a:schemeClr val="tx1"/>
                </a:solidFill>
                <a:latin typeface="CG Times" charset="0"/>
                <a:ea typeface="Arial" charset="0"/>
                <a:cs typeface="Arial" charset="0"/>
              </a:defRPr>
            </a:lvl7pPr>
            <a:lvl8pPr marL="1371600" eaLnBrk="0" fontAlgn="base" hangingPunct="0">
              <a:spcBef>
                <a:spcPct val="0"/>
              </a:spcBef>
              <a:spcAft>
                <a:spcPct val="0"/>
              </a:spcAft>
              <a:defRPr sz="1000" b="1">
                <a:solidFill>
                  <a:schemeClr val="tx1"/>
                </a:solidFill>
                <a:latin typeface="CG Times" charset="0"/>
                <a:ea typeface="Arial" charset="0"/>
                <a:cs typeface="Arial" charset="0"/>
              </a:defRPr>
            </a:lvl8pPr>
            <a:lvl9pPr marL="1828800" eaLnBrk="0" fontAlgn="base" hangingPunct="0">
              <a:spcBef>
                <a:spcPct val="0"/>
              </a:spcBef>
              <a:spcAft>
                <a:spcPct val="0"/>
              </a:spcAft>
              <a:defRPr sz="1000" b="1">
                <a:solidFill>
                  <a:schemeClr val="tx1"/>
                </a:solidFill>
                <a:latin typeface="CG Times" charset="0"/>
                <a:ea typeface="Arial" charset="0"/>
                <a:cs typeface="Arial" charset="0"/>
              </a:defRPr>
            </a:lvl9pPr>
          </a:lstStyle>
          <a:p>
            <a:pPr>
              <a:defRPr/>
            </a:pPr>
            <a:r>
              <a:rPr lang="en-US" sz="900" b="0">
                <a:solidFill>
                  <a:srgbClr val="092E5C"/>
                </a:solidFill>
                <a:latin typeface="Arial" charset="0"/>
              </a:rPr>
              <a:t>© 2012 Open Geospatial Consortium</a:t>
            </a:r>
          </a:p>
        </p:txBody>
      </p:sp>
      <p:sp>
        <p:nvSpPr>
          <p:cNvPr id="1198082" name="Rectangle 2"/>
          <p:cNvSpPr>
            <a:spLocks noGrp="1" noChangeArrowheads="1"/>
          </p:cNvSpPr>
          <p:nvPr>
            <p:ph type="ctrTitle"/>
          </p:nvPr>
        </p:nvSpPr>
        <p:spPr/>
        <p:txBody>
          <a:bodyPr/>
          <a:lstStyle/>
          <a:p>
            <a:pPr>
              <a:defRPr/>
            </a:pPr>
            <a:r>
              <a:rPr lang="en-US" sz="2800" dirty="0" smtClean="0">
                <a:effectLst>
                  <a:outerShdw blurRad="38100" dist="38100" dir="2700000" algn="tl">
                    <a:srgbClr val="DDDDDD"/>
                  </a:outerShdw>
                </a:effectLst>
                <a:latin typeface="Arial Black" charset="0"/>
                <a:ea typeface="ＭＳ Ｐゴシック" charset="0"/>
                <a:cs typeface="ＭＳ Ｐゴシック" charset="0"/>
              </a:rPr>
              <a:t>CHISP-1 </a:t>
            </a:r>
            <a:br>
              <a:rPr lang="en-US" sz="2800" dirty="0" smtClean="0">
                <a:effectLst>
                  <a:outerShdw blurRad="38100" dist="38100" dir="2700000" algn="tl">
                    <a:srgbClr val="DDDDDD"/>
                  </a:outerShdw>
                </a:effectLst>
                <a:latin typeface="Arial Black" charset="0"/>
                <a:ea typeface="ＭＳ Ｐゴシック" charset="0"/>
                <a:cs typeface="ＭＳ Ｐゴシック" charset="0"/>
              </a:rPr>
            </a:br>
            <a:r>
              <a:rPr lang="en-US" sz="2800" dirty="0" smtClean="0">
                <a:effectLst>
                  <a:outerShdw blurRad="38100" dist="38100" dir="2700000" algn="tl">
                    <a:srgbClr val="DDDDDD"/>
                  </a:outerShdw>
                </a:effectLst>
                <a:latin typeface="Arial Black" charset="0"/>
                <a:ea typeface="ＭＳ Ｐゴシック" charset="0"/>
                <a:cs typeface="ＭＳ Ｐゴシック" charset="0"/>
              </a:rPr>
              <a:t>Summary and Outcomes</a:t>
            </a:r>
            <a:endParaRPr lang="en-US" sz="2800" dirty="0">
              <a:effectLst>
                <a:outerShdw blurRad="38100" dist="38100" dir="2700000" algn="tl">
                  <a:srgbClr val="DDDDDD"/>
                </a:outerShdw>
              </a:effectLst>
              <a:latin typeface="Arial Black" charset="0"/>
              <a:ea typeface="ＭＳ Ｐゴシック" charset="0"/>
              <a:cs typeface="ＭＳ Ｐゴシック" charset="0"/>
            </a:endParaRPr>
          </a:p>
        </p:txBody>
      </p:sp>
      <p:sp>
        <p:nvSpPr>
          <p:cNvPr id="15363" name="Rectangle 3"/>
          <p:cNvSpPr>
            <a:spLocks noGrp="1" noChangeArrowheads="1"/>
          </p:cNvSpPr>
          <p:nvPr>
            <p:ph type="subTitle" idx="1"/>
          </p:nvPr>
        </p:nvSpPr>
        <p:spPr/>
        <p:txBody>
          <a:bodyPr/>
          <a:lstStyle/>
          <a:p>
            <a:r>
              <a:rPr lang="en-US" sz="2000" dirty="0" smtClean="0">
                <a:latin typeface="Arial" charset="0"/>
                <a:ea typeface="ＭＳ Ｐゴシック" charset="0"/>
                <a:cs typeface="Arial" charset="0"/>
              </a:rPr>
              <a:t>Lew Leinenweber, OGC  - Initiative Manager</a:t>
            </a:r>
          </a:p>
          <a:p>
            <a:r>
              <a:rPr lang="en-US" sz="2000" dirty="0" smtClean="0">
                <a:latin typeface="Arial" charset="0"/>
                <a:ea typeface="ＭＳ Ｐゴシック" charset="0"/>
                <a:cs typeface="Arial" charset="0"/>
              </a:rPr>
              <a:t>Peter Vretanos, CubeWerx  - Initiative Architect </a:t>
            </a:r>
          </a:p>
          <a:p>
            <a:endParaRPr lang="en-US" sz="2000" dirty="0">
              <a:latin typeface="Arial" charset="0"/>
              <a:ea typeface="ＭＳ Ｐゴシック" charset="0"/>
              <a:cs typeface="Arial" charset="0"/>
            </a:endParaRPr>
          </a:p>
          <a:p>
            <a:r>
              <a:rPr lang="en-US" sz="2000" dirty="0" smtClean="0">
                <a:latin typeface="Arial" charset="0"/>
                <a:ea typeface="ＭＳ Ｐゴシック" charset="0"/>
                <a:cs typeface="Arial" charset="0"/>
              </a:rPr>
              <a:t>23 September 2013</a:t>
            </a:r>
            <a:endParaRPr lang="en-US" dirty="0">
              <a:latin typeface="Arial" charset="0"/>
              <a:ea typeface="ＭＳ Ｐゴシック" charset="0"/>
              <a:cs typeface="ＭＳ Ｐゴシック" charset="0"/>
            </a:endParaRPr>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CHISP-1 Pilot Objectives</a:t>
            </a:r>
            <a:endParaRPr lang="en-US" dirty="0"/>
          </a:p>
        </p:txBody>
      </p:sp>
      <p:sp>
        <p:nvSpPr>
          <p:cNvPr id="3" name="Content Placeholder 2"/>
          <p:cNvSpPr>
            <a:spLocks noGrp="1"/>
          </p:cNvSpPr>
          <p:nvPr>
            <p:ph idx="1"/>
          </p:nvPr>
        </p:nvSpPr>
        <p:spPr>
          <a:xfrm>
            <a:off x="457200" y="1219200"/>
            <a:ext cx="8229600" cy="4525963"/>
          </a:xfrm>
        </p:spPr>
        <p:txBody>
          <a:bodyPr>
            <a:normAutofit/>
          </a:bodyPr>
          <a:lstStyle/>
          <a:p>
            <a:pPr fontAlgn="base"/>
            <a:r>
              <a:rPr lang="en-US" dirty="0" smtClean="0"/>
              <a:t>Create a virtual observatory system for surface and subsurface water resources observations in parts of the U.S. and Canada, building on current networks and capabilities</a:t>
            </a:r>
          </a:p>
          <a:p>
            <a:r>
              <a:rPr lang="en-US" dirty="0" smtClean="0"/>
              <a:t>Link </a:t>
            </a:r>
            <a:r>
              <a:rPr lang="en-US" dirty="0"/>
              <a:t>observations data to the stream network, enabling queries of conditions upstream from a given location to return all relevant gages and well locations</a:t>
            </a:r>
            <a:r>
              <a:rPr lang="en-US" dirty="0" smtClean="0"/>
              <a:t>.</a:t>
            </a:r>
          </a:p>
          <a:p>
            <a:r>
              <a:rPr lang="en-US" dirty="0" smtClean="0"/>
              <a:t>Model and calculate nutrient loads for Great Lakes by accessing water-quality data from multiple cross-border agencies integrating stream flow and discrete sampled water quality observations.</a:t>
            </a:r>
          </a:p>
        </p:txBody>
      </p:sp>
    </p:spTree>
    <p:extLst>
      <p:ext uri="{BB962C8B-B14F-4D97-AF65-F5344CB8AC3E}">
        <p14:creationId xmlns:p14="http://schemas.microsoft.com/office/powerpoint/2010/main" val="433625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170750"/>
            <a:ext cx="8229600" cy="757701"/>
          </a:xfrm>
        </p:spPr>
        <p:txBody>
          <a:bodyPr/>
          <a:lstStyle/>
          <a:p>
            <a:r>
              <a:rPr lang="en-US" dirty="0" smtClean="0"/>
              <a:t>River Basins considered</a:t>
            </a:r>
            <a:endParaRPr lang="en-US" dirty="0"/>
          </a:p>
        </p:txBody>
      </p:sp>
      <p:sp>
        <p:nvSpPr>
          <p:cNvPr id="8" name="Text Placeholder 7"/>
          <p:cNvSpPr>
            <a:spLocks noGrp="1"/>
          </p:cNvSpPr>
          <p:nvPr>
            <p:ph type="body" idx="1"/>
          </p:nvPr>
        </p:nvSpPr>
        <p:spPr>
          <a:xfrm>
            <a:off x="457200" y="1341438"/>
            <a:ext cx="4040188" cy="639762"/>
          </a:xfrm>
        </p:spPr>
        <p:txBody>
          <a:bodyPr/>
          <a:lstStyle/>
          <a:p>
            <a:r>
              <a:rPr lang="en-US" dirty="0" smtClean="0"/>
              <a:t>Souris River Basin</a:t>
            </a:r>
            <a:endParaRPr lang="en-US" dirty="0"/>
          </a:p>
        </p:txBody>
      </p:sp>
      <p:sp>
        <p:nvSpPr>
          <p:cNvPr id="9" name="Content Placeholder 8"/>
          <p:cNvSpPr>
            <a:spLocks noGrp="1"/>
          </p:cNvSpPr>
          <p:nvPr>
            <p:ph sz="half" idx="2"/>
          </p:nvPr>
        </p:nvSpPr>
        <p:spPr/>
        <p:txBody>
          <a:bodyPr/>
          <a:lstStyle/>
          <a:p>
            <a:endParaRPr lang="en-US" dirty="0"/>
          </a:p>
        </p:txBody>
      </p:sp>
      <p:sp>
        <p:nvSpPr>
          <p:cNvPr id="11" name="Content Placeholder 10"/>
          <p:cNvSpPr>
            <a:spLocks noGrp="1"/>
          </p:cNvSpPr>
          <p:nvPr>
            <p:ph sz="quarter" idx="4"/>
          </p:nvPr>
        </p:nvSpPr>
        <p:spPr/>
        <p:txBody>
          <a:bodyPr/>
          <a:lstStyle/>
          <a:p>
            <a:endParaRPr lang="en-US" dirty="0" smtClean="0"/>
          </a:p>
          <a:p>
            <a:endParaRPr lang="en-US" dirty="0"/>
          </a:p>
          <a:p>
            <a:endParaRPr lang="en-US" dirty="0" smtClean="0"/>
          </a:p>
          <a:p>
            <a:endParaRPr lang="en-US" dirty="0"/>
          </a:p>
          <a:p>
            <a:endParaRPr lang="en-US" dirty="0" smtClean="0"/>
          </a:p>
          <a:p>
            <a:pPr marL="0" indent="0" algn="ctr">
              <a:buNone/>
            </a:pPr>
            <a:endParaRPr lang="en-US" sz="1200" b="1" dirty="0" smtClean="0">
              <a:solidFill>
                <a:srgbClr val="FF0000"/>
              </a:solidFill>
            </a:endParaRPr>
          </a:p>
          <a:p>
            <a:pPr marL="0" indent="0" algn="ctr">
              <a:buNone/>
            </a:pPr>
            <a:endParaRPr lang="en-US" sz="1200" b="1" dirty="0">
              <a:solidFill>
                <a:srgbClr val="FF0000"/>
              </a:solidFill>
            </a:endParaRPr>
          </a:p>
          <a:p>
            <a:pPr marL="0" indent="0" algn="ctr">
              <a:buNone/>
            </a:pPr>
            <a:r>
              <a:rPr lang="en-US" sz="1200" b="1" dirty="0" smtClean="0">
                <a:solidFill>
                  <a:srgbClr val="FF0000"/>
                </a:solidFill>
              </a:rPr>
              <a:t>SELECTED</a:t>
            </a:r>
            <a:endParaRPr lang="en-US" sz="1200" b="1" dirty="0">
              <a:solidFill>
                <a:srgbClr val="FF0000"/>
              </a:solidFill>
            </a:endParaRPr>
          </a:p>
        </p:txBody>
      </p:sp>
      <p:pic>
        <p:nvPicPr>
          <p:cNvPr id="5" name="Picture 4"/>
          <p:cNvPicPr>
            <a:picLocks noChangeAspect="1"/>
          </p:cNvPicPr>
          <p:nvPr/>
        </p:nvPicPr>
        <p:blipFill>
          <a:blip r:embed="rId3"/>
          <a:stretch>
            <a:fillRect/>
          </a:stretch>
        </p:blipFill>
        <p:spPr>
          <a:xfrm>
            <a:off x="457200" y="2057400"/>
            <a:ext cx="4114800" cy="3232404"/>
          </a:xfrm>
          <a:prstGeom prst="rect">
            <a:avLst/>
          </a:prstGeom>
        </p:spPr>
      </p:pic>
      <p:pic>
        <p:nvPicPr>
          <p:cNvPr id="6" name="Picture 5"/>
          <p:cNvPicPr>
            <a:picLocks noChangeAspect="1"/>
          </p:cNvPicPr>
          <p:nvPr/>
        </p:nvPicPr>
        <p:blipFill>
          <a:blip r:embed="rId4"/>
          <a:stretch>
            <a:fillRect/>
          </a:stretch>
        </p:blipFill>
        <p:spPr>
          <a:xfrm>
            <a:off x="4737100" y="2209800"/>
            <a:ext cx="3937000" cy="2057400"/>
          </a:xfrm>
          <a:prstGeom prst="rect">
            <a:avLst/>
          </a:prstGeom>
          <a:effectLst>
            <a:outerShdw blurRad="127000" dist="127000" dir="2700000" algn="tl" rotWithShape="0">
              <a:srgbClr val="000000">
                <a:alpha val="43000"/>
              </a:srgbClr>
            </a:outerShdw>
          </a:effectLst>
        </p:spPr>
      </p:pic>
      <p:sp>
        <p:nvSpPr>
          <p:cNvPr id="12" name="Text Placeholder 11"/>
          <p:cNvSpPr>
            <a:spLocks noGrp="1"/>
          </p:cNvSpPr>
          <p:nvPr>
            <p:ph type="body" sz="quarter" idx="3"/>
          </p:nvPr>
        </p:nvSpPr>
        <p:spPr>
          <a:xfrm>
            <a:off x="4645025" y="1341438"/>
            <a:ext cx="4041775" cy="639762"/>
          </a:xfrm>
        </p:spPr>
        <p:txBody>
          <a:bodyPr/>
          <a:lstStyle/>
          <a:p>
            <a:r>
              <a:rPr lang="en-US" dirty="0" smtClean="0"/>
              <a:t>Milk River Basin</a:t>
            </a:r>
            <a:endParaRPr lang="en-US" dirty="0"/>
          </a:p>
        </p:txBody>
      </p:sp>
    </p:spTree>
    <p:extLst>
      <p:ext uri="{BB962C8B-B14F-4D97-AF65-F5344CB8AC3E}">
        <p14:creationId xmlns:p14="http://schemas.microsoft.com/office/powerpoint/2010/main" val="2368356534"/>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22"/>
          <p:cNvSpPr/>
          <p:nvPr/>
        </p:nvSpPr>
        <p:spPr bwMode="auto">
          <a:xfrm>
            <a:off x="4254500" y="1436688"/>
            <a:ext cx="2320925" cy="4976812"/>
          </a:xfrm>
          <a:prstGeom prst="roundRect">
            <a:avLst/>
          </a:prstGeom>
          <a:solidFill>
            <a:schemeClr val="tx2">
              <a:lumMod val="10000"/>
              <a:lumOff val="90000"/>
            </a:schemeClr>
          </a:solidFill>
          <a:ln w="9525" cap="flat" cmpd="sng" algn="ctr">
            <a:solidFill>
              <a:schemeClr val="tx2">
                <a:lumMod val="90000"/>
                <a:lumOff val="10000"/>
              </a:schemeClr>
            </a:solidFill>
            <a:prstDash val="solid"/>
            <a:round/>
            <a:headEnd type="stealth" w="med" len="lg"/>
            <a:tailEnd type="none" w="med" len="med"/>
          </a:ln>
          <a:effectLst/>
        </p:spPr>
        <p:txBody>
          <a:bodyPr lIns="0" rIns="0">
            <a:spAutoFit/>
          </a:bodyPr>
          <a:lstStyle/>
          <a:p>
            <a:pPr eaLnBrk="0" hangingPunct="0">
              <a:defRPr/>
            </a:pPr>
            <a:endParaRPr lang="en-US"/>
          </a:p>
        </p:txBody>
      </p:sp>
      <p:sp>
        <p:nvSpPr>
          <p:cNvPr id="17410" name="TextBox 27"/>
          <p:cNvSpPr txBox="1">
            <a:spLocks noChangeArrowheads="1"/>
          </p:cNvSpPr>
          <p:nvPr/>
        </p:nvSpPr>
        <p:spPr bwMode="auto">
          <a:xfrm>
            <a:off x="7573963" y="2846388"/>
            <a:ext cx="16573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r>
              <a:rPr lang="en-US" sz="1100"/>
              <a:t>SOS / WML2</a:t>
            </a:r>
          </a:p>
          <a:p>
            <a:r>
              <a:rPr lang="en-US" sz="1100"/>
              <a:t>(Water Level, Flow)</a:t>
            </a:r>
          </a:p>
          <a:p>
            <a:r>
              <a:rPr lang="en-US" sz="1100"/>
              <a:t>USGS</a:t>
            </a:r>
          </a:p>
        </p:txBody>
      </p:sp>
      <p:pic>
        <p:nvPicPr>
          <p:cNvPr id="17411"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7153275" y="2776538"/>
            <a:ext cx="5191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231775" y="127000"/>
            <a:ext cx="8683625" cy="685800"/>
          </a:xfrm>
        </p:spPr>
        <p:txBody>
          <a:bodyPr/>
          <a:lstStyle/>
          <a:p>
            <a:pPr>
              <a:defRPr/>
            </a:pPr>
            <a:r>
              <a:rPr lang="en-US" dirty="0" smtClean="0">
                <a:solidFill>
                  <a:srgbClr val="0D4181"/>
                </a:solidFill>
              </a:rPr>
              <a:t>Cross-Border Upstream Monitoring &amp; Alerting</a:t>
            </a:r>
            <a:endParaRPr lang="en-US" dirty="0">
              <a:solidFill>
                <a:srgbClr val="0D4181"/>
              </a:solidFill>
            </a:endParaRPr>
          </a:p>
        </p:txBody>
      </p:sp>
      <p:sp>
        <p:nvSpPr>
          <p:cNvPr id="17413"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r>
              <a:rPr lang="en-US" sz="900" b="0">
                <a:solidFill>
                  <a:srgbClr val="092E5C"/>
                </a:solidFill>
                <a:latin typeface="Arial" charset="0"/>
                <a:cs typeface="Arial" charset="0"/>
              </a:rPr>
              <a:t>© 2012 Open Geospatial Consortium, Inc.</a:t>
            </a:r>
          </a:p>
        </p:txBody>
      </p:sp>
      <p:sp>
        <p:nvSpPr>
          <p:cNvPr id="17414"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fld id="{3C6E11EE-9016-1C46-87CF-724EB253E9EE}" type="slidenum">
              <a:rPr lang="en-US" sz="900" b="0">
                <a:solidFill>
                  <a:srgbClr val="092E5C"/>
                </a:solidFill>
                <a:latin typeface="Arial" charset="0"/>
                <a:cs typeface="Arial" charset="0"/>
              </a:rPr>
              <a:pPr/>
              <a:t>4</a:t>
            </a:fld>
            <a:endParaRPr lang="en-US" sz="900" b="0">
              <a:solidFill>
                <a:srgbClr val="092E5C"/>
              </a:solidFill>
              <a:latin typeface="Arial" charset="0"/>
              <a:cs typeface="Arial" charset="0"/>
            </a:endParaRPr>
          </a:p>
        </p:txBody>
      </p:sp>
      <p:pic>
        <p:nvPicPr>
          <p:cNvPr id="17415"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917575" y="1639888"/>
            <a:ext cx="5175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6"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5270500" y="2560638"/>
            <a:ext cx="595313"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7"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4667250" y="4810125"/>
            <a:ext cx="595313"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8"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7153275" y="4368800"/>
            <a:ext cx="5191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9"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3316288" y="1639888"/>
            <a:ext cx="51911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0" name="TextBox 27"/>
          <p:cNvSpPr txBox="1">
            <a:spLocks noChangeArrowheads="1"/>
          </p:cNvSpPr>
          <p:nvPr/>
        </p:nvSpPr>
        <p:spPr bwMode="auto">
          <a:xfrm>
            <a:off x="7573963" y="4370388"/>
            <a:ext cx="1547812"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r>
              <a:rPr lang="en-US" sz="1100"/>
              <a:t>SOS / GWML</a:t>
            </a:r>
          </a:p>
          <a:p>
            <a:r>
              <a:rPr lang="en-US" sz="1100"/>
              <a:t>(GW Level)</a:t>
            </a:r>
          </a:p>
          <a:p>
            <a:r>
              <a:rPr lang="en-US" sz="1100"/>
              <a:t>NRCan</a:t>
            </a:r>
          </a:p>
        </p:txBody>
      </p:sp>
      <p:sp>
        <p:nvSpPr>
          <p:cNvPr id="17421" name="TextBox 27"/>
          <p:cNvSpPr txBox="1">
            <a:spLocks noChangeArrowheads="1"/>
          </p:cNvSpPr>
          <p:nvPr/>
        </p:nvSpPr>
        <p:spPr bwMode="auto">
          <a:xfrm>
            <a:off x="2492375" y="3519488"/>
            <a:ext cx="1528763"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r" eaLnBrk="1" hangingPunct="1"/>
            <a:r>
              <a:rPr lang="en-GB" sz="1100"/>
              <a:t>WPS</a:t>
            </a:r>
          </a:p>
          <a:p>
            <a:pPr algn="r" eaLnBrk="1" hangingPunct="1"/>
            <a:r>
              <a:rPr lang="en-GB" sz="1100"/>
              <a:t>(Upstream Gauges)</a:t>
            </a:r>
          </a:p>
          <a:p>
            <a:pPr algn="r" eaLnBrk="1" hangingPunct="1"/>
            <a:r>
              <a:rPr lang="en-GB" sz="1100"/>
              <a:t>RPS-ASA</a:t>
            </a:r>
          </a:p>
          <a:p>
            <a:pPr algn="r" eaLnBrk="1" hangingPunct="1"/>
            <a:r>
              <a:rPr lang="en-GB" sz="1100"/>
              <a:t>+ NRCan</a:t>
            </a:r>
          </a:p>
        </p:txBody>
      </p:sp>
      <p:pic>
        <p:nvPicPr>
          <p:cNvPr id="17422" name="Picture 15"/>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7153275" y="1343025"/>
            <a:ext cx="5191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3" name="TextBox 27"/>
          <p:cNvSpPr txBox="1">
            <a:spLocks noChangeArrowheads="1"/>
          </p:cNvSpPr>
          <p:nvPr/>
        </p:nvSpPr>
        <p:spPr bwMode="auto">
          <a:xfrm>
            <a:off x="7573963" y="1404938"/>
            <a:ext cx="1003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eaLnBrk="1" hangingPunct="1"/>
            <a:r>
              <a:rPr lang="en-GB" sz="1100"/>
              <a:t>CSW</a:t>
            </a:r>
          </a:p>
          <a:p>
            <a:pPr eaLnBrk="1" hangingPunct="1"/>
            <a:r>
              <a:rPr lang="en-GB" sz="1100"/>
              <a:t>Explorus</a:t>
            </a:r>
          </a:p>
        </p:txBody>
      </p:sp>
      <p:sp>
        <p:nvSpPr>
          <p:cNvPr id="17424" name="TextBox 27"/>
          <p:cNvSpPr txBox="1">
            <a:spLocks noChangeArrowheads="1"/>
          </p:cNvSpPr>
          <p:nvPr/>
        </p:nvSpPr>
        <p:spPr bwMode="auto">
          <a:xfrm>
            <a:off x="5075238" y="2354263"/>
            <a:ext cx="100330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GB" sz="1200"/>
              <a:t>Harvester</a:t>
            </a:r>
          </a:p>
        </p:txBody>
      </p:sp>
      <p:sp>
        <p:nvSpPr>
          <p:cNvPr id="17425" name="TextBox 27"/>
          <p:cNvSpPr txBox="1">
            <a:spLocks noChangeArrowheads="1"/>
          </p:cNvSpPr>
          <p:nvPr/>
        </p:nvSpPr>
        <p:spPr bwMode="auto">
          <a:xfrm>
            <a:off x="4241800" y="1558925"/>
            <a:ext cx="23495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GB" sz="1200">
                <a:solidFill>
                  <a:srgbClr val="CC6633"/>
                </a:solidFill>
              </a:rPr>
              <a:t>Event Notification </a:t>
            </a:r>
          </a:p>
          <a:p>
            <a:pPr algn="ctr" eaLnBrk="1" hangingPunct="1"/>
            <a:r>
              <a:rPr lang="en-GB" sz="1200">
                <a:solidFill>
                  <a:srgbClr val="CC6633"/>
                </a:solidFill>
              </a:rPr>
              <a:t>Service</a:t>
            </a:r>
          </a:p>
          <a:p>
            <a:pPr algn="ctr" eaLnBrk="1" hangingPunct="1"/>
            <a:r>
              <a:rPr lang="en-GB" sz="1200">
                <a:solidFill>
                  <a:srgbClr val="CC6633"/>
                </a:solidFill>
              </a:rPr>
              <a:t>(GIS-FCU)</a:t>
            </a:r>
          </a:p>
        </p:txBody>
      </p:sp>
      <p:sp>
        <p:nvSpPr>
          <p:cNvPr id="17426" name="Rounded Rectangle 20"/>
          <p:cNvSpPr>
            <a:spLocks noChangeArrowheads="1"/>
          </p:cNvSpPr>
          <p:nvPr/>
        </p:nvSpPr>
        <p:spPr bwMode="auto">
          <a:xfrm>
            <a:off x="5016500" y="4051300"/>
            <a:ext cx="1092200" cy="341313"/>
          </a:xfrm>
          <a:prstGeom prst="roundRect">
            <a:avLst>
              <a:gd name="adj" fmla="val 16667"/>
            </a:avLst>
          </a:prstGeom>
          <a:solidFill>
            <a:srgbClr val="FFFFFF"/>
          </a:solidFill>
          <a:ln w="9525">
            <a:solidFill>
              <a:srgbClr val="333333"/>
            </a:solidFill>
            <a:round/>
            <a:headEnd type="stealth" w="med" len="lg"/>
            <a:tailEnd/>
          </a:ln>
        </p:spPr>
        <p:txBody>
          <a:bodyPr lIns="0" rIns="0">
            <a:spAutoFit/>
          </a:bodyPr>
          <a:lstStyle/>
          <a:p>
            <a:pPr algn="ctr" eaLnBrk="0" hangingPunct="0"/>
            <a:r>
              <a:rPr lang="en-US" sz="1400" b="0">
                <a:solidFill>
                  <a:srgbClr val="0D4181"/>
                </a:solidFill>
              </a:rPr>
              <a:t>Broker</a:t>
            </a:r>
          </a:p>
        </p:txBody>
      </p:sp>
      <p:sp>
        <p:nvSpPr>
          <p:cNvPr id="17427" name="TextBox 27"/>
          <p:cNvSpPr txBox="1">
            <a:spLocks noChangeArrowheads="1"/>
          </p:cNvSpPr>
          <p:nvPr/>
        </p:nvSpPr>
        <p:spPr bwMode="auto">
          <a:xfrm>
            <a:off x="265113" y="5749925"/>
            <a:ext cx="183673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r>
              <a:rPr lang="en-US" sz="1100" dirty="0"/>
              <a:t>Upstream Monitoring Web Client </a:t>
            </a:r>
          </a:p>
          <a:p>
            <a:pPr algn="ctr"/>
            <a:r>
              <a:rPr lang="en-US" sz="1100" dirty="0"/>
              <a:t>(</a:t>
            </a:r>
            <a:r>
              <a:rPr lang="en-US" sz="1100" dirty="0" err="1"/>
              <a:t>Explorus</a:t>
            </a:r>
            <a:r>
              <a:rPr lang="en-US" sz="1100" dirty="0"/>
              <a:t>)</a:t>
            </a:r>
          </a:p>
        </p:txBody>
      </p:sp>
      <p:sp>
        <p:nvSpPr>
          <p:cNvPr id="17428" name="TextBox 28"/>
          <p:cNvSpPr txBox="1">
            <a:spLocks noChangeArrowheads="1"/>
          </p:cNvSpPr>
          <p:nvPr/>
        </p:nvSpPr>
        <p:spPr bwMode="auto">
          <a:xfrm>
            <a:off x="2673350" y="1057275"/>
            <a:ext cx="161131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r>
              <a:rPr lang="en-US" sz="1100"/>
              <a:t>SOS /WML2</a:t>
            </a:r>
          </a:p>
          <a:p>
            <a:pPr algn="ctr"/>
            <a:r>
              <a:rPr lang="en-US" sz="1100"/>
              <a:t>(Water Level, Flow)</a:t>
            </a:r>
          </a:p>
          <a:p>
            <a:pPr algn="ctr"/>
            <a:r>
              <a:rPr lang="en-US" sz="1100"/>
              <a:t>EC/NRCan</a:t>
            </a:r>
          </a:p>
        </p:txBody>
      </p:sp>
      <p:sp>
        <p:nvSpPr>
          <p:cNvPr id="17429" name="TextBox 27"/>
          <p:cNvSpPr txBox="1">
            <a:spLocks noChangeArrowheads="1"/>
          </p:cNvSpPr>
          <p:nvPr/>
        </p:nvSpPr>
        <p:spPr bwMode="auto">
          <a:xfrm>
            <a:off x="1325563" y="1682750"/>
            <a:ext cx="10858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eaLnBrk="1" hangingPunct="1"/>
            <a:r>
              <a:rPr lang="en-GB" sz="1100" dirty="0"/>
              <a:t>WFS</a:t>
            </a:r>
          </a:p>
          <a:p>
            <a:pPr eaLnBrk="1" hangingPunct="1"/>
            <a:r>
              <a:rPr lang="en-GB" sz="1100" dirty="0"/>
              <a:t>(Station Info)</a:t>
            </a:r>
          </a:p>
          <a:p>
            <a:pPr eaLnBrk="1" hangingPunct="1"/>
            <a:r>
              <a:rPr lang="en-GB" sz="1100" dirty="0"/>
              <a:t>USGS</a:t>
            </a:r>
          </a:p>
        </p:txBody>
      </p:sp>
      <p:sp>
        <p:nvSpPr>
          <p:cNvPr id="17430" name="Folded Corner 31"/>
          <p:cNvSpPr>
            <a:spLocks noChangeArrowheads="1"/>
          </p:cNvSpPr>
          <p:nvPr/>
        </p:nvSpPr>
        <p:spPr bwMode="auto">
          <a:xfrm>
            <a:off x="5872163" y="4868863"/>
            <a:ext cx="444500" cy="673100"/>
          </a:xfrm>
          <a:prstGeom prst="foldedCorner">
            <a:avLst>
              <a:gd name="adj" fmla="val 16667"/>
            </a:avLst>
          </a:prstGeom>
          <a:solidFill>
            <a:srgbClr val="B3B3B3"/>
          </a:solidFill>
          <a:ln w="9525">
            <a:solidFill>
              <a:srgbClr val="969696"/>
            </a:solidFill>
            <a:round/>
            <a:headEnd type="stealth" w="med" len="lg"/>
            <a:tailEnd/>
          </a:ln>
        </p:spPr>
        <p:txBody>
          <a:bodyPr lIns="0" rIns="0" anchor="ctr"/>
          <a:lstStyle/>
          <a:p>
            <a:pPr algn="ctr" eaLnBrk="0" hangingPunct="0"/>
            <a:r>
              <a:rPr lang="en-US"/>
              <a:t>RSS Feed</a:t>
            </a:r>
          </a:p>
        </p:txBody>
      </p:sp>
      <p:cxnSp>
        <p:nvCxnSpPr>
          <p:cNvPr id="37" name="Straight Arrow Connector 36"/>
          <p:cNvCxnSpPr>
            <a:stCxn id="17415" idx="2"/>
            <a:endCxn id="98" idx="0"/>
          </p:cNvCxnSpPr>
          <p:nvPr/>
        </p:nvCxnSpPr>
        <p:spPr bwMode="auto">
          <a:xfrm>
            <a:off x="1176338" y="2325688"/>
            <a:ext cx="0" cy="1204912"/>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17432" name="Straight Arrow Connector 46"/>
          <p:cNvCxnSpPr>
            <a:cxnSpLocks noChangeShapeType="1"/>
            <a:stCxn id="17430" idx="1"/>
            <a:endCxn id="17417" idx="3"/>
          </p:cNvCxnSpPr>
          <p:nvPr/>
        </p:nvCxnSpPr>
        <p:spPr bwMode="auto">
          <a:xfrm flipH="1" flipV="1">
            <a:off x="5262563" y="5203825"/>
            <a:ext cx="609600" cy="1588"/>
          </a:xfrm>
          <a:prstGeom prst="straightConnector1">
            <a:avLst/>
          </a:prstGeom>
          <a:noFill/>
          <a:ln w="9525">
            <a:solidFill>
              <a:srgbClr val="969696"/>
            </a:solidFill>
            <a:round/>
            <a:headEnd type="stealth" w="med" len="lg"/>
            <a:tailEnd/>
          </a:ln>
          <a:extLst>
            <a:ext uri="{909E8E84-426E-40dd-AFC4-6F175D3DCCD1}">
              <a14:hiddenFill xmlns:a14="http://schemas.microsoft.com/office/drawing/2010/main">
                <a:noFill/>
              </a14:hiddenFill>
            </a:ext>
          </a:extLst>
        </p:spPr>
      </p:cxnSp>
      <p:cxnSp>
        <p:nvCxnSpPr>
          <p:cNvPr id="17433" name="Straight Arrow Connector 48"/>
          <p:cNvCxnSpPr>
            <a:cxnSpLocks noChangeShapeType="1"/>
            <a:stCxn id="17426" idx="0"/>
            <a:endCxn id="17416" idx="2"/>
          </p:cNvCxnSpPr>
          <p:nvPr/>
        </p:nvCxnSpPr>
        <p:spPr bwMode="auto">
          <a:xfrm flipV="1">
            <a:off x="5562600" y="3346450"/>
            <a:ext cx="6350" cy="704850"/>
          </a:xfrm>
          <a:prstGeom prst="straightConnector1">
            <a:avLst/>
          </a:prstGeom>
          <a:noFill/>
          <a:ln w="9525">
            <a:solidFill>
              <a:srgbClr val="969696"/>
            </a:solidFill>
            <a:round/>
            <a:headEnd type="arrow" w="med" len="med"/>
            <a:tailEnd type="arrow" w="med" len="med"/>
          </a:ln>
          <a:extLst>
            <a:ext uri="{909E8E84-426E-40dd-AFC4-6F175D3DCCD1}">
              <a14:hiddenFill xmlns:a14="http://schemas.microsoft.com/office/drawing/2010/main">
                <a:noFill/>
              </a14:hiddenFill>
            </a:ext>
          </a:extLst>
        </p:spPr>
      </p:cxnSp>
      <p:cxnSp>
        <p:nvCxnSpPr>
          <p:cNvPr id="52" name="Straight Arrow Connector 51"/>
          <p:cNvCxnSpPr>
            <a:stCxn id="17426" idx="1"/>
            <a:endCxn id="17451" idx="3"/>
          </p:cNvCxnSpPr>
          <p:nvPr/>
        </p:nvCxnSpPr>
        <p:spPr bwMode="auto">
          <a:xfrm flipH="1" flipV="1">
            <a:off x="3911600" y="3198813"/>
            <a:ext cx="1104900" cy="1023937"/>
          </a:xfrm>
          <a:prstGeom prst="straightConnector1">
            <a:avLst/>
          </a:prstGeom>
          <a:noFill/>
          <a:ln w="19050" cap="flat" cmpd="sng" algn="ctr">
            <a:solidFill>
              <a:schemeClr val="tx2">
                <a:lumMod val="75000"/>
                <a:lumOff val="25000"/>
              </a:schemeClr>
            </a:solidFill>
            <a:prstDash val="solid"/>
            <a:round/>
            <a:headEnd type="arrow" w="med" len="lg"/>
            <a:tailEnd type="none"/>
          </a:ln>
          <a:effectLst/>
        </p:spPr>
      </p:cxnSp>
      <p:cxnSp>
        <p:nvCxnSpPr>
          <p:cNvPr id="61" name="Straight Arrow Connector 60"/>
          <p:cNvCxnSpPr>
            <a:stCxn id="17418" idx="1"/>
          </p:cNvCxnSpPr>
          <p:nvPr/>
        </p:nvCxnSpPr>
        <p:spPr bwMode="auto">
          <a:xfrm flipH="1" flipV="1">
            <a:off x="5902325" y="3149600"/>
            <a:ext cx="1250950" cy="1562100"/>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63" name="Straight Arrow Connector 62"/>
          <p:cNvCxnSpPr>
            <a:stCxn id="17411" idx="1"/>
            <a:endCxn id="17416" idx="3"/>
          </p:cNvCxnSpPr>
          <p:nvPr/>
        </p:nvCxnSpPr>
        <p:spPr bwMode="auto">
          <a:xfrm flipH="1" flipV="1">
            <a:off x="5865813" y="2954338"/>
            <a:ext cx="1287462" cy="165100"/>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64" name="Straight Arrow Connector 63"/>
          <p:cNvCxnSpPr>
            <a:stCxn id="17419" idx="3"/>
            <a:endCxn id="17416" idx="1"/>
          </p:cNvCxnSpPr>
          <p:nvPr/>
        </p:nvCxnSpPr>
        <p:spPr bwMode="auto">
          <a:xfrm>
            <a:off x="3835400" y="1982788"/>
            <a:ext cx="1435100" cy="971550"/>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sp>
        <p:nvSpPr>
          <p:cNvPr id="17438" name="Rounded Rectangle 77"/>
          <p:cNvSpPr>
            <a:spLocks noChangeArrowheads="1"/>
          </p:cNvSpPr>
          <p:nvPr/>
        </p:nvSpPr>
        <p:spPr bwMode="auto">
          <a:xfrm>
            <a:off x="5408613" y="5819775"/>
            <a:ext cx="993775" cy="441325"/>
          </a:xfrm>
          <a:prstGeom prst="roundRect">
            <a:avLst>
              <a:gd name="adj" fmla="val 16667"/>
            </a:avLst>
          </a:prstGeom>
          <a:gradFill rotWithShape="1">
            <a:gsLst>
              <a:gs pos="0">
                <a:srgbClr val="FFFFFF"/>
              </a:gs>
              <a:gs pos="100000">
                <a:srgbClr val="FFCC00"/>
              </a:gs>
            </a:gsLst>
            <a:lin ang="240000"/>
          </a:gradFill>
          <a:ln w="9525">
            <a:solidFill>
              <a:srgbClr val="969696"/>
            </a:solidFill>
            <a:round/>
            <a:headEnd type="stealth" w="med" len="lg"/>
            <a:tailEnd/>
          </a:ln>
        </p:spPr>
        <p:txBody>
          <a:bodyPr lIns="0" rIns="0">
            <a:spAutoFit/>
          </a:bodyPr>
          <a:lstStyle/>
          <a:p>
            <a:pPr algn="ctr" eaLnBrk="0" hangingPunct="0"/>
            <a:r>
              <a:rPr lang="en-US">
                <a:solidFill>
                  <a:srgbClr val="0D4181"/>
                </a:solidFill>
              </a:rPr>
              <a:t>CAP Info Editor</a:t>
            </a:r>
          </a:p>
          <a:p>
            <a:pPr algn="ctr" eaLnBrk="0" hangingPunct="0"/>
            <a:r>
              <a:rPr lang="en-US">
                <a:solidFill>
                  <a:srgbClr val="0D4181"/>
                </a:solidFill>
              </a:rPr>
              <a:t>GIS.FCU</a:t>
            </a:r>
          </a:p>
        </p:txBody>
      </p:sp>
      <p:cxnSp>
        <p:nvCxnSpPr>
          <p:cNvPr id="91" name="Straight Arrow Connector 90"/>
          <p:cNvCxnSpPr>
            <a:stCxn id="17438" idx="3"/>
            <a:endCxn id="17442" idx="1"/>
          </p:cNvCxnSpPr>
          <p:nvPr/>
        </p:nvCxnSpPr>
        <p:spPr bwMode="auto">
          <a:xfrm flipV="1">
            <a:off x="6402388" y="6038850"/>
            <a:ext cx="600075" cy="1588"/>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sp>
        <p:nvSpPr>
          <p:cNvPr id="17440" name="TextBox 27"/>
          <p:cNvSpPr txBox="1">
            <a:spLocks noChangeArrowheads="1"/>
          </p:cNvSpPr>
          <p:nvPr/>
        </p:nvSpPr>
        <p:spPr bwMode="auto">
          <a:xfrm>
            <a:off x="4652963" y="4540250"/>
            <a:ext cx="6223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eaLnBrk="1" hangingPunct="1"/>
            <a:r>
              <a:rPr lang="en-GB" sz="1200"/>
              <a:t>WNS</a:t>
            </a:r>
          </a:p>
        </p:txBody>
      </p:sp>
      <p:cxnSp>
        <p:nvCxnSpPr>
          <p:cNvPr id="102" name="Elbow Connector 101"/>
          <p:cNvCxnSpPr>
            <a:stCxn id="98" idx="3"/>
            <a:endCxn id="17438" idx="1"/>
          </p:cNvCxnSpPr>
          <p:nvPr/>
        </p:nvCxnSpPr>
        <p:spPr bwMode="auto">
          <a:xfrm>
            <a:off x="2079625" y="4633913"/>
            <a:ext cx="3328988" cy="1406525"/>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sp>
        <p:nvSpPr>
          <p:cNvPr id="17442" name="Rounded Rectangle 56"/>
          <p:cNvSpPr>
            <a:spLocks noChangeArrowheads="1"/>
          </p:cNvSpPr>
          <p:nvPr/>
        </p:nvSpPr>
        <p:spPr bwMode="auto">
          <a:xfrm>
            <a:off x="7002463" y="5748338"/>
            <a:ext cx="2054225" cy="581025"/>
          </a:xfrm>
          <a:prstGeom prst="roundRect">
            <a:avLst>
              <a:gd name="adj" fmla="val 16667"/>
            </a:avLst>
          </a:prstGeom>
          <a:gradFill rotWithShape="1">
            <a:gsLst>
              <a:gs pos="0">
                <a:srgbClr val="FFFFFF"/>
              </a:gs>
              <a:gs pos="100000">
                <a:srgbClr val="FFCC00"/>
              </a:gs>
            </a:gsLst>
            <a:lin ang="240000"/>
          </a:gradFill>
          <a:ln w="9525">
            <a:solidFill>
              <a:srgbClr val="969696"/>
            </a:solidFill>
            <a:round/>
            <a:headEnd type="stealth" w="med" len="lg"/>
            <a:tailEnd/>
          </a:ln>
        </p:spPr>
        <p:txBody>
          <a:bodyPr wrap="none" lIns="0" rIns="0"/>
          <a:lstStyle/>
          <a:p>
            <a:pPr algn="ctr" eaLnBrk="0" hangingPunct="0"/>
            <a:r>
              <a:rPr lang="en-US" sz="1100">
                <a:solidFill>
                  <a:srgbClr val="0D4181"/>
                </a:solidFill>
              </a:rPr>
              <a:t>Multi-Agency Situational </a:t>
            </a:r>
          </a:p>
          <a:p>
            <a:pPr algn="ctr" eaLnBrk="0" hangingPunct="0"/>
            <a:r>
              <a:rPr lang="en-US" sz="1100">
                <a:solidFill>
                  <a:srgbClr val="0D4181"/>
                </a:solidFill>
              </a:rPr>
              <a:t>Awareness System (MASAS)</a:t>
            </a:r>
          </a:p>
        </p:txBody>
      </p:sp>
      <p:cxnSp>
        <p:nvCxnSpPr>
          <p:cNvPr id="88" name="Elbow Connector 87"/>
          <p:cNvCxnSpPr>
            <a:stCxn id="98" idx="3"/>
            <a:endCxn id="17417" idx="1"/>
          </p:cNvCxnSpPr>
          <p:nvPr/>
        </p:nvCxnSpPr>
        <p:spPr bwMode="auto">
          <a:xfrm>
            <a:off x="2079625" y="4633913"/>
            <a:ext cx="2587625" cy="569912"/>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grpSp>
        <p:nvGrpSpPr>
          <p:cNvPr id="17444" name="Group 18"/>
          <p:cNvGrpSpPr>
            <a:grpSpLocks/>
          </p:cNvGrpSpPr>
          <p:nvPr/>
        </p:nvGrpSpPr>
        <p:grpSpPr bwMode="auto">
          <a:xfrm>
            <a:off x="3240088" y="2682875"/>
            <a:ext cx="671512" cy="858838"/>
            <a:chOff x="3092450" y="3094038"/>
            <a:chExt cx="672131" cy="858520"/>
          </a:xfrm>
        </p:grpSpPr>
        <p:pic>
          <p:nvPicPr>
            <p:cNvPr id="17450"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3092450" y="3094038"/>
              <a:ext cx="519731"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51" name="Picture 7"/>
            <p:cNvPicPr>
              <a:picLocks noChangeAspect="1" noChangeArrowheads="1"/>
            </p:cNvPicPr>
            <p:nvPr/>
          </p:nvPicPr>
          <p:blipFill>
            <a:blip r:embed="rId2">
              <a:extLst>
                <a:ext uri="{28A0092B-C50C-407E-A947-70E740481C1C}">
                  <a14:useLocalDpi xmlns:a14="http://schemas.microsoft.com/office/drawing/2010/main" val="0"/>
                </a:ext>
              </a:extLst>
            </a:blip>
            <a:srcRect b="14120"/>
            <a:stretch>
              <a:fillRect/>
            </a:stretch>
          </p:blipFill>
          <p:spPr bwMode="auto">
            <a:xfrm>
              <a:off x="3244850" y="3266758"/>
              <a:ext cx="519731"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35" name="Straight Arrow Connector 34"/>
          <p:cNvCxnSpPr>
            <a:stCxn id="98" idx="3"/>
            <a:endCxn id="17426" idx="1"/>
          </p:cNvCxnSpPr>
          <p:nvPr/>
        </p:nvCxnSpPr>
        <p:spPr bwMode="auto">
          <a:xfrm flipV="1">
            <a:off x="2079625" y="4222750"/>
            <a:ext cx="2936875" cy="411163"/>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54" name="Straight Arrow Connector 53"/>
          <p:cNvCxnSpPr>
            <a:stCxn id="17416" idx="3"/>
            <a:endCxn id="17422" idx="1"/>
          </p:cNvCxnSpPr>
          <p:nvPr/>
        </p:nvCxnSpPr>
        <p:spPr bwMode="auto">
          <a:xfrm flipV="1">
            <a:off x="5865813" y="1685925"/>
            <a:ext cx="1287462" cy="1268413"/>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pic>
        <p:nvPicPr>
          <p:cNvPr id="98" name="Picture 51"/>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73050" y="3530600"/>
            <a:ext cx="1806575" cy="2206625"/>
          </a:xfrm>
          <a:prstGeom prst="rect">
            <a:avLst/>
          </a:prstGeom>
          <a:noFill/>
          <a:ln>
            <a:noFill/>
          </a:ln>
          <a:effectLst>
            <a:outerShdw blurRad="127000" dist="127000" dir="2700000" algn="ctr" rotWithShape="0">
              <a:srgbClr val="999999"/>
            </a:outerShdw>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Lst>
        </p:spPr>
      </p:pic>
      <p:cxnSp>
        <p:nvCxnSpPr>
          <p:cNvPr id="105" name="Straight Arrow Connector 104"/>
          <p:cNvCxnSpPr>
            <a:endCxn id="17426" idx="2"/>
          </p:cNvCxnSpPr>
          <p:nvPr/>
        </p:nvCxnSpPr>
        <p:spPr bwMode="auto">
          <a:xfrm flipV="1">
            <a:off x="5162550" y="4392613"/>
            <a:ext cx="400050" cy="522287"/>
          </a:xfrm>
          <a:prstGeom prst="straightConnector1">
            <a:avLst/>
          </a:prstGeom>
          <a:noFill/>
          <a:ln w="19050" cap="flat" cmpd="sng" algn="ctr">
            <a:solidFill>
              <a:schemeClr val="tx2">
                <a:lumMod val="75000"/>
                <a:lumOff val="25000"/>
              </a:schemeClr>
            </a:solidFill>
            <a:prstDash val="solid"/>
            <a:round/>
            <a:headEnd type="arrow" w="med" len="lg"/>
            <a:tailEnd type="none"/>
          </a:ln>
          <a:effectLst/>
        </p:spPr>
      </p:cxnSp>
      <p:cxnSp>
        <p:nvCxnSpPr>
          <p:cNvPr id="57" name="Straight Arrow Connector 56"/>
          <p:cNvCxnSpPr>
            <a:stCxn id="17419" idx="1"/>
            <a:endCxn id="98" idx="0"/>
          </p:cNvCxnSpPr>
          <p:nvPr/>
        </p:nvCxnSpPr>
        <p:spPr bwMode="auto">
          <a:xfrm flipH="1">
            <a:off x="1176338" y="1982788"/>
            <a:ext cx="2139950" cy="1547812"/>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spTree>
    <p:extLst>
      <p:ext uri="{BB962C8B-B14F-4D97-AF65-F5344CB8AC3E}">
        <p14:creationId xmlns:p14="http://schemas.microsoft.com/office/powerpoint/2010/main" val="3104177379"/>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effectLst>
                  <a:outerShdw blurRad="50800" dist="38100" dir="2700000" algn="tl" rotWithShape="0">
                    <a:srgbClr val="999999">
                      <a:alpha val="99000"/>
                    </a:srgbClr>
                  </a:outerShdw>
                </a:effectLst>
              </a:rPr>
              <a:t>Great Lakes Nutrient Load Calculation Service</a:t>
            </a:r>
            <a:endParaRPr lang="en-US" dirty="0">
              <a:effectLst>
                <a:outerShdw blurRad="50800" dist="38100" dir="2700000" algn="tl" rotWithShape="0">
                  <a:srgbClr val="999999">
                    <a:alpha val="99000"/>
                  </a:srgbClr>
                </a:outerShdw>
              </a:effectLst>
            </a:endParaRPr>
          </a:p>
        </p:txBody>
      </p:sp>
      <p:sp>
        <p:nvSpPr>
          <p:cNvPr id="184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r>
              <a:rPr lang="en-US" sz="900" b="0">
                <a:solidFill>
                  <a:srgbClr val="092E5C"/>
                </a:solidFill>
                <a:latin typeface="Arial" charset="0"/>
                <a:ea typeface="MS PGothic" charset="0"/>
                <a:cs typeface="MS PGothic" charset="0"/>
              </a:rPr>
              <a:t>Copyright © 2013 Open Geospatial Consortium</a:t>
            </a:r>
          </a:p>
        </p:txBody>
      </p:sp>
      <p:sp>
        <p:nvSpPr>
          <p:cNvPr id="5" name="Rounded Rectangle 4"/>
          <p:cNvSpPr/>
          <p:nvPr/>
        </p:nvSpPr>
        <p:spPr bwMode="auto">
          <a:xfrm>
            <a:off x="5573713" y="3590925"/>
            <a:ext cx="3179762" cy="2951163"/>
          </a:xfrm>
          <a:prstGeom prst="roundRect">
            <a:avLst/>
          </a:prstGeom>
          <a:solidFill>
            <a:schemeClr val="tx2">
              <a:lumMod val="10000"/>
              <a:lumOff val="90000"/>
            </a:schemeClr>
          </a:solidFill>
          <a:ln w="9525" cap="flat" cmpd="sng" algn="ctr">
            <a:solidFill>
              <a:srgbClr val="969696"/>
            </a:solidFill>
            <a:prstDash val="solid"/>
            <a:round/>
            <a:headEnd type="stealth" w="med" len="lg"/>
            <a:tailEnd type="none" w="med" len="med"/>
          </a:ln>
          <a:effectLst/>
        </p:spPr>
        <p:txBody>
          <a:bodyPr lIns="0" rIns="0">
            <a:spAutoFit/>
          </a:bodyPr>
          <a:lstStyle/>
          <a:p>
            <a:pPr eaLnBrk="0" hangingPunct="0">
              <a:defRPr/>
            </a:pPr>
            <a:endParaRPr lang="en-US">
              <a:cs typeface="Arial" charset="0"/>
            </a:endParaRPr>
          </a:p>
        </p:txBody>
      </p:sp>
      <p:pic>
        <p:nvPicPr>
          <p:cNvPr id="18436" name="Picture 7"/>
          <p:cNvPicPr>
            <a:picLocks noChangeAspect="1" noChangeArrowheads="1"/>
          </p:cNvPicPr>
          <p:nvPr/>
        </p:nvPicPr>
        <p:blipFill>
          <a:blip r:embed="rId3">
            <a:extLst>
              <a:ext uri="{28A0092B-C50C-407E-A947-70E740481C1C}">
                <a14:useLocalDpi xmlns:a14="http://schemas.microsoft.com/office/drawing/2010/main" val="0"/>
              </a:ext>
            </a:extLst>
          </a:blip>
          <a:srcRect b="14120"/>
          <a:stretch>
            <a:fillRect/>
          </a:stretch>
        </p:blipFill>
        <p:spPr bwMode="auto">
          <a:xfrm>
            <a:off x="4311650" y="2995613"/>
            <a:ext cx="520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7"/>
          <p:cNvPicPr>
            <a:picLocks noChangeAspect="1" noChangeArrowheads="1"/>
          </p:cNvPicPr>
          <p:nvPr/>
        </p:nvPicPr>
        <p:blipFill>
          <a:blip r:embed="rId3">
            <a:extLst>
              <a:ext uri="{28A0092B-C50C-407E-A947-70E740481C1C}">
                <a14:useLocalDpi xmlns:a14="http://schemas.microsoft.com/office/drawing/2010/main" val="0"/>
              </a:ext>
            </a:extLst>
          </a:blip>
          <a:srcRect b="14120"/>
          <a:stretch>
            <a:fillRect/>
          </a:stretch>
        </p:blipFill>
        <p:spPr bwMode="auto">
          <a:xfrm>
            <a:off x="5737225" y="5765800"/>
            <a:ext cx="520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7"/>
          <p:cNvPicPr>
            <a:picLocks noChangeAspect="1" noChangeArrowheads="1"/>
          </p:cNvPicPr>
          <p:nvPr/>
        </p:nvPicPr>
        <p:blipFill>
          <a:blip r:embed="rId3">
            <a:extLst>
              <a:ext uri="{28A0092B-C50C-407E-A947-70E740481C1C}">
                <a14:useLocalDpi xmlns:a14="http://schemas.microsoft.com/office/drawing/2010/main" val="0"/>
              </a:ext>
            </a:extLst>
          </a:blip>
          <a:srcRect b="14120"/>
          <a:stretch>
            <a:fillRect/>
          </a:stretch>
        </p:blipFill>
        <p:spPr bwMode="auto">
          <a:xfrm>
            <a:off x="5735638" y="4278313"/>
            <a:ext cx="520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Picture 7"/>
          <p:cNvPicPr>
            <a:picLocks noChangeAspect="1" noChangeArrowheads="1"/>
          </p:cNvPicPr>
          <p:nvPr/>
        </p:nvPicPr>
        <p:blipFill>
          <a:blip r:embed="rId3">
            <a:extLst>
              <a:ext uri="{28A0092B-C50C-407E-A947-70E740481C1C}">
                <a14:useLocalDpi xmlns:a14="http://schemas.microsoft.com/office/drawing/2010/main" val="0"/>
              </a:ext>
            </a:extLst>
          </a:blip>
          <a:srcRect b="14120"/>
          <a:stretch>
            <a:fillRect/>
          </a:stretch>
        </p:blipFill>
        <p:spPr bwMode="auto">
          <a:xfrm>
            <a:off x="7518400" y="2220913"/>
            <a:ext cx="520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0" name="Picture 7"/>
          <p:cNvPicPr>
            <a:picLocks noChangeAspect="1" noChangeArrowheads="1"/>
          </p:cNvPicPr>
          <p:nvPr/>
        </p:nvPicPr>
        <p:blipFill>
          <a:blip r:embed="rId3">
            <a:extLst>
              <a:ext uri="{28A0092B-C50C-407E-A947-70E740481C1C}">
                <a14:useLocalDpi xmlns:a14="http://schemas.microsoft.com/office/drawing/2010/main" val="0"/>
              </a:ext>
            </a:extLst>
          </a:blip>
          <a:srcRect b="14120"/>
          <a:stretch>
            <a:fillRect/>
          </a:stretch>
        </p:blipFill>
        <p:spPr bwMode="auto">
          <a:xfrm>
            <a:off x="6235700" y="1473200"/>
            <a:ext cx="5191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1" name="Picture 10"/>
          <p:cNvPicPr>
            <a:picLocks noChangeAspect="1" noChangeArrowheads="1"/>
          </p:cNvPicPr>
          <p:nvPr/>
        </p:nvPicPr>
        <p:blipFill>
          <a:blip r:embed="rId3">
            <a:extLst>
              <a:ext uri="{28A0092B-C50C-407E-A947-70E740481C1C}">
                <a14:useLocalDpi xmlns:a14="http://schemas.microsoft.com/office/drawing/2010/main" val="0"/>
              </a:ext>
            </a:extLst>
          </a:blip>
          <a:srcRect b="14120"/>
          <a:stretch>
            <a:fillRect/>
          </a:stretch>
        </p:blipFill>
        <p:spPr bwMode="auto">
          <a:xfrm>
            <a:off x="4316413" y="1120775"/>
            <a:ext cx="5207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2" name="TextBox 27"/>
          <p:cNvSpPr txBox="1">
            <a:spLocks noChangeArrowheads="1"/>
          </p:cNvSpPr>
          <p:nvPr/>
        </p:nvSpPr>
        <p:spPr bwMode="auto">
          <a:xfrm>
            <a:off x="1169988" y="4514850"/>
            <a:ext cx="19272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a:r>
              <a:rPr lang="en-US" sz="1100"/>
              <a:t>Nutrient Load Web Client</a:t>
            </a:r>
          </a:p>
          <a:p>
            <a:pPr algn="ctr"/>
            <a:r>
              <a:rPr lang="en-US" sz="1100"/>
              <a:t>(RPS ASA)</a:t>
            </a:r>
          </a:p>
        </p:txBody>
      </p:sp>
      <p:sp>
        <p:nvSpPr>
          <p:cNvPr id="14" name="Magnetic Disk 13"/>
          <p:cNvSpPr/>
          <p:nvPr/>
        </p:nvSpPr>
        <p:spPr bwMode="auto">
          <a:xfrm>
            <a:off x="8054975" y="4332288"/>
            <a:ext cx="363538" cy="523875"/>
          </a:xfrm>
          <a:prstGeom prst="flowChartMagneticDisk">
            <a:avLst/>
          </a:prstGeom>
          <a:gradFill flip="none" rotWithShape="1">
            <a:gsLst>
              <a:gs pos="0">
                <a:schemeClr val="tx2">
                  <a:lumMod val="25000"/>
                  <a:lumOff val="75000"/>
                </a:schemeClr>
              </a:gs>
              <a:gs pos="100000">
                <a:srgbClr val="FFFFFF"/>
              </a:gs>
            </a:gsLst>
            <a:lin ang="0" scaled="1"/>
            <a:tileRect/>
          </a:gradFill>
          <a:ln w="9525" cap="flat" cmpd="sng" algn="ctr">
            <a:solidFill>
              <a:srgbClr val="666666"/>
            </a:solidFill>
            <a:prstDash val="solid"/>
            <a:round/>
            <a:headEnd type="stealth" w="med" len="lg"/>
            <a:tailEnd type="none" w="med" len="med"/>
          </a:ln>
          <a:effectLst/>
        </p:spPr>
        <p:txBody>
          <a:bodyPr wrap="none" lIns="0" rIns="0">
            <a:spAutoFit/>
          </a:bodyPr>
          <a:lstStyle/>
          <a:p>
            <a:pPr eaLnBrk="0" hangingPunct="0">
              <a:defRPr/>
            </a:pPr>
            <a:endParaRPr lang="en-US">
              <a:cs typeface="Arial" charset="0"/>
            </a:endParaRPr>
          </a:p>
        </p:txBody>
      </p:sp>
      <p:sp>
        <p:nvSpPr>
          <p:cNvPr id="15" name="Magnetic Disk 14"/>
          <p:cNvSpPr/>
          <p:nvPr/>
        </p:nvSpPr>
        <p:spPr bwMode="auto">
          <a:xfrm>
            <a:off x="8054975" y="5676900"/>
            <a:ext cx="363538" cy="525463"/>
          </a:xfrm>
          <a:prstGeom prst="flowChartMagneticDisk">
            <a:avLst/>
          </a:prstGeom>
          <a:gradFill flip="none" rotWithShape="1">
            <a:gsLst>
              <a:gs pos="0">
                <a:schemeClr val="tx2">
                  <a:lumMod val="25000"/>
                  <a:lumOff val="75000"/>
                </a:schemeClr>
              </a:gs>
              <a:gs pos="100000">
                <a:srgbClr val="FFFFFF"/>
              </a:gs>
            </a:gsLst>
            <a:lin ang="0" scaled="1"/>
            <a:tileRect/>
          </a:gradFill>
          <a:ln w="9525" cap="flat" cmpd="sng" algn="ctr">
            <a:solidFill>
              <a:srgbClr val="666666"/>
            </a:solidFill>
            <a:prstDash val="solid"/>
            <a:round/>
            <a:headEnd type="stealth" w="med" len="lg"/>
            <a:tailEnd type="none" w="med" len="med"/>
          </a:ln>
          <a:effectLst/>
        </p:spPr>
        <p:txBody>
          <a:bodyPr wrap="none" lIns="0" rIns="0">
            <a:spAutoFit/>
          </a:bodyPr>
          <a:lstStyle/>
          <a:p>
            <a:pPr eaLnBrk="0" hangingPunct="0">
              <a:defRPr/>
            </a:pPr>
            <a:endParaRPr lang="en-US">
              <a:cs typeface="Arial" charset="0"/>
            </a:endParaRPr>
          </a:p>
        </p:txBody>
      </p:sp>
      <p:sp>
        <p:nvSpPr>
          <p:cNvPr id="18445" name="Process 15"/>
          <p:cNvSpPr>
            <a:spLocks noChangeArrowheads="1"/>
          </p:cNvSpPr>
          <p:nvPr/>
        </p:nvSpPr>
        <p:spPr bwMode="auto">
          <a:xfrm>
            <a:off x="6821488" y="4167188"/>
            <a:ext cx="660400" cy="2209800"/>
          </a:xfrm>
          <a:prstGeom prst="flowChartProcess">
            <a:avLst/>
          </a:prstGeom>
          <a:solidFill>
            <a:srgbClr val="CCCCCC"/>
          </a:solidFill>
          <a:ln w="9525">
            <a:solidFill>
              <a:srgbClr val="969696"/>
            </a:solidFill>
            <a:round/>
            <a:headEnd type="stealth" w="med" len="lg"/>
            <a:tailEnd/>
          </a:ln>
        </p:spPr>
        <p:txBody>
          <a:bodyPr wrap="none" lIns="0" rIns="0">
            <a:spAutoFit/>
          </a:bodyPr>
          <a:lstStyle/>
          <a:p>
            <a:pPr eaLnBrk="0" hangingPunct="0"/>
            <a:endParaRPr lang="en-US"/>
          </a:p>
        </p:txBody>
      </p:sp>
      <p:sp>
        <p:nvSpPr>
          <p:cNvPr id="17" name="Process 16"/>
          <p:cNvSpPr/>
          <p:nvPr/>
        </p:nvSpPr>
        <p:spPr bwMode="auto">
          <a:xfrm>
            <a:off x="7242175" y="4164013"/>
            <a:ext cx="241300" cy="876300"/>
          </a:xfrm>
          <a:prstGeom prst="flowChartProcess">
            <a:avLst/>
          </a:prstGeom>
          <a:solidFill>
            <a:schemeClr val="accent2">
              <a:lumMod val="60000"/>
              <a:lumOff val="40000"/>
            </a:schemeClr>
          </a:solidFill>
          <a:ln w="9525" cap="flat" cmpd="sng" algn="ctr">
            <a:solidFill>
              <a:srgbClr val="969696"/>
            </a:solidFill>
            <a:prstDash val="solid"/>
            <a:round/>
            <a:headEnd type="stealth" w="med" len="lg"/>
            <a:tailEnd type="none" w="med" len="med"/>
          </a:ln>
          <a:effectLst/>
        </p:spPr>
        <p:txBody>
          <a:bodyPr wrap="none" lIns="0" rIns="0">
            <a:spAutoFit/>
          </a:bodyPr>
          <a:lstStyle/>
          <a:p>
            <a:pPr eaLnBrk="0" hangingPunct="0">
              <a:defRPr/>
            </a:pPr>
            <a:endParaRPr lang="en-US">
              <a:cs typeface="Arial" charset="0"/>
            </a:endParaRPr>
          </a:p>
        </p:txBody>
      </p:sp>
      <p:sp>
        <p:nvSpPr>
          <p:cNvPr id="18" name="Process 17"/>
          <p:cNvSpPr/>
          <p:nvPr/>
        </p:nvSpPr>
        <p:spPr bwMode="auto">
          <a:xfrm>
            <a:off x="7250113" y="5503863"/>
            <a:ext cx="241300" cy="876300"/>
          </a:xfrm>
          <a:prstGeom prst="flowChartProcess">
            <a:avLst/>
          </a:prstGeom>
          <a:solidFill>
            <a:schemeClr val="tx2">
              <a:lumMod val="75000"/>
              <a:lumOff val="25000"/>
            </a:schemeClr>
          </a:solidFill>
          <a:ln w="9525" cap="flat" cmpd="sng" algn="ctr">
            <a:solidFill>
              <a:srgbClr val="969696"/>
            </a:solidFill>
            <a:prstDash val="solid"/>
            <a:round/>
            <a:headEnd type="stealth" w="med" len="lg"/>
            <a:tailEnd type="none" w="med" len="med"/>
          </a:ln>
          <a:effectLst/>
        </p:spPr>
        <p:txBody>
          <a:bodyPr wrap="none" lIns="0" rIns="0">
            <a:spAutoFit/>
          </a:bodyPr>
          <a:lstStyle/>
          <a:p>
            <a:pPr eaLnBrk="0" hangingPunct="0">
              <a:defRPr/>
            </a:pPr>
            <a:endParaRPr lang="en-US">
              <a:cs typeface="Arial" charset="0"/>
            </a:endParaRPr>
          </a:p>
        </p:txBody>
      </p:sp>
      <p:cxnSp>
        <p:nvCxnSpPr>
          <p:cNvPr id="19" name="Straight Arrow Connector 18"/>
          <p:cNvCxnSpPr>
            <a:stCxn id="14" idx="2"/>
            <a:endCxn id="17" idx="3"/>
          </p:cNvCxnSpPr>
          <p:nvPr/>
        </p:nvCxnSpPr>
        <p:spPr bwMode="auto">
          <a:xfrm flipH="1">
            <a:off x="7483475" y="4594225"/>
            <a:ext cx="571500" cy="7938"/>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20" name="Straight Arrow Connector 19"/>
          <p:cNvCxnSpPr>
            <a:stCxn id="15" idx="2"/>
            <a:endCxn id="18" idx="3"/>
          </p:cNvCxnSpPr>
          <p:nvPr/>
        </p:nvCxnSpPr>
        <p:spPr bwMode="auto">
          <a:xfrm flipH="1">
            <a:off x="7491413" y="5938838"/>
            <a:ext cx="563562" cy="3175"/>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sp>
        <p:nvSpPr>
          <p:cNvPr id="18450" name="Rectangle 20"/>
          <p:cNvSpPr>
            <a:spLocks noChangeArrowheads="1"/>
          </p:cNvSpPr>
          <p:nvPr/>
        </p:nvSpPr>
        <p:spPr bwMode="auto">
          <a:xfrm>
            <a:off x="3416300" y="1244600"/>
            <a:ext cx="90011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sz="1100"/>
              <a:t>Catalog</a:t>
            </a:r>
          </a:p>
          <a:p>
            <a:pPr algn="r"/>
            <a:r>
              <a:rPr lang="en-US" sz="1100"/>
              <a:t>(RPS ASA)</a:t>
            </a:r>
          </a:p>
        </p:txBody>
      </p:sp>
      <p:sp>
        <p:nvSpPr>
          <p:cNvPr id="18451" name="Text Box 4"/>
          <p:cNvSpPr txBox="1">
            <a:spLocks noChangeArrowheads="1"/>
          </p:cNvSpPr>
          <p:nvPr/>
        </p:nvSpPr>
        <p:spPr bwMode="auto">
          <a:xfrm>
            <a:off x="5467350" y="1052513"/>
            <a:ext cx="23622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US" sz="1100">
                <a:ea typeface="MS PGothic" charset="0"/>
                <a:cs typeface="MS PGothic" charset="0"/>
              </a:rPr>
              <a:t>SOS2/WML2 </a:t>
            </a:r>
          </a:p>
          <a:p>
            <a:pPr algn="ctr" eaLnBrk="1" hangingPunct="1"/>
            <a:r>
              <a:rPr lang="en-US" sz="1100">
                <a:ea typeface="MS PGothic" charset="0"/>
                <a:cs typeface="MS PGothic" charset="0"/>
              </a:rPr>
              <a:t>(EC/NRCan)</a:t>
            </a:r>
          </a:p>
        </p:txBody>
      </p:sp>
      <p:sp>
        <p:nvSpPr>
          <p:cNvPr id="18452" name="Text Box 41"/>
          <p:cNvSpPr txBox="1">
            <a:spLocks noChangeArrowheads="1"/>
          </p:cNvSpPr>
          <p:nvPr/>
        </p:nvSpPr>
        <p:spPr bwMode="auto">
          <a:xfrm>
            <a:off x="7251700" y="1793875"/>
            <a:ext cx="133826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US" sz="1100">
                <a:ea typeface="MS PGothic" charset="0"/>
                <a:cs typeface="MS PGothic" charset="0"/>
              </a:rPr>
              <a:t>SOS2/WML2</a:t>
            </a:r>
          </a:p>
          <a:p>
            <a:pPr algn="ctr" eaLnBrk="1" hangingPunct="1"/>
            <a:r>
              <a:rPr lang="en-US" sz="1100">
                <a:ea typeface="MS PGothic" charset="0"/>
                <a:cs typeface="MS PGothic" charset="0"/>
              </a:rPr>
              <a:t>(USGS)</a:t>
            </a:r>
          </a:p>
        </p:txBody>
      </p:sp>
      <p:sp>
        <p:nvSpPr>
          <p:cNvPr id="18453" name="Text Box 6"/>
          <p:cNvSpPr txBox="1">
            <a:spLocks noChangeArrowheads="1"/>
          </p:cNvSpPr>
          <p:nvPr/>
        </p:nvSpPr>
        <p:spPr bwMode="auto">
          <a:xfrm>
            <a:off x="3830638" y="3668713"/>
            <a:ext cx="1501775"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US" sz="1100">
                <a:ea typeface="MS PGothic" charset="0"/>
                <a:cs typeface="MS PGothic" charset="0"/>
              </a:rPr>
              <a:t>WPS</a:t>
            </a:r>
          </a:p>
          <a:p>
            <a:pPr algn="ctr" eaLnBrk="1" hangingPunct="1"/>
            <a:r>
              <a:rPr lang="en-US" sz="1100">
                <a:ea typeface="MS PGothic" charset="0"/>
                <a:cs typeface="MS PGothic" charset="0"/>
              </a:rPr>
              <a:t>Nutrient Load </a:t>
            </a:r>
          </a:p>
          <a:p>
            <a:pPr algn="ctr" eaLnBrk="1" hangingPunct="1"/>
            <a:r>
              <a:rPr lang="en-US" sz="1100">
                <a:ea typeface="MS PGothic" charset="0"/>
                <a:cs typeface="MS PGothic" charset="0"/>
              </a:rPr>
              <a:t>Calculation Service </a:t>
            </a:r>
          </a:p>
          <a:p>
            <a:pPr algn="ctr" eaLnBrk="1" hangingPunct="1"/>
            <a:r>
              <a:rPr lang="en-US" sz="1100">
                <a:ea typeface="MS PGothic" charset="0"/>
                <a:cs typeface="MS PGothic" charset="0"/>
              </a:rPr>
              <a:t>(RPS ASA)</a:t>
            </a:r>
          </a:p>
        </p:txBody>
      </p:sp>
      <p:sp>
        <p:nvSpPr>
          <p:cNvPr id="18454" name="Text Box 20"/>
          <p:cNvSpPr txBox="1">
            <a:spLocks noChangeArrowheads="1"/>
          </p:cNvSpPr>
          <p:nvPr/>
        </p:nvSpPr>
        <p:spPr bwMode="auto">
          <a:xfrm>
            <a:off x="5665788" y="3871913"/>
            <a:ext cx="10048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eaLnBrk="1" hangingPunct="1"/>
            <a:r>
              <a:rPr lang="en-US" sz="1100">
                <a:ea typeface="MS PGothic" charset="0"/>
                <a:cs typeface="MS PGothic" charset="0"/>
              </a:rPr>
              <a:t>SOS2/WQX</a:t>
            </a:r>
          </a:p>
          <a:p>
            <a:pPr eaLnBrk="1" hangingPunct="1"/>
            <a:r>
              <a:rPr lang="en-US" sz="1100">
                <a:ea typeface="MS PGothic" charset="0"/>
                <a:cs typeface="MS PGothic" charset="0"/>
              </a:rPr>
              <a:t> (RPS ASA)</a:t>
            </a:r>
          </a:p>
        </p:txBody>
      </p:sp>
      <p:sp>
        <p:nvSpPr>
          <p:cNvPr id="18455" name="Text Box 8"/>
          <p:cNvSpPr txBox="1">
            <a:spLocks noChangeArrowheads="1"/>
          </p:cNvSpPr>
          <p:nvPr/>
        </p:nvSpPr>
        <p:spPr bwMode="auto">
          <a:xfrm>
            <a:off x="5629275" y="5172075"/>
            <a:ext cx="7588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eaLnBrk="1" hangingPunct="1"/>
            <a:r>
              <a:rPr lang="en-US" sz="1100">
                <a:ea typeface="MS PGothic" charset="0"/>
                <a:cs typeface="MS PGothic" charset="0"/>
              </a:rPr>
              <a:t>SPARQL Server</a:t>
            </a:r>
          </a:p>
          <a:p>
            <a:pPr eaLnBrk="1" hangingPunct="1"/>
            <a:r>
              <a:rPr lang="en-US" sz="1100">
                <a:ea typeface="MS PGothic" charset="0"/>
                <a:cs typeface="MS PGothic" charset="0"/>
              </a:rPr>
              <a:t>(NRCan)</a:t>
            </a:r>
          </a:p>
        </p:txBody>
      </p:sp>
      <p:sp>
        <p:nvSpPr>
          <p:cNvPr id="18456" name="Text Box 30"/>
          <p:cNvSpPr txBox="1">
            <a:spLocks noChangeArrowheads="1"/>
          </p:cNvSpPr>
          <p:nvPr/>
        </p:nvSpPr>
        <p:spPr bwMode="auto">
          <a:xfrm>
            <a:off x="7677150" y="3906838"/>
            <a:ext cx="11017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US" sz="1100">
                <a:ea typeface="MS PGothic" charset="0"/>
                <a:cs typeface="MS PGothic" charset="0"/>
              </a:rPr>
              <a:t>Canadian</a:t>
            </a:r>
          </a:p>
          <a:p>
            <a:pPr algn="ctr" eaLnBrk="1" hangingPunct="1"/>
            <a:r>
              <a:rPr lang="en-US" sz="1100">
                <a:ea typeface="MS PGothic" charset="0"/>
                <a:cs typeface="MS PGothic" charset="0"/>
              </a:rPr>
              <a:t>WQ Server</a:t>
            </a:r>
          </a:p>
        </p:txBody>
      </p:sp>
      <p:sp>
        <p:nvSpPr>
          <p:cNvPr id="18457" name="Text Box 29"/>
          <p:cNvSpPr txBox="1">
            <a:spLocks noChangeArrowheads="1"/>
          </p:cNvSpPr>
          <p:nvPr/>
        </p:nvSpPr>
        <p:spPr bwMode="auto">
          <a:xfrm>
            <a:off x="7735888" y="5246688"/>
            <a:ext cx="1003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pPr algn="ctr" eaLnBrk="1" hangingPunct="1"/>
            <a:r>
              <a:rPr lang="en-US" sz="1100">
                <a:ea typeface="MS PGothic" charset="0"/>
                <a:cs typeface="MS PGothic" charset="0"/>
              </a:rPr>
              <a:t>USGS/EPA </a:t>
            </a:r>
          </a:p>
          <a:p>
            <a:pPr algn="ctr" eaLnBrk="1" hangingPunct="1"/>
            <a:r>
              <a:rPr lang="en-US" sz="1100">
                <a:ea typeface="MS PGothic" charset="0"/>
                <a:cs typeface="MS PGothic" charset="0"/>
              </a:rPr>
              <a:t>WQ Server</a:t>
            </a:r>
          </a:p>
        </p:txBody>
      </p:sp>
      <p:cxnSp>
        <p:nvCxnSpPr>
          <p:cNvPr id="29" name="Straight Arrow Connector 28"/>
          <p:cNvCxnSpPr>
            <a:stCxn id="18441" idx="2"/>
            <a:endCxn id="18436" idx="0"/>
          </p:cNvCxnSpPr>
          <p:nvPr/>
        </p:nvCxnSpPr>
        <p:spPr bwMode="auto">
          <a:xfrm flipH="1">
            <a:off x="4572000" y="1806575"/>
            <a:ext cx="4763" cy="1189038"/>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30" name="Straight Arrow Connector 29"/>
          <p:cNvCxnSpPr>
            <a:stCxn id="50" idx="3"/>
            <a:endCxn id="18436" idx="1"/>
          </p:cNvCxnSpPr>
          <p:nvPr/>
        </p:nvCxnSpPr>
        <p:spPr bwMode="auto">
          <a:xfrm>
            <a:off x="3074988" y="3330575"/>
            <a:ext cx="1236662" cy="7938"/>
          </a:xfrm>
          <a:prstGeom prst="straightConnector1">
            <a:avLst/>
          </a:prstGeom>
          <a:noFill/>
          <a:ln w="19050" cap="flat" cmpd="sng" algn="ctr">
            <a:solidFill>
              <a:schemeClr val="tx2">
                <a:lumMod val="75000"/>
                <a:lumOff val="25000"/>
              </a:schemeClr>
            </a:solidFill>
            <a:prstDash val="solid"/>
            <a:round/>
            <a:headEnd type="arrow" w="med" len="lg"/>
            <a:tailEnd type="arrow"/>
          </a:ln>
          <a:effectLst/>
        </p:spPr>
      </p:cxnSp>
      <p:cxnSp>
        <p:nvCxnSpPr>
          <p:cNvPr id="31" name="Straight Arrow Connector 30"/>
          <p:cNvCxnSpPr>
            <a:stCxn id="18440" idx="1"/>
            <a:endCxn id="18436" idx="3"/>
          </p:cNvCxnSpPr>
          <p:nvPr/>
        </p:nvCxnSpPr>
        <p:spPr bwMode="auto">
          <a:xfrm flipH="1">
            <a:off x="4832350" y="1816100"/>
            <a:ext cx="1403350" cy="1522413"/>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32" name="Straight Arrow Connector 31"/>
          <p:cNvCxnSpPr>
            <a:stCxn id="18439" idx="1"/>
            <a:endCxn id="18436" idx="3"/>
          </p:cNvCxnSpPr>
          <p:nvPr/>
        </p:nvCxnSpPr>
        <p:spPr bwMode="auto">
          <a:xfrm flipH="1">
            <a:off x="4832350" y="2563813"/>
            <a:ext cx="2686050" cy="774700"/>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33" name="Straight Arrow Connector 32"/>
          <p:cNvCxnSpPr>
            <a:stCxn id="18438" idx="1"/>
            <a:endCxn id="18436" idx="3"/>
          </p:cNvCxnSpPr>
          <p:nvPr/>
        </p:nvCxnSpPr>
        <p:spPr bwMode="auto">
          <a:xfrm flipH="1" flipV="1">
            <a:off x="4832350" y="3338513"/>
            <a:ext cx="903288" cy="1282700"/>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cxnSp>
        <p:nvCxnSpPr>
          <p:cNvPr id="34" name="Straight Arrow Connector 33"/>
          <p:cNvCxnSpPr>
            <a:stCxn id="18437" idx="3"/>
          </p:cNvCxnSpPr>
          <p:nvPr/>
        </p:nvCxnSpPr>
        <p:spPr bwMode="auto">
          <a:xfrm>
            <a:off x="6257925" y="6108700"/>
            <a:ext cx="549275" cy="12700"/>
          </a:xfrm>
          <a:prstGeom prst="straightConnector1">
            <a:avLst/>
          </a:prstGeom>
          <a:noFill/>
          <a:ln w="19050" cap="flat" cmpd="sng" algn="ctr">
            <a:solidFill>
              <a:schemeClr val="tx2">
                <a:lumMod val="75000"/>
                <a:lumOff val="25000"/>
              </a:schemeClr>
            </a:solidFill>
            <a:prstDash val="sysDash"/>
            <a:round/>
            <a:headEnd type="none" w="med" len="lg"/>
            <a:tailEnd type="arrow"/>
          </a:ln>
          <a:effectLst/>
        </p:spPr>
      </p:cxnSp>
      <p:cxnSp>
        <p:nvCxnSpPr>
          <p:cNvPr id="35" name="Straight Arrow Connector 34"/>
          <p:cNvCxnSpPr>
            <a:endCxn id="18438" idx="3"/>
          </p:cNvCxnSpPr>
          <p:nvPr/>
        </p:nvCxnSpPr>
        <p:spPr bwMode="auto">
          <a:xfrm flipH="1" flipV="1">
            <a:off x="6256338" y="4621213"/>
            <a:ext cx="523875" cy="1587"/>
          </a:xfrm>
          <a:prstGeom prst="straightConnector1">
            <a:avLst/>
          </a:prstGeom>
          <a:noFill/>
          <a:ln w="19050" cap="flat" cmpd="sng" algn="ctr">
            <a:solidFill>
              <a:schemeClr val="tx2">
                <a:lumMod val="75000"/>
                <a:lumOff val="25000"/>
              </a:schemeClr>
            </a:solidFill>
            <a:prstDash val="solid"/>
            <a:round/>
            <a:headEnd type="none" w="med" len="lg"/>
            <a:tailEnd type="arrow"/>
          </a:ln>
          <a:effectLst/>
        </p:spPr>
      </p:cxnSp>
      <p:pic>
        <p:nvPicPr>
          <p:cNvPr id="50" name="Picture 8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73163" y="2163763"/>
            <a:ext cx="1901825" cy="2333625"/>
          </a:xfrm>
          <a:prstGeom prst="rect">
            <a:avLst/>
          </a:prstGeom>
          <a:noFill/>
          <a:ln w="9525">
            <a:solidFill>
              <a:schemeClr val="tx2">
                <a:lumMod val="75000"/>
                <a:lumOff val="25000"/>
              </a:schemeClr>
            </a:solidFill>
            <a:round/>
            <a:headEnd/>
            <a:tailEnd/>
          </a:ln>
          <a:effectLst>
            <a:outerShdw blurRad="127000" dist="127000" dir="2700000" algn="tl" rotWithShape="0">
              <a:srgbClr val="808080"/>
            </a:outerShdw>
          </a:effectLst>
          <a:extLst>
            <a:ext uri="{909E8E84-426E-40dd-AFC4-6F175D3DCCD1}">
              <a14:hiddenFill xmlns:a14="http://schemas.microsoft.com/office/drawing/2010/main">
                <a:blipFill dpi="0" rotWithShape="0">
                  <a:blip/>
                  <a:srcRect/>
                  <a:stretch>
                    <a:fillRect/>
                  </a:stretch>
                </a:blipFill>
              </a14:hiddenFill>
            </a:ext>
          </a:extLst>
        </p:spPr>
      </p:pic>
    </p:spTree>
    <p:extLst>
      <p:ext uri="{BB962C8B-B14F-4D97-AF65-F5344CB8AC3E}">
        <p14:creationId xmlns:p14="http://schemas.microsoft.com/office/powerpoint/2010/main" val="2736810271"/>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pPr>
              <a:defRPr/>
            </a:pPr>
            <a:r>
              <a:rPr lang="en-US" dirty="0" smtClean="0"/>
              <a:t>CHISP-1 Achievements - Summary</a:t>
            </a:r>
            <a:endParaRPr lang="en-US" dirty="0"/>
          </a:p>
        </p:txBody>
      </p:sp>
      <p:sp>
        <p:nvSpPr>
          <p:cNvPr id="16386" name="Content Placeholder 6"/>
          <p:cNvSpPr>
            <a:spLocks noGrp="1"/>
          </p:cNvSpPr>
          <p:nvPr>
            <p:ph idx="1"/>
          </p:nvPr>
        </p:nvSpPr>
        <p:spPr/>
        <p:txBody>
          <a:bodyPr/>
          <a:lstStyle/>
          <a:p>
            <a:r>
              <a:rPr lang="en-US" sz="2000" dirty="0">
                <a:latin typeface="Arial" charset="0"/>
                <a:ea typeface="ＭＳ Ｐゴシック" charset="0"/>
                <a:cs typeface="ＭＳ Ｐゴシック" charset="0"/>
              </a:rPr>
              <a:t>System Functionality</a:t>
            </a:r>
          </a:p>
          <a:p>
            <a:pPr lvl="1"/>
            <a:r>
              <a:rPr lang="en-US" sz="1600" dirty="0">
                <a:latin typeface="Arial" charset="0"/>
                <a:ea typeface="ＭＳ Ｐゴシック" charset="0"/>
              </a:rPr>
              <a:t>US-Canada cross-border upstream flood monitoring &amp; alerting</a:t>
            </a:r>
          </a:p>
          <a:p>
            <a:pPr lvl="1"/>
            <a:r>
              <a:rPr lang="en-US" sz="1600" dirty="0">
                <a:latin typeface="Arial" charset="0"/>
                <a:ea typeface="ＭＳ Ｐゴシック" charset="0"/>
              </a:rPr>
              <a:t>US-Canada Great Lakes nutrient load calculation using cross-border national datasets</a:t>
            </a:r>
          </a:p>
          <a:p>
            <a:r>
              <a:rPr lang="en-US" sz="2000" dirty="0">
                <a:latin typeface="Arial" charset="0"/>
                <a:ea typeface="ＭＳ Ｐゴシック" charset="0"/>
                <a:cs typeface="ＭＳ Ｐゴシック" charset="0"/>
              </a:rPr>
              <a:t>System architecture</a:t>
            </a:r>
          </a:p>
          <a:p>
            <a:pPr lvl="1"/>
            <a:r>
              <a:rPr lang="en-US" sz="1600" dirty="0">
                <a:latin typeface="Arial" charset="0"/>
                <a:ea typeface="ＭＳ Ｐゴシック" charset="0"/>
              </a:rPr>
              <a:t>OGC Standards-based technology components and data formats utilized for </a:t>
            </a:r>
            <a:r>
              <a:rPr lang="en-US" sz="1600" dirty="0" smtClean="0">
                <a:latin typeface="Arial" charset="0"/>
                <a:ea typeface="ＭＳ Ｐゴシック" charset="0"/>
              </a:rPr>
              <a:t>international </a:t>
            </a:r>
            <a:r>
              <a:rPr lang="en-US" sz="1600" dirty="0">
                <a:latin typeface="Arial" charset="0"/>
                <a:ea typeface="ＭＳ Ｐゴシック" charset="0"/>
              </a:rPr>
              <a:t>cross-border water </a:t>
            </a:r>
            <a:r>
              <a:rPr lang="en-US" sz="1600" dirty="0" smtClean="0">
                <a:latin typeface="Arial" charset="0"/>
                <a:ea typeface="ＭＳ Ｐゴシック" charset="0"/>
              </a:rPr>
              <a:t>resources </a:t>
            </a:r>
            <a:r>
              <a:rPr lang="en-US" sz="1600" dirty="0">
                <a:latin typeface="Arial" charset="0"/>
                <a:ea typeface="ＭＳ Ｐゴシック" charset="0"/>
              </a:rPr>
              <a:t>management</a:t>
            </a:r>
          </a:p>
          <a:p>
            <a:pPr lvl="1"/>
            <a:r>
              <a:rPr lang="en-US" sz="1600" dirty="0">
                <a:latin typeface="Arial" charset="0"/>
                <a:ea typeface="ＭＳ Ｐゴシック" charset="0"/>
              </a:rPr>
              <a:t>OGC </a:t>
            </a:r>
            <a:r>
              <a:rPr lang="en-US" sz="1600" dirty="0" err="1">
                <a:latin typeface="Arial" charset="0"/>
                <a:ea typeface="ＭＳ Ｐゴシック" charset="0"/>
              </a:rPr>
              <a:t>WaterML</a:t>
            </a:r>
            <a:r>
              <a:rPr lang="en-US" sz="1600" dirty="0">
                <a:latin typeface="Arial" charset="0"/>
                <a:ea typeface="ＭＳ Ｐゴシック" charset="0"/>
              </a:rPr>
              <a:t> 2.0 standard used for encoding and retrieval of time-series water observations</a:t>
            </a:r>
          </a:p>
          <a:p>
            <a:pPr lvl="1"/>
            <a:r>
              <a:rPr lang="en-US" sz="1600" dirty="0">
                <a:latin typeface="Arial" charset="0"/>
                <a:ea typeface="ＭＳ Ｐゴシック" charset="0"/>
              </a:rPr>
              <a:t>OGC CSW catalog used for storage and update </a:t>
            </a:r>
            <a:r>
              <a:rPr lang="en-US" sz="1600" dirty="0" smtClean="0">
                <a:latin typeface="Arial" charset="0"/>
                <a:ea typeface="ＭＳ Ｐゴシック" charset="0"/>
              </a:rPr>
              <a:t>of last-value </a:t>
            </a:r>
            <a:r>
              <a:rPr lang="en-US" sz="1600" dirty="0">
                <a:latin typeface="Arial" charset="0"/>
                <a:ea typeface="ＭＳ Ｐゴシック" charset="0"/>
              </a:rPr>
              <a:t>SOS time-series data encoded in </a:t>
            </a:r>
            <a:r>
              <a:rPr lang="en-US" sz="1600" dirty="0" err="1">
                <a:latin typeface="Arial" charset="0"/>
                <a:ea typeface="ＭＳ Ｐゴシック" charset="0"/>
              </a:rPr>
              <a:t>WaterML</a:t>
            </a:r>
            <a:r>
              <a:rPr lang="en-US" sz="1600" dirty="0">
                <a:latin typeface="Arial" charset="0"/>
                <a:ea typeface="ＭＳ Ｐゴシック" charset="0"/>
              </a:rPr>
              <a:t> 2.0 to monitor for potential flood event thresholds.</a:t>
            </a:r>
          </a:p>
          <a:p>
            <a:r>
              <a:rPr lang="en-US" sz="2000" dirty="0">
                <a:latin typeface="Arial" charset="0"/>
                <a:ea typeface="ＭＳ Ｐゴシック" charset="0"/>
                <a:cs typeface="ＭＳ Ｐゴシック" charset="0"/>
              </a:rPr>
              <a:t>SOS Profile and Implementation practices</a:t>
            </a:r>
          </a:p>
          <a:p>
            <a:pPr lvl="1"/>
            <a:r>
              <a:rPr lang="en-US" sz="1600" dirty="0">
                <a:latin typeface="Arial" charset="0"/>
                <a:ea typeface="ＭＳ Ｐゴシック" charset="0"/>
              </a:rPr>
              <a:t>Created and implemented an SOS profile for surface and subsurface water domains serving </a:t>
            </a:r>
            <a:r>
              <a:rPr lang="en-US" sz="1600" dirty="0" err="1">
                <a:latin typeface="Arial" charset="0"/>
                <a:ea typeface="ＭＳ Ｐゴシック" charset="0"/>
              </a:rPr>
              <a:t>WaterML</a:t>
            </a:r>
            <a:r>
              <a:rPr lang="en-US" sz="1600" dirty="0">
                <a:latin typeface="Arial" charset="0"/>
                <a:ea typeface="ＭＳ Ｐゴシック" charset="0"/>
              </a:rPr>
              <a:t> 2.0 encoded data</a:t>
            </a:r>
          </a:p>
          <a:p>
            <a:pPr lvl="1"/>
            <a:r>
              <a:rPr lang="en-US" sz="1600" dirty="0">
                <a:latin typeface="Arial" charset="0"/>
                <a:ea typeface="ＭＳ Ｐゴシック" charset="0"/>
              </a:rPr>
              <a:t>SOS profile adaptations for handling massive stream and groundwater sensor networks</a:t>
            </a:r>
          </a:p>
          <a:p>
            <a:pPr lvl="1"/>
            <a:r>
              <a:rPr lang="en-US" sz="1600" dirty="0">
                <a:latin typeface="Arial" charset="0"/>
                <a:ea typeface="ＭＳ Ｐゴシック" charset="0"/>
              </a:rPr>
              <a:t>Adaptations to handle large numbers of measured water quality parameters using existing open standards.</a:t>
            </a:r>
          </a:p>
          <a:p>
            <a:endParaRPr lang="en-US" sz="2000" dirty="0">
              <a:latin typeface="Arial" charset="0"/>
              <a:ea typeface="ＭＳ Ｐゴシック" charset="0"/>
              <a:cs typeface="ＭＳ Ｐゴシック" charset="0"/>
            </a:endParaRPr>
          </a:p>
        </p:txBody>
      </p:sp>
      <p:sp>
        <p:nvSpPr>
          <p:cNvPr id="16387" name="Footer Placeholder 1"/>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r>
              <a:rPr lang="en-US" sz="900" b="0">
                <a:solidFill>
                  <a:srgbClr val="092E5C"/>
                </a:solidFill>
                <a:latin typeface="Arial" charset="0"/>
                <a:cs typeface="Arial" charset="0"/>
              </a:rPr>
              <a:t>© 2012 Open Geospatial Consortium</a:t>
            </a:r>
          </a:p>
        </p:txBody>
      </p:sp>
      <p:sp>
        <p:nvSpPr>
          <p:cNvPr id="16388"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charset="0"/>
                <a:ea typeface="ＭＳ Ｐゴシック" charset="0"/>
                <a:cs typeface="ＭＳ Ｐゴシック" charset="0"/>
              </a:defRPr>
            </a:lvl1pPr>
            <a:lvl2pPr marL="742950" indent="-285750" eaLnBrk="0" hangingPunct="0">
              <a:defRPr sz="1000" b="1">
                <a:solidFill>
                  <a:schemeClr val="tx1"/>
                </a:solidFill>
                <a:latin typeface="CG Times" charset="0"/>
                <a:ea typeface="ＭＳ Ｐゴシック" charset="0"/>
              </a:defRPr>
            </a:lvl2pPr>
            <a:lvl3pPr marL="1143000" indent="-228600" eaLnBrk="0" hangingPunct="0">
              <a:defRPr sz="1000" b="1">
                <a:solidFill>
                  <a:schemeClr val="tx1"/>
                </a:solidFill>
                <a:latin typeface="CG Times" charset="0"/>
                <a:ea typeface="ＭＳ Ｐゴシック" charset="0"/>
              </a:defRPr>
            </a:lvl3pPr>
            <a:lvl4pPr marL="1600200" indent="-228600" eaLnBrk="0" hangingPunct="0">
              <a:defRPr sz="1000" b="1">
                <a:solidFill>
                  <a:schemeClr val="tx1"/>
                </a:solidFill>
                <a:latin typeface="CG Times" charset="0"/>
                <a:ea typeface="ＭＳ Ｐゴシック" charset="0"/>
              </a:defRPr>
            </a:lvl4pPr>
            <a:lvl5pPr marL="2057400" indent="-228600" eaLnBrk="0" hangingPunct="0">
              <a:defRPr sz="1000" b="1">
                <a:solidFill>
                  <a:schemeClr val="tx1"/>
                </a:solidFill>
                <a:latin typeface="CG Times" charset="0"/>
                <a:ea typeface="ＭＳ Ｐゴシック" charset="0"/>
              </a:defRPr>
            </a:lvl5pPr>
            <a:lvl6pPr marL="2514600" indent="-228600" eaLnBrk="0" fontAlgn="base" hangingPunct="0">
              <a:spcBef>
                <a:spcPct val="0"/>
              </a:spcBef>
              <a:spcAft>
                <a:spcPct val="0"/>
              </a:spcAft>
              <a:defRPr sz="1000" b="1">
                <a:solidFill>
                  <a:schemeClr val="tx1"/>
                </a:solidFill>
                <a:latin typeface="CG Times" charset="0"/>
                <a:ea typeface="ＭＳ Ｐゴシック" charset="0"/>
              </a:defRPr>
            </a:lvl6pPr>
            <a:lvl7pPr marL="2971800" indent="-228600" eaLnBrk="0" fontAlgn="base" hangingPunct="0">
              <a:spcBef>
                <a:spcPct val="0"/>
              </a:spcBef>
              <a:spcAft>
                <a:spcPct val="0"/>
              </a:spcAft>
              <a:defRPr sz="1000" b="1">
                <a:solidFill>
                  <a:schemeClr val="tx1"/>
                </a:solidFill>
                <a:latin typeface="CG Times" charset="0"/>
                <a:ea typeface="ＭＳ Ｐゴシック" charset="0"/>
              </a:defRPr>
            </a:lvl7pPr>
            <a:lvl8pPr marL="3429000" indent="-228600" eaLnBrk="0" fontAlgn="base" hangingPunct="0">
              <a:spcBef>
                <a:spcPct val="0"/>
              </a:spcBef>
              <a:spcAft>
                <a:spcPct val="0"/>
              </a:spcAft>
              <a:defRPr sz="1000" b="1">
                <a:solidFill>
                  <a:schemeClr val="tx1"/>
                </a:solidFill>
                <a:latin typeface="CG Times" charset="0"/>
                <a:ea typeface="ＭＳ Ｐゴシック" charset="0"/>
              </a:defRPr>
            </a:lvl8pPr>
            <a:lvl9pPr marL="3886200" indent="-228600" eaLnBrk="0" fontAlgn="base" hangingPunct="0">
              <a:spcBef>
                <a:spcPct val="0"/>
              </a:spcBef>
              <a:spcAft>
                <a:spcPct val="0"/>
              </a:spcAft>
              <a:defRPr sz="1000" b="1">
                <a:solidFill>
                  <a:schemeClr val="tx1"/>
                </a:solidFill>
                <a:latin typeface="CG Times" charset="0"/>
                <a:ea typeface="ＭＳ Ｐゴシック" charset="0"/>
              </a:defRPr>
            </a:lvl9pPr>
          </a:lstStyle>
          <a:p>
            <a:fld id="{DCA6173E-938B-2449-9A11-110841AFB6EF}" type="slidenum">
              <a:rPr lang="en-US" sz="900" b="0">
                <a:solidFill>
                  <a:srgbClr val="092E5C"/>
                </a:solidFill>
                <a:latin typeface="Arial" charset="0"/>
                <a:cs typeface="Arial" charset="0"/>
              </a:rPr>
              <a:pPr/>
              <a:t>6</a:t>
            </a:fld>
            <a:endParaRPr lang="en-US" sz="900" b="0">
              <a:solidFill>
                <a:srgbClr val="092E5C"/>
              </a:solidFill>
              <a:latin typeface="Arial" charset="0"/>
              <a:cs typeface="Arial" charset="0"/>
            </a:endParaRPr>
          </a:p>
        </p:txBody>
      </p:sp>
    </p:spTree>
    <p:extLst>
      <p:ext uri="{BB962C8B-B14F-4D97-AF65-F5344CB8AC3E}">
        <p14:creationId xmlns:p14="http://schemas.microsoft.com/office/powerpoint/2010/main" val="2948977600"/>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Technical Achievements - Details</a:t>
            </a:r>
            <a:r>
              <a:rPr lang="en-US" dirty="0"/>
              <a:t/>
            </a:r>
            <a:br>
              <a:rPr lang="en-US" dirty="0"/>
            </a:br>
            <a:endParaRPr lang="en-US" dirty="0"/>
          </a:p>
        </p:txBody>
      </p:sp>
      <p:sp>
        <p:nvSpPr>
          <p:cNvPr id="3" name="Content Placeholder 2"/>
          <p:cNvSpPr>
            <a:spLocks noGrp="1"/>
          </p:cNvSpPr>
          <p:nvPr>
            <p:ph idx="1"/>
          </p:nvPr>
        </p:nvSpPr>
        <p:spPr>
          <a:xfrm>
            <a:off x="457200" y="1143000"/>
            <a:ext cx="8229600" cy="4525963"/>
          </a:xfrm>
        </p:spPr>
        <p:txBody>
          <a:bodyPr>
            <a:normAutofit/>
          </a:bodyPr>
          <a:lstStyle/>
          <a:p>
            <a:r>
              <a:rPr lang="en-US" dirty="0" smtClean="0"/>
              <a:t>Map-based subscription web client</a:t>
            </a:r>
          </a:p>
          <a:p>
            <a:pPr lvl="1"/>
            <a:r>
              <a:rPr lang="en-US" dirty="0" smtClean="0"/>
              <a:t>Integrated display of cross-border </a:t>
            </a:r>
            <a:r>
              <a:rPr lang="en-US" dirty="0" err="1" smtClean="0"/>
              <a:t>streamflow</a:t>
            </a:r>
            <a:r>
              <a:rPr lang="en-US" dirty="0" smtClean="0"/>
              <a:t>, groundwater and water level information</a:t>
            </a:r>
          </a:p>
          <a:p>
            <a:pPr lvl="1"/>
            <a:r>
              <a:rPr lang="en-US" dirty="0" smtClean="0"/>
              <a:t>Subscription and Notification capabilities and interfaces (CAP and MASAS)</a:t>
            </a:r>
          </a:p>
          <a:p>
            <a:r>
              <a:rPr lang="en-US" dirty="0" smtClean="0"/>
              <a:t>CSW (Python Implementation)</a:t>
            </a:r>
          </a:p>
          <a:p>
            <a:r>
              <a:rPr lang="en-US" dirty="0" smtClean="0"/>
              <a:t>SOS </a:t>
            </a:r>
            <a:r>
              <a:rPr lang="en-US" dirty="0" err="1" smtClean="0"/>
              <a:t>GetDataAvailability</a:t>
            </a:r>
            <a:endParaRPr lang="en-US" dirty="0" smtClean="0"/>
          </a:p>
          <a:p>
            <a:r>
              <a:rPr lang="en-US" dirty="0" smtClean="0"/>
              <a:t>Notification broker </a:t>
            </a:r>
          </a:p>
          <a:p>
            <a:r>
              <a:rPr lang="en-US" dirty="0" smtClean="0"/>
              <a:t>Harvester method</a:t>
            </a:r>
            <a:endParaRPr lang="en-US" dirty="0"/>
          </a:p>
          <a:p>
            <a:r>
              <a:rPr lang="en-US" dirty="0" smtClean="0"/>
              <a:t>CAP </a:t>
            </a:r>
            <a:r>
              <a:rPr lang="en-US" dirty="0"/>
              <a:t>alert </a:t>
            </a:r>
            <a:r>
              <a:rPr lang="en-US" dirty="0" smtClean="0"/>
              <a:t>client for Multi-Agency Situational Awareness System (MASAS)</a:t>
            </a:r>
            <a:endParaRPr lang="en-US" dirty="0"/>
          </a:p>
          <a:p>
            <a:endParaRPr lang="en-US" dirty="0"/>
          </a:p>
        </p:txBody>
      </p:sp>
    </p:spTree>
    <p:extLst>
      <p:ext uri="{BB962C8B-B14F-4D97-AF65-F5344CB8AC3E}">
        <p14:creationId xmlns:p14="http://schemas.microsoft.com/office/powerpoint/2010/main" val="2606806732"/>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Technical Achievements - Details</a:t>
            </a:r>
            <a:r>
              <a:rPr lang="en-US" dirty="0"/>
              <a:t/>
            </a:r>
            <a:br>
              <a:rPr lang="en-US" dirty="0"/>
            </a:br>
            <a:endParaRPr lang="en-US" dirty="0"/>
          </a:p>
        </p:txBody>
      </p:sp>
      <p:sp>
        <p:nvSpPr>
          <p:cNvPr id="3" name="Content Placeholder 2"/>
          <p:cNvSpPr>
            <a:spLocks noGrp="1"/>
          </p:cNvSpPr>
          <p:nvPr>
            <p:ph idx="1"/>
          </p:nvPr>
        </p:nvSpPr>
        <p:spPr>
          <a:xfrm>
            <a:off x="457200" y="1143000"/>
            <a:ext cx="8229600" cy="4525963"/>
          </a:xfrm>
        </p:spPr>
        <p:txBody>
          <a:bodyPr>
            <a:normAutofit/>
          </a:bodyPr>
          <a:lstStyle/>
          <a:p>
            <a:r>
              <a:rPr lang="en-US" dirty="0" smtClean="0"/>
              <a:t>Web-based NLCS client</a:t>
            </a:r>
          </a:p>
          <a:p>
            <a:r>
              <a:rPr lang="en-US" dirty="0" smtClean="0"/>
              <a:t>SOS </a:t>
            </a:r>
            <a:r>
              <a:rPr lang="en-US" dirty="0"/>
              <a:t>facade on existing non-OGC sources of water quality </a:t>
            </a:r>
            <a:r>
              <a:rPr lang="en-US" dirty="0" smtClean="0"/>
              <a:t>information</a:t>
            </a:r>
          </a:p>
          <a:p>
            <a:r>
              <a:rPr lang="en-US" dirty="0" smtClean="0"/>
              <a:t>Indexing service</a:t>
            </a:r>
          </a:p>
          <a:p>
            <a:r>
              <a:rPr lang="en-US" dirty="0" smtClean="0"/>
              <a:t>Nutrient load calculation service (WPS)</a:t>
            </a:r>
          </a:p>
          <a:p>
            <a:r>
              <a:rPr lang="en-US" dirty="0" smtClean="0"/>
              <a:t>Upstream gauges/wells (WPS)</a:t>
            </a:r>
            <a:endParaRPr lang="en-US" dirty="0"/>
          </a:p>
          <a:p>
            <a:r>
              <a:rPr lang="en-US" dirty="0" smtClean="0"/>
              <a:t>SPARQL server for mediation of </a:t>
            </a:r>
            <a:r>
              <a:rPr lang="en-US" dirty="0" err="1" smtClean="0"/>
              <a:t>analyte</a:t>
            </a:r>
            <a:r>
              <a:rPr lang="en-US" dirty="0" smtClean="0"/>
              <a:t> vocabularies </a:t>
            </a:r>
            <a:endParaRPr lang="en-US" dirty="0"/>
          </a:p>
        </p:txBody>
      </p:sp>
    </p:spTree>
    <p:extLst>
      <p:ext uri="{BB962C8B-B14F-4D97-AF65-F5344CB8AC3E}">
        <p14:creationId xmlns:p14="http://schemas.microsoft.com/office/powerpoint/2010/main" val="847758811"/>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Technical Challenges</a:t>
            </a:r>
            <a:r>
              <a:rPr lang="en-US" dirty="0"/>
              <a:t/>
            </a:r>
            <a:br>
              <a:rPr lang="en-US" dirty="0"/>
            </a:br>
            <a:endParaRPr lang="en-US" dirty="0"/>
          </a:p>
        </p:txBody>
      </p:sp>
      <p:sp>
        <p:nvSpPr>
          <p:cNvPr id="3" name="Content Placeholder 2"/>
          <p:cNvSpPr>
            <a:spLocks noGrp="1"/>
          </p:cNvSpPr>
          <p:nvPr>
            <p:ph idx="1"/>
          </p:nvPr>
        </p:nvSpPr>
        <p:spPr>
          <a:xfrm>
            <a:off x="457200" y="1441848"/>
            <a:ext cx="8229600" cy="4525963"/>
          </a:xfrm>
        </p:spPr>
        <p:txBody>
          <a:bodyPr>
            <a:noAutofit/>
          </a:bodyPr>
          <a:lstStyle/>
          <a:p>
            <a:r>
              <a:rPr lang="en-US" sz="1800" dirty="0" smtClean="0"/>
              <a:t>Service performance and stability</a:t>
            </a:r>
          </a:p>
          <a:p>
            <a:pPr lvl="1"/>
            <a:r>
              <a:rPr lang="en-US" sz="1400" dirty="0" smtClean="0"/>
              <a:t>Required use of robust error handling to mitigate</a:t>
            </a:r>
          </a:p>
          <a:p>
            <a:r>
              <a:rPr lang="en-US" sz="1800" dirty="0" smtClean="0"/>
              <a:t>Large networks of sensors are not sufficiently supported in SOS standard</a:t>
            </a:r>
          </a:p>
          <a:p>
            <a:pPr lvl="1"/>
            <a:r>
              <a:rPr lang="en-US" sz="1400" dirty="0" smtClean="0"/>
              <a:t>Listing of procedures and features of interest not manageable</a:t>
            </a:r>
            <a:endParaRPr lang="en-US" sz="1400" dirty="0"/>
          </a:p>
          <a:p>
            <a:r>
              <a:rPr lang="en-US" sz="1800" dirty="0" smtClean="0"/>
              <a:t>Catalogue implementation issues</a:t>
            </a:r>
          </a:p>
          <a:p>
            <a:pPr lvl="1"/>
            <a:r>
              <a:rPr lang="en-US" sz="1400" dirty="0" smtClean="0"/>
              <a:t>Selected alternative service implementation</a:t>
            </a:r>
          </a:p>
          <a:p>
            <a:r>
              <a:rPr lang="en-US" sz="1800" dirty="0" smtClean="0"/>
              <a:t>SPARQL server</a:t>
            </a:r>
          </a:p>
          <a:p>
            <a:pPr lvl="1"/>
            <a:r>
              <a:rPr lang="en-US" sz="1400" dirty="0" smtClean="0"/>
              <a:t>deployed but not populated due to resource constraints</a:t>
            </a:r>
          </a:p>
          <a:p>
            <a:r>
              <a:rPr lang="en-US" sz="1800" dirty="0" smtClean="0"/>
              <a:t>Data and software issues implementing NLC model</a:t>
            </a:r>
          </a:p>
          <a:p>
            <a:pPr lvl="1"/>
            <a:r>
              <a:rPr lang="en-US" sz="1400" dirty="0" smtClean="0"/>
              <a:t>Open source calculation model exhibited bugs; insufficient data for cross-border nutrients information</a:t>
            </a:r>
          </a:p>
          <a:p>
            <a:r>
              <a:rPr lang="en-US" sz="1800" dirty="0" smtClean="0"/>
              <a:t>Harvester module issues</a:t>
            </a:r>
          </a:p>
          <a:p>
            <a:pPr lvl="1"/>
            <a:r>
              <a:rPr lang="en-US" sz="1400" dirty="0" smtClean="0"/>
              <a:t>Performance issues with back-end services; used robust error handling to mitigate</a:t>
            </a:r>
          </a:p>
          <a:p>
            <a:r>
              <a:rPr lang="en-US" sz="1800" dirty="0" smtClean="0"/>
              <a:t>GDA extension for SOS</a:t>
            </a:r>
          </a:p>
          <a:p>
            <a:pPr lvl="1"/>
            <a:r>
              <a:rPr lang="en-US" sz="1400" dirty="0" smtClean="0"/>
              <a:t>Implemented enhancement to GDA; however, not merged with Sponsor code base awaiting database migration scripts between 52North database versions</a:t>
            </a:r>
          </a:p>
        </p:txBody>
      </p:sp>
    </p:spTree>
    <p:extLst>
      <p:ext uri="{BB962C8B-B14F-4D97-AF65-F5344CB8AC3E}">
        <p14:creationId xmlns:p14="http://schemas.microsoft.com/office/powerpoint/2010/main" val="1207298186"/>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defRPr/>
            </a:pPr>
            <a:r>
              <a:rPr lang="en-US" dirty="0" smtClean="0">
                <a:effectLst>
                  <a:outerShdw blurRad="38100" dist="38100" dir="2700000" algn="tl">
                    <a:srgbClr val="DDDDDD"/>
                  </a:outerShdw>
                </a:effectLst>
                <a:latin typeface="Arial" charset="0"/>
                <a:ea typeface="MS PGothic" charset="0"/>
              </a:rPr>
              <a:t>CHISP-1 </a:t>
            </a:r>
            <a:r>
              <a:rPr lang="en-US" dirty="0" smtClean="0">
                <a:effectLst>
                  <a:outerShdw blurRad="38100" dist="38100" dir="2700000" algn="tl">
                    <a:srgbClr val="DDDDDD"/>
                  </a:outerShdw>
                </a:effectLst>
                <a:latin typeface="Arial" charset="0"/>
                <a:ea typeface="MS PGothic" charset="0"/>
              </a:rPr>
              <a:t>ER </a:t>
            </a:r>
            <a:r>
              <a:rPr lang="en-US" dirty="0" smtClean="0">
                <a:effectLst>
                  <a:outerShdw blurRad="38100" dist="38100" dir="2700000" algn="tl">
                    <a:srgbClr val="DDDDDD"/>
                  </a:outerShdw>
                </a:effectLst>
                <a:latin typeface="Arial" charset="0"/>
                <a:ea typeface="MS PGothic" charset="0"/>
              </a:rPr>
              <a:t>&amp; Motion</a:t>
            </a:r>
            <a:endParaRPr lang="en-US" dirty="0">
              <a:cs typeface="+mj-cs"/>
            </a:endParaRPr>
          </a:p>
        </p:txBody>
      </p:sp>
      <p:sp>
        <p:nvSpPr>
          <p:cNvPr id="15362" name="Inhaltsplatzhalter 2"/>
          <p:cNvSpPr>
            <a:spLocks noGrp="1"/>
          </p:cNvSpPr>
          <p:nvPr>
            <p:ph idx="1"/>
          </p:nvPr>
        </p:nvSpPr>
        <p:spPr/>
        <p:txBody>
          <a:bodyPr/>
          <a:lstStyle/>
          <a:p>
            <a:r>
              <a:rPr lang="en-US" dirty="0" smtClean="0">
                <a:latin typeface="Arial" charset="0"/>
                <a:ea typeface="MS PGothic" charset="0"/>
              </a:rPr>
              <a:t>13-053r1 - CHISP-1 Engineering Report on pending:</a:t>
            </a:r>
          </a:p>
          <a:p>
            <a:pPr marL="336550" lvl="1" indent="0">
              <a:buNone/>
            </a:pPr>
            <a:r>
              <a:rPr lang="en-US" dirty="0" smtClean="0">
                <a:latin typeface="Arial" charset="0"/>
                <a:ea typeface="MS PGothic" charset="0"/>
                <a:hlinkClick r:id="rId2"/>
              </a:rPr>
              <a:t>https://portal.opengeospatial.org/files/?artifact_id=55244&amp;version=1</a:t>
            </a:r>
            <a:endParaRPr lang="en-US" dirty="0" smtClean="0">
              <a:latin typeface="Arial" charset="0"/>
              <a:ea typeface="MS PGothic" charset="0"/>
            </a:endParaRPr>
          </a:p>
          <a:p>
            <a:endParaRPr lang="en-US" dirty="0">
              <a:latin typeface="Arial" charset="0"/>
              <a:ea typeface="MS PGothic" charset="0"/>
            </a:endParaRPr>
          </a:p>
          <a:p>
            <a:r>
              <a:rPr lang="en-US" dirty="0" smtClean="0">
                <a:latin typeface="Arial" charset="0"/>
                <a:ea typeface="MS PGothic" charset="0"/>
              </a:rPr>
              <a:t>The Hydrology DWG </a:t>
            </a:r>
            <a:r>
              <a:rPr lang="en-US" dirty="0">
                <a:latin typeface="Arial" charset="0"/>
                <a:ea typeface="MS PGothic" charset="0"/>
              </a:rPr>
              <a:t>recommends that the OGC Technical Committee approve release of </a:t>
            </a:r>
            <a:r>
              <a:rPr lang="en-US" dirty="0" smtClean="0">
                <a:latin typeface="Arial" charset="0"/>
                <a:ea typeface="MS PGothic" charset="0"/>
              </a:rPr>
              <a:t>OGC 13-053r1, CHISP-1 Engineering Report </a:t>
            </a:r>
            <a:r>
              <a:rPr lang="en-US" altLang="ja-JP" dirty="0" smtClean="0">
                <a:latin typeface="Arial" charset="0"/>
                <a:ea typeface="MS PGothic" charset="0"/>
              </a:rPr>
              <a:t>as </a:t>
            </a:r>
            <a:r>
              <a:rPr lang="en-US" altLang="ja-JP" dirty="0">
                <a:latin typeface="Arial" charset="0"/>
                <a:ea typeface="MS PGothic" charset="0"/>
              </a:rPr>
              <a:t>an OGC </a:t>
            </a:r>
            <a:r>
              <a:rPr lang="en-US" altLang="ja-JP" dirty="0" smtClean="0">
                <a:latin typeface="Arial" charset="0"/>
                <a:ea typeface="MS PGothic" charset="0"/>
              </a:rPr>
              <a:t>Public Engineering </a:t>
            </a:r>
            <a:r>
              <a:rPr lang="en-US" altLang="ja-JP" dirty="0">
                <a:latin typeface="Arial" charset="0"/>
                <a:ea typeface="MS PGothic" charset="0"/>
              </a:rPr>
              <a:t>Report</a:t>
            </a:r>
          </a:p>
          <a:p>
            <a:pPr lvl="1"/>
            <a:r>
              <a:rPr lang="en-US" dirty="0">
                <a:latin typeface="Arial" charset="0"/>
                <a:ea typeface="MS PGothic" charset="0"/>
              </a:rPr>
              <a:t>Pending and final edits and review by OGC staff</a:t>
            </a:r>
          </a:p>
          <a:p>
            <a:pPr lvl="1"/>
            <a:r>
              <a:rPr lang="en-US" dirty="0">
                <a:latin typeface="Arial" charset="0"/>
                <a:ea typeface="MS PGothic" charset="0"/>
              </a:rPr>
              <a:t>Motion</a:t>
            </a:r>
            <a:r>
              <a:rPr lang="en-US" dirty="0" smtClean="0">
                <a:latin typeface="Arial" charset="0"/>
                <a:ea typeface="MS PGothic" charset="0"/>
              </a:rPr>
              <a:t>: Simon Cox</a:t>
            </a:r>
            <a:endParaRPr lang="en-US" dirty="0">
              <a:latin typeface="Arial" charset="0"/>
              <a:ea typeface="MS PGothic" charset="0"/>
            </a:endParaRPr>
          </a:p>
          <a:p>
            <a:pPr lvl="1"/>
            <a:r>
              <a:rPr lang="en-US" dirty="0">
                <a:latin typeface="Arial" charset="0"/>
                <a:ea typeface="MS PGothic" charset="0"/>
              </a:rPr>
              <a:t>Second: </a:t>
            </a:r>
            <a:r>
              <a:rPr lang="en-US" dirty="0" err="1" smtClean="0">
                <a:latin typeface="Arial" charset="0"/>
                <a:ea typeface="MS PGothic" charset="0"/>
              </a:rPr>
              <a:t>Uli</a:t>
            </a:r>
            <a:r>
              <a:rPr lang="en-US" dirty="0" smtClean="0">
                <a:latin typeface="Arial" charset="0"/>
                <a:ea typeface="MS PGothic" charset="0"/>
              </a:rPr>
              <a:t> Looser</a:t>
            </a:r>
          </a:p>
          <a:p>
            <a:pPr lvl="1"/>
            <a:r>
              <a:rPr lang="en-US" dirty="0" smtClean="0">
                <a:latin typeface="Arial" charset="0"/>
                <a:ea typeface="MS PGothic" charset="0"/>
              </a:rPr>
              <a:t>Vote: approved by unanimous consent</a:t>
            </a:r>
            <a:endParaRPr lang="en-US" dirty="0">
              <a:latin typeface="Arial" charset="0"/>
              <a:ea typeface="MS PGothic" charset="0"/>
            </a:endParaRPr>
          </a:p>
          <a:p>
            <a:pPr lvl="1"/>
            <a:endParaRPr lang="en-US" dirty="0">
              <a:latin typeface="Arial" charset="0"/>
              <a:ea typeface="MS PGothic" charset="0"/>
            </a:endParaRPr>
          </a:p>
        </p:txBody>
      </p:sp>
      <p:sp>
        <p:nvSpPr>
          <p:cNvPr id="15363" name="Fußzeilenplatzhalt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charset="0"/>
                <a:ea typeface="MS PGothic" charset="0"/>
                <a:cs typeface="MS PGothic" charset="0"/>
              </a:defRPr>
            </a:lvl1pPr>
            <a:lvl2pPr marL="742950" indent="-285750" eaLnBrk="0" hangingPunct="0">
              <a:defRPr sz="1000" b="1">
                <a:solidFill>
                  <a:schemeClr val="tx1"/>
                </a:solidFill>
                <a:latin typeface="CG Times" charset="0"/>
                <a:ea typeface="MS PGothic" charset="0"/>
                <a:cs typeface="MS PGothic" charset="0"/>
              </a:defRPr>
            </a:lvl2pPr>
            <a:lvl3pPr marL="1143000" indent="-228600" eaLnBrk="0" hangingPunct="0">
              <a:defRPr sz="1000" b="1">
                <a:solidFill>
                  <a:schemeClr val="tx1"/>
                </a:solidFill>
                <a:latin typeface="CG Times" charset="0"/>
                <a:ea typeface="MS PGothic" charset="0"/>
                <a:cs typeface="MS PGothic" charset="0"/>
              </a:defRPr>
            </a:lvl3pPr>
            <a:lvl4pPr marL="1600200" indent="-228600" eaLnBrk="0" hangingPunct="0">
              <a:defRPr sz="1000" b="1">
                <a:solidFill>
                  <a:schemeClr val="tx1"/>
                </a:solidFill>
                <a:latin typeface="CG Times" charset="0"/>
                <a:ea typeface="MS PGothic" charset="0"/>
                <a:cs typeface="MS PGothic" charset="0"/>
              </a:defRPr>
            </a:lvl4pPr>
            <a:lvl5pPr marL="2057400" indent="-228600" eaLnBrk="0" hangingPunct="0">
              <a:defRPr sz="1000" b="1">
                <a:solidFill>
                  <a:schemeClr val="tx1"/>
                </a:solidFill>
                <a:latin typeface="CG Times" charset="0"/>
                <a:ea typeface="MS PGothic" charset="0"/>
                <a:cs typeface="MS PGothic" charset="0"/>
              </a:defRPr>
            </a:lvl5pPr>
            <a:lvl6pPr marL="2514600" indent="-228600" eaLnBrk="0" fontAlgn="base" hangingPunct="0">
              <a:spcBef>
                <a:spcPct val="0"/>
              </a:spcBef>
              <a:spcAft>
                <a:spcPct val="0"/>
              </a:spcAft>
              <a:defRPr sz="1000" b="1">
                <a:solidFill>
                  <a:schemeClr val="tx1"/>
                </a:solidFill>
                <a:latin typeface="CG Times" charset="0"/>
                <a:ea typeface="MS PGothic" charset="0"/>
                <a:cs typeface="MS PGothic" charset="0"/>
              </a:defRPr>
            </a:lvl6pPr>
            <a:lvl7pPr marL="2971800" indent="-228600" eaLnBrk="0" fontAlgn="base" hangingPunct="0">
              <a:spcBef>
                <a:spcPct val="0"/>
              </a:spcBef>
              <a:spcAft>
                <a:spcPct val="0"/>
              </a:spcAft>
              <a:defRPr sz="1000" b="1">
                <a:solidFill>
                  <a:schemeClr val="tx1"/>
                </a:solidFill>
                <a:latin typeface="CG Times" charset="0"/>
                <a:ea typeface="MS PGothic" charset="0"/>
                <a:cs typeface="MS PGothic" charset="0"/>
              </a:defRPr>
            </a:lvl7pPr>
            <a:lvl8pPr marL="3429000" indent="-228600" eaLnBrk="0" fontAlgn="base" hangingPunct="0">
              <a:spcBef>
                <a:spcPct val="0"/>
              </a:spcBef>
              <a:spcAft>
                <a:spcPct val="0"/>
              </a:spcAft>
              <a:defRPr sz="1000" b="1">
                <a:solidFill>
                  <a:schemeClr val="tx1"/>
                </a:solidFill>
                <a:latin typeface="CG Times" charset="0"/>
                <a:ea typeface="MS PGothic" charset="0"/>
                <a:cs typeface="MS PGothic" charset="0"/>
              </a:defRPr>
            </a:lvl8pPr>
            <a:lvl9pPr marL="3886200" indent="-228600" eaLnBrk="0" fontAlgn="base" hangingPunct="0">
              <a:spcBef>
                <a:spcPct val="0"/>
              </a:spcBef>
              <a:spcAft>
                <a:spcPct val="0"/>
              </a:spcAft>
              <a:defRPr sz="1000" b="1">
                <a:solidFill>
                  <a:schemeClr val="tx1"/>
                </a:solidFill>
                <a:latin typeface="CG Times" charset="0"/>
                <a:ea typeface="MS PGothic" charset="0"/>
                <a:cs typeface="MS PGothic" charset="0"/>
              </a:defRPr>
            </a:lvl9pPr>
          </a:lstStyle>
          <a:p>
            <a:r>
              <a:rPr lang="en-US" sz="900" b="0">
                <a:solidFill>
                  <a:srgbClr val="092E5C"/>
                </a:solidFill>
                <a:latin typeface="Arial" charset="0"/>
              </a:rPr>
              <a:t>Copyright © 2013 Open Geospatial Consortium</a:t>
            </a:r>
          </a:p>
        </p:txBody>
      </p:sp>
    </p:spTree>
    <p:extLst>
      <p:ext uri="{BB962C8B-B14F-4D97-AF65-F5344CB8AC3E}">
        <p14:creationId xmlns:p14="http://schemas.microsoft.com/office/powerpoint/2010/main" val="1865408587"/>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defRPr/>
            </a:pPr>
            <a:r>
              <a:rPr lang="en-US" dirty="0" smtClean="0">
                <a:effectLst>
                  <a:outerShdw blurRad="38100" dist="38100" dir="2700000" algn="tl">
                    <a:srgbClr val="DDDDDD"/>
                  </a:outerShdw>
                </a:effectLst>
                <a:latin typeface="Arial" charset="0"/>
                <a:ea typeface="MS PGothic" charset="0"/>
              </a:rPr>
              <a:t>Initiative Summary ER &amp; Motion</a:t>
            </a:r>
            <a:endParaRPr lang="en-US" dirty="0">
              <a:cs typeface="+mj-cs"/>
            </a:endParaRPr>
          </a:p>
        </p:txBody>
      </p:sp>
      <p:sp>
        <p:nvSpPr>
          <p:cNvPr id="15362" name="Inhaltsplatzhalter 2"/>
          <p:cNvSpPr>
            <a:spLocks noGrp="1"/>
          </p:cNvSpPr>
          <p:nvPr>
            <p:ph idx="1"/>
          </p:nvPr>
        </p:nvSpPr>
        <p:spPr>
          <a:xfrm>
            <a:off x="346075" y="1279525"/>
            <a:ext cx="8458200" cy="4961618"/>
          </a:xfrm>
        </p:spPr>
        <p:txBody>
          <a:bodyPr>
            <a:normAutofit lnSpcReduction="10000"/>
          </a:bodyPr>
          <a:lstStyle/>
          <a:p>
            <a:r>
              <a:rPr lang="en-US" dirty="0" smtClean="0">
                <a:latin typeface="Arial" charset="0"/>
                <a:ea typeface="MS PGothic" charset="0"/>
              </a:rPr>
              <a:t>13-046r2 - CHISP-1 Summary Engineering </a:t>
            </a:r>
            <a:r>
              <a:rPr lang="en-US" dirty="0" smtClean="0">
                <a:latin typeface="Arial" charset="0"/>
                <a:ea typeface="MS PGothic" charset="0"/>
              </a:rPr>
              <a:t>Report</a:t>
            </a:r>
          </a:p>
          <a:p>
            <a:pPr lvl="1"/>
            <a:r>
              <a:rPr lang="en-US" dirty="0" smtClean="0">
                <a:latin typeface="Arial" charset="0"/>
                <a:ea typeface="MS PGothic" charset="0"/>
              </a:rPr>
              <a:t>(</a:t>
            </a:r>
            <a:r>
              <a:rPr lang="en-US" dirty="0" smtClean="0">
                <a:latin typeface="Arial" charset="0"/>
                <a:ea typeface="MS PGothic" charset="0"/>
              </a:rPr>
              <a:t>r2 consists of editorial updates/corrections from previous version r1 posted on pending since 15 July 2013)</a:t>
            </a:r>
          </a:p>
          <a:p>
            <a:pPr marL="336550" lvl="1" indent="0">
              <a:buNone/>
            </a:pPr>
            <a:r>
              <a:rPr lang="en-US" dirty="0" smtClean="0">
                <a:latin typeface="Arial" charset="0"/>
                <a:ea typeface="MS PGothic" charset="0"/>
                <a:hlinkClick r:id="rId2"/>
              </a:rPr>
              <a:t>https://portal.opengeospatial.org/files/?artifact_id=55432&amp;version=1</a:t>
            </a:r>
            <a:endParaRPr lang="en-US" dirty="0">
              <a:latin typeface="Arial" charset="0"/>
              <a:ea typeface="MS PGothic" charset="0"/>
            </a:endParaRPr>
          </a:p>
          <a:p>
            <a:pPr marL="336550" lvl="1" indent="0">
              <a:buNone/>
            </a:pPr>
            <a:endParaRPr lang="en-US" dirty="0" smtClean="0">
              <a:latin typeface="Arial" charset="0"/>
              <a:ea typeface="MS PGothic" charset="0"/>
            </a:endParaRPr>
          </a:p>
          <a:p>
            <a:pPr marL="336550" lvl="1" indent="0">
              <a:buNone/>
            </a:pPr>
            <a:endParaRPr lang="en-US" dirty="0">
              <a:latin typeface="Arial" charset="0"/>
              <a:ea typeface="MS PGothic" charset="0"/>
            </a:endParaRPr>
          </a:p>
          <a:p>
            <a:r>
              <a:rPr lang="en-US" dirty="0" smtClean="0">
                <a:latin typeface="Arial" charset="0"/>
                <a:ea typeface="MS PGothic" charset="0"/>
              </a:rPr>
              <a:t>The Hydrology DWG </a:t>
            </a:r>
            <a:r>
              <a:rPr lang="en-US" dirty="0">
                <a:latin typeface="Arial" charset="0"/>
                <a:ea typeface="MS PGothic" charset="0"/>
              </a:rPr>
              <a:t>recommends that the OGC Technical Committee approve release of </a:t>
            </a:r>
            <a:r>
              <a:rPr lang="en-US" dirty="0" smtClean="0">
                <a:latin typeface="Arial" charset="0"/>
                <a:ea typeface="MS PGothic" charset="0"/>
              </a:rPr>
              <a:t>OGC 13-046r2, CHISP-1 Summary Engineering Report </a:t>
            </a:r>
            <a:r>
              <a:rPr lang="en-US" altLang="ja-JP" dirty="0" smtClean="0">
                <a:latin typeface="Arial" charset="0"/>
                <a:ea typeface="MS PGothic" charset="0"/>
              </a:rPr>
              <a:t>as </a:t>
            </a:r>
            <a:r>
              <a:rPr lang="en-US" altLang="ja-JP" dirty="0">
                <a:latin typeface="Arial" charset="0"/>
                <a:ea typeface="MS PGothic" charset="0"/>
              </a:rPr>
              <a:t>an OGC </a:t>
            </a:r>
            <a:r>
              <a:rPr lang="en-US" altLang="ja-JP" dirty="0" smtClean="0">
                <a:latin typeface="Arial" charset="0"/>
                <a:ea typeface="MS PGothic" charset="0"/>
              </a:rPr>
              <a:t>Public Engineering </a:t>
            </a:r>
            <a:r>
              <a:rPr lang="en-US" altLang="ja-JP" dirty="0">
                <a:latin typeface="Arial" charset="0"/>
                <a:ea typeface="MS PGothic" charset="0"/>
              </a:rPr>
              <a:t>Report</a:t>
            </a:r>
          </a:p>
          <a:p>
            <a:pPr lvl="1"/>
            <a:r>
              <a:rPr lang="en-US" dirty="0">
                <a:latin typeface="Arial" charset="0"/>
                <a:ea typeface="MS PGothic" charset="0"/>
              </a:rPr>
              <a:t>Pending and final edits and review by OGC staff</a:t>
            </a:r>
          </a:p>
          <a:p>
            <a:pPr lvl="1"/>
            <a:r>
              <a:rPr lang="en-US" dirty="0">
                <a:latin typeface="Arial" charset="0"/>
                <a:ea typeface="MS PGothic" charset="0"/>
              </a:rPr>
              <a:t>Motion</a:t>
            </a:r>
            <a:r>
              <a:rPr lang="en-US" dirty="0" smtClean="0">
                <a:latin typeface="Arial" charset="0"/>
                <a:ea typeface="MS PGothic" charset="0"/>
              </a:rPr>
              <a:t>: Simon Cox</a:t>
            </a:r>
            <a:endParaRPr lang="en-US" dirty="0">
              <a:latin typeface="Arial" charset="0"/>
              <a:ea typeface="MS PGothic" charset="0"/>
            </a:endParaRPr>
          </a:p>
          <a:p>
            <a:pPr lvl="1"/>
            <a:r>
              <a:rPr lang="en-US" dirty="0">
                <a:latin typeface="Arial" charset="0"/>
                <a:ea typeface="MS PGothic" charset="0"/>
              </a:rPr>
              <a:t>Second: </a:t>
            </a:r>
            <a:r>
              <a:rPr lang="en-US" dirty="0" err="1" smtClean="0">
                <a:latin typeface="Arial" charset="0"/>
                <a:ea typeface="MS PGothic" charset="0"/>
              </a:rPr>
              <a:t>Uli</a:t>
            </a:r>
            <a:r>
              <a:rPr lang="en-US" dirty="0" smtClean="0">
                <a:latin typeface="Arial" charset="0"/>
                <a:ea typeface="MS PGothic" charset="0"/>
              </a:rPr>
              <a:t> Looser</a:t>
            </a:r>
          </a:p>
          <a:p>
            <a:pPr lvl="1"/>
            <a:r>
              <a:rPr lang="en-US" dirty="0" smtClean="0">
                <a:latin typeface="Arial" charset="0"/>
                <a:ea typeface="MS PGothic" charset="0"/>
              </a:rPr>
              <a:t>Vote: approved by unanimous consent</a:t>
            </a:r>
            <a:endParaRPr lang="en-US" dirty="0">
              <a:latin typeface="Arial" charset="0"/>
              <a:ea typeface="MS PGothic" charset="0"/>
            </a:endParaRPr>
          </a:p>
          <a:p>
            <a:pPr lvl="1"/>
            <a:endParaRPr lang="en-US" dirty="0">
              <a:latin typeface="Arial" charset="0"/>
              <a:ea typeface="MS PGothic" charset="0"/>
            </a:endParaRPr>
          </a:p>
        </p:txBody>
      </p:sp>
      <p:sp>
        <p:nvSpPr>
          <p:cNvPr id="15363" name="Fußzeilenplatzhalt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b="1">
                <a:solidFill>
                  <a:schemeClr val="tx1"/>
                </a:solidFill>
                <a:latin typeface="CG Times" charset="0"/>
                <a:ea typeface="MS PGothic" charset="0"/>
                <a:cs typeface="MS PGothic" charset="0"/>
              </a:defRPr>
            </a:lvl1pPr>
            <a:lvl2pPr marL="742950" indent="-285750" eaLnBrk="0" hangingPunct="0">
              <a:defRPr sz="1000" b="1">
                <a:solidFill>
                  <a:schemeClr val="tx1"/>
                </a:solidFill>
                <a:latin typeface="CG Times" charset="0"/>
                <a:ea typeface="MS PGothic" charset="0"/>
                <a:cs typeface="MS PGothic" charset="0"/>
              </a:defRPr>
            </a:lvl2pPr>
            <a:lvl3pPr marL="1143000" indent="-228600" eaLnBrk="0" hangingPunct="0">
              <a:defRPr sz="1000" b="1">
                <a:solidFill>
                  <a:schemeClr val="tx1"/>
                </a:solidFill>
                <a:latin typeface="CG Times" charset="0"/>
                <a:ea typeface="MS PGothic" charset="0"/>
                <a:cs typeface="MS PGothic" charset="0"/>
              </a:defRPr>
            </a:lvl3pPr>
            <a:lvl4pPr marL="1600200" indent="-228600" eaLnBrk="0" hangingPunct="0">
              <a:defRPr sz="1000" b="1">
                <a:solidFill>
                  <a:schemeClr val="tx1"/>
                </a:solidFill>
                <a:latin typeface="CG Times" charset="0"/>
                <a:ea typeface="MS PGothic" charset="0"/>
                <a:cs typeface="MS PGothic" charset="0"/>
              </a:defRPr>
            </a:lvl4pPr>
            <a:lvl5pPr marL="2057400" indent="-228600" eaLnBrk="0" hangingPunct="0">
              <a:defRPr sz="1000" b="1">
                <a:solidFill>
                  <a:schemeClr val="tx1"/>
                </a:solidFill>
                <a:latin typeface="CG Times" charset="0"/>
                <a:ea typeface="MS PGothic" charset="0"/>
                <a:cs typeface="MS PGothic" charset="0"/>
              </a:defRPr>
            </a:lvl5pPr>
            <a:lvl6pPr marL="2514600" indent="-228600" eaLnBrk="0" fontAlgn="base" hangingPunct="0">
              <a:spcBef>
                <a:spcPct val="0"/>
              </a:spcBef>
              <a:spcAft>
                <a:spcPct val="0"/>
              </a:spcAft>
              <a:defRPr sz="1000" b="1">
                <a:solidFill>
                  <a:schemeClr val="tx1"/>
                </a:solidFill>
                <a:latin typeface="CG Times" charset="0"/>
                <a:ea typeface="MS PGothic" charset="0"/>
                <a:cs typeface="MS PGothic" charset="0"/>
              </a:defRPr>
            </a:lvl6pPr>
            <a:lvl7pPr marL="2971800" indent="-228600" eaLnBrk="0" fontAlgn="base" hangingPunct="0">
              <a:spcBef>
                <a:spcPct val="0"/>
              </a:spcBef>
              <a:spcAft>
                <a:spcPct val="0"/>
              </a:spcAft>
              <a:defRPr sz="1000" b="1">
                <a:solidFill>
                  <a:schemeClr val="tx1"/>
                </a:solidFill>
                <a:latin typeface="CG Times" charset="0"/>
                <a:ea typeface="MS PGothic" charset="0"/>
                <a:cs typeface="MS PGothic" charset="0"/>
              </a:defRPr>
            </a:lvl7pPr>
            <a:lvl8pPr marL="3429000" indent="-228600" eaLnBrk="0" fontAlgn="base" hangingPunct="0">
              <a:spcBef>
                <a:spcPct val="0"/>
              </a:spcBef>
              <a:spcAft>
                <a:spcPct val="0"/>
              </a:spcAft>
              <a:defRPr sz="1000" b="1">
                <a:solidFill>
                  <a:schemeClr val="tx1"/>
                </a:solidFill>
                <a:latin typeface="CG Times" charset="0"/>
                <a:ea typeface="MS PGothic" charset="0"/>
                <a:cs typeface="MS PGothic" charset="0"/>
              </a:defRPr>
            </a:lvl8pPr>
            <a:lvl9pPr marL="3886200" indent="-228600" eaLnBrk="0" fontAlgn="base" hangingPunct="0">
              <a:spcBef>
                <a:spcPct val="0"/>
              </a:spcBef>
              <a:spcAft>
                <a:spcPct val="0"/>
              </a:spcAft>
              <a:defRPr sz="1000" b="1">
                <a:solidFill>
                  <a:schemeClr val="tx1"/>
                </a:solidFill>
                <a:latin typeface="CG Times" charset="0"/>
                <a:ea typeface="MS PGothic" charset="0"/>
                <a:cs typeface="MS PGothic" charset="0"/>
              </a:defRPr>
            </a:lvl9pPr>
          </a:lstStyle>
          <a:p>
            <a:r>
              <a:rPr lang="en-US" sz="900" b="0">
                <a:solidFill>
                  <a:srgbClr val="092E5C"/>
                </a:solidFill>
                <a:latin typeface="Arial" charset="0"/>
              </a:rPr>
              <a:t>Copyright © 2013 Open Geospatial Consortium</a:t>
            </a:r>
          </a:p>
        </p:txBody>
      </p:sp>
    </p:spTree>
    <p:extLst>
      <p:ext uri="{BB962C8B-B14F-4D97-AF65-F5344CB8AC3E}">
        <p14:creationId xmlns:p14="http://schemas.microsoft.com/office/powerpoint/2010/main" val="3515273633"/>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 2013 Open Geospatial Consortium</a:t>
            </a:r>
            <a:endParaRPr lang="en-US" dirty="0"/>
          </a:p>
        </p:txBody>
      </p:sp>
      <p:sp>
        <p:nvSpPr>
          <p:cNvPr id="5" name="Slide Number Placeholder 4"/>
          <p:cNvSpPr>
            <a:spLocks noGrp="1"/>
          </p:cNvSpPr>
          <p:nvPr>
            <p:ph type="sldNum" sz="quarter" idx="11"/>
          </p:nvPr>
        </p:nvSpPr>
        <p:spPr/>
        <p:txBody>
          <a:bodyPr/>
          <a:lstStyle/>
          <a:p>
            <a:pPr>
              <a:defRPr/>
            </a:pPr>
            <a:fld id="{95D296B3-8B0B-AB4C-A40D-C76DAD708AC8}" type="slidenum">
              <a:rPr lang="en-US" smtClean="0"/>
              <a:pPr>
                <a:defRPr/>
              </a:pPr>
              <a:t>12</a:t>
            </a:fld>
            <a:endParaRPr lang="en-US"/>
          </a:p>
        </p:txBody>
      </p:sp>
      <p:sp>
        <p:nvSpPr>
          <p:cNvPr id="6" name="TextBox 5"/>
          <p:cNvSpPr txBox="1"/>
          <p:nvPr/>
        </p:nvSpPr>
        <p:spPr>
          <a:xfrm>
            <a:off x="2777220" y="2274838"/>
            <a:ext cx="3570509" cy="2308324"/>
          </a:xfrm>
          <a:prstGeom prst="rect">
            <a:avLst/>
          </a:prstGeom>
          <a:noFill/>
        </p:spPr>
        <p:txBody>
          <a:bodyPr wrap="none" rtlCol="0">
            <a:spAutoFit/>
          </a:bodyPr>
          <a:lstStyle/>
          <a:p>
            <a:r>
              <a:rPr lang="en-US" sz="4800" dirty="0" smtClean="0">
                <a:solidFill>
                  <a:srgbClr val="092E5C"/>
                </a:solidFill>
                <a:effectLst>
                  <a:outerShdw blurRad="50800" dist="38100" dir="2700000" algn="tl" rotWithShape="0">
                    <a:srgbClr val="000000">
                      <a:alpha val="43000"/>
                    </a:srgbClr>
                  </a:outerShdw>
                </a:effectLst>
              </a:rPr>
              <a:t>Thank you!</a:t>
            </a:r>
          </a:p>
          <a:p>
            <a:endParaRPr lang="en-US" sz="4800" dirty="0" smtClean="0">
              <a:solidFill>
                <a:srgbClr val="092E5C"/>
              </a:solidFill>
              <a:effectLst>
                <a:outerShdw blurRad="50800" dist="38100" dir="2700000" algn="tl" rotWithShape="0">
                  <a:srgbClr val="000000">
                    <a:alpha val="43000"/>
                  </a:srgbClr>
                </a:outerShdw>
              </a:effectLst>
            </a:endParaRPr>
          </a:p>
          <a:p>
            <a:r>
              <a:rPr lang="en-US" sz="4800" dirty="0" smtClean="0">
                <a:solidFill>
                  <a:srgbClr val="092E5C"/>
                </a:solidFill>
                <a:effectLst>
                  <a:outerShdw blurRad="50800" dist="38100" dir="2700000" algn="tl" rotWithShape="0">
                    <a:srgbClr val="000000">
                      <a:alpha val="43000"/>
                    </a:srgbClr>
                  </a:outerShdw>
                </a:effectLst>
              </a:rPr>
              <a:t>Questions?</a:t>
            </a:r>
            <a:endParaRPr lang="en-US" sz="4800" dirty="0">
              <a:solidFill>
                <a:srgbClr val="092E5C"/>
              </a:solidFill>
              <a:effectLst>
                <a:outerShdw blurRad="50800" dist="38100" dir="2700000" algn="tl" rotWithShape="0">
                  <a:srgbClr val="000000">
                    <a:alpha val="43000"/>
                  </a:srgbClr>
                </a:outerShdw>
              </a:effectLst>
            </a:endParaRPr>
          </a:p>
        </p:txBody>
      </p:sp>
    </p:spTree>
    <p:extLst>
      <p:ext uri="{BB962C8B-B14F-4D97-AF65-F5344CB8AC3E}">
        <p14:creationId xmlns:p14="http://schemas.microsoft.com/office/powerpoint/2010/main" val="3383092808"/>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20130606_OGC_PowerPoint_Presentation_Template">
  <a:themeElements>
    <a:clrScheme name="">
      <a:dk1>
        <a:srgbClr val="000000"/>
      </a:dk1>
      <a:lt1>
        <a:srgbClr val="FFFFCC"/>
      </a:lt1>
      <a:dk2>
        <a:srgbClr val="092E5C"/>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OGC_PowerPoint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969696"/>
          </a:solidFill>
          <a:prstDash val="solid"/>
          <a:round/>
          <a:headEnd type="stealth" w="med" len="lg"/>
          <a:tailEnd type="none" w="med" len="med"/>
        </a:ln>
        <a:effectLst/>
      </a:spPr>
      <a:bodyPr vert="horz" wrap="none" lIns="0" tIns="45720" rIns="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000" b="1" i="0" u="none" strike="noStrike" cap="none" normalizeH="0" baseline="0" smtClean="0">
            <a:ln>
              <a:noFill/>
            </a:ln>
            <a:solidFill>
              <a:schemeClr val="tx1"/>
            </a:solidFill>
            <a:effectLst/>
            <a:latin typeface="CG Times" charset="0"/>
          </a:defRPr>
        </a:defPPr>
      </a:lstStyle>
    </a:spDef>
    <a:lnDef>
      <a:spPr bwMode="auto">
        <a:xfrm>
          <a:off x="0" y="0"/>
          <a:ext cx="1" cy="1"/>
        </a:xfrm>
        <a:custGeom>
          <a:avLst/>
          <a:gdLst/>
          <a:ahLst/>
          <a:cxnLst/>
          <a:rect l="0" t="0" r="0" b="0"/>
          <a:pathLst/>
        </a:custGeom>
        <a:noFill/>
        <a:ln w="9525" cap="flat" cmpd="sng" algn="ctr">
          <a:solidFill>
            <a:srgbClr val="969696"/>
          </a:solidFill>
          <a:prstDash val="solid"/>
          <a:round/>
          <a:headEnd type="stealth" w="med" len="lg"/>
          <a:tailEnd type="none" w="med" len="med"/>
        </a:ln>
        <a:effectLst/>
      </a:spPr>
      <a:bodyPr vert="horz" wrap="none" lIns="0" tIns="45720" rIns="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000" b="1" i="0" u="none" strike="noStrike" cap="none" normalizeH="0" baseline="0" smtClean="0">
            <a:ln>
              <a:noFill/>
            </a:ln>
            <a:solidFill>
              <a:schemeClr val="tx1"/>
            </a:solidFill>
            <a:effectLst/>
            <a:latin typeface="CG Times" charset="0"/>
          </a:defRPr>
        </a:defPPr>
      </a:lstStyle>
    </a:lnDef>
  </a:objectDefaults>
  <a:extraClrSchemeLst>
    <a:extraClrScheme>
      <a:clrScheme name="OGC_PowerPoint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GC_PowerPoint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GC_PowerPoint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GC_PowerPoint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GC_PowerPoint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GC_PowerPoint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GC_PowerPoint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20130606_OGC_PowerPoint_Presentation_Template.potx</Template>
  <TotalTime>1107</TotalTime>
  <Words>1777</Words>
  <Application>Microsoft Macintosh PowerPoint</Application>
  <PresentationFormat>On-screen Show (4:3)</PresentationFormat>
  <Paragraphs>229</Paragraphs>
  <Slides>12</Slides>
  <Notes>7</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20130606_OGC_PowerPoint_Presentation_Template</vt:lpstr>
      <vt:lpstr>CHISP-1  Summary and Outcomes</vt:lpstr>
      <vt:lpstr>CHISP-1 Pilot Objectives</vt:lpstr>
      <vt:lpstr>River Basins considered</vt:lpstr>
      <vt:lpstr>Cross-Border Upstream Monitoring &amp; Alerting</vt:lpstr>
      <vt:lpstr>Great Lakes Nutrient Load Calculation Service</vt:lpstr>
      <vt:lpstr>CHISP-1 Achievements - Summary</vt:lpstr>
      <vt:lpstr>Technical Achievements - Details </vt:lpstr>
      <vt:lpstr>Technical Achievements - Details </vt:lpstr>
      <vt:lpstr>Technical Challenges </vt:lpstr>
      <vt:lpstr>CHISP-1 ER &amp; Motion</vt:lpstr>
      <vt:lpstr>Initiative Summary ER &amp; Motion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
  <cp:lastModifiedBy>Lewis Leinenweber</cp:lastModifiedBy>
  <cp:revision>57</cp:revision>
  <cp:lastPrinted>2003-02-03T21:59:32Z</cp:lastPrinted>
  <dcterms:created xsi:type="dcterms:W3CDTF">2010-12-20T20:29:09Z</dcterms:created>
  <dcterms:modified xsi:type="dcterms:W3CDTF">2013-09-23T15:19:07Z</dcterms:modified>
  <cp:category/>
</cp:coreProperties>
</file>