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8"/>
  </p:notesMasterIdLst>
  <p:sldIdLst>
    <p:sldId id="256" r:id="rId2"/>
    <p:sldId id="257" r:id="rId3"/>
    <p:sldId id="258" r:id="rId4"/>
    <p:sldId id="268" r:id="rId5"/>
    <p:sldId id="264" r:id="rId6"/>
    <p:sldId id="265" r:id="rId7"/>
    <p:sldId id="266" r:id="rId8"/>
    <p:sldId id="267" r:id="rId9"/>
    <p:sldId id="269" r:id="rId10"/>
    <p:sldId id="270" r:id="rId11"/>
    <p:sldId id="271" r:id="rId12"/>
    <p:sldId id="274" r:id="rId13"/>
    <p:sldId id="272" r:id="rId14"/>
    <p:sldId id="273" r:id="rId15"/>
    <p:sldId id="275" r:id="rId16"/>
    <p:sldId id="27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410" y="-192"/>
      </p:cViewPr>
      <p:guideLst>
        <p:guide orient="horz" pos="4319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5F4C9-675D-436C-B17C-663448D8EBCE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8EBA8-7F89-4F25-BB95-7FDB1D6E341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459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6869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238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8397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8965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708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85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102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313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5855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1253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0290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6256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6240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0241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8513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8EBA8-7F89-4F25-BB95-7FDB1D6E3416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0710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C81D604-CE8D-49A2-BB0F-72EFF510A14C}" type="slidenum">
              <a:rPr lang="en-AU" smtClean="0"/>
              <a:t>‹#›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C179C59E-DD3E-4CC3-BBA6-4E516DDDB295}" type="datetimeFigureOut">
              <a:rPr lang="en-AU" smtClean="0"/>
              <a:t>16/08/2014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aterml2.csiro.au/validator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aterml2.csiro.au/rgs-api/v1/viz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7543800" cy="2593975"/>
          </a:xfrm>
        </p:spPr>
        <p:txBody>
          <a:bodyPr/>
          <a:lstStyle/>
          <a:p>
            <a:r>
              <a:rPr lang="en-AU" dirty="0" err="1" smtClean="0"/>
              <a:t>WaterML</a:t>
            </a:r>
            <a:r>
              <a:rPr lang="en-AU" dirty="0" smtClean="0"/>
              <a:t> 2.0 Part </a:t>
            </a:r>
            <a:r>
              <a:rPr lang="en-AU" dirty="0" smtClean="0"/>
              <a:t>2 – </a:t>
            </a:r>
            <a:r>
              <a:rPr lang="en-AU" sz="4400" dirty="0" smtClean="0"/>
              <a:t>Ratings, </a:t>
            </a:r>
            <a:r>
              <a:rPr lang="en-AU" sz="4400" dirty="0" err="1" smtClean="0"/>
              <a:t>Gaugings</a:t>
            </a:r>
            <a:r>
              <a:rPr lang="en-AU" sz="4400" dirty="0" smtClean="0"/>
              <a:t> and Sections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3284984"/>
            <a:ext cx="6264696" cy="1752600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Hydro Informatics Conference Workshop </a:t>
            </a:r>
            <a:endParaRPr lang="en-US" dirty="0"/>
          </a:p>
          <a:p>
            <a:r>
              <a:rPr lang="en-US" dirty="0"/>
              <a:t>*Standardization of Water Data Exchange: WaterML2.0 and Beyond</a:t>
            </a:r>
            <a:r>
              <a:rPr lang="en-US" dirty="0" smtClean="0"/>
              <a:t>*</a:t>
            </a:r>
          </a:p>
          <a:p>
            <a:r>
              <a:rPr lang="en-US" dirty="0" smtClean="0"/>
              <a:t>Presented by : Open Geospatial Consortium Hydrology Domain Working Group </a:t>
            </a:r>
            <a:endParaRPr lang="en-US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79512" y="551723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/>
              <a:t>Paul </a:t>
            </a:r>
            <a:r>
              <a:rPr lang="en-US" sz="2400" dirty="0" err="1" smtClean="0"/>
              <a:t>Sheahan</a:t>
            </a:r>
            <a:endParaRPr lang="en-US" sz="2400" dirty="0" smtClean="0"/>
          </a:p>
          <a:p>
            <a:r>
              <a:rPr lang="en-US" sz="2400" dirty="0" smtClean="0"/>
              <a:t>Australian Bureau of Meteorology</a:t>
            </a:r>
          </a:p>
          <a:p>
            <a:r>
              <a:rPr lang="en-US" sz="2400" dirty="0" smtClean="0"/>
              <a:t>August 2014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339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WaterML2.0</a:t>
            </a:r>
            <a:endParaRPr lang="en-AU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636912"/>
            <a:ext cx="7620000" cy="376388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800" dirty="0"/>
              <a:t>WaterML2.0 </a:t>
            </a:r>
            <a:r>
              <a:rPr lang="en-US" sz="2800" dirty="0" smtClean="0"/>
              <a:t>is an interoperability </a:t>
            </a:r>
            <a:r>
              <a:rPr lang="en-US" sz="2800" dirty="0"/>
              <a:t>contract that facilitates data exchange</a:t>
            </a:r>
            <a:r>
              <a:rPr lang="en-US" sz="2800" dirty="0" smtClean="0"/>
              <a:t>.</a:t>
            </a:r>
          </a:p>
          <a:p>
            <a:pPr marL="114300" indent="0">
              <a:buNone/>
            </a:pPr>
            <a:endParaRPr lang="en-US" sz="2800" dirty="0"/>
          </a:p>
          <a:p>
            <a:pPr marL="114300" indent="0">
              <a:buNone/>
            </a:pPr>
            <a:endParaRPr lang="en-US" sz="2800" dirty="0"/>
          </a:p>
          <a:p>
            <a:r>
              <a:rPr lang="en-US" sz="2800" dirty="0" smtClean="0"/>
              <a:t>A conceptual model expressed in UML</a:t>
            </a:r>
          </a:p>
          <a:p>
            <a:r>
              <a:rPr lang="en-US" sz="2800" dirty="0" smtClean="0"/>
              <a:t>An XML schema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4729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Hydrological observations</a:t>
            </a:r>
            <a:endParaRPr lang="en-AU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AU" dirty="0" smtClean="0"/>
              <a:t>Broad categories of water observations</a:t>
            </a:r>
          </a:p>
          <a:p>
            <a:pPr marL="571500" indent="-457200">
              <a:buFont typeface="+mj-lt"/>
              <a:buAutoNum type="arabicPeriod"/>
            </a:pPr>
            <a:r>
              <a:rPr lang="en-AU" dirty="0" smtClean="0"/>
              <a:t>In-situ</a:t>
            </a:r>
            <a:r>
              <a:rPr lang="en-AU" dirty="0"/>
              <a:t>, fixed observation </a:t>
            </a:r>
            <a:r>
              <a:rPr lang="en-AU" dirty="0" smtClean="0"/>
              <a:t>style</a:t>
            </a:r>
          </a:p>
          <a:p>
            <a:pPr marL="571500" indent="-457200">
              <a:buFont typeface="+mj-lt"/>
              <a:buAutoNum type="arabicPeriod"/>
            </a:pPr>
            <a:r>
              <a:rPr lang="en-AU" dirty="0"/>
              <a:t>In-situ, manual </a:t>
            </a:r>
            <a:r>
              <a:rPr lang="en-AU" dirty="0" smtClean="0"/>
              <a:t>observations</a:t>
            </a:r>
          </a:p>
          <a:p>
            <a:pPr marL="571500" indent="-457200">
              <a:buFont typeface="+mj-lt"/>
              <a:buAutoNum type="arabicPeriod"/>
            </a:pPr>
            <a:r>
              <a:rPr lang="en-AU" dirty="0"/>
              <a:t>Ex-situ, complex processing </a:t>
            </a:r>
            <a:r>
              <a:rPr lang="en-AU" dirty="0" smtClean="0"/>
              <a:t>observations</a:t>
            </a:r>
          </a:p>
          <a:p>
            <a:pPr marL="571500" indent="-457200">
              <a:buFont typeface="+mj-lt"/>
              <a:buAutoNum type="arabicPeriod"/>
            </a:pPr>
            <a:r>
              <a:rPr lang="en-AU" dirty="0"/>
              <a:t>Remote-sensed </a:t>
            </a:r>
            <a:r>
              <a:rPr lang="en-AU" dirty="0" smtClean="0"/>
              <a:t>observations</a:t>
            </a:r>
          </a:p>
          <a:p>
            <a:pPr marL="571500" indent="-457200">
              <a:buFont typeface="+mj-lt"/>
              <a:buAutoNum type="arabicPeriod"/>
            </a:pPr>
            <a:r>
              <a:rPr lang="en-AU" dirty="0"/>
              <a:t>Complex data </a:t>
            </a:r>
            <a:r>
              <a:rPr lang="en-AU" dirty="0" smtClean="0"/>
              <a:t>products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636601"/>
            <a:ext cx="4039343" cy="317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251520" y="4869160"/>
            <a:ext cx="3672408" cy="17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Font typeface="Arial" pitchFamily="34" charset="0"/>
              <a:buNone/>
            </a:pPr>
            <a:r>
              <a:rPr lang="en-AU" sz="2000" i="1" dirty="0" smtClean="0"/>
              <a:t>Generally, </a:t>
            </a:r>
            <a:r>
              <a:rPr lang="en-US" sz="2000" i="1" dirty="0" smtClean="0"/>
              <a:t>the more complex the process of making the measurement, the less likely it is to be available as a </a:t>
            </a:r>
            <a:r>
              <a:rPr lang="en-AU" sz="2000" i="1" dirty="0" smtClean="0"/>
              <a:t>continuous observation.</a:t>
            </a:r>
            <a:endParaRPr lang="en-AU" sz="2000" i="1" dirty="0"/>
          </a:p>
        </p:txBody>
      </p:sp>
    </p:spTree>
    <p:extLst>
      <p:ext uri="{BB962C8B-B14F-4D97-AF65-F5344CB8AC3E}">
        <p14:creationId xmlns:p14="http://schemas.microsoft.com/office/powerpoint/2010/main" val="229937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Motivation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Enable the calculation of derived values, e.g. flow</a:t>
            </a:r>
          </a:p>
          <a:p>
            <a:r>
              <a:rPr lang="en-AU" dirty="0" smtClean="0"/>
              <a:t>Enable the investigation of quality issues.</a:t>
            </a:r>
          </a:p>
          <a:p>
            <a:pPr lvl="1"/>
            <a:r>
              <a:rPr lang="en-AU" dirty="0" smtClean="0"/>
              <a:t>E.g. Mass balance or model output has errors. Investigate the quality of the ratings – thus flow produced from the monitoring site.</a:t>
            </a:r>
          </a:p>
          <a:p>
            <a:r>
              <a:rPr lang="en-AU" dirty="0" smtClean="0"/>
              <a:t>Enable data user 'fitness for purpose' assessment.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5694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Concepts harmonisation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069160"/>
          </a:xfrm>
        </p:spPr>
        <p:txBody>
          <a:bodyPr>
            <a:normAutofit/>
          </a:bodyPr>
          <a:lstStyle/>
          <a:p>
            <a:r>
              <a:rPr lang="en-AU" dirty="0" smtClean="0"/>
              <a:t>Requirements and scope defined by</a:t>
            </a:r>
          </a:p>
          <a:p>
            <a:pPr lvl="1"/>
            <a:r>
              <a:rPr lang="en-AU" dirty="0" smtClean="0"/>
              <a:t>Unites States Geological Survey</a:t>
            </a:r>
          </a:p>
          <a:p>
            <a:pPr lvl="1"/>
            <a:r>
              <a:rPr lang="en-AU" dirty="0"/>
              <a:t>Centre for Ecology &amp; </a:t>
            </a:r>
            <a:r>
              <a:rPr lang="en-AU" dirty="0" smtClean="0"/>
              <a:t>Hydrology , UK</a:t>
            </a:r>
          </a:p>
          <a:p>
            <a:pPr lvl="1"/>
            <a:r>
              <a:rPr lang="en-AU" dirty="0"/>
              <a:t>San Diego Supercomputer </a:t>
            </a:r>
            <a:r>
              <a:rPr lang="en-AU" dirty="0" err="1" smtClean="0"/>
              <a:t>Center</a:t>
            </a:r>
            <a:r>
              <a:rPr lang="en-AU" dirty="0" smtClean="0"/>
              <a:t>, USA</a:t>
            </a:r>
          </a:p>
          <a:p>
            <a:pPr lvl="1"/>
            <a:r>
              <a:rPr lang="en-AU" dirty="0" err="1" smtClean="0"/>
              <a:t>Kisters</a:t>
            </a:r>
            <a:r>
              <a:rPr lang="en-AU" dirty="0" smtClean="0"/>
              <a:t> , Germany</a:t>
            </a:r>
          </a:p>
          <a:p>
            <a:pPr lvl="1"/>
            <a:r>
              <a:rPr lang="en-AU" dirty="0" smtClean="0"/>
              <a:t>Aquatic Informatics,  Canada</a:t>
            </a:r>
          </a:p>
          <a:p>
            <a:pPr lvl="1"/>
            <a:r>
              <a:rPr lang="en-AU" dirty="0" smtClean="0"/>
              <a:t>Commonwealth Scientific and Industrial Research Organisation, Australia</a:t>
            </a:r>
          </a:p>
          <a:p>
            <a:pPr lvl="1"/>
            <a:r>
              <a:rPr lang="en-AU" dirty="0" smtClean="0"/>
              <a:t>Bureau of Meteorology, Australia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66042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Ratings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Typically river discharge ratings</a:t>
            </a:r>
          </a:p>
          <a:p>
            <a:pPr lvl="1"/>
            <a:r>
              <a:rPr lang="en-AU" dirty="0" smtClean="0"/>
              <a:t>Established the relationship between river level and flow</a:t>
            </a:r>
          </a:p>
          <a:p>
            <a:r>
              <a:rPr lang="en-AU" dirty="0" smtClean="0"/>
              <a:t>Generalised to be any conversion though a linearly interpolated lookup table.</a:t>
            </a:r>
          </a:p>
          <a:p>
            <a:r>
              <a:rPr lang="en-AU" dirty="0" smtClean="0"/>
              <a:t>Does not encode work flow</a:t>
            </a:r>
          </a:p>
          <a:p>
            <a:endParaRPr lang="en-AU" dirty="0"/>
          </a:p>
        </p:txBody>
      </p:sp>
      <p:pic>
        <p:nvPicPr>
          <p:cNvPr id="1026" name="Picture 2" descr="C:\temp\PLOT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650" y="3861047"/>
            <a:ext cx="3967288" cy="297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1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Ga</a:t>
            </a:r>
            <a:r>
              <a:rPr lang="en-AU" dirty="0" smtClean="0"/>
              <a:t>(u)gings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Point observations used to create, maintain and validate ratings.</a:t>
            </a:r>
          </a:p>
          <a:p>
            <a:r>
              <a:rPr lang="en-AU" dirty="0" smtClean="0"/>
              <a:t>Result of the gauging, rather than all observations taken to complete the gauging</a:t>
            </a:r>
          </a:p>
          <a:p>
            <a:endParaRPr lang="en-AU" dirty="0"/>
          </a:p>
        </p:txBody>
      </p:sp>
      <p:pic>
        <p:nvPicPr>
          <p:cNvPr id="2050" name="Picture 2" descr="http://blogs.flinders.edu.au/flinders-news/files/2012/02/ncgrt-phd-student-chani-welch-flow-gauging-in-the-cockburn-riv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501008"/>
            <a:ext cx="3686175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temp\PLOT0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95" y="3501008"/>
            <a:ext cx="4267201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0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Sections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River cross sections or long sections</a:t>
            </a:r>
          </a:p>
          <a:p>
            <a:endParaRPr lang="en-AU" dirty="0"/>
          </a:p>
        </p:txBody>
      </p:sp>
      <p:pic>
        <p:nvPicPr>
          <p:cNvPr id="3074" name="Picture 2" descr="C:\temp\PLOT0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88840"/>
            <a:ext cx="6408712" cy="480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94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Development status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AU" dirty="0" smtClean="0"/>
              <a:t>Requirements and Scope definition - 2012</a:t>
            </a:r>
          </a:p>
          <a:p>
            <a:pPr>
              <a:buFont typeface="Wingdings" pitchFamily="2" charset="2"/>
              <a:buChar char="ü"/>
            </a:pPr>
            <a:r>
              <a:rPr lang="en-AU" dirty="0" smtClean="0"/>
              <a:t>Domain Modelling</a:t>
            </a:r>
            <a:r>
              <a:rPr lang="en-AU" dirty="0"/>
              <a:t> </a:t>
            </a:r>
            <a:r>
              <a:rPr lang="en-AU" dirty="0" smtClean="0"/>
              <a:t>– 2012/13</a:t>
            </a:r>
          </a:p>
          <a:p>
            <a:pPr>
              <a:buFont typeface="Wingdings" pitchFamily="2" charset="2"/>
              <a:buChar char="ü"/>
            </a:pPr>
            <a:r>
              <a:rPr lang="en-AU" dirty="0" smtClean="0"/>
              <a:t>Draft </a:t>
            </a:r>
            <a:r>
              <a:rPr lang="en-AU" dirty="0"/>
              <a:t>model </a:t>
            </a:r>
            <a:r>
              <a:rPr lang="en-AU" dirty="0" smtClean="0"/>
              <a:t>submission </a:t>
            </a:r>
            <a:r>
              <a:rPr lang="en-AU" dirty="0"/>
              <a:t> - 2012</a:t>
            </a:r>
            <a:endParaRPr lang="en-AU" dirty="0" smtClean="0"/>
          </a:p>
          <a:p>
            <a:pPr>
              <a:buFont typeface="Wingdings" pitchFamily="2" charset="2"/>
              <a:buChar char="ü"/>
            </a:pPr>
            <a:r>
              <a:rPr lang="en-AU" dirty="0" smtClean="0"/>
              <a:t>Interoperability Experiment</a:t>
            </a:r>
          </a:p>
          <a:p>
            <a:pPr lvl="1">
              <a:buFont typeface="Wingdings" pitchFamily="2" charset="2"/>
              <a:buChar char="ü"/>
            </a:pPr>
            <a:r>
              <a:rPr lang="en-AU" dirty="0" smtClean="0"/>
              <a:t>Engaged Participants - 2014</a:t>
            </a:r>
          </a:p>
          <a:p>
            <a:pPr lvl="1">
              <a:buFont typeface="Wingdings" pitchFamily="2" charset="2"/>
              <a:buChar char="ü"/>
            </a:pPr>
            <a:r>
              <a:rPr lang="en-AU" dirty="0" smtClean="0"/>
              <a:t>Architecture report </a:t>
            </a:r>
            <a:r>
              <a:rPr lang="en-AU" dirty="0"/>
              <a:t>– </a:t>
            </a:r>
            <a:r>
              <a:rPr lang="en-AU" dirty="0" smtClean="0"/>
              <a:t>2014</a:t>
            </a:r>
          </a:p>
          <a:p>
            <a:pPr>
              <a:buFont typeface="Wingdings" pitchFamily="2" charset="2"/>
              <a:buChar char="ü"/>
            </a:pPr>
            <a:r>
              <a:rPr lang="en-AU" dirty="0" smtClean="0"/>
              <a:t>Standards Working Group Formed</a:t>
            </a:r>
          </a:p>
          <a:p>
            <a:endParaRPr lang="en-AU" dirty="0"/>
          </a:p>
          <a:p>
            <a:r>
              <a:rPr lang="en-AU" dirty="0" smtClean="0"/>
              <a:t>Standard development</a:t>
            </a:r>
          </a:p>
          <a:p>
            <a:r>
              <a:rPr lang="en-AU" dirty="0" smtClean="0"/>
              <a:t>Candidate standard comment / review period</a:t>
            </a:r>
          </a:p>
          <a:p>
            <a:r>
              <a:rPr lang="en-AU" dirty="0" smtClean="0"/>
              <a:t>Adoption vote -&gt; publication</a:t>
            </a:r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095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Interoperability experiment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 smtClean="0"/>
              <a:t>Scenarios for exchange</a:t>
            </a:r>
          </a:p>
          <a:p>
            <a:endParaRPr lang="en-US" dirty="0"/>
          </a:p>
          <a:p>
            <a:r>
              <a:rPr lang="en-US" dirty="0" smtClean="0"/>
              <a:t>Flood </a:t>
            </a:r>
            <a:r>
              <a:rPr lang="en-US" dirty="0"/>
              <a:t>forecasting - Exchange between USGS and US National Weather Service </a:t>
            </a:r>
          </a:p>
          <a:p>
            <a:endParaRPr lang="en-US" dirty="0"/>
          </a:p>
          <a:p>
            <a:r>
              <a:rPr lang="en-US" dirty="0"/>
              <a:t>Inter-agency exchange - exchange between the </a:t>
            </a:r>
            <a:r>
              <a:rPr lang="en-US" dirty="0" err="1"/>
              <a:t>Aus</a:t>
            </a:r>
            <a:r>
              <a:rPr lang="en-US" dirty="0"/>
              <a:t> Bureau, MDBA, NSW Office of Water, </a:t>
            </a:r>
            <a:r>
              <a:rPr lang="en-US" dirty="0" err="1"/>
              <a:t>Tas</a:t>
            </a:r>
            <a:r>
              <a:rPr lang="en-US" dirty="0"/>
              <a:t> DPIPWE, Vic DEPI</a:t>
            </a:r>
          </a:p>
          <a:p>
            <a:endParaRPr lang="en-US" dirty="0"/>
          </a:p>
          <a:p>
            <a:r>
              <a:rPr lang="en-US" dirty="0"/>
              <a:t>Public data publishing - publication of the UK’s National River Flow archive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531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Web services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77" t="32887" r="4710" b="11161"/>
          <a:stretch/>
        </p:blipFill>
        <p:spPr bwMode="auto">
          <a:xfrm>
            <a:off x="107504" y="2184368"/>
            <a:ext cx="8125048" cy="3476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098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Validation service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170" name="Picture 2" descr="https://lh5.googleusercontent.com/RPdxcuQ1JCZrhOoQbYTqZCQi3E-ufEj63My6d3FAR7u7nSmBBTNm6MXdDsJhWPs-_HAoYSXhWCxSNoVq1EPBsXoVZjTTd8t0xY-uwoDpDEP2XWTYq2KRoLKbu8GWtPR3yM6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82" y="1412776"/>
            <a:ext cx="6657975" cy="812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148064" y="6011996"/>
            <a:ext cx="34563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u="sng" dirty="0">
                <a:hlinkClick r:id="rId4"/>
              </a:rPr>
              <a:t>http://</a:t>
            </a:r>
            <a:r>
              <a:rPr lang="en-AU" u="sng" dirty="0" smtClean="0">
                <a:hlinkClick r:id="rId4"/>
              </a:rPr>
              <a:t>waterml2.csiro.au/validator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327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Clients - web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122" name="Picture 2" descr="https://lh5.googleusercontent.com/w1CN5M1UJkXrlt6tNEwUZ_nplX3gMiX6AZaYOPTUFZEq7tISsW1KbiQh6InxwIp8qsEW5ojcvslvWhq5mOIaITt323wtv9QSMdiZbc4KiP1UKh8ejoeWv1hT_kS1fGAXIi4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800"/>
            <a:ext cx="6912768" cy="494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9512" y="639110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u="sng" dirty="0">
                <a:hlinkClick r:id="rId4"/>
              </a:rPr>
              <a:t>http://waterml2.csiro.au/rgs-api/v1/viz</a:t>
            </a:r>
            <a:r>
              <a:rPr lang="en-AU" u="sng" dirty="0" smtClean="0">
                <a:hlinkClick r:id="rId4"/>
              </a:rPr>
              <a:t>/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849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Client – Workbench integration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146" name="Picture 2" descr="https://lh3.googleusercontent.com/BX3MCrDpfdgXuH7K5RcMhx-CiZSelyUfDP_fiNf2_YHpBMgkjR29XxD5NBvJxExDD0CIN6HhLHEzWlUzLai8RJOcOHnDdUZxBNEFTNrlFOFSLg9kabQoUH1lS1WMP-aqsdr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16832"/>
            <a:ext cx="6264696" cy="428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17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Interoperability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8194" name="Picture 2" descr="https://lh5.googleusercontent.com/nMA2T4QjVVw_1FaWVECm56PehGE8cZ1rjONnQFa1hQ8lE-17x7jwg7XSl6FOJdSDpPdi7q48w96tggSOLtgJv6HeTvAdHHjqzQoQo1AbRbUC7XtBa80Z8Hs_jN5Cs4voRkj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28800"/>
            <a:ext cx="5808076" cy="508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11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Interoperability experiment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Implemented a </a:t>
            </a:r>
            <a:r>
              <a:rPr lang="en-AU" dirty="0" err="1" smtClean="0"/>
              <a:t>RESTful</a:t>
            </a:r>
            <a:r>
              <a:rPr lang="en-AU" dirty="0" smtClean="0"/>
              <a:t> API</a:t>
            </a:r>
          </a:p>
          <a:p>
            <a:r>
              <a:rPr lang="en-AU" dirty="0" smtClean="0"/>
              <a:t>Implemented XML encoding though the API</a:t>
            </a:r>
          </a:p>
          <a:p>
            <a:r>
              <a:rPr lang="en-AU" dirty="0" smtClean="0"/>
              <a:t>Implemented</a:t>
            </a:r>
            <a:r>
              <a:rPr lang="en-AU" dirty="0"/>
              <a:t> </a:t>
            </a:r>
            <a:r>
              <a:rPr lang="en-AU" dirty="0" smtClean="0"/>
              <a:t>JSON encoding though the API</a:t>
            </a:r>
          </a:p>
          <a:p>
            <a:pPr marL="114300" indent="0">
              <a:buNone/>
            </a:pP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915712"/>
              </p:ext>
            </p:extLst>
          </p:nvPr>
        </p:nvGraphicFramePr>
        <p:xfrm>
          <a:off x="467544" y="2946830"/>
          <a:ext cx="7560840" cy="3784231"/>
        </p:xfrm>
        <a:graphic>
          <a:graphicData uri="http://schemas.openxmlformats.org/drawingml/2006/table">
            <a:tbl>
              <a:tblPr/>
              <a:tblGrid>
                <a:gridCol w="1628923"/>
                <a:gridCol w="2212700"/>
                <a:gridCol w="3719217"/>
              </a:tblGrid>
              <a:tr h="23541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100" b="1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Returns</a:t>
                      </a:r>
                      <a:endParaRPr lang="en-AU" sz="1100" dirty="0">
                        <a:effectLst/>
                      </a:endParaRPr>
                    </a:p>
                  </a:txBody>
                  <a:tcPr marL="42472" marR="91012" marT="30337" marB="3033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100" b="1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URL</a:t>
                      </a:r>
                      <a:endParaRPr lang="en-AU" sz="1100" dirty="0">
                        <a:effectLst/>
                      </a:endParaRPr>
                    </a:p>
                  </a:txBody>
                  <a:tcPr marL="42472" marR="91012" marT="30337" marB="3033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100" b="1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Description</a:t>
                      </a:r>
                      <a:endParaRPr lang="en-AU" sz="1100">
                        <a:effectLst/>
                      </a:endParaRPr>
                    </a:p>
                  </a:txBody>
                  <a:tcPr marL="42472" marR="91012" marT="30337" marB="30337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</a:tr>
              <a:tr h="412653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 dirty="0" err="1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MonitoringPoint</a:t>
                      </a:r>
                      <a:endParaRPr lang="en-AU" sz="1200" dirty="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/monitoring-point/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Returns a list of all monitoring points. Current returns fully encoded descriptions rather than simple references.</a:t>
                      </a:r>
                      <a:endParaRPr lang="en-US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 dirty="0" err="1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MonitoringPoint</a:t>
                      </a:r>
                      <a:endParaRPr lang="en-AU" sz="1200" dirty="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/monitoring-point/&lt;</a:t>
                      </a:r>
                      <a:r>
                        <a:rPr lang="en-AU" sz="1200" b="0" i="0" u="none" strike="noStrike" dirty="0" err="1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mp</a:t>
                      </a:r>
                      <a:r>
                        <a:rPr lang="en-AU" sz="1200" b="0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-id&gt;</a:t>
                      </a:r>
                      <a:endParaRPr lang="en-AU" sz="1200" dirty="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Returns description of a specific monitoring point by ID.</a:t>
                      </a:r>
                      <a:endParaRPr lang="en-US" sz="1200" dirty="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5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ConversionGroup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/conversion-group/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Returns a list of all available conversion groups (combinations of monitoring-points/</a:t>
                      </a:r>
                      <a:r>
                        <a:rPr lang="en-US" sz="1200" b="0" i="0" u="none" strike="noStrike" dirty="0" err="1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paramFrom</a:t>
                      </a:r>
                      <a:r>
                        <a:rPr lang="en-US" sz="1200" b="0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/</a:t>
                      </a:r>
                      <a:r>
                        <a:rPr lang="en-US" sz="1200" b="0" i="0" u="none" strike="noStrike" dirty="0" err="1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paramTo</a:t>
                      </a:r>
                      <a:endParaRPr lang="en-US" sz="1200" dirty="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602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ConversionGroup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/conversion-group/&lt;cg-id&gt;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Returns a specific conversion group description.</a:t>
                      </a:r>
                      <a:endParaRPr lang="en-US" sz="1200" dirty="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75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Conversion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/conversion/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Returns a list of all available conversions. Get latest rating also available.</a:t>
                      </a:r>
                      <a:endParaRPr lang="en-US" sz="1200" dirty="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Conversion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/conversion/&lt;conv-id&gt;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Returns a specific conversion by its identifier.</a:t>
                      </a:r>
                      <a:endParaRPr lang="en-US" sz="1200" dirty="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602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ConversionPeriod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/conversion-period/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Returns a list of all available conversion periods.</a:t>
                      </a:r>
                      <a:endParaRPr lang="en-US" sz="1200" dirty="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4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Gauging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/gauging/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Returns all available gauging observations.</a:t>
                      </a:r>
                      <a:endParaRPr lang="en-US" sz="1200" dirty="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16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Gauging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i="0" u="none" strike="noStrike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/gauging/&lt;gauging-id&gt;</a:t>
                      </a:r>
                      <a:endParaRPr lang="en-AU" sz="120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5E5E5E"/>
                          </a:solidFill>
                          <a:effectLst/>
                          <a:latin typeface="Arial"/>
                        </a:rPr>
                        <a:t>Returns a specific gauging observation by its identifier.</a:t>
                      </a:r>
                      <a:endParaRPr lang="en-US" sz="1200" dirty="0">
                        <a:effectLst/>
                      </a:endParaRPr>
                    </a:p>
                  </a:txBody>
                  <a:tcPr marL="42472" marR="42472" marT="30337" marB="3033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830388" y="1600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01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342</TotalTime>
  <Words>545</Words>
  <Application>Microsoft Office PowerPoint</Application>
  <PresentationFormat>On-screen Show (4:3)</PresentationFormat>
  <Paragraphs>125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Adjacency</vt:lpstr>
      <vt:lpstr>WaterML 2.0 Part 2 – Ratings, Gaugings and Sections</vt:lpstr>
      <vt:lpstr>WaterML2.0</vt:lpstr>
      <vt:lpstr>Hydrological observations</vt:lpstr>
      <vt:lpstr>Motivation</vt:lpstr>
      <vt:lpstr>Concepts harmonisation</vt:lpstr>
      <vt:lpstr>Ratings</vt:lpstr>
      <vt:lpstr>Ga(u)gings</vt:lpstr>
      <vt:lpstr>Sections</vt:lpstr>
      <vt:lpstr>Development status</vt:lpstr>
      <vt:lpstr>Interoperability experiment</vt:lpstr>
      <vt:lpstr>Web services</vt:lpstr>
      <vt:lpstr>Validation service</vt:lpstr>
      <vt:lpstr>Clients - web</vt:lpstr>
      <vt:lpstr>Client – Workbench integration</vt:lpstr>
      <vt:lpstr>Interoperability experiment</vt:lpstr>
      <vt:lpstr>Interoperability experiment</vt:lpstr>
    </vt:vector>
  </TitlesOfParts>
  <Company>Bureau of Meteorology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Sheahan</dc:creator>
  <cp:lastModifiedBy>Paul Sheahan</cp:lastModifiedBy>
  <cp:revision>49</cp:revision>
  <dcterms:created xsi:type="dcterms:W3CDTF">2014-08-15T17:55:09Z</dcterms:created>
  <dcterms:modified xsi:type="dcterms:W3CDTF">2014-08-16T02:19:29Z</dcterms:modified>
</cp:coreProperties>
</file>