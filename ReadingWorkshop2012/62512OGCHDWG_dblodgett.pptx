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Default Extension="emf" ContentType="image/x-e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1"/>
  </p:notesMasterIdLst>
  <p:sldIdLst>
    <p:sldId id="283" r:id="rId2"/>
    <p:sldId id="271" r:id="rId3"/>
    <p:sldId id="272" r:id="rId4"/>
    <p:sldId id="275" r:id="rId5"/>
    <p:sldId id="276" r:id="rId6"/>
    <p:sldId id="280" r:id="rId7"/>
    <p:sldId id="281" r:id="rId8"/>
    <p:sldId id="282" r:id="rId9"/>
    <p:sldId id="27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8776" autoAdjust="0"/>
  </p:normalViewPr>
  <p:slideViewPr>
    <p:cSldViewPr snapToGrid="0" snapToObjects="1">
      <p:cViewPr>
        <p:scale>
          <a:sx n="100" d="100"/>
          <a:sy n="100" d="100"/>
        </p:scale>
        <p:origin x="-1328" y="-12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notesMaster" Target="notesMasters/notesMaster1.xml"/><Relationship Id="rId12" Type="http://schemas.openxmlformats.org/officeDocument/2006/relationships/printerSettings" Target="printerSettings/printerSettings1.bin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B865B9-8167-5646-9E83-A1AD8E26A843}" type="datetimeFigureOut">
              <a:rPr lang="en-US" smtClean="0"/>
              <a:pPr/>
              <a:t>6/27/12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8520EE-99FD-ED45-ABF6-6F607D22F68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636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8520EE-99FD-ED45-ABF6-6F607D22F685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0067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404813" y="6083300"/>
            <a:ext cx="2016125" cy="39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88900" tIns="44450" rIns="88900" bIns="44450">
            <a:spAutoFit/>
          </a:bodyPr>
          <a:lstStyle/>
          <a:p>
            <a:pPr defTabSz="885825">
              <a:defRPr/>
            </a:pPr>
            <a:r>
              <a:rPr lang="en-US" altLang="en-US" sz="1000" b="1">
                <a:solidFill>
                  <a:schemeClr val="bg1"/>
                </a:solidFill>
                <a:ea typeface="ＭＳ Ｐゴシック" charset="0"/>
                <a:cs typeface="+mn-cs"/>
              </a:rPr>
              <a:t>U.S. Department of the Interior</a:t>
            </a:r>
          </a:p>
          <a:p>
            <a:pPr defTabSz="885825">
              <a:defRPr/>
            </a:pPr>
            <a:r>
              <a:rPr lang="en-US" altLang="en-US" sz="1000" b="1">
                <a:solidFill>
                  <a:schemeClr val="bg1"/>
                </a:solidFill>
                <a:ea typeface="ＭＳ Ｐゴシック" charset="0"/>
                <a:cs typeface="+mn-cs"/>
              </a:rPr>
              <a:t>U.S. Geological Survey</a:t>
            </a:r>
          </a:p>
        </p:txBody>
      </p:sp>
      <p:pic>
        <p:nvPicPr>
          <p:cNvPr id="5" name="Picture 9" descr="D:\Vugraph Info\Vugraph Templates\Templates-NEW-NMP and Bureau\ident_4_onscreen_png.png"/>
          <p:cNvPicPr>
            <a:picLocks noChangeAspect="1" noChangeArrowheads="1"/>
          </p:cNvPicPr>
          <p:nvPr/>
        </p:nvPicPr>
        <p:blipFill>
          <a:blip r:embed="rId2">
            <a:lum bright="100000"/>
          </a:blip>
          <a:srcRect/>
          <a:stretch>
            <a:fillRect/>
          </a:stretch>
        </p:blipFill>
        <p:spPr bwMode="black">
          <a:xfrm>
            <a:off x="457200" y="461963"/>
            <a:ext cx="2057400" cy="757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44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81000" y="2286000"/>
            <a:ext cx="8305800" cy="1143000"/>
          </a:xfrm>
        </p:spPr>
        <p:txBody>
          <a:bodyPr/>
          <a:lstStyle>
            <a:lvl1pPr>
              <a:defRPr sz="4400"/>
            </a:lvl1pPr>
          </a:lstStyle>
          <a:p>
            <a:pPr lvl="0"/>
            <a:r>
              <a:rPr lang="en-US" altLang="en-US" noProof="0" smtClean="0"/>
              <a:t>Click to edit Master title style</a:t>
            </a:r>
          </a:p>
        </p:txBody>
      </p:sp>
      <p:sp>
        <p:nvSpPr>
          <p:cNvPr id="1044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81000" y="3886200"/>
            <a:ext cx="8305800" cy="17526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altLang="en-US" noProof="0" smtClean="0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371600"/>
            <a:ext cx="4076700" cy="4495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0100" y="1371600"/>
            <a:ext cx="4076700" cy="4495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10350" y="152400"/>
            <a:ext cx="2076450" cy="57150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152400"/>
            <a:ext cx="6076950" cy="57150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F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152400"/>
            <a:ext cx="83058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0488" tIns="44450" rIns="90488" bIns="4445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1371600"/>
            <a:ext cx="8305800" cy="449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First level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pic>
        <p:nvPicPr>
          <p:cNvPr id="1028" name="Picture 11" descr="D:\Vugraph Info\Vugraph Templates\Templates-NEW-NMP and Bureau\ident-small_4_onscreen_png.png"/>
          <p:cNvPicPr>
            <a:picLocks noChangeAspect="1" noChangeArrowheads="1"/>
          </p:cNvPicPr>
          <p:nvPr/>
        </p:nvPicPr>
        <p:blipFill>
          <a:blip r:embed="rId13">
            <a:lum bright="100000"/>
          </a:blip>
          <a:srcRect/>
          <a:stretch>
            <a:fillRect/>
          </a:stretch>
        </p:blipFill>
        <p:spPr bwMode="black">
          <a:xfrm>
            <a:off x="457200" y="6094413"/>
            <a:ext cx="1143000" cy="420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FFFF99"/>
          </a:solidFill>
          <a:latin typeface="+mj-lt"/>
          <a:ea typeface="+mj-ea"/>
          <a:cs typeface="ＭＳ Ｐゴシック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FFFF99"/>
          </a:solidFill>
          <a:latin typeface="Arial" charset="0"/>
          <a:ea typeface="ＭＳ Ｐゴシック" charset="0"/>
          <a:cs typeface="ＭＳ Ｐゴシック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FFFF99"/>
          </a:solidFill>
          <a:latin typeface="Arial" charset="0"/>
          <a:ea typeface="ＭＳ Ｐゴシック" charset="0"/>
          <a:cs typeface="ＭＳ Ｐゴシック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FFFF99"/>
          </a:solidFill>
          <a:latin typeface="Arial" charset="0"/>
          <a:ea typeface="ＭＳ Ｐゴシック" charset="0"/>
          <a:cs typeface="ＭＳ Ｐゴシック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FFFF99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FFFF99"/>
          </a:solidFill>
          <a:latin typeface="Arial" charset="0"/>
          <a:ea typeface="ＭＳ Ｐゴシック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FFFF99"/>
          </a:solidFill>
          <a:latin typeface="Arial" charset="0"/>
          <a:ea typeface="ＭＳ Ｐゴシック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FFFF99"/>
          </a:solidFill>
          <a:latin typeface="Arial" charset="0"/>
          <a:ea typeface="ＭＳ Ｐゴシック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FFFF99"/>
          </a:solidFill>
          <a:latin typeface="Arial" charset="0"/>
          <a:ea typeface="ＭＳ Ｐゴシック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FFFF99"/>
        </a:buClr>
        <a:buSzPct val="150000"/>
        <a:buChar char="·"/>
        <a:defRPr sz="2800" b="1">
          <a:solidFill>
            <a:schemeClr val="bg1"/>
          </a:solidFill>
          <a:latin typeface="+mn-lt"/>
          <a:ea typeface="+mn-ea"/>
          <a:cs typeface="ＭＳ Ｐゴシック" charset="0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FFFF99"/>
        </a:buClr>
        <a:buSzPct val="150000"/>
        <a:buChar char="·"/>
        <a:defRPr sz="2400" b="1">
          <a:solidFill>
            <a:schemeClr val="bg1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rgbClr val="FFFF99"/>
        </a:buClr>
        <a:buSzPct val="150000"/>
        <a:buChar char="·"/>
        <a:defRPr sz="2000" b="1">
          <a:solidFill>
            <a:schemeClr val="bg1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rgbClr val="FFFF99"/>
        </a:buClr>
        <a:buSzPct val="150000"/>
        <a:buChar char="·"/>
        <a:defRPr b="1">
          <a:solidFill>
            <a:schemeClr val="bg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rgbClr val="FFFF99"/>
        </a:buClr>
        <a:buSzPct val="150000"/>
        <a:buChar char="·"/>
        <a:defRPr b="1">
          <a:solidFill>
            <a:schemeClr val="bg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rgbClr val="FFFF99"/>
        </a:buClr>
        <a:buSzPct val="150000"/>
        <a:buChar char="·"/>
        <a:defRPr b="1">
          <a:solidFill>
            <a:schemeClr val="bg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rgbClr val="FFFF99"/>
        </a:buClr>
        <a:buSzPct val="150000"/>
        <a:buChar char="·"/>
        <a:defRPr b="1">
          <a:solidFill>
            <a:schemeClr val="bg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rgbClr val="FFFF99"/>
        </a:buClr>
        <a:buSzPct val="150000"/>
        <a:buChar char="·"/>
        <a:defRPr b="1">
          <a:solidFill>
            <a:schemeClr val="bg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rgbClr val="FFFF99"/>
        </a:buClr>
        <a:buSzPct val="150000"/>
        <a:buChar char="·"/>
        <a:defRPr b="1">
          <a:solidFill>
            <a:schemeClr val="bg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em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1676400"/>
            <a:ext cx="8305800" cy="1752600"/>
          </a:xfrm>
        </p:spPr>
        <p:txBody>
          <a:bodyPr/>
          <a:lstStyle/>
          <a:p>
            <a:r>
              <a:rPr lang="en-US" dirty="0" smtClean="0"/>
              <a:t>U.S. National Water Census “Cyber – Platform” Update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Progress and challenges to overcome in realizing a high resolution, consistent water budget for the U.S.</a:t>
            </a:r>
            <a:br>
              <a:rPr lang="en-US" dirty="0" smtClean="0"/>
            </a:br>
            <a:endParaRPr lang="en-US" dirty="0" smtClean="0"/>
          </a:p>
          <a:p>
            <a:r>
              <a:rPr lang="en-US" sz="2400" dirty="0" smtClean="0"/>
              <a:t>David </a:t>
            </a:r>
            <a:r>
              <a:rPr lang="en-US" sz="2400" dirty="0"/>
              <a:t>L Blodgett, U.S. Geological Survey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16384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305800" cy="1143000"/>
          </a:xfrm>
        </p:spPr>
        <p:txBody>
          <a:bodyPr/>
          <a:lstStyle/>
          <a:p>
            <a:r>
              <a:rPr lang="en-US" dirty="0" smtClean="0"/>
              <a:t>Scope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940102"/>
            <a:ext cx="8305800" cy="4495800"/>
          </a:xfrm>
        </p:spPr>
        <p:txBody>
          <a:bodyPr/>
          <a:lstStyle/>
          <a:p>
            <a:r>
              <a:rPr lang="en-US" dirty="0" smtClean="0"/>
              <a:t>Support a national web portal for information about water availability, quality, and ecological integrity</a:t>
            </a:r>
            <a:r>
              <a:rPr lang="en-US" dirty="0" smtClean="0"/>
              <a:t>. – High Res Water Budget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Support a platform for nationally consistent multi-scale hydrologic and related modeling support.</a:t>
            </a:r>
          </a:p>
          <a:p>
            <a:endParaRPr lang="en-US" dirty="0" smtClean="0"/>
          </a:p>
          <a:p>
            <a:r>
              <a:rPr lang="en-US" dirty="0" smtClean="0"/>
              <a:t>Modeling-Decision Support Lifecycle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Modeling-decision support lifecycle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999" y="1371600"/>
            <a:ext cx="8305801" cy="4495800"/>
          </a:xfrm>
        </p:spPr>
        <p:txBody>
          <a:bodyPr/>
          <a:lstStyle/>
          <a:p>
            <a:pPr marL="514350" indent="-514350">
              <a:spcBef>
                <a:spcPts val="2472"/>
              </a:spcBef>
              <a:buFont typeface="+mj-lt"/>
              <a:buAutoNum type="arabicPeriod"/>
            </a:pPr>
            <a:r>
              <a:rPr lang="en-US" dirty="0" smtClean="0"/>
              <a:t>Models built using enterprise data and services.</a:t>
            </a:r>
          </a:p>
          <a:p>
            <a:pPr marL="514350" indent="-514350">
              <a:spcBef>
                <a:spcPts val="2472"/>
              </a:spcBef>
              <a:buFont typeface="+mj-lt"/>
              <a:buAutoNum type="arabicPeriod"/>
            </a:pPr>
            <a:r>
              <a:rPr lang="en-US" dirty="0" smtClean="0"/>
              <a:t>Calibrated model parameters and output contributed back to community portal.</a:t>
            </a:r>
          </a:p>
          <a:p>
            <a:pPr marL="514350" indent="-514350">
              <a:spcBef>
                <a:spcPts val="2472"/>
              </a:spcBef>
              <a:buFont typeface="+mj-lt"/>
              <a:buAutoNum type="arabicPeriod"/>
            </a:pPr>
            <a:r>
              <a:rPr lang="en-US" dirty="0" smtClean="0"/>
              <a:t>Model input and output tracked and available to decision support via common standards.</a:t>
            </a:r>
          </a:p>
          <a:p>
            <a:pPr marL="514350" indent="-514350">
              <a:buFont typeface="+mj-lt"/>
              <a:buAutoNum type="arabicPeriod"/>
            </a:pPr>
            <a:endParaRPr lang="en-US" dirty="0" smtClean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WaterSmart_specific.ep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0729" y="1470139"/>
            <a:ext cx="4447048" cy="4587027"/>
          </a:xfrm>
          <a:prstGeom prst="rect">
            <a:avLst/>
          </a:prstGeom>
        </p:spPr>
      </p:pic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National </a:t>
            </a:r>
            <a:r>
              <a:rPr lang="en-US" dirty="0" smtClean="0"/>
              <a:t>Water Census portal proposed architecture</a:t>
            </a:r>
            <a:endParaRPr lang="en-US" sz="3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305800" cy="932272"/>
          </a:xfrm>
        </p:spPr>
        <p:txBody>
          <a:bodyPr/>
          <a:lstStyle/>
          <a:p>
            <a:r>
              <a:rPr lang="en-US" dirty="0" smtClean="0"/>
              <a:t>Primary Interface Standards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381000" y="1084672"/>
          <a:ext cx="8305800" cy="42773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5408"/>
                <a:gridCol w="1773771"/>
                <a:gridCol w="4496621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Abbrev.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Purpose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Catalog Service for the Web using ISO Encoded</a:t>
                      </a:r>
                      <a:r>
                        <a:rPr lang="en-US" sz="1400" baseline="0" dirty="0" smtClean="0"/>
                        <a:t> Metadata</a:t>
                      </a:r>
                      <a:r>
                        <a:rPr lang="en-US" sz="1400" dirty="0" smtClean="0"/>
                        <a:t> 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CSW/ISO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Discovery</a:t>
                      </a:r>
                      <a:r>
                        <a:rPr lang="en-US" sz="1400" baseline="0" dirty="0" smtClean="0"/>
                        <a:t> m</a:t>
                      </a:r>
                      <a:r>
                        <a:rPr lang="en-US" sz="1400" dirty="0" smtClean="0"/>
                        <a:t>etadata and</a:t>
                      </a:r>
                      <a:r>
                        <a:rPr lang="en-US" sz="1400" baseline="0" dirty="0" smtClean="0"/>
                        <a:t> data service information</a:t>
                      </a:r>
                      <a:endParaRPr 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Web Map Service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WMS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Provides screen resolution</a:t>
                      </a:r>
                      <a:r>
                        <a:rPr lang="en-US" sz="1400" baseline="0" dirty="0" smtClean="0"/>
                        <a:t> visualizations of geographic data.</a:t>
                      </a:r>
                      <a:endParaRPr 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Web Coverage</a:t>
                      </a:r>
                      <a:r>
                        <a:rPr lang="en-US" sz="1400" baseline="0" dirty="0" smtClean="0"/>
                        <a:t> Service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WCS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Provides arbitrary</a:t>
                      </a:r>
                      <a:r>
                        <a:rPr lang="en-US" sz="1400" baseline="0" dirty="0" smtClean="0"/>
                        <a:t> resolution gridded* data</a:t>
                      </a:r>
                      <a:endParaRPr 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 err="1" smtClean="0"/>
                        <a:t>Opensource</a:t>
                      </a:r>
                      <a:r>
                        <a:rPr lang="en-US" sz="1400" dirty="0" smtClean="0"/>
                        <a:t> Project for a Network Data Access Protocol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OPeNDAP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Provides </a:t>
                      </a:r>
                      <a:r>
                        <a:rPr lang="en-US" sz="1400" baseline="0" dirty="0" smtClean="0"/>
                        <a:t>access to any explicitly indexed data esp. multidimensional data.</a:t>
                      </a:r>
                      <a:endParaRPr 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Web Feature Service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WFS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aseline="0" dirty="0" smtClean="0"/>
                        <a:t>Allows query of and access to entities - (their geometry and attributes) </a:t>
                      </a:r>
                      <a:endParaRPr 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Sensor Observation Service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SOS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Provides query</a:t>
                      </a:r>
                      <a:r>
                        <a:rPr lang="en-US" sz="1400" baseline="0" dirty="0" smtClean="0"/>
                        <a:t> mechanisms unique to the needs of time-series data access</a:t>
                      </a:r>
                      <a:endParaRPr 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Web Processing Service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WPS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Provides a mechanism to describe and execute processing algorithms via a web based API</a:t>
                      </a:r>
                      <a:endParaRPr lang="en-US" sz="14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Developed Components: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371600"/>
            <a:ext cx="8559800" cy="4495800"/>
          </a:xfrm>
        </p:spPr>
        <p:txBody>
          <a:bodyPr/>
          <a:lstStyle/>
          <a:p>
            <a:pPr>
              <a:spcAft>
                <a:spcPts val="3000"/>
              </a:spcAft>
            </a:pPr>
            <a:r>
              <a:rPr lang="en-US" dirty="0" smtClean="0"/>
              <a:t>Brokered “</a:t>
            </a:r>
            <a:r>
              <a:rPr lang="en-US" dirty="0" err="1" smtClean="0"/>
              <a:t>uploader</a:t>
            </a:r>
            <a:r>
              <a:rPr lang="en-US" dirty="0" smtClean="0"/>
              <a:t>” for THREDDS-based SOS</a:t>
            </a:r>
          </a:p>
          <a:p>
            <a:pPr>
              <a:spcAft>
                <a:spcPts val="3000"/>
              </a:spcAft>
            </a:pPr>
            <a:r>
              <a:rPr lang="en-US" dirty="0" smtClean="0"/>
              <a:t>Scientist - written (R) statistics run as generalized WPS algorithm to generate Hydro/</a:t>
            </a:r>
            <a:r>
              <a:rPr lang="en-US" dirty="0" err="1" smtClean="0"/>
              <a:t>Ecoflow</a:t>
            </a:r>
            <a:r>
              <a:rPr lang="en-US" dirty="0" smtClean="0"/>
              <a:t> statistics.</a:t>
            </a:r>
          </a:p>
          <a:p>
            <a:pPr>
              <a:spcAft>
                <a:spcPts val="3000"/>
              </a:spcAft>
            </a:pPr>
            <a:r>
              <a:rPr lang="en-US" dirty="0"/>
              <a:t>CSW-Transactions to track artifacts and versions</a:t>
            </a:r>
            <a:r>
              <a:rPr lang="en-US" dirty="0" smtClean="0"/>
              <a:t>.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Service Integrations to Note: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3000"/>
              </a:spcAft>
            </a:pPr>
            <a:r>
              <a:rPr lang="en-US" dirty="0" smtClean="0"/>
              <a:t>ISO 19115/119-CSW Metadata Drives App.</a:t>
            </a:r>
          </a:p>
          <a:p>
            <a:pPr>
              <a:spcAft>
                <a:spcPts val="3000"/>
              </a:spcAft>
            </a:pPr>
            <a:r>
              <a:rPr lang="en-US" dirty="0" smtClean="0"/>
              <a:t>Feature time series – WMS/WFS and SOS.</a:t>
            </a:r>
          </a:p>
          <a:p>
            <a:pPr>
              <a:spcAft>
                <a:spcPts val="3000"/>
              </a:spcAft>
            </a:pPr>
            <a:r>
              <a:rPr lang="en-US" dirty="0" smtClean="0"/>
              <a:t>WPS outputs SOS or other web service.</a:t>
            </a:r>
          </a:p>
          <a:p>
            <a:pPr>
              <a:spcAft>
                <a:spcPts val="3000"/>
              </a:spcAft>
            </a:pPr>
            <a:r>
              <a:rPr lang="en-US" dirty="0" smtClean="0"/>
              <a:t>WPS “data-broker” consumes SOS to calculate Hydro/Eco statistics.</a:t>
            </a:r>
          </a:p>
        </p:txBody>
      </p:sp>
    </p:spTree>
    <p:extLst>
      <p:ext uri="{BB962C8B-B14F-4D97-AF65-F5344CB8AC3E}">
        <p14:creationId xmlns:p14="http://schemas.microsoft.com/office/powerpoint/2010/main" val="15469803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305800" cy="1143000"/>
          </a:xfrm>
        </p:spPr>
        <p:txBody>
          <a:bodyPr/>
          <a:lstStyle/>
          <a:p>
            <a:r>
              <a:rPr lang="en-US" dirty="0" smtClean="0"/>
              <a:t>Primary Challenges: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889000"/>
            <a:ext cx="8305800" cy="4495800"/>
          </a:xfrm>
        </p:spPr>
        <p:txBody>
          <a:bodyPr/>
          <a:lstStyle/>
          <a:p>
            <a:pPr>
              <a:spcAft>
                <a:spcPts val="3000"/>
              </a:spcAft>
            </a:pPr>
            <a:r>
              <a:rPr lang="en-US" dirty="0" smtClean="0"/>
              <a:t>How to utilize NHD+ </a:t>
            </a:r>
            <a:r>
              <a:rPr lang="en-US" sz="1800" dirty="0" smtClean="0"/>
              <a:t>(Lower Res, Clean, w/ catchments)</a:t>
            </a:r>
            <a:r>
              <a:rPr lang="en-US" dirty="0" smtClean="0"/>
              <a:t> and NHD High Res </a:t>
            </a:r>
            <a:r>
              <a:rPr lang="en-US" sz="1800" dirty="0" smtClean="0"/>
              <a:t>(Most updated, only streams) </a:t>
            </a:r>
            <a:r>
              <a:rPr lang="en-US" dirty="0" smtClean="0"/>
              <a:t>in the same system.</a:t>
            </a:r>
          </a:p>
          <a:p>
            <a:pPr>
              <a:spcAft>
                <a:spcPts val="3000"/>
              </a:spcAft>
            </a:pPr>
            <a:r>
              <a:rPr lang="en-US" dirty="0" smtClean="0"/>
              <a:t>How to tie well water withdrawals to hydrography for water use evaluation.</a:t>
            </a:r>
          </a:p>
          <a:p>
            <a:pPr>
              <a:spcAft>
                <a:spcPts val="3000"/>
              </a:spcAft>
            </a:pPr>
            <a:r>
              <a:rPr lang="en-US" dirty="0" smtClean="0"/>
              <a:t>Relating observation and model result services to their feature representations.</a:t>
            </a:r>
          </a:p>
        </p:txBody>
      </p:sp>
    </p:spTree>
    <p:extLst>
      <p:ext uri="{BB962C8B-B14F-4D97-AF65-F5344CB8AC3E}">
        <p14:creationId xmlns:p14="http://schemas.microsoft.com/office/powerpoint/2010/main" val="5848822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81200" y="3048000"/>
            <a:ext cx="6858000" cy="1143000"/>
          </a:xfrm>
        </p:spPr>
        <p:txBody>
          <a:bodyPr/>
          <a:lstStyle/>
          <a:p>
            <a:pPr>
              <a:defRPr/>
            </a:pPr>
            <a:r>
              <a:rPr lang="en-US" dirty="0" smtClean="0">
                <a:cs typeface="+mj-cs"/>
              </a:rPr>
              <a:t>Thank you!</a:t>
            </a:r>
          </a:p>
        </p:txBody>
      </p:sp>
      <p:sp>
        <p:nvSpPr>
          <p:cNvPr id="82947" name="Rectangle 1027"/>
          <p:cNvSpPr txBox="1">
            <a:spLocks noChangeArrowheads="1"/>
          </p:cNvSpPr>
          <p:nvPr/>
        </p:nvSpPr>
        <p:spPr bwMode="auto">
          <a:xfrm>
            <a:off x="2667000" y="4572000"/>
            <a:ext cx="8686800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488" tIns="44450" rIns="90488" bIns="44450">
            <a:prstTxWarp prst="textNoShape">
              <a:avLst/>
            </a:prstTxWarp>
          </a:bodyPr>
          <a:lstStyle/>
          <a:p>
            <a:pPr>
              <a:spcBef>
                <a:spcPct val="20000"/>
              </a:spcBef>
              <a:buClr>
                <a:srgbClr val="FFFF99"/>
              </a:buClr>
              <a:buSzPct val="150000"/>
            </a:pPr>
            <a:r>
              <a:rPr lang="en-US" sz="2000" b="1" dirty="0" smtClean="0">
                <a:solidFill>
                  <a:srgbClr val="FFFFFF"/>
                </a:solidFill>
              </a:rPr>
              <a:t>Dave Blodgett and Nate Booth</a:t>
            </a:r>
          </a:p>
          <a:p>
            <a:pPr>
              <a:spcBef>
                <a:spcPct val="20000"/>
              </a:spcBef>
              <a:buClr>
                <a:srgbClr val="FFFF99"/>
              </a:buClr>
              <a:buSzPct val="150000"/>
            </a:pPr>
            <a:r>
              <a:rPr lang="en-US" sz="2000" b="1" dirty="0">
                <a:solidFill>
                  <a:srgbClr val="FFFFFF"/>
                </a:solidFill>
              </a:rPr>
              <a:t>USGS Center for Integrated Data Analytics (CIDA)</a:t>
            </a:r>
          </a:p>
          <a:p>
            <a:pPr>
              <a:spcBef>
                <a:spcPct val="20000"/>
              </a:spcBef>
              <a:buClr>
                <a:srgbClr val="FFFF99"/>
              </a:buClr>
              <a:buSzPct val="150000"/>
            </a:pPr>
            <a:r>
              <a:rPr lang="en-US" sz="2000" b="1" dirty="0">
                <a:solidFill>
                  <a:srgbClr val="FFFFFF"/>
                </a:solidFill>
              </a:rPr>
              <a:t>Ph: 608-821-3899</a:t>
            </a:r>
          </a:p>
          <a:p>
            <a:pPr>
              <a:spcBef>
                <a:spcPct val="20000"/>
              </a:spcBef>
              <a:buClr>
                <a:srgbClr val="FFFF99"/>
              </a:buClr>
              <a:buSzPct val="150000"/>
            </a:pPr>
            <a:r>
              <a:rPr lang="en-US" sz="2000" b="1" dirty="0">
                <a:solidFill>
                  <a:srgbClr val="FFFFFF"/>
                </a:solidFill>
              </a:rPr>
              <a:t>Email: </a:t>
            </a:r>
            <a:r>
              <a:rPr lang="en-US" sz="2000" b="1" dirty="0" err="1">
                <a:solidFill>
                  <a:srgbClr val="FFFFFF"/>
                </a:solidFill>
              </a:rPr>
              <a:t>dblodgett@usgs.gov</a:t>
            </a:r>
            <a:endParaRPr lang="en-US" sz="2000" b="1" dirty="0">
              <a:solidFill>
                <a:srgbClr val="FFFFFF"/>
              </a:solidFill>
            </a:endParaRPr>
          </a:p>
          <a:p>
            <a:pPr>
              <a:spcBef>
                <a:spcPct val="20000"/>
              </a:spcBef>
              <a:buClr>
                <a:srgbClr val="FFFF99"/>
              </a:buClr>
              <a:buSzPct val="150000"/>
            </a:pPr>
            <a:endParaRPr lang="en-US" sz="2000" b="1" dirty="0">
              <a:solidFill>
                <a:srgbClr val="FFFFFF"/>
              </a:solidFill>
            </a:endParaRPr>
          </a:p>
        </p:txBody>
      </p:sp>
      <p:pic>
        <p:nvPicPr>
          <p:cNvPr id="82948" name="Picture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" y="5791200"/>
            <a:ext cx="19050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USGS_2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Desktop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0"/>
          </a:defRPr>
        </a:defPPr>
      </a:lstStyle>
    </a:lnDef>
  </a:objectDefaults>
  <a:extraClrSchemeLst>
    <a:extraClrScheme>
      <a:clrScheme name="Desktop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ktop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ktop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ktop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ktop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ktop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ktop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686</TotalTime>
  <Words>413</Words>
  <Application>Microsoft Macintosh PowerPoint</Application>
  <PresentationFormat>On-screen Show (4:3)</PresentationFormat>
  <Paragraphs>58</Paragraphs>
  <Slides>9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USGS_2</vt:lpstr>
      <vt:lpstr>U.S. National Water Census “Cyber – Platform” Update</vt:lpstr>
      <vt:lpstr>Scope</vt:lpstr>
      <vt:lpstr>Modeling-decision support lifecycle</vt:lpstr>
      <vt:lpstr>National Water Census portal proposed architecture</vt:lpstr>
      <vt:lpstr>Primary Interface Standards</vt:lpstr>
      <vt:lpstr>Developed Components: </vt:lpstr>
      <vt:lpstr>Service Integrations to Note:</vt:lpstr>
      <vt:lpstr>Primary Challenges:</vt:lpstr>
      <vt:lpstr>Thank you!</vt:lpstr>
    </vt:vector>
  </TitlesOfParts>
  <Company>US Geological Survey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David Blodgett</dc:creator>
  <cp:lastModifiedBy>David</cp:lastModifiedBy>
  <cp:revision>19</cp:revision>
  <dcterms:created xsi:type="dcterms:W3CDTF">2012-06-11T12:47:15Z</dcterms:created>
  <dcterms:modified xsi:type="dcterms:W3CDTF">2012-06-27T08:16:59Z</dcterms:modified>
</cp:coreProperties>
</file>