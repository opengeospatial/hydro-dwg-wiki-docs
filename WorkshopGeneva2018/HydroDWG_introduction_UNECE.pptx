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16"/>
  </p:notesMasterIdLst>
  <p:handoutMasterIdLst>
    <p:handoutMasterId r:id="rId17"/>
  </p:handoutMasterIdLst>
  <p:sldIdLst>
    <p:sldId id="256" r:id="rId2"/>
    <p:sldId id="265" r:id="rId3"/>
    <p:sldId id="266" r:id="rId4"/>
    <p:sldId id="267" r:id="rId5"/>
    <p:sldId id="279" r:id="rId6"/>
    <p:sldId id="280" r:id="rId7"/>
    <p:sldId id="284" r:id="rId8"/>
    <p:sldId id="278" r:id="rId9"/>
    <p:sldId id="282" r:id="rId10"/>
    <p:sldId id="269" r:id="rId11"/>
    <p:sldId id="285" r:id="rId12"/>
    <p:sldId id="260" r:id="rId13"/>
    <p:sldId id="288" r:id="rId14"/>
    <p:sldId id="289" r:id="rId15"/>
  </p:sldIdLst>
  <p:sldSz cx="9144000" cy="6858000" type="screen4x3"/>
  <p:notesSz cx="6904038" cy="9220200"/>
  <p:defaultTextStyle>
    <a:defPPr>
      <a:defRPr lang="en-US"/>
    </a:defPPr>
    <a:lvl1pPr algn="l" rtl="0" fontAlgn="base">
      <a:spcBef>
        <a:spcPct val="0"/>
      </a:spcBef>
      <a:spcAft>
        <a:spcPct val="0"/>
      </a:spcAft>
      <a:defRPr sz="1000" b="1" kern="1200">
        <a:solidFill>
          <a:schemeClr val="tx1"/>
        </a:solidFill>
        <a:latin typeface="CG Times" charset="0"/>
        <a:ea typeface="MS PGothic" pitchFamily="34" charset="-128"/>
        <a:cs typeface="+mn-cs"/>
      </a:defRPr>
    </a:lvl1pPr>
    <a:lvl2pPr marL="457200" algn="l" rtl="0" fontAlgn="base">
      <a:spcBef>
        <a:spcPct val="0"/>
      </a:spcBef>
      <a:spcAft>
        <a:spcPct val="0"/>
      </a:spcAft>
      <a:defRPr sz="1000" b="1" kern="1200">
        <a:solidFill>
          <a:schemeClr val="tx1"/>
        </a:solidFill>
        <a:latin typeface="CG Times" charset="0"/>
        <a:ea typeface="MS PGothic" pitchFamily="34" charset="-128"/>
        <a:cs typeface="+mn-cs"/>
      </a:defRPr>
    </a:lvl2pPr>
    <a:lvl3pPr marL="914400" algn="l" rtl="0" fontAlgn="base">
      <a:spcBef>
        <a:spcPct val="0"/>
      </a:spcBef>
      <a:spcAft>
        <a:spcPct val="0"/>
      </a:spcAft>
      <a:defRPr sz="1000" b="1" kern="1200">
        <a:solidFill>
          <a:schemeClr val="tx1"/>
        </a:solidFill>
        <a:latin typeface="CG Times" charset="0"/>
        <a:ea typeface="MS PGothic" pitchFamily="34" charset="-128"/>
        <a:cs typeface="+mn-cs"/>
      </a:defRPr>
    </a:lvl3pPr>
    <a:lvl4pPr marL="1371600" algn="l" rtl="0" fontAlgn="base">
      <a:spcBef>
        <a:spcPct val="0"/>
      </a:spcBef>
      <a:spcAft>
        <a:spcPct val="0"/>
      </a:spcAft>
      <a:defRPr sz="1000" b="1" kern="1200">
        <a:solidFill>
          <a:schemeClr val="tx1"/>
        </a:solidFill>
        <a:latin typeface="CG Times" charset="0"/>
        <a:ea typeface="MS PGothic" pitchFamily="34" charset="-128"/>
        <a:cs typeface="+mn-cs"/>
      </a:defRPr>
    </a:lvl4pPr>
    <a:lvl5pPr marL="1828800" algn="l" rtl="0" fontAlgn="base">
      <a:spcBef>
        <a:spcPct val="0"/>
      </a:spcBef>
      <a:spcAft>
        <a:spcPct val="0"/>
      </a:spcAft>
      <a:defRPr sz="1000" b="1" kern="1200">
        <a:solidFill>
          <a:schemeClr val="tx1"/>
        </a:solidFill>
        <a:latin typeface="CG Times" charset="0"/>
        <a:ea typeface="MS PGothic" pitchFamily="34" charset="-128"/>
        <a:cs typeface="+mn-cs"/>
      </a:defRPr>
    </a:lvl5pPr>
    <a:lvl6pPr marL="2286000" algn="l" defTabSz="914400" rtl="0" eaLnBrk="1" latinLnBrk="0" hangingPunct="1">
      <a:defRPr sz="1000" b="1" kern="1200">
        <a:solidFill>
          <a:schemeClr val="tx1"/>
        </a:solidFill>
        <a:latin typeface="CG Times" charset="0"/>
        <a:ea typeface="MS PGothic" pitchFamily="34" charset="-128"/>
        <a:cs typeface="+mn-cs"/>
      </a:defRPr>
    </a:lvl6pPr>
    <a:lvl7pPr marL="2743200" algn="l" defTabSz="914400" rtl="0" eaLnBrk="1" latinLnBrk="0" hangingPunct="1">
      <a:defRPr sz="1000" b="1" kern="1200">
        <a:solidFill>
          <a:schemeClr val="tx1"/>
        </a:solidFill>
        <a:latin typeface="CG Times" charset="0"/>
        <a:ea typeface="MS PGothic" pitchFamily="34" charset="-128"/>
        <a:cs typeface="+mn-cs"/>
      </a:defRPr>
    </a:lvl7pPr>
    <a:lvl8pPr marL="3200400" algn="l" defTabSz="914400" rtl="0" eaLnBrk="1" latinLnBrk="0" hangingPunct="1">
      <a:defRPr sz="1000" b="1" kern="1200">
        <a:solidFill>
          <a:schemeClr val="tx1"/>
        </a:solidFill>
        <a:latin typeface="CG Times" charset="0"/>
        <a:ea typeface="MS PGothic" pitchFamily="34" charset="-128"/>
        <a:cs typeface="+mn-cs"/>
      </a:defRPr>
    </a:lvl8pPr>
    <a:lvl9pPr marL="3657600" algn="l" defTabSz="914400" rtl="0" eaLnBrk="1" latinLnBrk="0" hangingPunct="1">
      <a:defRPr sz="1000" b="1" kern="1200">
        <a:solidFill>
          <a:schemeClr val="tx1"/>
        </a:solidFill>
        <a:latin typeface="CG Times" charset="0"/>
        <a:ea typeface="MS PGothic" pitchFamily="34" charset="-128"/>
        <a:cs typeface="+mn-cs"/>
      </a:defRPr>
    </a:lvl9pPr>
  </p:defaultTextStyle>
  <p:extLst>
    <p:ext uri="{EFAFB233-063F-42B5-8137-9DF3F51BA10A}">
      <p15:sldGuideLst xmlns:p15="http://schemas.microsoft.com/office/powerpoint/2012/main">
        <p15:guide id="1" orient="horz" pos="1968">
          <p15:clr>
            <a:srgbClr val="A4A3A4"/>
          </p15:clr>
        </p15:guide>
        <p15:guide id="2" pos="43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FFFF"/>
    <a:srgbClr val="FF0000"/>
    <a:srgbClr val="006600"/>
    <a:srgbClr val="000066"/>
    <a:srgbClr val="FFFF99"/>
    <a:srgbClr val="969696"/>
    <a:srgbClr val="5C0909"/>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55" autoAdjust="0"/>
    <p:restoredTop sz="94671"/>
  </p:normalViewPr>
  <p:slideViewPr>
    <p:cSldViewPr showGuides="1">
      <p:cViewPr varScale="1">
        <p:scale>
          <a:sx n="91" d="100"/>
          <a:sy n="91" d="100"/>
        </p:scale>
        <p:origin x="1824" y="176"/>
      </p:cViewPr>
      <p:guideLst>
        <p:guide orient="horz" pos="1968"/>
        <p:guide pos="4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pieChart>
        <c:varyColors val="1"/>
        <c:ser>
          <c:idx val="0"/>
          <c:order val="0"/>
          <c:dLbls>
            <c:dLbl>
              <c:idx val="0"/>
              <c:tx>
                <c:rich>
                  <a:bodyPr/>
                  <a:lstStyle/>
                  <a:p>
                    <a:pPr>
                      <a:defRPr sz="1400" baseline="0">
                        <a:solidFill>
                          <a:schemeClr val="bg1"/>
                        </a:solidFill>
                      </a:defRPr>
                    </a:pPr>
                    <a:r>
                      <a:rPr lang="en-US" dirty="0"/>
                      <a:t>202</a:t>
                    </a:r>
                  </a:p>
                </c:rich>
              </c:tx>
              <c:sp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DE3-2E4B-9F15-55F408693189}"/>
                </c:ext>
              </c:extLst>
            </c:dLbl>
            <c:dLbl>
              <c:idx val="1"/>
              <c:layout>
                <c:manualLayout>
                  <c:x val="0.108234470691164"/>
                  <c:y val="-0.14129811898512701"/>
                </c:manualLayout>
              </c:layout>
              <c:tx>
                <c:rich>
                  <a:bodyPr/>
                  <a:lstStyle/>
                  <a:p>
                    <a:pPr>
                      <a:defRPr sz="1400" baseline="0">
                        <a:solidFill>
                          <a:schemeClr val="bg1"/>
                        </a:solidFill>
                      </a:defRPr>
                    </a:pPr>
                    <a:r>
                      <a:rPr lang="en-US" dirty="0"/>
                      <a:t>177</a:t>
                    </a:r>
                  </a:p>
                </c:rich>
              </c:tx>
              <c:sp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DE3-2E4B-9F15-55F408693189}"/>
                </c:ext>
              </c:extLst>
            </c:dLbl>
            <c:dLbl>
              <c:idx val="2"/>
              <c:tx>
                <c:rich>
                  <a:bodyPr/>
                  <a:lstStyle/>
                  <a:p>
                    <a:pPr>
                      <a:defRPr sz="1400" baseline="0">
                        <a:solidFill>
                          <a:schemeClr val="bg1"/>
                        </a:solidFill>
                      </a:defRPr>
                    </a:pPr>
                    <a:r>
                      <a:rPr lang="en-US" dirty="0"/>
                      <a:t>100</a:t>
                    </a:r>
                  </a:p>
                </c:rich>
              </c:tx>
              <c:sp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DE3-2E4B-9F15-55F408693189}"/>
                </c:ext>
              </c:extLst>
            </c:dLbl>
            <c:dLbl>
              <c:idx val="3"/>
              <c:spPr/>
              <c:txPr>
                <a:bodyPr/>
                <a:lstStyle/>
                <a:p>
                  <a:pPr>
                    <a:defRPr sz="1400" baseline="0">
                      <a:solidFill>
                        <a:schemeClr val="bg1"/>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3-FDE3-2E4B-9F15-55F408693189}"/>
                </c:ext>
              </c:extLst>
            </c:dLbl>
            <c:dLbl>
              <c:idx val="5"/>
              <c:tx>
                <c:rich>
                  <a:bodyPr/>
                  <a:lstStyle/>
                  <a:p>
                    <a:r>
                      <a:rPr lang="en-US" dirty="0"/>
                      <a:t>3</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DE3-2E4B-9F15-55F408693189}"/>
                </c:ext>
              </c:extLst>
            </c:dLbl>
            <c:spPr>
              <a:noFill/>
              <a:ln>
                <a:noFill/>
              </a:ln>
              <a:effectLst/>
            </c:spPr>
            <c:txPr>
              <a:bodyPr/>
              <a:lstStyle/>
              <a:p>
                <a:pPr>
                  <a:defRPr sz="1400" baseline="0"/>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Sheet1!$A$2:$A$7</c:f>
              <c:strCache>
                <c:ptCount val="6"/>
                <c:pt idx="0">
                  <c:v>Europe</c:v>
                </c:pt>
                <c:pt idx="1">
                  <c:v>N. America</c:v>
                </c:pt>
                <c:pt idx="2">
                  <c:v>Asia / Pacific</c:v>
                </c:pt>
                <c:pt idx="3">
                  <c:v>Middle East</c:v>
                </c:pt>
                <c:pt idx="4">
                  <c:v>Africa</c:v>
                </c:pt>
                <c:pt idx="5">
                  <c:v>S. America</c:v>
                </c:pt>
              </c:strCache>
            </c:strRef>
          </c:cat>
          <c:val>
            <c:numRef>
              <c:f>Sheet1!$B$2:$B$7</c:f>
              <c:numCache>
                <c:formatCode>General</c:formatCode>
                <c:ptCount val="6"/>
                <c:pt idx="0">
                  <c:v>208</c:v>
                </c:pt>
                <c:pt idx="1">
                  <c:v>189</c:v>
                </c:pt>
                <c:pt idx="2">
                  <c:v>85</c:v>
                </c:pt>
                <c:pt idx="3">
                  <c:v>32</c:v>
                </c:pt>
                <c:pt idx="4">
                  <c:v>6</c:v>
                </c:pt>
                <c:pt idx="5">
                  <c:v>2</c:v>
                </c:pt>
              </c:numCache>
            </c:numRef>
          </c:val>
          <c:extLst>
            <c:ext xmlns:c16="http://schemas.microsoft.com/office/drawing/2014/chart" uri="{C3380CC4-5D6E-409C-BE32-E72D297353CC}">
              <c16:uniqueId val="{00000004-FDE3-2E4B-9F15-55F408693189}"/>
            </c:ext>
          </c:extLst>
        </c:ser>
        <c:dLbls>
          <c:showLegendKey val="0"/>
          <c:showVal val="0"/>
          <c:showCatName val="0"/>
          <c:showSerName val="0"/>
          <c:showPercent val="0"/>
          <c:showBubbleSize val="0"/>
          <c:showLeaderLines val="1"/>
        </c:dLbls>
        <c:firstSliceAng val="0"/>
      </c:pieChart>
    </c:plotArea>
    <c:legend>
      <c:legendPos val="r"/>
      <c:layout>
        <c:manualLayout>
          <c:xMode val="edge"/>
          <c:yMode val="edge"/>
          <c:x val="0.63864469992894102"/>
          <c:y val="0.22011326029898401"/>
          <c:w val="0.21738033919468999"/>
          <c:h val="0.49093289969188603"/>
        </c:manualLayout>
      </c:layout>
      <c:overlay val="0"/>
      <c:txPr>
        <a:bodyPr/>
        <a:lstStyle/>
        <a:p>
          <a:pPr>
            <a:defRPr sz="1600"/>
          </a:pPr>
          <a:endParaRPr lang="en-US"/>
        </a:p>
      </c:txPr>
    </c:legend>
    <c:plotVisOnly val="1"/>
    <c:dispBlanksAs val="gap"/>
    <c:showDLblsOverMax val="0"/>
  </c:chart>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47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3" name="Rectangle 3"/>
          <p:cNvSpPr>
            <a:spLocks noGrp="1" noChangeArrowheads="1"/>
          </p:cNvSpPr>
          <p:nvPr>
            <p:ph type="dt" sz="quarter"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414724" name="Rectangle 4"/>
          <p:cNvSpPr>
            <a:spLocks noGrp="1" noChangeArrowheads="1"/>
          </p:cNvSpPr>
          <p:nvPr>
            <p:ph type="ftr" sz="quarter" idx="2"/>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5" name="Rectangle 5"/>
          <p:cNvSpPr>
            <a:spLocks noGrp="1" noChangeArrowheads="1"/>
          </p:cNvSpPr>
          <p:nvPr>
            <p:ph type="sldNum" sz="quarter" idx="3"/>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defRPr>
            </a:lvl1pPr>
          </a:lstStyle>
          <a:p>
            <a:pPr>
              <a:defRPr/>
            </a:pPr>
            <a:fld id="{AA11377C-5D62-444C-A046-781F54E350EF}" type="slidenum">
              <a:rPr lang="en-US"/>
              <a:pPr>
                <a:defRPr/>
              </a:pPr>
              <a:t>‹#›</a:t>
            </a:fld>
            <a:endParaRPr lang="en-US"/>
          </a:p>
        </p:txBody>
      </p:sp>
    </p:spTree>
    <p:extLst>
      <p:ext uri="{BB962C8B-B14F-4D97-AF65-F5344CB8AC3E}">
        <p14:creationId xmlns:p14="http://schemas.microsoft.com/office/powerpoint/2010/main" val="35947132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22532" name="Rectangle 4"/>
          <p:cNvSpPr>
            <a:spLocks noGrp="1" noRot="1" noChangeAspect="1" noChangeArrowheads="1" noTextEdit="1"/>
          </p:cNvSpPr>
          <p:nvPr>
            <p:ph type="sldImg" idx="2"/>
          </p:nvPr>
        </p:nvSpPr>
        <p:spPr bwMode="auto">
          <a:xfrm>
            <a:off x="1147763" y="692150"/>
            <a:ext cx="4610100" cy="3457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20750" y="4379913"/>
            <a:ext cx="5062538" cy="4148137"/>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5126" name="Rectangle 6"/>
          <p:cNvSpPr>
            <a:spLocks noGrp="1" noChangeArrowheads="1"/>
          </p:cNvSpPr>
          <p:nvPr>
            <p:ph type="ftr" sz="quarter" idx="4"/>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defRPr>
            </a:lvl1pPr>
          </a:lstStyle>
          <a:p>
            <a:pPr>
              <a:defRPr/>
            </a:pPr>
            <a:fld id="{A46F33C5-2FE3-480B-944B-ED02EA43F960}" type="slidenum">
              <a:rPr lang="en-US"/>
              <a:pPr>
                <a:defRPr/>
              </a:pPr>
              <a:t>‹#›</a:t>
            </a:fld>
            <a:endParaRPr lang="en-US"/>
          </a:p>
        </p:txBody>
      </p:sp>
    </p:spTree>
    <p:extLst>
      <p:ext uri="{BB962C8B-B14F-4D97-AF65-F5344CB8AC3E}">
        <p14:creationId xmlns:p14="http://schemas.microsoft.com/office/powerpoint/2010/main" val="20849349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742950" indent="-28575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11430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6002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20574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library.wmo.int/opac/doc_num.php?explnum_id=3645"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library.wmo.int/doc_num.php?explnum_id=3404"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NewBaskerville-Roman"/>
              </a:rPr>
              <a:t>Prevents a single, self-interested party from controlling a standard</a:t>
            </a:r>
          </a:p>
          <a:p>
            <a:pPr lvl="3"/>
            <a:endParaRPr lang="en-US">
              <a:latin typeface="NewBaskerville-Roman"/>
            </a:endParaRPr>
          </a:p>
          <a:p>
            <a:r>
              <a:rPr lang="en-US">
                <a:latin typeface="NewBaskerville-Roman"/>
              </a:rPr>
              <a:t>Facilitates competition by lowering the cost of entry</a:t>
            </a:r>
          </a:p>
          <a:p>
            <a:pPr lvl="1"/>
            <a:endParaRPr lang="en-US">
              <a:latin typeface="NewBaskerville-Roman"/>
            </a:endParaRPr>
          </a:p>
          <a:p>
            <a:r>
              <a:rPr lang="en-US">
                <a:latin typeface="NewBaskerville-Roman"/>
              </a:rPr>
              <a:t>Stimulates innovation beyond the standard by companies that seek to differentiate themselves. </a:t>
            </a:r>
          </a:p>
          <a:p>
            <a:pPr lvl="1"/>
            <a:endParaRPr lang="en-US">
              <a:latin typeface="NewBaskerville-Roman"/>
            </a:endParaRPr>
          </a:p>
          <a:p>
            <a:r>
              <a:rPr lang="en-US">
                <a:latin typeface="NewBaskerville-Roman"/>
              </a:rPr>
              <a:t>Customers value the interoperability that open standards provide and generally benefit from not being locked into a particular supplier.</a:t>
            </a:r>
          </a:p>
          <a:p>
            <a:endParaRPr lang="en-US">
              <a:latin typeface="Arial"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3CD67246-561D-49C0-B892-AB90AAFFD92F}" type="slidenum">
              <a:rPr lang="en-US" smtClean="0"/>
              <a:pPr eaLnBrk="1" hangingPunct="1"/>
              <a:t>2</a:t>
            </a:fld>
            <a:endParaRPr lang="en-US"/>
          </a:p>
        </p:txBody>
      </p:sp>
    </p:spTree>
    <p:extLst>
      <p:ext uri="{BB962C8B-B14F-4D97-AF65-F5344CB8AC3E}">
        <p14:creationId xmlns:p14="http://schemas.microsoft.com/office/powerpoint/2010/main" val="187899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FEEBCC4E-3281-4868-A816-29908C3311B7}" type="slidenum">
              <a:rPr lang="en-US" smtClean="0"/>
              <a:pPr eaLnBrk="1" hangingPunct="1"/>
              <a:t>3</a:t>
            </a:fld>
            <a:endParaRPr lang="en-US"/>
          </a:p>
        </p:txBody>
      </p:sp>
      <p:sp>
        <p:nvSpPr>
          <p:cNvPr id="23555" name="Rectangle 2"/>
          <p:cNvSpPr>
            <a:spLocks noGrp="1" noRot="1" noChangeAspect="1" noChangeArrowheads="1" noTextEdit="1"/>
          </p:cNvSpPr>
          <p:nvPr>
            <p:ph type="sldImg"/>
          </p:nvPr>
        </p:nvSpPr>
        <p:spPr>
          <a:solidFill>
            <a:srgbClr val="FFFFFF"/>
          </a:solidFill>
          <a:ln/>
        </p:spPr>
      </p:sp>
      <p:sp>
        <p:nvSpPr>
          <p:cNvPr id="23556" name="Rectangle 3"/>
          <p:cNvSpPr>
            <a:spLocks noGrp="1" noChangeArrowheads="1"/>
          </p:cNvSpPr>
          <p:nvPr>
            <p:ph type="body" idx="1"/>
          </p:nvPr>
        </p:nvSpPr>
        <p:spPr>
          <a:solidFill>
            <a:srgbClr val="FFFFFF"/>
          </a:solidFill>
          <a:ln>
            <a:solidFill>
              <a:srgbClr val="000000"/>
            </a:solidFill>
          </a:ln>
        </p:spPr>
        <p:txBody>
          <a:bodyPr lIns="91432" tIns="45716" rIns="91432" bIns="45716"/>
          <a:lstStyle/>
          <a:p>
            <a:r>
              <a:rPr lang="en-US">
                <a:latin typeface="Arial" pitchFamily="34" charset="0"/>
              </a:rPr>
              <a:t>The </a:t>
            </a:r>
            <a:r>
              <a:rPr lang="en-US">
                <a:latin typeface="Arial" pitchFamily="34" charset="0"/>
                <a:cs typeface="Times New Roman" pitchFamily="18" charset="0"/>
              </a:rPr>
              <a:t>OGC is a not for profit consortium dedicated to the development of specifications that enable geospatial technologies to “plug and play” across any device, platform or network. </a:t>
            </a:r>
            <a:r>
              <a:rPr lang="en-US">
                <a:latin typeface="Palatino Linotype" pitchFamily="18" charset="0"/>
                <a:cs typeface="Times New Roman" pitchFamily="18" charset="0"/>
              </a:rPr>
              <a:t>The OGC consists of 380+ members - geospatial technology software vendors, systems integrators, government agencies and universities  - participating in a consensus process to develop, test, and document publicly available interface specifications and encodings for the geospatial industry. Open interfaces and protocols defined by OpenGIS® Specifications are designed to support interoperable solutions that "geo-enable" the Web, wireless and location-based services, and mainstream IT, and to empower technology developers to make complex spatial information and services accessible and useful to all kinds of applications.</a:t>
            </a:r>
          </a:p>
          <a:p>
            <a:endParaRPr lang="en-US">
              <a:latin typeface="Arial" pitchFamily="34" charset="0"/>
            </a:endParaRPr>
          </a:p>
        </p:txBody>
      </p:sp>
    </p:spTree>
    <p:extLst>
      <p:ext uri="{BB962C8B-B14F-4D97-AF65-F5344CB8AC3E}">
        <p14:creationId xmlns:p14="http://schemas.microsoft.com/office/powerpoint/2010/main" val="1537918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93CC68FD-3D5C-4AE8-81C2-0029F30F0D8F}" type="slidenum">
              <a:rPr lang="en-US" smtClean="0">
                <a:ea typeface="ＭＳ Ｐゴシック" pitchFamily="-65" charset="-128"/>
              </a:rPr>
              <a:pPr/>
              <a:t>4</a:t>
            </a:fld>
            <a:endParaRPr lang="en-US" dirty="0">
              <a:ea typeface="ＭＳ Ｐゴシック" pitchFamily="-65" charset="-128"/>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dirty="0">
              <a:latin typeface="Arial" pitchFamily="34" charset="0"/>
              <a:cs typeface="Arial" pitchFamily="34" charset="0"/>
            </a:endParaRPr>
          </a:p>
        </p:txBody>
      </p:sp>
    </p:spTree>
    <p:extLst>
      <p:ext uri="{BB962C8B-B14F-4D97-AF65-F5344CB8AC3E}">
        <p14:creationId xmlns:p14="http://schemas.microsoft.com/office/powerpoint/2010/main" val="344804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6E9A220-0DFC-4683-8829-77C89720CA4A}" type="slidenum">
              <a:rPr lang="en-US" smtClean="0"/>
              <a:pPr>
                <a:defRPr/>
              </a:pPr>
              <a:t>8</a:t>
            </a:fld>
            <a:endParaRPr lang="en-US" dirty="0"/>
          </a:p>
        </p:txBody>
      </p:sp>
    </p:spTree>
    <p:extLst>
      <p:ext uri="{BB962C8B-B14F-4D97-AF65-F5344CB8AC3E}">
        <p14:creationId xmlns:p14="http://schemas.microsoft.com/office/powerpoint/2010/main" val="1127516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AU" dirty="0">
                <a:solidFill>
                  <a:srgbClr val="0F3277"/>
                </a:solidFill>
                <a:latin typeface="Arial" pitchFamily="34" charset="0"/>
              </a:rPr>
              <a:t>An </a:t>
            </a:r>
            <a:r>
              <a:rPr lang="en-AU" dirty="0">
                <a:solidFill>
                  <a:srgbClr val="FF0066"/>
                </a:solidFill>
                <a:latin typeface="Arial" pitchFamily="34" charset="0"/>
              </a:rPr>
              <a:t>Observation</a:t>
            </a:r>
            <a:r>
              <a:rPr lang="en-AU" dirty="0">
                <a:solidFill>
                  <a:srgbClr val="0F3277"/>
                </a:solidFill>
                <a:latin typeface="Arial" pitchFamily="34" charset="0"/>
              </a:rPr>
              <a:t> is an action whose </a:t>
            </a:r>
            <a:r>
              <a:rPr lang="en-AU" b="1" dirty="0">
                <a:solidFill>
                  <a:srgbClr val="006600"/>
                </a:solidFill>
                <a:latin typeface="Arial" pitchFamily="34" charset="0"/>
              </a:rPr>
              <a:t>result</a:t>
            </a:r>
            <a:r>
              <a:rPr lang="en-AU" dirty="0">
                <a:solidFill>
                  <a:srgbClr val="0F3277"/>
                </a:solidFill>
                <a:latin typeface="Arial" pitchFamily="34" charset="0"/>
              </a:rPr>
              <a:t> is an estimate of the value </a:t>
            </a:r>
            <a:br>
              <a:rPr lang="en-AU" dirty="0">
                <a:solidFill>
                  <a:srgbClr val="0F3277"/>
                </a:solidFill>
                <a:latin typeface="Arial" pitchFamily="34" charset="0"/>
              </a:rPr>
            </a:br>
            <a:r>
              <a:rPr lang="en-AU" dirty="0">
                <a:solidFill>
                  <a:srgbClr val="0F3277"/>
                </a:solidFill>
                <a:latin typeface="Arial" pitchFamily="34" charset="0"/>
              </a:rPr>
              <a:t>of some </a:t>
            </a:r>
            <a:r>
              <a:rPr lang="en-AU" b="0" dirty="0">
                <a:solidFill>
                  <a:srgbClr val="78BE20"/>
                </a:solidFill>
                <a:latin typeface="Arial" pitchFamily="34" charset="0"/>
              </a:rPr>
              <a:t>property</a:t>
            </a:r>
            <a:r>
              <a:rPr lang="en-AU" dirty="0">
                <a:solidFill>
                  <a:srgbClr val="0F3277"/>
                </a:solidFill>
                <a:latin typeface="Arial" pitchFamily="34" charset="0"/>
              </a:rPr>
              <a:t> of the </a:t>
            </a:r>
            <a:r>
              <a:rPr lang="en-AU" dirty="0">
                <a:solidFill>
                  <a:srgbClr val="FF9933"/>
                </a:solidFill>
                <a:latin typeface="Arial" pitchFamily="34" charset="0"/>
              </a:rPr>
              <a:t>feature-of-interest</a:t>
            </a:r>
            <a:r>
              <a:rPr lang="en-AU" dirty="0">
                <a:solidFill>
                  <a:srgbClr val="0F3277"/>
                </a:solidFill>
                <a:latin typeface="Arial" pitchFamily="34" charset="0"/>
              </a:rPr>
              <a:t>, obtained using a specified </a:t>
            </a:r>
            <a:r>
              <a:rPr lang="en-AU" dirty="0">
                <a:solidFill>
                  <a:srgbClr val="660066"/>
                </a:solidFill>
                <a:latin typeface="Arial" pitchFamily="34" charset="0"/>
              </a:rPr>
              <a:t>procedure.</a:t>
            </a:r>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solidFill>
                <a:srgbClr val="660066"/>
              </a:solidFill>
              <a:latin typeface="Arial"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AU" dirty="0">
                <a:solidFill>
                  <a:srgbClr val="660066"/>
                </a:solidFill>
                <a:latin typeface="Arial" pitchFamily="34" charset="0"/>
              </a:rPr>
              <a:t>WaterML2: Part 1 focuses on hydrologic </a:t>
            </a:r>
            <a:r>
              <a:rPr lang="en-AU" dirty="0" err="1">
                <a:solidFill>
                  <a:srgbClr val="660066"/>
                </a:solidFill>
                <a:latin typeface="Arial" pitchFamily="34" charset="0"/>
              </a:rPr>
              <a:t>timeseries</a:t>
            </a:r>
            <a:r>
              <a:rPr lang="en-AU" dirty="0">
                <a:solidFill>
                  <a:srgbClr val="660066"/>
                </a:solidFill>
                <a:latin typeface="Arial" pitchFamily="34" charset="0"/>
              </a:rPr>
              <a:t> observations,</a:t>
            </a:r>
            <a:r>
              <a:rPr lang="en-AU" baseline="0" dirty="0">
                <a:solidFill>
                  <a:srgbClr val="660066"/>
                </a:solidFill>
                <a:latin typeface="Arial" pitchFamily="34" charset="0"/>
              </a:rPr>
              <a:t> which are </a:t>
            </a:r>
            <a:r>
              <a:rPr lang="en-AU" dirty="0">
                <a:solidFill>
                  <a:srgbClr val="660066"/>
                </a:solidFill>
                <a:latin typeface="Arial" pitchFamily="34" charset="0"/>
              </a:rPr>
              <a:t>the result of measurement of say water level or discharge at a stream gauging station on a river within a particular</a:t>
            </a:r>
            <a:r>
              <a:rPr lang="en-AU" baseline="0" dirty="0">
                <a:solidFill>
                  <a:srgbClr val="660066"/>
                </a:solidFill>
                <a:latin typeface="Arial" pitchFamily="34" charset="0"/>
              </a:rPr>
              <a:t> catchment</a:t>
            </a:r>
            <a:endParaRPr lang="en-AU" dirty="0">
              <a:solidFill>
                <a:srgbClr val="660066"/>
              </a:solidFill>
              <a:latin typeface="Arial" pitchFamily="34" charset="0"/>
            </a:endParaRPr>
          </a:p>
          <a:p>
            <a:endParaRPr lang="en-US" dirty="0"/>
          </a:p>
        </p:txBody>
      </p:sp>
      <p:sp>
        <p:nvSpPr>
          <p:cNvPr id="4" name="Slide Number Placeholder 3"/>
          <p:cNvSpPr>
            <a:spLocks noGrp="1"/>
          </p:cNvSpPr>
          <p:nvPr>
            <p:ph type="sldNum" sz="quarter" idx="10"/>
          </p:nvPr>
        </p:nvSpPr>
        <p:spPr/>
        <p:txBody>
          <a:bodyPr/>
          <a:lstStyle/>
          <a:p>
            <a:pPr>
              <a:defRPr/>
            </a:pPr>
            <a:fld id="{ED3BBFB6-EA16-814E-8BA7-170BD9422392}" type="slidenum">
              <a:rPr lang="en-US" altLang="en-US" smtClean="0"/>
              <a:pPr>
                <a:defRPr/>
              </a:pPr>
              <a:t>10</a:t>
            </a:fld>
            <a:endParaRPr lang="en-US" altLang="en-US"/>
          </a:p>
        </p:txBody>
      </p:sp>
    </p:spTree>
    <p:extLst>
      <p:ext uri="{BB962C8B-B14F-4D97-AF65-F5344CB8AC3E}">
        <p14:creationId xmlns:p14="http://schemas.microsoft.com/office/powerpoint/2010/main" val="214213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5BF34E-EC98-9B47-9F80-6D1F00B1C152}" type="slidenum">
              <a:rPr lang="en-US" smtClean="0"/>
              <a:pPr/>
              <a:t>11</a:t>
            </a:fld>
            <a:endParaRPr lang="en-US"/>
          </a:p>
        </p:txBody>
      </p:sp>
    </p:spTree>
    <p:extLst>
      <p:ext uri="{BB962C8B-B14F-4D97-AF65-F5344CB8AC3E}">
        <p14:creationId xmlns:p14="http://schemas.microsoft.com/office/powerpoint/2010/main" val="684275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EC-69: </a:t>
            </a:r>
            <a:r>
              <a:rPr lang="en-US" sz="1200" u="sng" kern="1200" dirty="0">
                <a:solidFill>
                  <a:schemeClr val="tx1"/>
                </a:solidFill>
                <a:effectLst/>
                <a:latin typeface="Times New Roman" charset="0"/>
                <a:ea typeface="MS PGothic" pitchFamily="34" charset="-128"/>
                <a:cs typeface="MS PGothic" charset="0"/>
                <a:hlinkClick r:id="rId3"/>
              </a:rPr>
              <a:t>https://library.wmo.int/opac/doc_num.php?explnum_id=3645</a:t>
            </a:r>
            <a:r>
              <a:rPr lang="en-US" sz="1200" kern="1200" dirty="0">
                <a:solidFill>
                  <a:schemeClr val="tx1"/>
                </a:solidFill>
                <a:effectLst/>
                <a:latin typeface="Times New Roman" charset="0"/>
                <a:ea typeface="MS PGothic" pitchFamily="34" charset="-128"/>
                <a:cs typeface="MS PGothic" charset="0"/>
              </a:rPr>
              <a:t> </a:t>
            </a:r>
            <a:endParaRPr lang="en-AU" sz="1200" kern="1200" dirty="0">
              <a:solidFill>
                <a:schemeClr val="tx1"/>
              </a:solidFill>
              <a:effectLst/>
              <a:latin typeface="Times New Roman" charset="0"/>
              <a:ea typeface="MS PGothic" pitchFamily="34" charset="-128"/>
              <a:cs typeface="MS PGothic" charset="0"/>
            </a:endParaRPr>
          </a:p>
          <a:p>
            <a:r>
              <a:rPr lang="en-US" dirty="0"/>
              <a:t>CHy-15: </a:t>
            </a:r>
            <a:r>
              <a:rPr lang="en-GB" sz="1200" u="sng" kern="1200" dirty="0">
                <a:solidFill>
                  <a:schemeClr val="tx1"/>
                </a:solidFill>
                <a:effectLst/>
                <a:latin typeface="Times New Roman" charset="0"/>
                <a:ea typeface="MS PGothic" pitchFamily="34" charset="-128"/>
                <a:cs typeface="MS PGothic" charset="0"/>
                <a:hlinkClick r:id="rId4"/>
              </a:rPr>
              <a:t>https://library.wmo.int/doc_num.php?explnum_id=3404</a:t>
            </a:r>
            <a:r>
              <a:rPr lang="en-AU" dirty="0">
                <a:effectLst/>
              </a:rPr>
              <a:t> </a:t>
            </a:r>
            <a:endParaRPr lang="en-US" dirty="0"/>
          </a:p>
        </p:txBody>
      </p:sp>
      <p:sp>
        <p:nvSpPr>
          <p:cNvPr id="4" name="Slide Number Placeholder 3"/>
          <p:cNvSpPr>
            <a:spLocks noGrp="1"/>
          </p:cNvSpPr>
          <p:nvPr>
            <p:ph type="sldNum" sz="quarter" idx="5"/>
          </p:nvPr>
        </p:nvSpPr>
        <p:spPr/>
        <p:txBody>
          <a:bodyPr/>
          <a:lstStyle/>
          <a:p>
            <a:pPr>
              <a:defRPr/>
            </a:pPr>
            <a:fld id="{ED3BBFB6-EA16-814E-8BA7-170BD9422392}" type="slidenum">
              <a:rPr lang="en-US" altLang="en-US" smtClean="0"/>
              <a:pPr>
                <a:defRPr/>
              </a:pPr>
              <a:t>13</a:t>
            </a:fld>
            <a:endParaRPr lang="en-US" altLang="en-US"/>
          </a:p>
        </p:txBody>
      </p:sp>
    </p:spTree>
    <p:extLst>
      <p:ext uri="{BB962C8B-B14F-4D97-AF65-F5344CB8AC3E}">
        <p14:creationId xmlns:p14="http://schemas.microsoft.com/office/powerpoint/2010/main" val="36065356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18"/>
          <p:cNvSpPr txBox="1">
            <a:spLocks noChangeArrowheads="1"/>
          </p:cNvSpPr>
          <p:nvPr/>
        </p:nvSpPr>
        <p:spPr bwMode="auto">
          <a:xfrm>
            <a:off x="8739188" y="214313"/>
            <a:ext cx="746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a:defRPr/>
            </a:pPr>
            <a:r>
              <a:rPr lang="en-US" sz="800">
                <a:solidFill>
                  <a:srgbClr val="FFFFFF"/>
                </a:solidFill>
                <a:latin typeface="Arial" pitchFamily="34" charset="0"/>
              </a:rPr>
              <a:t>®</a:t>
            </a:r>
          </a:p>
        </p:txBody>
      </p:sp>
      <p:pic>
        <p:nvPicPr>
          <p:cNvPr id="5" name="Picture 10" descr="OGC header 20101220.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Picture 7.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1000" y="6096000"/>
            <a:ext cx="1381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5" name="Rectangle 3"/>
          <p:cNvSpPr>
            <a:spLocks noGrp="1" noChangeArrowheads="1"/>
          </p:cNvSpPr>
          <p:nvPr>
            <p:ph type="ctrTitle"/>
          </p:nvPr>
        </p:nvSpPr>
        <p:spPr>
          <a:xfrm>
            <a:off x="762000" y="3276600"/>
            <a:ext cx="7772400" cy="1143000"/>
          </a:xfrm>
        </p:spPr>
        <p:txBody>
          <a:bodyPr/>
          <a:lstStyle>
            <a:lvl1pPr>
              <a:defRPr sz="3200">
                <a:latin typeface="Arial Black" pitchFamily="34" charset="0"/>
              </a:defRPr>
            </a:lvl1pPr>
          </a:lstStyle>
          <a:p>
            <a:r>
              <a:rPr lang="en-US" dirty="0"/>
              <a:t>Click to edit Master title style</a:t>
            </a:r>
          </a:p>
        </p:txBody>
      </p:sp>
      <p:sp>
        <p:nvSpPr>
          <p:cNvPr id="463876" name="Rectangle 4"/>
          <p:cNvSpPr>
            <a:spLocks noGrp="1" noChangeArrowheads="1"/>
          </p:cNvSpPr>
          <p:nvPr>
            <p:ph type="subTitle" idx="1"/>
          </p:nvPr>
        </p:nvSpPr>
        <p:spPr>
          <a:xfrm>
            <a:off x="1447800" y="4572000"/>
            <a:ext cx="6400800" cy="1371600"/>
          </a:xfrm>
        </p:spPr>
        <p:txBody>
          <a:bodyPr/>
          <a:lstStyle>
            <a:lvl1pPr marL="0" indent="0" algn="ctr">
              <a:buFontTx/>
              <a:buNone/>
              <a:defRPr sz="1800">
                <a:solidFill>
                  <a:srgbClr val="092E5C"/>
                </a:solidFill>
              </a:defRPr>
            </a:lvl1pPr>
          </a:lstStyle>
          <a:p>
            <a:r>
              <a:rPr lang="en-US" dirty="0"/>
              <a:t>Click to edit Master subtitle style</a:t>
            </a:r>
          </a:p>
        </p:txBody>
      </p:sp>
      <p:sp>
        <p:nvSpPr>
          <p:cNvPr id="9" name="Rectangle 2"/>
          <p:cNvSpPr>
            <a:spLocks noGrp="1" noChangeArrowheads="1"/>
          </p:cNvSpPr>
          <p:nvPr>
            <p:ph type="ftr" sz="quarter" idx="10"/>
          </p:nvPr>
        </p:nvSpPr>
        <p:spPr>
          <a:xfrm>
            <a:off x="3009900" y="6400800"/>
            <a:ext cx="3276600" cy="304800"/>
          </a:xfrm>
        </p:spPr>
        <p:txBody>
          <a:bodyPr/>
          <a:lstStyle>
            <a:lvl1pPr>
              <a:defRPr>
                <a:effectLst>
                  <a:outerShdw blurRad="38100" dist="38100" dir="2700000" algn="tl">
                    <a:srgbClr val="C0C0C0"/>
                  </a:outerShdw>
                </a:effectLst>
              </a:defRPr>
            </a:lvl1pPr>
          </a:lstStyle>
          <a:p>
            <a:pPr>
              <a:defRPr/>
            </a:pPr>
            <a:r>
              <a:rPr lang="en-US"/>
              <a:t>Copyright © 2013 Open Geospatial Consortium</a:t>
            </a:r>
          </a:p>
        </p:txBody>
      </p:sp>
    </p:spTree>
    <p:extLst>
      <p:ext uri="{BB962C8B-B14F-4D97-AF65-F5344CB8AC3E}">
        <p14:creationId xmlns:p14="http://schemas.microsoft.com/office/powerpoint/2010/main" val="498950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75543A99-9B82-4142-837B-BC5E3156BCF6}" type="slidenum">
              <a:rPr lang="en-US"/>
              <a:pPr>
                <a:defRPr/>
              </a:pPr>
              <a:t>‹#›</a:t>
            </a:fld>
            <a:endParaRPr lang="en-US"/>
          </a:p>
        </p:txBody>
      </p:sp>
    </p:spTree>
    <p:extLst>
      <p:ext uri="{BB962C8B-B14F-4D97-AF65-F5344CB8AC3E}">
        <p14:creationId xmlns:p14="http://schemas.microsoft.com/office/powerpoint/2010/main" val="282118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709425BA-91E2-46F7-AEEE-A39573C29B1C}" type="slidenum">
              <a:rPr lang="en-US"/>
              <a:pPr>
                <a:defRPr/>
              </a:pPr>
              <a:t>‹#›</a:t>
            </a:fld>
            <a:endParaRPr lang="en-US"/>
          </a:p>
        </p:txBody>
      </p:sp>
    </p:spTree>
    <p:extLst>
      <p:ext uri="{BB962C8B-B14F-4D97-AF65-F5344CB8AC3E}">
        <p14:creationId xmlns:p14="http://schemas.microsoft.com/office/powerpoint/2010/main" val="208504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60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13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24F817A6-EEBA-46F5-968A-05B70156361D}" type="slidenum">
              <a:rPr lang="en-US"/>
              <a:pPr>
                <a:defRPr/>
              </a:pPr>
              <a:t>‹#›</a:t>
            </a:fld>
            <a:endParaRPr lang="en-US"/>
          </a:p>
        </p:txBody>
      </p:sp>
    </p:spTree>
    <p:extLst>
      <p:ext uri="{BB962C8B-B14F-4D97-AF65-F5344CB8AC3E}">
        <p14:creationId xmlns:p14="http://schemas.microsoft.com/office/powerpoint/2010/main" val="264149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8" name="Rectangle 6"/>
          <p:cNvSpPr>
            <a:spLocks noGrp="1" noChangeArrowheads="1"/>
          </p:cNvSpPr>
          <p:nvPr>
            <p:ph type="sldNum" sz="quarter" idx="11"/>
          </p:nvPr>
        </p:nvSpPr>
        <p:spPr>
          <a:ln/>
        </p:spPr>
        <p:txBody>
          <a:bodyPr/>
          <a:lstStyle>
            <a:lvl1pPr>
              <a:defRPr/>
            </a:lvl1pPr>
          </a:lstStyle>
          <a:p>
            <a:pPr>
              <a:defRPr/>
            </a:pPr>
            <a:fld id="{1B5BF9BA-2C6B-411A-BCB9-303C89EB4677}" type="slidenum">
              <a:rPr lang="en-US"/>
              <a:pPr>
                <a:defRPr/>
              </a:pPr>
              <a:t>‹#›</a:t>
            </a:fld>
            <a:endParaRPr lang="en-US"/>
          </a:p>
        </p:txBody>
      </p:sp>
    </p:spTree>
    <p:extLst>
      <p:ext uri="{BB962C8B-B14F-4D97-AF65-F5344CB8AC3E}">
        <p14:creationId xmlns:p14="http://schemas.microsoft.com/office/powerpoint/2010/main" val="2376852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4" name="Rectangle 6"/>
          <p:cNvSpPr>
            <a:spLocks noGrp="1" noChangeArrowheads="1"/>
          </p:cNvSpPr>
          <p:nvPr>
            <p:ph type="sldNum" sz="quarter" idx="11"/>
          </p:nvPr>
        </p:nvSpPr>
        <p:spPr>
          <a:ln/>
        </p:spPr>
        <p:txBody>
          <a:bodyPr/>
          <a:lstStyle>
            <a:lvl1pPr>
              <a:defRPr/>
            </a:lvl1pPr>
          </a:lstStyle>
          <a:p>
            <a:pPr>
              <a:defRPr/>
            </a:pPr>
            <a:fld id="{6BAE8E77-EC04-47F4-AEAA-E0275F502F35}" type="slidenum">
              <a:rPr lang="en-US"/>
              <a:pPr>
                <a:defRPr/>
              </a:pPr>
              <a:t>‹#›</a:t>
            </a:fld>
            <a:endParaRPr lang="en-US"/>
          </a:p>
        </p:txBody>
      </p:sp>
    </p:spTree>
    <p:extLst>
      <p:ext uri="{BB962C8B-B14F-4D97-AF65-F5344CB8AC3E}">
        <p14:creationId xmlns:p14="http://schemas.microsoft.com/office/powerpoint/2010/main" val="4014994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3" name="Rectangle 6"/>
          <p:cNvSpPr>
            <a:spLocks noGrp="1" noChangeArrowheads="1"/>
          </p:cNvSpPr>
          <p:nvPr>
            <p:ph type="sldNum" sz="quarter" idx="11"/>
          </p:nvPr>
        </p:nvSpPr>
        <p:spPr>
          <a:ln/>
        </p:spPr>
        <p:txBody>
          <a:bodyPr/>
          <a:lstStyle>
            <a:lvl1pPr>
              <a:defRPr/>
            </a:lvl1pPr>
          </a:lstStyle>
          <a:p>
            <a:pPr>
              <a:defRPr/>
            </a:pPr>
            <a:fld id="{782CB325-3C57-47EC-85DF-0954CE97AD03}" type="slidenum">
              <a:rPr lang="en-US"/>
              <a:pPr>
                <a:defRPr/>
              </a:pPr>
              <a:t>‹#›</a:t>
            </a:fld>
            <a:endParaRPr lang="en-US"/>
          </a:p>
        </p:txBody>
      </p:sp>
    </p:spTree>
    <p:extLst>
      <p:ext uri="{BB962C8B-B14F-4D97-AF65-F5344CB8AC3E}">
        <p14:creationId xmlns:p14="http://schemas.microsoft.com/office/powerpoint/2010/main" val="978648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CCF31F9F-E245-423F-AF1C-65DF7C89E2AA}" type="slidenum">
              <a:rPr lang="en-US"/>
              <a:pPr>
                <a:defRPr/>
              </a:pPr>
              <a:t>‹#›</a:t>
            </a:fld>
            <a:endParaRPr lang="en-US"/>
          </a:p>
        </p:txBody>
      </p:sp>
    </p:spTree>
    <p:extLst>
      <p:ext uri="{BB962C8B-B14F-4D97-AF65-F5344CB8AC3E}">
        <p14:creationId xmlns:p14="http://schemas.microsoft.com/office/powerpoint/2010/main" val="4267910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D3928215-179C-47E2-A399-BBA1D41872F5}" type="slidenum">
              <a:rPr lang="en-US"/>
              <a:pPr>
                <a:defRPr/>
              </a:pPr>
              <a:t>‹#›</a:t>
            </a:fld>
            <a:endParaRPr lang="en-US"/>
          </a:p>
        </p:txBody>
      </p:sp>
    </p:spTree>
    <p:extLst>
      <p:ext uri="{BB962C8B-B14F-4D97-AF65-F5344CB8AC3E}">
        <p14:creationId xmlns:p14="http://schemas.microsoft.com/office/powerpoint/2010/main" val="75437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4E549531-ED37-4B57-8005-7FF815EC5EAF}" type="slidenum">
              <a:rPr lang="en-US"/>
              <a:pPr>
                <a:defRPr/>
              </a:pPr>
              <a:t>‹#›</a:t>
            </a:fld>
            <a:endParaRPr lang="en-US"/>
          </a:p>
        </p:txBody>
      </p:sp>
    </p:spTree>
    <p:extLst>
      <p:ext uri="{BB962C8B-B14F-4D97-AF65-F5344CB8AC3E}">
        <p14:creationId xmlns:p14="http://schemas.microsoft.com/office/powerpoint/2010/main" val="852298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5288" y="136525"/>
            <a:ext cx="2170112" cy="60340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31775" y="136525"/>
            <a:ext cx="6361113" cy="60340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8D68ADE3-EFED-4183-A793-D63E94A17B93}" type="slidenum">
              <a:rPr lang="en-US"/>
              <a:pPr>
                <a:defRPr/>
              </a:pPr>
              <a:t>‹#›</a:t>
            </a:fld>
            <a:endParaRPr lang="en-US"/>
          </a:p>
        </p:txBody>
      </p:sp>
    </p:spTree>
    <p:extLst>
      <p:ext uri="{BB962C8B-B14F-4D97-AF65-F5344CB8AC3E}">
        <p14:creationId xmlns:p14="http://schemas.microsoft.com/office/powerpoint/2010/main" val="2948425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125" y="776288"/>
            <a:ext cx="84550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0" name="Rectangle 2"/>
          <p:cNvSpPr>
            <a:spLocks noGrp="1" noChangeArrowheads="1"/>
          </p:cNvSpPr>
          <p:nvPr>
            <p:ph type="title"/>
          </p:nvPr>
        </p:nvSpPr>
        <p:spPr bwMode="auto">
          <a:xfrm>
            <a:off x="231775" y="136525"/>
            <a:ext cx="8683625"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346075" y="1279525"/>
            <a:ext cx="84582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2852" name="Rectangle 4"/>
          <p:cNvSpPr>
            <a:spLocks noGrp="1" noChangeArrowheads="1"/>
          </p:cNvSpPr>
          <p:nvPr>
            <p:ph type="ftr" sz="quarter" idx="3"/>
          </p:nvPr>
        </p:nvSpPr>
        <p:spPr bwMode="auto">
          <a:xfrm>
            <a:off x="2973388" y="6553200"/>
            <a:ext cx="3200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900" b="0">
                <a:solidFill>
                  <a:srgbClr val="092E5C"/>
                </a:solidFill>
                <a:latin typeface="Arial" pitchFamily="34" charset="0"/>
              </a:defRPr>
            </a:lvl1pPr>
          </a:lstStyle>
          <a:p>
            <a:pPr>
              <a:defRPr/>
            </a:pPr>
            <a:r>
              <a:rPr lang="en-US"/>
              <a:t>Copyright © 2013 Open Geospatial Consortium</a:t>
            </a:r>
          </a:p>
        </p:txBody>
      </p:sp>
      <p:sp>
        <p:nvSpPr>
          <p:cNvPr id="462854"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solidFill>
                  <a:srgbClr val="092E5C"/>
                </a:solidFill>
                <a:latin typeface="Arial" pitchFamily="34" charset="0"/>
              </a:defRPr>
            </a:lvl1pPr>
          </a:lstStyle>
          <a:p>
            <a:pPr>
              <a:defRPr/>
            </a:pPr>
            <a:fld id="{692C2F6B-4000-491F-BAD7-AFB1AEADC86C}" type="slidenum">
              <a:rPr lang="en-US"/>
              <a:pPr>
                <a:defRPr/>
              </a:pPr>
              <a:t>‹#›</a:t>
            </a:fld>
            <a:endParaRPr lang="en-US"/>
          </a:p>
        </p:txBody>
      </p:sp>
      <p:sp>
        <p:nvSpPr>
          <p:cNvPr id="1031" name="Text Box 16"/>
          <p:cNvSpPr txBox="1">
            <a:spLocks noChangeArrowheads="1"/>
          </p:cNvSpPr>
          <p:nvPr/>
        </p:nvSpPr>
        <p:spPr bwMode="auto">
          <a:xfrm>
            <a:off x="333375" y="6219825"/>
            <a:ext cx="11572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pPr>
              <a:defRPr/>
            </a:pPr>
            <a:r>
              <a:rPr lang="en-US" sz="4000">
                <a:solidFill>
                  <a:schemeClr val="tx2"/>
                </a:solidFill>
                <a:latin typeface="Times New Roman" charset="0"/>
              </a:rPr>
              <a:t>OGC</a:t>
            </a:r>
          </a:p>
        </p:txBody>
      </p:sp>
      <p:sp>
        <p:nvSpPr>
          <p:cNvPr id="1032" name="Text Box 20"/>
          <p:cNvSpPr txBox="1">
            <a:spLocks noChangeArrowheads="1"/>
          </p:cNvSpPr>
          <p:nvPr/>
        </p:nvSpPr>
        <p:spPr bwMode="auto">
          <a:xfrm>
            <a:off x="1498600" y="6270625"/>
            <a:ext cx="936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a:defRPr/>
            </a:pPr>
            <a:r>
              <a:rPr lang="en-US">
                <a:solidFill>
                  <a:schemeClr val="tx2"/>
                </a:solidFill>
                <a:latin typeface="Arial" pitchFamily="34" charset="0"/>
              </a:rPr>
              <a:t>®</a:t>
            </a:r>
          </a:p>
        </p:txBody>
      </p:sp>
    </p:spTree>
  </p:cSld>
  <p:clrMap bg1="lt1" tx1="dk1" bg2="lt2" tx2="dk2" accent1="accent1" accent2="accent2" accent3="accent3" accent4="accent4" accent5="accent5" accent6="accent6" hlink="hlink" folHlink="folHlink"/>
  <p:sldLayoutIdLst>
    <p:sldLayoutId id="2147483738"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dt="0"/>
  <p:txStyles>
    <p:titleStyle>
      <a:lvl1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mj-lt"/>
          <a:ea typeface="MS PGothic" pitchFamily="34" charset="-128"/>
          <a:cs typeface="MS PGothic" charset="0"/>
        </a:defRPr>
      </a:lvl1pPr>
      <a:lvl2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2pPr>
      <a:lvl3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3pPr>
      <a:lvl4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4pPr>
      <a:lvl5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5pPr>
      <a:lvl6pPr marL="4572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6pPr>
      <a:lvl7pPr marL="9144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7pPr>
      <a:lvl8pPr marL="13716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8pPr>
      <a:lvl9pPr marL="18288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9pPr>
    </p:titleStyle>
    <p:bodyStyle>
      <a:lvl1pPr marL="233363" indent="-233363" algn="l" rtl="0" eaLnBrk="0" fontAlgn="base" hangingPunct="0">
        <a:spcBef>
          <a:spcPct val="20000"/>
        </a:spcBef>
        <a:spcAft>
          <a:spcPct val="0"/>
        </a:spcAft>
        <a:buClr>
          <a:srgbClr val="092E5C"/>
        </a:buClr>
        <a:buChar char="•"/>
        <a:defRPr sz="2400">
          <a:solidFill>
            <a:schemeClr val="tx2"/>
          </a:solidFill>
          <a:latin typeface="+mn-lt"/>
          <a:ea typeface="MS PGothic" pitchFamily="34" charset="-128"/>
          <a:cs typeface="MS PGothic" charset="0"/>
        </a:defRPr>
      </a:lvl1pPr>
      <a:lvl2pPr marL="569913" indent="-222250" algn="l" rtl="0" eaLnBrk="0" fontAlgn="base" hangingPunct="0">
        <a:spcBef>
          <a:spcPct val="20000"/>
        </a:spcBef>
        <a:spcAft>
          <a:spcPct val="0"/>
        </a:spcAft>
        <a:buClr>
          <a:srgbClr val="092E5C"/>
        </a:buClr>
        <a:buChar char="–"/>
        <a:defRPr sz="2000">
          <a:solidFill>
            <a:schemeClr val="tx2"/>
          </a:solidFill>
          <a:latin typeface="+mn-lt"/>
          <a:ea typeface="MS PGothic" pitchFamily="34" charset="-128"/>
          <a:cs typeface="MS PGothic" charset="0"/>
        </a:defRPr>
      </a:lvl2pPr>
      <a:lvl3pPr marL="912813" indent="-228600" algn="l" rtl="0" eaLnBrk="0" fontAlgn="base" hangingPunct="0">
        <a:spcBef>
          <a:spcPct val="20000"/>
        </a:spcBef>
        <a:spcAft>
          <a:spcPct val="0"/>
        </a:spcAft>
        <a:buClr>
          <a:srgbClr val="092E5C"/>
        </a:buClr>
        <a:buChar char="•"/>
        <a:defRPr>
          <a:solidFill>
            <a:schemeClr val="tx2"/>
          </a:solidFill>
          <a:latin typeface="+mn-lt"/>
          <a:ea typeface="MS PGothic" pitchFamily="34" charset="-128"/>
          <a:cs typeface="MS PGothic" charset="0"/>
        </a:defRPr>
      </a:lvl3pPr>
      <a:lvl4pPr marL="12557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4pPr>
      <a:lvl5pPr marL="15986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5pPr>
      <a:lvl6pPr marL="2055813" indent="-228600" algn="l" rtl="0" eaLnBrk="0" fontAlgn="base" hangingPunct="0">
        <a:spcBef>
          <a:spcPct val="20000"/>
        </a:spcBef>
        <a:spcAft>
          <a:spcPct val="0"/>
        </a:spcAft>
        <a:buClr>
          <a:srgbClr val="092E5C"/>
        </a:buClr>
        <a:buChar char="»"/>
        <a:defRPr sz="1600">
          <a:solidFill>
            <a:schemeClr val="tx2"/>
          </a:solidFill>
          <a:latin typeface="+mn-lt"/>
        </a:defRPr>
      </a:lvl6pPr>
      <a:lvl7pPr marL="2513013" indent="-228600" algn="l" rtl="0" eaLnBrk="0" fontAlgn="base" hangingPunct="0">
        <a:spcBef>
          <a:spcPct val="20000"/>
        </a:spcBef>
        <a:spcAft>
          <a:spcPct val="0"/>
        </a:spcAft>
        <a:buClr>
          <a:srgbClr val="092E5C"/>
        </a:buClr>
        <a:buChar char="»"/>
        <a:defRPr sz="1600">
          <a:solidFill>
            <a:schemeClr val="tx2"/>
          </a:solidFill>
          <a:latin typeface="+mn-lt"/>
        </a:defRPr>
      </a:lvl7pPr>
      <a:lvl8pPr marL="2970213" indent="-228600" algn="l" rtl="0" eaLnBrk="0" fontAlgn="base" hangingPunct="0">
        <a:spcBef>
          <a:spcPct val="20000"/>
        </a:spcBef>
        <a:spcAft>
          <a:spcPct val="0"/>
        </a:spcAft>
        <a:buClr>
          <a:srgbClr val="092E5C"/>
        </a:buClr>
        <a:buChar char="»"/>
        <a:defRPr sz="1600">
          <a:solidFill>
            <a:schemeClr val="tx2"/>
          </a:solidFill>
          <a:latin typeface="+mn-lt"/>
        </a:defRPr>
      </a:lvl8pPr>
      <a:lvl9pPr marL="3427413" indent="-228600" algn="l" rtl="0" eaLnBrk="0" fontAlgn="base" hangingPunct="0">
        <a:spcBef>
          <a:spcPct val="20000"/>
        </a:spcBef>
        <a:spcAft>
          <a:spcPct val="0"/>
        </a:spcAft>
        <a:buClr>
          <a:srgbClr val="092E5C"/>
        </a:buClr>
        <a:buChar char="»"/>
        <a:defRPr sz="16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external.opengis.org/twiki_public/bin/view/HydrologyDWG/WebHome"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fgdc.gov/standards/news/WaterML" TargetMode="External"/><Relationship Id="rId2" Type="http://schemas.openxmlformats.org/officeDocument/2006/relationships/hyperlink" Target="http://www.opengeospatial.org/pressroom/pressreleases/1831" TargetMode="External"/><Relationship Id="rId1" Type="http://schemas.openxmlformats.org/officeDocument/2006/relationships/slideLayout" Target="../slideLayouts/slideLayout2.xml"/><Relationship Id="rId5" Type="http://schemas.openxmlformats.org/officeDocument/2006/relationships/hyperlink" Target="http://help.waterdata.usgs.gov/news/april-10-2014" TargetMode="External"/><Relationship Id="rId4" Type="http://schemas.openxmlformats.org/officeDocument/2006/relationships/hyperlink" Target="http://eur-lex.europa.eu/LexUriServ/LexUriServ.do?uri=OJ:L:2013:331:0001:0267:EN:PDF"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82" name="Rectangle 2"/>
          <p:cNvSpPr>
            <a:spLocks noGrp="1" noChangeArrowheads="1"/>
          </p:cNvSpPr>
          <p:nvPr>
            <p:ph type="ctrTitle"/>
          </p:nvPr>
        </p:nvSpPr>
        <p:spPr>
          <a:xfrm>
            <a:off x="894519" y="2514600"/>
            <a:ext cx="7772400" cy="1143000"/>
          </a:xfrm>
        </p:spPr>
        <p:txBody>
          <a:bodyPr>
            <a:noAutofit/>
          </a:bodyPr>
          <a:lstStyle/>
          <a:p>
            <a:pPr>
              <a:lnSpc>
                <a:spcPct val="100000"/>
              </a:lnSpc>
              <a:spcBef>
                <a:spcPts val="1200"/>
              </a:spcBef>
              <a:defRPr/>
            </a:pPr>
            <a:r>
              <a:rPr lang="en-US" altLang="en-US" b="1" dirty="0">
                <a:effectLst/>
                <a:latin typeface="+mj-lt"/>
              </a:rPr>
              <a:t>Introduction to the WMO/OGC</a:t>
            </a:r>
            <a:br>
              <a:rPr lang="en-US" altLang="en-US" b="1" dirty="0">
                <a:effectLst/>
                <a:latin typeface="+mj-lt"/>
              </a:rPr>
            </a:br>
            <a:r>
              <a:rPr lang="en-US" altLang="en-US" b="1" dirty="0">
                <a:effectLst/>
                <a:latin typeface="+mj-lt"/>
              </a:rPr>
              <a:t>Hydrology Domain Working Group</a:t>
            </a:r>
          </a:p>
        </p:txBody>
      </p:sp>
      <p:pic>
        <p:nvPicPr>
          <p:cNvPr id="8" name="Picture 7" descr="wmologo.jpeg"/>
          <p:cNvPicPr>
            <a:picLocks noChangeAspect="1"/>
          </p:cNvPicPr>
          <p:nvPr/>
        </p:nvPicPr>
        <p:blipFill>
          <a:blip r:embed="rId2"/>
          <a:stretch>
            <a:fillRect/>
          </a:stretch>
        </p:blipFill>
        <p:spPr>
          <a:xfrm>
            <a:off x="8278274" y="5949280"/>
            <a:ext cx="826527" cy="864096"/>
          </a:xfrm>
          <a:prstGeom prst="rect">
            <a:avLst/>
          </a:prstGeom>
        </p:spPr>
      </p:pic>
      <p:sp>
        <p:nvSpPr>
          <p:cNvPr id="2" name="TextBox 1"/>
          <p:cNvSpPr txBox="1"/>
          <p:nvPr/>
        </p:nvSpPr>
        <p:spPr>
          <a:xfrm>
            <a:off x="1981200" y="4800600"/>
            <a:ext cx="5410200" cy="762000"/>
          </a:xfrm>
          <a:prstGeom prst="rect">
            <a:avLst/>
          </a:prstGeom>
          <a:noFill/>
        </p:spPr>
        <p:txBody>
          <a:bodyPr wrap="none" rtlCol="0">
            <a:noAutofit/>
          </a:bodyPr>
          <a:lstStyle/>
          <a:p>
            <a:pPr algn="ctr"/>
            <a:r>
              <a:rPr lang="en-US" sz="1600" i="1" dirty="0"/>
              <a:t>Tony Boston (Australia), </a:t>
            </a:r>
            <a:r>
              <a:rPr lang="en-US" sz="1600" i="1" dirty="0" err="1"/>
              <a:t>Silvano</a:t>
            </a:r>
            <a:r>
              <a:rPr lang="en-US" sz="1600" i="1" dirty="0"/>
              <a:t> Pecora (Italy), David Blodgett (USA)</a:t>
            </a:r>
          </a:p>
          <a:p>
            <a:pPr algn="ctr"/>
            <a:r>
              <a:rPr lang="en-US" sz="1600" i="1" dirty="0"/>
              <a:t>HDWG Co-Chairs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a:defRPr/>
            </a:pPr>
            <a:r>
              <a:rPr lang="en-US" dirty="0"/>
              <a:t>Benefits of open standards</a:t>
            </a:r>
          </a:p>
        </p:txBody>
      </p:sp>
      <p:sp>
        <p:nvSpPr>
          <p:cNvPr id="7171" name="Rectangle 3"/>
          <p:cNvSpPr>
            <a:spLocks noGrp="1" noChangeArrowheads="1"/>
          </p:cNvSpPr>
          <p:nvPr>
            <p:ph idx="1"/>
          </p:nvPr>
        </p:nvSpPr>
        <p:spPr>
          <a:xfrm>
            <a:off x="342900" y="1503040"/>
            <a:ext cx="8458200" cy="5454352"/>
          </a:xfrm>
        </p:spPr>
        <p:txBody>
          <a:bodyPr>
            <a:noAutofit/>
          </a:bodyPr>
          <a:lstStyle/>
          <a:p>
            <a:r>
              <a:rPr lang="en-US" sz="3200" dirty="0"/>
              <a:t>Prevents a single group from controlling a standard</a:t>
            </a:r>
          </a:p>
          <a:p>
            <a:r>
              <a:rPr lang="en-US" sz="3200" dirty="0"/>
              <a:t>Facilitates competition</a:t>
            </a:r>
          </a:p>
          <a:p>
            <a:r>
              <a:rPr lang="en-US" sz="3200" dirty="0"/>
              <a:t>Stimulates innovation</a:t>
            </a:r>
          </a:p>
          <a:p>
            <a:r>
              <a:rPr lang="en-US" sz="3200" dirty="0"/>
              <a:t>Customers benefit from not being locked into a particular supplier</a:t>
            </a:r>
          </a:p>
          <a:p>
            <a:pPr marL="0" indent="0">
              <a:buNone/>
            </a:pPr>
            <a:br>
              <a:rPr lang="en-US" sz="2800" dirty="0">
                <a:latin typeface="NewBaskerville-Roman"/>
              </a:rPr>
            </a:br>
            <a:endParaRPr lang="en-US" sz="1800" dirty="0">
              <a:latin typeface="NewBaskerville-Roman"/>
            </a:endParaRPr>
          </a:p>
          <a:p>
            <a:pPr lvl="1">
              <a:buFontTx/>
              <a:buNone/>
            </a:pPr>
            <a:r>
              <a:rPr lang="en-US" sz="1600" dirty="0">
                <a:latin typeface="NewBaskerville-Roman"/>
              </a:rPr>
              <a:t>Source: </a:t>
            </a:r>
            <a:r>
              <a:rPr lang="en-US" sz="1600" b="1" i="1" dirty="0">
                <a:latin typeface="NewBaskerville-Roman"/>
              </a:rPr>
              <a:t>Open Standards, Open Source, and Open Innovation: Harnessing the Benefits of Openness</a:t>
            </a:r>
            <a:r>
              <a:rPr lang="en-US" sz="1600" dirty="0">
                <a:latin typeface="NewBaskerville-Roman"/>
              </a:rPr>
              <a:t>, April 2006. </a:t>
            </a:r>
            <a:r>
              <a:rPr lang="en-US" sz="1600" dirty="0">
                <a:latin typeface="Times New Roman" pitchFamily="18" charset="0"/>
              </a:rPr>
              <a:t>Committee For Economic Development. www.ced.org</a:t>
            </a:r>
            <a:endParaRPr lang="en-US" sz="1600" dirty="0"/>
          </a:p>
          <a:p>
            <a:endParaRPr lang="en-US" sz="1600" dirty="0"/>
          </a:p>
        </p:txBody>
      </p:sp>
    </p:spTree>
    <p:extLst>
      <p:ext uri="{BB962C8B-B14F-4D97-AF65-F5344CB8AC3E}">
        <p14:creationId xmlns:p14="http://schemas.microsoft.com/office/powerpoint/2010/main" val="227660500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ln>
            <a:noFill/>
          </a:ln>
        </p:spPr>
        <p:txBody>
          <a:bodyPr/>
          <a:lstStyle/>
          <a:p>
            <a:r>
              <a:rPr lang="en-US" dirty="0"/>
              <a:t>What is the OGC?</a:t>
            </a:r>
            <a:endParaRPr lang="en-US" dirty="0">
              <a:effectLst/>
            </a:endParaRPr>
          </a:p>
        </p:txBody>
      </p:sp>
      <p:sp>
        <p:nvSpPr>
          <p:cNvPr id="6147" name="Rectangle 3"/>
          <p:cNvSpPr>
            <a:spLocks noGrp="1" noChangeArrowheads="1"/>
          </p:cNvSpPr>
          <p:nvPr>
            <p:ph idx="1"/>
          </p:nvPr>
        </p:nvSpPr>
        <p:spPr/>
        <p:txBody>
          <a:bodyPr>
            <a:normAutofit/>
          </a:bodyPr>
          <a:lstStyle/>
          <a:p>
            <a:r>
              <a:rPr lang="en-US" sz="2800" dirty="0"/>
              <a:t>The Open Geospatial Consortium, Inc. (OGC) is a non-profit, international voluntary consensus standards organization that is leading the development of standards for geospatial and location based services.</a:t>
            </a:r>
          </a:p>
          <a:p>
            <a:pPr lvl="1"/>
            <a:endParaRPr lang="en-US" sz="2400" dirty="0">
              <a:solidFill>
                <a:srgbClr val="000000"/>
              </a:solidFill>
              <a:cs typeface="Arial" pitchFamily="34" charset="0"/>
            </a:endParaRPr>
          </a:p>
          <a:p>
            <a:pPr lvl="1"/>
            <a:r>
              <a:rPr lang="en-US" sz="2400" dirty="0">
                <a:solidFill>
                  <a:srgbClr val="000000"/>
                </a:solidFill>
                <a:cs typeface="Arial" pitchFamily="34" charset="0"/>
              </a:rPr>
              <a:t>The OGC facilitates a consensus process in which government, private industry, NGOs, and academia collaborate to create open and extensible software application programming interfaces for geospatial and other mainstream information technologies </a:t>
            </a:r>
            <a:endParaRPr lang="en-US" sz="2400" dirty="0"/>
          </a:p>
        </p:txBody>
      </p:sp>
    </p:spTree>
    <p:extLst>
      <p:ext uri="{BB962C8B-B14F-4D97-AF65-F5344CB8AC3E}">
        <p14:creationId xmlns:p14="http://schemas.microsoft.com/office/powerpoint/2010/main" val="312004560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r>
              <a:rPr lang="en-US" dirty="0"/>
              <a:t>OGC Snapshot</a:t>
            </a:r>
          </a:p>
        </p:txBody>
      </p:sp>
      <p:sp>
        <p:nvSpPr>
          <p:cNvPr id="9221" name="Rectangle 3"/>
          <p:cNvSpPr>
            <a:spLocks noGrp="1" noChangeArrowheads="1"/>
          </p:cNvSpPr>
          <p:nvPr>
            <p:ph idx="1"/>
          </p:nvPr>
        </p:nvSpPr>
        <p:spPr>
          <a:xfrm>
            <a:off x="346075" y="1279525"/>
            <a:ext cx="4772025" cy="4891088"/>
          </a:xfrm>
        </p:spPr>
        <p:txBody>
          <a:bodyPr/>
          <a:lstStyle/>
          <a:p>
            <a:pPr>
              <a:spcBef>
                <a:spcPts val="1176"/>
              </a:spcBef>
            </a:pPr>
            <a:r>
              <a:rPr lang="en-US" dirty="0"/>
              <a:t>A Voluntary Consensus Standards Organization, founded in 1994.</a:t>
            </a:r>
          </a:p>
          <a:p>
            <a:pPr>
              <a:spcBef>
                <a:spcPts val="1176"/>
              </a:spcBef>
            </a:pPr>
            <a:r>
              <a:rPr lang="en-US" dirty="0"/>
              <a:t>520 members</a:t>
            </a:r>
          </a:p>
          <a:p>
            <a:pPr>
              <a:spcBef>
                <a:spcPts val="1176"/>
              </a:spcBef>
            </a:pPr>
            <a:r>
              <a:rPr lang="en-US" dirty="0"/>
              <a:t>50+ adopted standards</a:t>
            </a:r>
          </a:p>
          <a:p>
            <a:pPr>
              <a:spcBef>
                <a:spcPts val="1176"/>
              </a:spcBef>
            </a:pPr>
            <a:r>
              <a:rPr lang="en-US" dirty="0"/>
              <a:t>Hundreds of product implementations </a:t>
            </a:r>
          </a:p>
          <a:p>
            <a:pPr>
              <a:spcBef>
                <a:spcPts val="1176"/>
              </a:spcBef>
            </a:pPr>
            <a:r>
              <a:rPr lang="en-US" dirty="0"/>
              <a:t>Broad user community implementation worldwide</a:t>
            </a:r>
          </a:p>
          <a:p>
            <a:pPr>
              <a:spcBef>
                <a:spcPts val="1176"/>
              </a:spcBef>
            </a:pPr>
            <a:r>
              <a:rPr lang="en-US" dirty="0"/>
              <a:t>Alliance partnerships with 30+ standards &amp; professional orgs</a:t>
            </a:r>
          </a:p>
        </p:txBody>
      </p:sp>
      <p:sp>
        <p:nvSpPr>
          <p:cNvPr id="9223" name="Text Box 29"/>
          <p:cNvSpPr txBox="1">
            <a:spLocks noChangeArrowheads="1"/>
          </p:cNvSpPr>
          <p:nvPr/>
        </p:nvSpPr>
        <p:spPr bwMode="auto">
          <a:xfrm>
            <a:off x="5220072" y="1916832"/>
            <a:ext cx="2751074" cy="307777"/>
          </a:xfrm>
          <a:prstGeom prst="rect">
            <a:avLst/>
          </a:prstGeom>
          <a:noFill/>
          <a:ln w="9525">
            <a:noFill/>
            <a:miter lim="800000"/>
            <a:headEnd/>
            <a:tailEnd/>
          </a:ln>
        </p:spPr>
        <p:txBody>
          <a:bodyPr wrap="none">
            <a:spAutoFit/>
          </a:bodyPr>
          <a:lstStyle/>
          <a:p>
            <a:pPr algn="ctr" defTabSz="914400" eaLnBrk="0" fontAlgn="base" hangingPunct="0">
              <a:spcBef>
                <a:spcPct val="20000"/>
              </a:spcBef>
              <a:spcAft>
                <a:spcPct val="0"/>
              </a:spcAft>
              <a:buClr>
                <a:srgbClr val="092E5C"/>
              </a:buClr>
            </a:pPr>
            <a:r>
              <a:rPr lang="en-US" sz="1400" b="1" dirty="0">
                <a:solidFill>
                  <a:srgbClr val="092E5C"/>
                </a:solidFill>
                <a:latin typeface="Arial" pitchFamily="34" charset="0"/>
                <a:cs typeface="Arial" pitchFamily="34" charset="0"/>
              </a:rPr>
              <a:t>OGC Membership Distribution</a:t>
            </a:r>
          </a:p>
        </p:txBody>
      </p:sp>
      <p:graphicFrame>
        <p:nvGraphicFramePr>
          <p:cNvPr id="7" name="Chart 6"/>
          <p:cNvGraphicFramePr>
            <a:graphicFrameLocks/>
          </p:cNvGraphicFramePr>
          <p:nvPr>
            <p:extLst>
              <p:ext uri="{D42A27DB-BD31-4B8C-83A1-F6EECF244321}">
                <p14:modId xmlns:p14="http://schemas.microsoft.com/office/powerpoint/2010/main" val="974394084"/>
              </p:ext>
            </p:extLst>
          </p:nvPr>
        </p:nvGraphicFramePr>
        <p:xfrm>
          <a:off x="3635896" y="2060848"/>
          <a:ext cx="6120680" cy="379980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50356317"/>
      </p:ext>
    </p:extLst>
  </p:cSld>
  <p:clrMapOvr>
    <a:masterClrMapping/>
  </p:clrMapOvr>
  <p:transition advTm="12000">
    <p:zoom dir="in"/>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Standards</a:t>
            </a:r>
          </a:p>
        </p:txBody>
      </p:sp>
      <p:sp>
        <p:nvSpPr>
          <p:cNvPr id="3" name="Content Placeholder 2"/>
          <p:cNvSpPr>
            <a:spLocks noGrp="1"/>
          </p:cNvSpPr>
          <p:nvPr>
            <p:ph idx="1"/>
          </p:nvPr>
        </p:nvSpPr>
        <p:spPr/>
        <p:txBody>
          <a:bodyPr/>
          <a:lstStyle/>
          <a:p>
            <a:r>
              <a:rPr lang="en-US" dirty="0">
                <a:latin typeface="Calibri" charset="0"/>
              </a:rPr>
              <a:t>An </a:t>
            </a:r>
            <a:r>
              <a:rPr lang="en-US" b="1" dirty="0">
                <a:solidFill>
                  <a:schemeClr val="tx1"/>
                </a:solidFill>
                <a:latin typeface="Calibri" charset="0"/>
              </a:rPr>
              <a:t>OGC standard </a:t>
            </a:r>
            <a:r>
              <a:rPr lang="en-US" dirty="0">
                <a:latin typeface="Calibri" charset="0"/>
              </a:rPr>
              <a:t>is a document, established by consensus and approved by the OGC Membership, that describe rules, guidelines or characteristics for interfaces and encodings aimed at the achievement of the optimum degree of interoperability.</a:t>
            </a:r>
          </a:p>
          <a:p>
            <a:pPr eaLnBrk="1" hangingPunct="1"/>
            <a:r>
              <a:rPr lang="en-US" b="1" dirty="0">
                <a:solidFill>
                  <a:schemeClr val="tx1"/>
                </a:solidFill>
                <a:latin typeface="Calibri" charset="0"/>
              </a:rPr>
              <a:t>Domain Working Groups (DWG or WG)</a:t>
            </a:r>
            <a:r>
              <a:rPr lang="en-US" dirty="0">
                <a:latin typeface="Calibri" charset="0"/>
              </a:rPr>
              <a:t> </a:t>
            </a:r>
            <a:r>
              <a:rPr lang="en-US" dirty="0">
                <a:solidFill>
                  <a:schemeClr val="bg2"/>
                </a:solidFill>
                <a:latin typeface="Calibri" charset="0"/>
              </a:rPr>
              <a:t>provide a </a:t>
            </a:r>
            <a:r>
              <a:rPr lang="en-US" dirty="0">
                <a:latin typeface="Calibri" charset="0"/>
              </a:rPr>
              <a:t>forum for discussion of key interoperability requirements</a:t>
            </a:r>
            <a:r>
              <a:rPr lang="en-US" dirty="0">
                <a:solidFill>
                  <a:schemeClr val="bg2"/>
                </a:solidFill>
                <a:latin typeface="Calibri" charset="0"/>
              </a:rPr>
              <a:t> </a:t>
            </a:r>
            <a:r>
              <a:rPr lang="en-US" dirty="0">
                <a:latin typeface="Calibri" charset="0"/>
              </a:rPr>
              <a:t>and issues</a:t>
            </a:r>
            <a:r>
              <a:rPr lang="en-US" dirty="0">
                <a:solidFill>
                  <a:schemeClr val="bg2"/>
                </a:solidFill>
                <a:latin typeface="Calibri" charset="0"/>
              </a:rPr>
              <a:t>, discussion and review of </a:t>
            </a:r>
            <a:r>
              <a:rPr lang="en-US" dirty="0">
                <a:latin typeface="Calibri" charset="0"/>
              </a:rPr>
              <a:t>implementation specifications</a:t>
            </a:r>
            <a:r>
              <a:rPr lang="en-US" dirty="0">
                <a:solidFill>
                  <a:schemeClr val="bg2"/>
                </a:solidFill>
                <a:latin typeface="Calibri" charset="0"/>
              </a:rPr>
              <a:t>, and </a:t>
            </a:r>
            <a:r>
              <a:rPr lang="en-US" dirty="0">
                <a:latin typeface="Calibri" charset="0"/>
              </a:rPr>
              <a:t>presentations on key technology</a:t>
            </a:r>
            <a:r>
              <a:rPr lang="en-US" dirty="0">
                <a:solidFill>
                  <a:schemeClr val="bg2"/>
                </a:solidFill>
                <a:latin typeface="Calibri" charset="0"/>
              </a:rPr>
              <a:t> areas relevant to solving geospatial interoperability issues.</a:t>
            </a:r>
          </a:p>
          <a:p>
            <a:r>
              <a:rPr lang="en-US" b="1" dirty="0">
                <a:solidFill>
                  <a:schemeClr val="tx1"/>
                </a:solidFill>
                <a:latin typeface="Corbel" charset="0"/>
              </a:rPr>
              <a:t>Standards Working Groups (SWG) </a:t>
            </a:r>
            <a:r>
              <a:rPr lang="en-US" dirty="0">
                <a:solidFill>
                  <a:schemeClr val="bg2"/>
                </a:solidFill>
                <a:latin typeface="Corbel" charset="0"/>
              </a:rPr>
              <a:t>have </a:t>
            </a:r>
            <a:r>
              <a:rPr lang="en-US" dirty="0">
                <a:latin typeface="Corbel" charset="0"/>
              </a:rPr>
              <a:t>specific charter of working on a candidate standard</a:t>
            </a:r>
            <a:r>
              <a:rPr lang="en-US" dirty="0">
                <a:solidFill>
                  <a:schemeClr val="bg2"/>
                </a:solidFill>
                <a:latin typeface="Corbel" charset="0"/>
              </a:rPr>
              <a:t> prior to approval as an OGC standard or on </a:t>
            </a:r>
            <a:r>
              <a:rPr lang="en-US" dirty="0">
                <a:latin typeface="Corbel" charset="0"/>
              </a:rPr>
              <a:t>making revisions</a:t>
            </a:r>
            <a:r>
              <a:rPr lang="en-US" dirty="0">
                <a:solidFill>
                  <a:schemeClr val="bg2"/>
                </a:solidFill>
                <a:latin typeface="Corbel" charset="0"/>
              </a:rPr>
              <a:t> to an existing OGC standard.</a:t>
            </a:r>
            <a:endParaRPr lang="en-US" sz="2000" dirty="0">
              <a:latin typeface="Corbel" charset="0"/>
            </a:endParaRPr>
          </a:p>
        </p:txBody>
      </p:sp>
    </p:spTree>
    <p:extLst>
      <p:ext uri="{BB962C8B-B14F-4D97-AF65-F5344CB8AC3E}">
        <p14:creationId xmlns:p14="http://schemas.microsoft.com/office/powerpoint/2010/main" val="3385798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Document Types</a:t>
            </a:r>
          </a:p>
        </p:txBody>
      </p:sp>
      <p:sp>
        <p:nvSpPr>
          <p:cNvPr id="3" name="Content Placeholder 2"/>
          <p:cNvSpPr>
            <a:spLocks noGrp="1"/>
          </p:cNvSpPr>
          <p:nvPr>
            <p:ph idx="1"/>
          </p:nvPr>
        </p:nvSpPr>
        <p:spPr>
          <a:xfrm>
            <a:off x="346075" y="1066800"/>
            <a:ext cx="8458200" cy="4891088"/>
          </a:xfrm>
        </p:spPr>
        <p:txBody>
          <a:bodyPr/>
          <a:lstStyle/>
          <a:p>
            <a:pPr eaLnBrk="1" hangingPunct="1"/>
            <a:r>
              <a:rPr lang="en-US" b="1" dirty="0">
                <a:solidFill>
                  <a:schemeClr val="tx1"/>
                </a:solidFill>
                <a:latin typeface="Calibri" charset="0"/>
              </a:rPr>
              <a:t>Best Practices Documents </a:t>
            </a:r>
            <a:r>
              <a:rPr lang="en-US" dirty="0">
                <a:latin typeface="Calibri" charset="0"/>
              </a:rPr>
              <a:t>contain discussion of best practices related to the use and/or implementation of an adopted OGC standard and for release to the public. Best Practices Documents are an official position of the OGC and thus represent an OGC Member endorsement of the content. </a:t>
            </a:r>
          </a:p>
          <a:p>
            <a:pPr eaLnBrk="1" hangingPunct="1"/>
            <a:r>
              <a:rPr lang="en-US" b="1" dirty="0">
                <a:solidFill>
                  <a:schemeClr val="tx1"/>
                </a:solidFill>
                <a:latin typeface="Calibri" charset="0"/>
              </a:rPr>
              <a:t>Discussion Papers (DP) </a:t>
            </a:r>
            <a:r>
              <a:rPr lang="en-US" dirty="0">
                <a:latin typeface="Calibri" charset="0"/>
              </a:rPr>
              <a:t>provide discussion of some technology or standards development activity in the OGC approved for release to the public. Discussion Papers are not the official position of the OGC and contain a statement to that effect. </a:t>
            </a:r>
          </a:p>
          <a:p>
            <a:pPr eaLnBrk="1" hangingPunct="1"/>
            <a:r>
              <a:rPr lang="en-US" b="1" dirty="0">
                <a:solidFill>
                  <a:schemeClr val="tx1"/>
                </a:solidFill>
                <a:latin typeface="Calibri" charset="0"/>
              </a:rPr>
              <a:t>Public Engineering Reports (ER) </a:t>
            </a:r>
            <a:r>
              <a:rPr lang="en-US" dirty="0">
                <a:latin typeface="Calibri" charset="0"/>
              </a:rPr>
              <a:t>are documents that report on some technical activity in an OGC Interoperability Program Initiative. A public ER is an ER that the OGC Members have approved for public release. An ER is not an official position of the OGC.</a:t>
            </a:r>
          </a:p>
        </p:txBody>
      </p:sp>
    </p:spTree>
    <p:extLst>
      <p:ext uri="{BB962C8B-B14F-4D97-AF65-F5344CB8AC3E}">
        <p14:creationId xmlns:p14="http://schemas.microsoft.com/office/powerpoint/2010/main" val="960755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ffectLst>
                  <a:outerShdw blurRad="38100" dist="38100" dir="2700000" algn="tl">
                    <a:srgbClr val="DDDDDD"/>
                  </a:outerShdw>
                </a:effectLst>
                <a:ea typeface="ＭＳ Ｐゴシック" charset="-128"/>
                <a:cs typeface="ＭＳ Ｐゴシック" charset="-128"/>
              </a:rPr>
              <a:t>OGC Web Services</a:t>
            </a:r>
          </a:p>
        </p:txBody>
      </p:sp>
      <p:sp>
        <p:nvSpPr>
          <p:cNvPr id="63493" name="Content Placeholder 2"/>
          <p:cNvSpPr>
            <a:spLocks noGrp="1"/>
          </p:cNvSpPr>
          <p:nvPr>
            <p:ph sz="half" idx="1"/>
          </p:nvPr>
        </p:nvSpPr>
        <p:spPr>
          <a:xfrm>
            <a:off x="158750" y="1279525"/>
            <a:ext cx="4152900" cy="4799013"/>
          </a:xfrm>
        </p:spPr>
        <p:txBody>
          <a:bodyPr/>
          <a:lstStyle/>
          <a:p>
            <a:r>
              <a:rPr lang="en-US" dirty="0"/>
              <a:t>Service endpoints</a:t>
            </a:r>
          </a:p>
          <a:p>
            <a:pPr lvl="1"/>
            <a:r>
              <a:rPr lang="en-US" sz="1800" dirty="0"/>
              <a:t>Catalogue Services (CSW)</a:t>
            </a:r>
          </a:p>
          <a:p>
            <a:pPr lvl="1"/>
            <a:r>
              <a:rPr lang="en-US" sz="1800" dirty="0"/>
              <a:t>Web Map Service (WMS)</a:t>
            </a:r>
          </a:p>
          <a:p>
            <a:pPr lvl="1"/>
            <a:r>
              <a:rPr lang="en-US" sz="1800" dirty="0">
                <a:solidFill>
                  <a:srgbClr val="092E5C"/>
                </a:solidFill>
              </a:rPr>
              <a:t>Web Feature Service (WFS)</a:t>
            </a:r>
          </a:p>
          <a:p>
            <a:pPr lvl="1"/>
            <a:r>
              <a:rPr lang="en-US" sz="1800" dirty="0">
                <a:solidFill>
                  <a:srgbClr val="092E5C"/>
                </a:solidFill>
              </a:rPr>
              <a:t>Web Coverage Service (WCS)</a:t>
            </a:r>
          </a:p>
          <a:p>
            <a:pPr lvl="1"/>
            <a:r>
              <a:rPr lang="en-US" sz="1800" dirty="0"/>
              <a:t>Web Processing Service (WPS)</a:t>
            </a:r>
          </a:p>
          <a:p>
            <a:pPr lvl="1"/>
            <a:r>
              <a:rPr lang="en-US" sz="1800" dirty="0"/>
              <a:t>Sensor Observation Service (SOS)</a:t>
            </a:r>
          </a:p>
          <a:p>
            <a:pPr lvl="1"/>
            <a:r>
              <a:rPr lang="en-US" sz="1800" dirty="0" err="1"/>
              <a:t>etc</a:t>
            </a:r>
            <a:r>
              <a:rPr lang="mr-IN" sz="1800" dirty="0"/>
              <a:t>…</a:t>
            </a:r>
            <a:endParaRPr lang="en-US" sz="1800" dirty="0"/>
          </a:p>
        </p:txBody>
      </p:sp>
      <p:sp>
        <p:nvSpPr>
          <p:cNvPr id="63494" name="Content Placeholder 3"/>
          <p:cNvSpPr txBox="1">
            <a:spLocks/>
          </p:cNvSpPr>
          <p:nvPr/>
        </p:nvSpPr>
        <p:spPr bwMode="auto">
          <a:xfrm>
            <a:off x="3971925" y="1283042"/>
            <a:ext cx="5172075" cy="5041558"/>
          </a:xfrm>
          <a:prstGeom prst="rect">
            <a:avLst/>
          </a:prstGeom>
          <a:noFill/>
          <a:ln w="9525">
            <a:noFill/>
            <a:miter lim="800000"/>
            <a:headEnd/>
            <a:tailEnd/>
          </a:ln>
        </p:spPr>
        <p:txBody>
          <a:bodyPr/>
          <a:lstStyle/>
          <a:p>
            <a:pPr marL="233363" indent="-233363" eaLnBrk="0" hangingPunct="0">
              <a:spcBef>
                <a:spcPct val="20000"/>
              </a:spcBef>
              <a:buClr>
                <a:srgbClr val="092E5C"/>
              </a:buClr>
              <a:buFontTx/>
              <a:buChar char="•"/>
            </a:pPr>
            <a:r>
              <a:rPr lang="en-US" sz="2400" b="0" dirty="0">
                <a:solidFill>
                  <a:schemeClr val="tx2"/>
                </a:solidFill>
                <a:latin typeface="Arial" pitchFamily="34" charset="0"/>
              </a:rPr>
              <a:t>Information Models/Encodings</a:t>
            </a:r>
          </a:p>
          <a:p>
            <a:pPr marL="569913" lvl="1" indent="-222250" eaLnBrk="0" hangingPunct="0">
              <a:lnSpc>
                <a:spcPct val="90000"/>
              </a:lnSpc>
              <a:spcBef>
                <a:spcPct val="20000"/>
              </a:spcBef>
              <a:buClr>
                <a:srgbClr val="092E5C"/>
              </a:buClr>
              <a:buFontTx/>
              <a:buChar char="–"/>
            </a:pPr>
            <a:r>
              <a:rPr lang="en-US" sz="1800" b="0" dirty="0">
                <a:solidFill>
                  <a:schemeClr val="tx2"/>
                </a:solidFill>
                <a:latin typeface="Arial" pitchFamily="34" charset="0"/>
              </a:rPr>
              <a:t>Geography Markup Language (GML)</a:t>
            </a:r>
          </a:p>
          <a:p>
            <a:pPr marL="912813" lvl="2" indent="-228600" eaLnBrk="0" hangingPunct="0">
              <a:lnSpc>
                <a:spcPct val="90000"/>
              </a:lnSpc>
              <a:spcBef>
                <a:spcPct val="20000"/>
              </a:spcBef>
              <a:buClr>
                <a:srgbClr val="092E5C"/>
              </a:buClr>
              <a:buFontTx/>
              <a:buChar char="•"/>
            </a:pPr>
            <a:r>
              <a:rPr lang="en-US" sz="1600" b="0" dirty="0" err="1">
                <a:solidFill>
                  <a:schemeClr val="tx2"/>
                </a:solidFill>
                <a:latin typeface="Arial" pitchFamily="34" charset="0"/>
              </a:rPr>
              <a:t>CityGML</a:t>
            </a:r>
            <a:endParaRPr lang="en-US" sz="1600" b="0" dirty="0">
              <a:solidFill>
                <a:schemeClr val="tx2"/>
              </a:solidFill>
              <a:latin typeface="Arial" pitchFamily="34" charset="0"/>
            </a:endParaRPr>
          </a:p>
          <a:p>
            <a:pPr marL="912813" lvl="2" indent="-228600" eaLnBrk="0" hangingPunct="0">
              <a:lnSpc>
                <a:spcPct val="90000"/>
              </a:lnSpc>
              <a:spcBef>
                <a:spcPct val="20000"/>
              </a:spcBef>
              <a:buClr>
                <a:srgbClr val="092E5C"/>
              </a:buClr>
              <a:buFontTx/>
              <a:buChar char="•"/>
            </a:pPr>
            <a:r>
              <a:rPr lang="en-US" sz="1600" b="0" dirty="0">
                <a:solidFill>
                  <a:schemeClr val="tx2"/>
                </a:solidFill>
                <a:latin typeface="Arial" pitchFamily="34" charset="0"/>
              </a:rPr>
              <a:t>GML Simple Features</a:t>
            </a:r>
          </a:p>
          <a:p>
            <a:pPr marL="569913" lvl="1" indent="-222250" eaLnBrk="0" hangingPunct="0">
              <a:lnSpc>
                <a:spcPct val="90000"/>
              </a:lnSpc>
              <a:spcBef>
                <a:spcPct val="20000"/>
              </a:spcBef>
              <a:buClr>
                <a:srgbClr val="092E5C"/>
              </a:buClr>
              <a:buFontTx/>
              <a:buChar char="–"/>
            </a:pPr>
            <a:r>
              <a:rPr lang="en-US" sz="1800" b="0" dirty="0">
                <a:solidFill>
                  <a:schemeClr val="tx2"/>
                </a:solidFill>
                <a:latin typeface="Arial" pitchFamily="34" charset="0"/>
              </a:rPr>
              <a:t>Observations &amp; Measurements (O&amp;M)</a:t>
            </a:r>
          </a:p>
          <a:p>
            <a:pPr marL="569913" lvl="1" indent="-222250" eaLnBrk="0" hangingPunct="0">
              <a:lnSpc>
                <a:spcPct val="90000"/>
              </a:lnSpc>
              <a:spcBef>
                <a:spcPct val="20000"/>
              </a:spcBef>
              <a:buClr>
                <a:srgbClr val="092E5C"/>
              </a:buClr>
              <a:buFontTx/>
              <a:buChar char="–"/>
            </a:pPr>
            <a:r>
              <a:rPr lang="en-US" sz="1800" b="0" dirty="0">
                <a:solidFill>
                  <a:schemeClr val="tx2"/>
                </a:solidFill>
                <a:latin typeface="Arial" pitchFamily="34" charset="0"/>
              </a:rPr>
              <a:t>Sensor Web Enablement Common (SWE Common)</a:t>
            </a:r>
          </a:p>
          <a:p>
            <a:pPr marL="569913" lvl="1" indent="-222250" eaLnBrk="0" hangingPunct="0">
              <a:lnSpc>
                <a:spcPct val="90000"/>
              </a:lnSpc>
              <a:spcBef>
                <a:spcPct val="20000"/>
              </a:spcBef>
              <a:buClr>
                <a:srgbClr val="092E5C"/>
              </a:buClr>
              <a:buFontTx/>
              <a:buChar char="–"/>
            </a:pPr>
            <a:r>
              <a:rPr lang="en-US" sz="1800" b="0" dirty="0">
                <a:solidFill>
                  <a:schemeClr val="tx2"/>
                </a:solidFill>
                <a:latin typeface="Arial" pitchFamily="34" charset="0"/>
              </a:rPr>
              <a:t>Sensor Model Language (</a:t>
            </a:r>
            <a:r>
              <a:rPr lang="en-US" sz="1800" b="0" dirty="0" err="1">
                <a:solidFill>
                  <a:schemeClr val="tx2"/>
                </a:solidFill>
                <a:latin typeface="Arial" pitchFamily="34" charset="0"/>
              </a:rPr>
              <a:t>SensorML</a:t>
            </a:r>
            <a:r>
              <a:rPr lang="en-US" sz="1800" b="0" dirty="0">
                <a:solidFill>
                  <a:schemeClr val="tx2"/>
                </a:solidFill>
                <a:latin typeface="Arial" pitchFamily="34" charset="0"/>
              </a:rPr>
              <a:t>)</a:t>
            </a:r>
          </a:p>
          <a:p>
            <a:pPr marL="569913" lvl="1" indent="-222250" eaLnBrk="0" hangingPunct="0">
              <a:lnSpc>
                <a:spcPct val="90000"/>
              </a:lnSpc>
              <a:spcBef>
                <a:spcPct val="20000"/>
              </a:spcBef>
              <a:buClr>
                <a:srgbClr val="092E5C"/>
              </a:buClr>
              <a:buFontTx/>
              <a:buChar char="–"/>
            </a:pPr>
            <a:r>
              <a:rPr lang="en-US" sz="1800" b="0" dirty="0">
                <a:solidFill>
                  <a:schemeClr val="tx2"/>
                </a:solidFill>
                <a:latin typeface="Arial" pitchFamily="34" charset="0"/>
              </a:rPr>
              <a:t>WaterML2: Part 1, 2, 3, 4…</a:t>
            </a:r>
            <a:endParaRPr lang="en-AU" sz="1800" b="0" dirty="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AU" sz="1800" b="0" dirty="0" err="1">
                <a:solidFill>
                  <a:schemeClr val="tx2"/>
                </a:solidFill>
                <a:latin typeface="Arial" pitchFamily="34" charset="0"/>
              </a:rPr>
              <a:t>TimeseriesML</a:t>
            </a:r>
            <a:endParaRPr lang="en-US" sz="1800" b="0" dirty="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US" sz="1800" b="0" dirty="0" err="1">
                <a:solidFill>
                  <a:schemeClr val="tx2"/>
                </a:solidFill>
                <a:latin typeface="Arial" pitchFamily="34" charset="0"/>
              </a:rPr>
              <a:t>GeoSciML</a:t>
            </a:r>
            <a:endParaRPr lang="en-US" sz="1800" b="0" dirty="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US" sz="1800" b="0" dirty="0">
                <a:solidFill>
                  <a:schemeClr val="tx2"/>
                </a:solidFill>
                <a:latin typeface="Arial" pitchFamily="34" charset="0"/>
              </a:rPr>
              <a:t>GroundWaterML2</a:t>
            </a:r>
          </a:p>
          <a:p>
            <a:pPr marL="569913" lvl="1" indent="-222250" eaLnBrk="0" hangingPunct="0">
              <a:lnSpc>
                <a:spcPct val="90000"/>
              </a:lnSpc>
              <a:spcBef>
                <a:spcPct val="20000"/>
              </a:spcBef>
              <a:buClr>
                <a:srgbClr val="092E5C"/>
              </a:buClr>
              <a:buFontTx/>
              <a:buChar char="–"/>
            </a:pPr>
            <a:r>
              <a:rPr lang="en-US" sz="1800" b="0" dirty="0">
                <a:solidFill>
                  <a:schemeClr val="tx2"/>
                </a:solidFill>
                <a:latin typeface="Arial" pitchFamily="34" charset="0"/>
              </a:rPr>
              <a:t>KML</a:t>
            </a:r>
          </a:p>
          <a:p>
            <a:pPr marL="569913" lvl="1" indent="-222250" eaLnBrk="0" hangingPunct="0">
              <a:lnSpc>
                <a:spcPct val="90000"/>
              </a:lnSpc>
              <a:spcBef>
                <a:spcPct val="20000"/>
              </a:spcBef>
              <a:buClr>
                <a:srgbClr val="092E5C"/>
              </a:buClr>
              <a:buFontTx/>
              <a:buChar char="–"/>
            </a:pPr>
            <a:r>
              <a:rPr lang="en-US" sz="1800" b="0" dirty="0" err="1">
                <a:solidFill>
                  <a:schemeClr val="tx2"/>
                </a:solidFill>
                <a:latin typeface="Arial" pitchFamily="34" charset="0"/>
              </a:rPr>
              <a:t>NetCDF</a:t>
            </a:r>
            <a:endParaRPr lang="en-US" sz="1800" b="0" dirty="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US" sz="1800" b="0" dirty="0" err="1">
                <a:solidFill>
                  <a:schemeClr val="tx2"/>
                </a:solidFill>
                <a:latin typeface="Arial" pitchFamily="34" charset="0"/>
              </a:rPr>
              <a:t>etc</a:t>
            </a:r>
            <a:r>
              <a:rPr lang="mr-IN" sz="1800" b="0" dirty="0">
                <a:solidFill>
                  <a:schemeClr val="tx2"/>
                </a:solidFill>
                <a:latin typeface="Arial" pitchFamily="34" charset="0"/>
              </a:rPr>
              <a:t>…</a:t>
            </a:r>
            <a:endParaRPr lang="en-US" sz="1800" b="0" dirty="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endParaRPr lang="en-US" sz="1800" b="0" dirty="0">
              <a:solidFill>
                <a:schemeClr val="tx2"/>
              </a:solidFill>
              <a:latin typeface="Arial" pitchFamily="34" charset="0"/>
            </a:endParaRPr>
          </a:p>
        </p:txBody>
      </p:sp>
    </p:spTree>
    <p:extLst>
      <p:ext uri="{BB962C8B-B14F-4D97-AF65-F5344CB8AC3E}">
        <p14:creationId xmlns:p14="http://schemas.microsoft.com/office/powerpoint/2010/main" val="861880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International Standardization for Water Data</a:t>
            </a:r>
          </a:p>
        </p:txBody>
      </p:sp>
      <p:sp>
        <p:nvSpPr>
          <p:cNvPr id="3" name="Content Placeholder 2"/>
          <p:cNvSpPr>
            <a:spLocks noGrp="1"/>
          </p:cNvSpPr>
          <p:nvPr>
            <p:ph idx="1"/>
          </p:nvPr>
        </p:nvSpPr>
        <p:spPr>
          <a:xfrm>
            <a:off x="346075" y="1279525"/>
            <a:ext cx="7106245" cy="1717427"/>
          </a:xfrm>
        </p:spPr>
        <p:txBody>
          <a:bodyPr/>
          <a:lstStyle/>
          <a:p>
            <a:pPr defTabSz="914144" eaLnBrk="1" fontAlgn="auto" hangingPunct="1">
              <a:spcBef>
                <a:spcPts val="0"/>
              </a:spcBef>
              <a:spcAft>
                <a:spcPts val="0"/>
              </a:spcAft>
              <a:buClrTx/>
              <a:defRPr/>
            </a:pPr>
            <a:r>
              <a:rPr lang="en-US" sz="2800" dirty="0">
                <a:solidFill>
                  <a:srgbClr val="FF0000"/>
                </a:solidFill>
              </a:rPr>
              <a:t>Hydrology Domain Working Group</a:t>
            </a:r>
          </a:p>
          <a:p>
            <a:pPr lvl="1" defTabSz="914144" eaLnBrk="1" fontAlgn="auto" hangingPunct="1">
              <a:spcBef>
                <a:spcPts val="0"/>
              </a:spcBef>
              <a:spcAft>
                <a:spcPts val="0"/>
              </a:spcAft>
              <a:buClrTx/>
              <a:defRPr/>
            </a:pPr>
            <a:r>
              <a:rPr lang="en-US" sz="2400" dirty="0">
                <a:solidFill>
                  <a:srgbClr val="000000"/>
                </a:solidFill>
              </a:rPr>
              <a:t>standards for water data: </a:t>
            </a:r>
            <a:r>
              <a:rPr lang="en-US" sz="2400" b="1" dirty="0" err="1">
                <a:solidFill>
                  <a:srgbClr val="000000"/>
                </a:solidFill>
              </a:rPr>
              <a:t>WaterML</a:t>
            </a:r>
            <a:r>
              <a:rPr lang="en-US" sz="2400" b="1" dirty="0">
                <a:solidFill>
                  <a:srgbClr val="000000"/>
                </a:solidFill>
              </a:rPr>
              <a:t> 2.0 suite</a:t>
            </a:r>
          </a:p>
          <a:p>
            <a:pPr lvl="1" defTabSz="914144" eaLnBrk="1" fontAlgn="auto" hangingPunct="1">
              <a:spcBef>
                <a:spcPts val="0"/>
              </a:spcBef>
              <a:spcAft>
                <a:spcPts val="0"/>
              </a:spcAft>
              <a:buClrTx/>
              <a:defRPr/>
            </a:pPr>
            <a:r>
              <a:rPr lang="en-US" sz="2400" dirty="0">
                <a:solidFill>
                  <a:srgbClr val="000000"/>
                </a:solidFill>
              </a:rPr>
              <a:t>organizing Interoperability Experiments (IEs)                 focused on different sub-domains of water</a:t>
            </a:r>
          </a:p>
          <a:p>
            <a:pPr marL="347663" lvl="1" indent="0">
              <a:buNone/>
            </a:pPr>
            <a:endParaRPr lang="en-US" dirty="0">
              <a:solidFill>
                <a:srgbClr val="000000"/>
              </a:solidFill>
            </a:endParaRPr>
          </a:p>
          <a:p>
            <a:pPr marL="0" indent="0">
              <a:buNone/>
            </a:pPr>
            <a:endParaRPr lang="en-US" sz="2000" dirty="0">
              <a:solidFill>
                <a:srgbClr val="000000"/>
              </a:solidFill>
            </a:endParaRPr>
          </a:p>
          <a:p>
            <a:pPr marL="0" indent="0">
              <a:buNone/>
            </a:pPr>
            <a:endParaRPr lang="en-US" sz="2000" dirty="0">
              <a:solidFill>
                <a:srgbClr val="000000"/>
              </a:solidFill>
            </a:endParaRPr>
          </a:p>
          <a:p>
            <a:r>
              <a:rPr lang="en-US" sz="2000" dirty="0">
                <a:solidFill>
                  <a:srgbClr val="000000"/>
                </a:solidFill>
              </a:rPr>
              <a:t>Chairs: </a:t>
            </a:r>
          </a:p>
          <a:p>
            <a:pPr lvl="1"/>
            <a:r>
              <a:rPr lang="en-US" dirty="0">
                <a:solidFill>
                  <a:srgbClr val="000000"/>
                </a:solidFill>
              </a:rPr>
              <a:t>Tony Boston (Australia)</a:t>
            </a:r>
          </a:p>
          <a:p>
            <a:pPr lvl="1"/>
            <a:r>
              <a:rPr lang="en-US" dirty="0" err="1">
                <a:solidFill>
                  <a:srgbClr val="000000"/>
                </a:solidFill>
              </a:rPr>
              <a:t>Silvano</a:t>
            </a:r>
            <a:r>
              <a:rPr lang="en-US" dirty="0">
                <a:solidFill>
                  <a:srgbClr val="000000"/>
                </a:solidFill>
              </a:rPr>
              <a:t> Pecora (Italy) </a:t>
            </a:r>
          </a:p>
          <a:p>
            <a:pPr lvl="1"/>
            <a:r>
              <a:rPr lang="en-US" dirty="0">
                <a:solidFill>
                  <a:srgbClr val="000000"/>
                </a:solidFill>
              </a:rPr>
              <a:t>David Blodgett (USA)</a:t>
            </a:r>
            <a:br>
              <a:rPr lang="en-US" dirty="0">
                <a:solidFill>
                  <a:srgbClr val="000000"/>
                </a:solidFill>
              </a:rPr>
            </a:br>
            <a:r>
              <a:rPr lang="en-US" sz="2400" dirty="0">
                <a:solidFill>
                  <a:srgbClr val="000000"/>
                </a:solidFill>
              </a:rPr>
              <a:t>	</a:t>
            </a:r>
            <a:endParaRPr lang="en-US" sz="2400" b="1" dirty="0"/>
          </a:p>
        </p:txBody>
      </p:sp>
      <p:pic>
        <p:nvPicPr>
          <p:cNvPr id="5" name="Picture 4" descr="wmologo.jpeg"/>
          <p:cNvPicPr>
            <a:picLocks noChangeAspect="1"/>
          </p:cNvPicPr>
          <p:nvPr/>
        </p:nvPicPr>
        <p:blipFill>
          <a:blip r:embed="rId3"/>
          <a:stretch>
            <a:fillRect/>
          </a:stretch>
        </p:blipFill>
        <p:spPr>
          <a:xfrm>
            <a:off x="8278274" y="5949280"/>
            <a:ext cx="826527" cy="864096"/>
          </a:xfrm>
          <a:prstGeom prst="rect">
            <a:avLst/>
          </a:prstGeom>
        </p:spPr>
      </p:pic>
      <p:grpSp>
        <p:nvGrpSpPr>
          <p:cNvPr id="32" name="Group 31"/>
          <p:cNvGrpSpPr/>
          <p:nvPr/>
        </p:nvGrpSpPr>
        <p:grpSpPr>
          <a:xfrm>
            <a:off x="4355976" y="3014896"/>
            <a:ext cx="4437952" cy="3294424"/>
            <a:chOff x="4598544" y="3327176"/>
            <a:chExt cx="4437952" cy="3294424"/>
          </a:xfrm>
        </p:grpSpPr>
        <p:sp>
          <p:nvSpPr>
            <p:cNvPr id="26" name="TextBox 9"/>
            <p:cNvSpPr txBox="1">
              <a:spLocks noChangeArrowheads="1"/>
            </p:cNvSpPr>
            <p:nvPr/>
          </p:nvSpPr>
          <p:spPr bwMode="auto">
            <a:xfrm>
              <a:off x="5593055" y="3327176"/>
              <a:ext cx="2747612" cy="399978"/>
            </a:xfrm>
            <a:prstGeom prst="rect">
              <a:avLst/>
            </a:prstGeom>
            <a:noFill/>
            <a:ln w="9525">
              <a:noFill/>
              <a:miter lim="800000"/>
              <a:headEnd/>
              <a:tailEnd/>
            </a:ln>
          </p:spPr>
          <p:txBody>
            <a:bodyPr wrap="none" lIns="91313" tIns="45655" rIns="91313" bIns="45655">
              <a:spAutoFit/>
            </a:bodyPr>
            <a:lstStyle/>
            <a:p>
              <a:pPr algn="l" defTabSz="914144" eaLnBrk="1" fontAlgn="auto" hangingPunct="1">
                <a:spcBef>
                  <a:spcPts val="0"/>
                </a:spcBef>
                <a:spcAft>
                  <a:spcPts val="0"/>
                </a:spcAft>
                <a:buClrTx/>
                <a:defRPr/>
              </a:pPr>
              <a:r>
                <a:rPr lang="en-US" sz="2000" dirty="0">
                  <a:solidFill>
                    <a:srgbClr val="FF0000"/>
                  </a:solidFill>
                  <a:cs typeface="+mn-cs"/>
                </a:rPr>
                <a:t>Iterative Development</a:t>
              </a:r>
            </a:p>
          </p:txBody>
        </p:sp>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98544" y="3727146"/>
              <a:ext cx="4437952" cy="2894454"/>
            </a:xfrm>
            <a:prstGeom prst="rect">
              <a:avLst/>
            </a:prstGeom>
          </p:spPr>
        </p:pic>
      </p:grpSp>
      <p:sp>
        <p:nvSpPr>
          <p:cNvPr id="28" name="Rectangle 27"/>
          <p:cNvSpPr/>
          <p:nvPr/>
        </p:nvSpPr>
        <p:spPr>
          <a:xfrm>
            <a:off x="251520" y="3745254"/>
            <a:ext cx="3672408" cy="1988002"/>
          </a:xfrm>
          <a:prstGeom prst="rect">
            <a:avLst/>
          </a:prstGeom>
          <a:no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44" eaLnBrk="1" fontAlgn="auto" hangingPunct="1">
              <a:spcBef>
                <a:spcPts val="0"/>
              </a:spcBef>
              <a:spcAft>
                <a:spcPts val="0"/>
              </a:spcAft>
              <a:buClrTx/>
            </a:pPr>
            <a:endParaRPr lang="en-US" sz="1800">
              <a:solidFill>
                <a:prstClr val="white"/>
              </a:solidFill>
            </a:endParaRPr>
          </a:p>
        </p:txBody>
      </p:sp>
      <p:sp>
        <p:nvSpPr>
          <p:cNvPr id="31" name="TextBox 30"/>
          <p:cNvSpPr txBox="1"/>
          <p:nvPr/>
        </p:nvSpPr>
        <p:spPr>
          <a:xfrm>
            <a:off x="1852141" y="6453336"/>
            <a:ext cx="6104235" cy="307645"/>
          </a:xfrm>
          <a:prstGeom prst="rect">
            <a:avLst/>
          </a:prstGeom>
          <a:noFill/>
        </p:spPr>
        <p:txBody>
          <a:bodyPr wrap="none" lIns="91313" tIns="45655" rIns="91313" bIns="45655">
            <a:spAutoFit/>
          </a:bodyPr>
          <a:lstStyle/>
          <a:p>
            <a:pPr algn="l" defTabSz="914144" eaLnBrk="1" fontAlgn="auto" hangingPunct="1">
              <a:spcBef>
                <a:spcPts val="0"/>
              </a:spcBef>
              <a:spcAft>
                <a:spcPts val="0"/>
              </a:spcAft>
              <a:buClrTx/>
              <a:defRPr/>
            </a:pPr>
            <a:r>
              <a:rPr lang="en-US" sz="1400" dirty="0">
                <a:solidFill>
                  <a:srgbClr val="000000"/>
                </a:solidFill>
                <a:cs typeface="+mn-cs"/>
                <a:hlinkClick r:id="rId5"/>
              </a:rPr>
              <a:t>http://external.opengis.org/twiki_public/bin/view/HydrologyDWG/WebHome</a:t>
            </a:r>
            <a:endParaRPr lang="en-US" sz="1400" dirty="0">
              <a:solidFill>
                <a:srgbClr val="000000"/>
              </a:solidFill>
              <a:cs typeface="+mn-cs"/>
            </a:endParaRPr>
          </a:p>
        </p:txBody>
      </p:sp>
    </p:spTree>
    <p:extLst>
      <p:ext uri="{BB962C8B-B14F-4D97-AF65-F5344CB8AC3E}">
        <p14:creationId xmlns:p14="http://schemas.microsoft.com/office/powerpoint/2010/main" val="1652597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solidFill>
                  <a:srgbClr val="000000"/>
                </a:solidFill>
                <a:ea typeface="Calibri"/>
                <a:cs typeface="Calibri"/>
                <a:sym typeface="Calibri"/>
              </a:rPr>
              <a:t>WaterML2.0 standards</a:t>
            </a:r>
            <a:endParaRPr lang="en-US" dirty="0"/>
          </a:p>
        </p:txBody>
      </p:sp>
      <p:sp>
        <p:nvSpPr>
          <p:cNvPr id="3" name="Content Placeholder 2"/>
          <p:cNvSpPr>
            <a:spLocks noGrp="1"/>
          </p:cNvSpPr>
          <p:nvPr>
            <p:ph idx="1"/>
          </p:nvPr>
        </p:nvSpPr>
        <p:spPr/>
        <p:txBody>
          <a:bodyPr/>
          <a:lstStyle/>
          <a:p>
            <a:endParaRPr lang="en-US"/>
          </a:p>
        </p:txBody>
      </p:sp>
      <p:grpSp>
        <p:nvGrpSpPr>
          <p:cNvPr id="5" name="Shape 154"/>
          <p:cNvGrpSpPr/>
          <p:nvPr/>
        </p:nvGrpSpPr>
        <p:grpSpPr>
          <a:xfrm>
            <a:off x="78392" y="1411186"/>
            <a:ext cx="8957608" cy="4528315"/>
            <a:chOff x="0" y="90095"/>
            <a:chExt cx="7966453" cy="3039138"/>
          </a:xfrm>
        </p:grpSpPr>
        <p:sp>
          <p:nvSpPr>
            <p:cNvPr id="6" name="Shape 155"/>
            <p:cNvSpPr/>
            <p:nvPr/>
          </p:nvSpPr>
          <p:spPr>
            <a:xfrm>
              <a:off x="0" y="90095"/>
              <a:ext cx="7966453" cy="1630177"/>
            </a:xfrm>
            <a:prstGeom prst="roundRect">
              <a:avLst>
                <a:gd name="adj" fmla="val 10000"/>
              </a:avLst>
            </a:prstGeom>
            <a:solidFill>
              <a:srgbClr val="CCD3EA">
                <a:alpha val="89803"/>
              </a:srgbClr>
            </a:solidFill>
            <a:ln w="12700" cap="flat" cmpd="sng">
              <a:solidFill>
                <a:srgbClr val="CCD3EA">
                  <a:alpha val="89803"/>
                </a:srgbClr>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7" name="Shape 156"/>
            <p:cNvSpPr/>
            <p:nvPr/>
          </p:nvSpPr>
          <p:spPr>
            <a:xfrm>
              <a:off x="242650" y="487643"/>
              <a:ext cx="1360208" cy="1195463"/>
            </a:xfrm>
            <a:prstGeom prst="roundRect">
              <a:avLst>
                <a:gd name="adj" fmla="val 10000"/>
              </a:avLst>
            </a:prstGeom>
            <a:blipFill rotWithShape="1">
              <a:blip r:embed="rId2">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8" name="Shape 157"/>
            <p:cNvSpPr/>
            <p:nvPr/>
          </p:nvSpPr>
          <p:spPr>
            <a:xfrm rot="10800000">
              <a:off x="199749" y="1857558"/>
              <a:ext cx="1360208"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9" name="Shape 158"/>
            <p:cNvSpPr txBox="1"/>
            <p:nvPr/>
          </p:nvSpPr>
          <p:spPr>
            <a:xfrm>
              <a:off x="238857" y="1857558"/>
              <a:ext cx="1281900" cy="1232700"/>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1 - Timeseries</a:t>
              </a:r>
            </a:p>
            <a:p>
              <a:pPr fontAlgn="auto">
                <a:lnSpc>
                  <a:spcPct val="90000"/>
                </a:lnSpc>
                <a:spcBef>
                  <a:spcPts val="0"/>
                </a:spcBef>
                <a:spcAft>
                  <a:spcPts val="0"/>
                </a:spcAft>
              </a:pPr>
              <a:endParaRPr sz="1800" b="0" kern="0">
                <a:solidFill>
                  <a:srgbClr val="FFFFFF"/>
                </a:solidFill>
                <a:latin typeface="Calibri"/>
                <a:ea typeface="Calibri"/>
                <a:cs typeface="Calibri"/>
                <a:sym typeface="Calibri"/>
              </a:endParaRPr>
            </a:p>
          </p:txBody>
        </p:sp>
        <p:sp>
          <p:nvSpPr>
            <p:cNvPr id="10" name="Shape 159"/>
            <p:cNvSpPr/>
            <p:nvPr/>
          </p:nvSpPr>
          <p:spPr>
            <a:xfrm>
              <a:off x="1806891" y="487643"/>
              <a:ext cx="1360208" cy="1195463"/>
            </a:xfrm>
            <a:prstGeom prst="roundRect">
              <a:avLst>
                <a:gd name="adj" fmla="val 10000"/>
              </a:avLst>
            </a:prstGeom>
            <a:blipFill rotWithShape="1">
              <a:blip r:embed="rId3">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1" name="Shape 160"/>
            <p:cNvSpPr/>
            <p:nvPr/>
          </p:nvSpPr>
          <p:spPr>
            <a:xfrm rot="10800000">
              <a:off x="1695979" y="1857558"/>
              <a:ext cx="1496229"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2" name="Shape 161"/>
            <p:cNvSpPr txBox="1"/>
            <p:nvPr/>
          </p:nvSpPr>
          <p:spPr>
            <a:xfrm>
              <a:off x="1735086" y="1857558"/>
              <a:ext cx="1418100" cy="1232700"/>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2 – Ratings, Gaugings and Sections</a:t>
              </a:r>
            </a:p>
          </p:txBody>
        </p:sp>
        <p:sp>
          <p:nvSpPr>
            <p:cNvPr id="13" name="Shape 162"/>
            <p:cNvSpPr/>
            <p:nvPr/>
          </p:nvSpPr>
          <p:spPr>
            <a:xfrm>
              <a:off x="6320695" y="487627"/>
              <a:ext cx="1360200" cy="1195500"/>
            </a:xfrm>
            <a:prstGeom prst="roundRect">
              <a:avLst>
                <a:gd name="adj" fmla="val 10000"/>
              </a:avLst>
            </a:prstGeom>
            <a:blipFill rotWithShape="1">
              <a:blip r:embed="rId4">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4" name="Shape 163"/>
            <p:cNvSpPr/>
            <p:nvPr/>
          </p:nvSpPr>
          <p:spPr>
            <a:xfrm rot="10800000">
              <a:off x="3328230" y="1857558"/>
              <a:ext cx="1360208"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5" name="Shape 164"/>
            <p:cNvSpPr txBox="1"/>
            <p:nvPr/>
          </p:nvSpPr>
          <p:spPr>
            <a:xfrm>
              <a:off x="3367339" y="1857558"/>
              <a:ext cx="1281900" cy="1232700"/>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3 – Surface water features</a:t>
              </a:r>
            </a:p>
          </p:txBody>
        </p:sp>
        <p:sp>
          <p:nvSpPr>
            <p:cNvPr id="16" name="Shape 165"/>
            <p:cNvSpPr/>
            <p:nvPr/>
          </p:nvSpPr>
          <p:spPr>
            <a:xfrm>
              <a:off x="4867362" y="487643"/>
              <a:ext cx="1360208" cy="1195463"/>
            </a:xfrm>
            <a:prstGeom prst="roundRect">
              <a:avLst>
                <a:gd name="adj" fmla="val 10000"/>
              </a:avLst>
            </a:prstGeom>
            <a:blipFill rotWithShape="1">
              <a:blip r:embed="rId5">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7" name="Shape 166"/>
            <p:cNvSpPr/>
            <p:nvPr/>
          </p:nvSpPr>
          <p:spPr>
            <a:xfrm rot="10800000">
              <a:off x="4824460" y="1857558"/>
              <a:ext cx="1360208"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8" name="Shape 167"/>
            <p:cNvSpPr txBox="1"/>
            <p:nvPr/>
          </p:nvSpPr>
          <p:spPr>
            <a:xfrm>
              <a:off x="4863569" y="1857558"/>
              <a:ext cx="1281993" cy="1232567"/>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4 – Groundwater</a:t>
              </a:r>
            </a:p>
          </p:txBody>
        </p:sp>
        <p:sp>
          <p:nvSpPr>
            <p:cNvPr id="19" name="Shape 168"/>
            <p:cNvSpPr/>
            <p:nvPr/>
          </p:nvSpPr>
          <p:spPr>
            <a:xfrm>
              <a:off x="3337120" y="487643"/>
              <a:ext cx="1360200" cy="1195500"/>
            </a:xfrm>
            <a:prstGeom prst="roundRect">
              <a:avLst>
                <a:gd name="adj" fmla="val 10000"/>
              </a:avLst>
            </a:prstGeom>
            <a:blipFill rotWithShape="1">
              <a:blip r:embed="rId6">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20" name="Shape 169"/>
            <p:cNvSpPr/>
            <p:nvPr/>
          </p:nvSpPr>
          <p:spPr>
            <a:xfrm rot="10800000">
              <a:off x="6320691" y="1857558"/>
              <a:ext cx="1360208"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21" name="Shape 170"/>
            <p:cNvSpPr txBox="1"/>
            <p:nvPr/>
          </p:nvSpPr>
          <p:spPr>
            <a:xfrm>
              <a:off x="6359800" y="1857558"/>
              <a:ext cx="1281993" cy="1232567"/>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5 – </a:t>
              </a:r>
            </a:p>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Water quality (best practice)</a:t>
              </a:r>
            </a:p>
          </p:txBody>
        </p:sp>
      </p:grpSp>
      <p:pic>
        <p:nvPicPr>
          <p:cNvPr id="22" name="Picture 21" descr="wmologo.jpeg"/>
          <p:cNvPicPr>
            <a:picLocks noChangeAspect="1"/>
          </p:cNvPicPr>
          <p:nvPr/>
        </p:nvPicPr>
        <p:blipFill>
          <a:blip r:embed="rId7"/>
          <a:stretch>
            <a:fillRect/>
          </a:stretch>
        </p:blipFill>
        <p:spPr>
          <a:xfrm>
            <a:off x="8278274" y="5949280"/>
            <a:ext cx="826527" cy="864096"/>
          </a:xfrm>
          <a:prstGeom prst="rect">
            <a:avLst/>
          </a:prstGeom>
        </p:spPr>
      </p:pic>
    </p:spTree>
    <p:extLst>
      <p:ext uri="{BB962C8B-B14F-4D97-AF65-F5344CB8AC3E}">
        <p14:creationId xmlns:p14="http://schemas.microsoft.com/office/powerpoint/2010/main" val="8300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WaterML2: Part 1 </a:t>
            </a:r>
            <a:r>
              <a:rPr lang="mr-IN" dirty="0"/>
              <a:t>–</a:t>
            </a:r>
            <a:r>
              <a:rPr lang="en-US" dirty="0"/>
              <a:t> </a:t>
            </a:r>
            <a:r>
              <a:rPr lang="en-US" dirty="0" err="1"/>
              <a:t>Timeseries</a:t>
            </a:r>
            <a:endParaRPr lang="en-US" dirty="0"/>
          </a:p>
        </p:txBody>
      </p:sp>
      <p:sp>
        <p:nvSpPr>
          <p:cNvPr id="3" name="Content Placeholder 2"/>
          <p:cNvSpPr>
            <a:spLocks noGrp="1"/>
          </p:cNvSpPr>
          <p:nvPr>
            <p:ph idx="1"/>
          </p:nvPr>
        </p:nvSpPr>
        <p:spPr/>
        <p:txBody>
          <a:bodyPr/>
          <a:lstStyle/>
          <a:p>
            <a:r>
              <a:rPr lang="en-US" altLang="en-US" dirty="0"/>
              <a:t>Profile of O&amp;M, reusing ISO </a:t>
            </a:r>
          </a:p>
          <a:p>
            <a:pPr marL="0" indent="0">
              <a:buNone/>
            </a:pPr>
            <a:r>
              <a:rPr lang="en-US" altLang="en-US" dirty="0"/>
              <a:t>and OGC standards</a:t>
            </a:r>
            <a:endParaRPr lang="en-US" dirty="0"/>
          </a:p>
          <a:p>
            <a:r>
              <a:rPr lang="en-US" dirty="0"/>
              <a:t>UML model </a:t>
            </a:r>
          </a:p>
          <a:p>
            <a:r>
              <a:rPr lang="en-US" dirty="0"/>
              <a:t>XML Schema (GML compliant)</a:t>
            </a:r>
          </a:p>
          <a:p>
            <a:r>
              <a:rPr lang="en-US" dirty="0"/>
              <a:t>Specification document</a:t>
            </a:r>
          </a:p>
          <a:p>
            <a:pPr lvl="1"/>
            <a:r>
              <a:rPr lang="en-US" dirty="0"/>
              <a:t>Requirements</a:t>
            </a:r>
          </a:p>
          <a:p>
            <a:pPr lvl="1"/>
            <a:r>
              <a:rPr lang="en-US" dirty="0"/>
              <a:t>Conformance classes</a:t>
            </a:r>
          </a:p>
          <a:p>
            <a:pPr lvl="1"/>
            <a:r>
              <a:rPr lang="en-US" dirty="0"/>
              <a:t>Conformance tests</a:t>
            </a:r>
          </a:p>
          <a:p>
            <a:r>
              <a:rPr lang="en-US" dirty="0"/>
              <a:t>XML </a:t>
            </a:r>
            <a:r>
              <a:rPr lang="en-US" dirty="0" err="1"/>
              <a:t>Schematron</a:t>
            </a:r>
            <a:r>
              <a:rPr lang="en-US" dirty="0"/>
              <a:t> rules</a:t>
            </a:r>
          </a:p>
          <a:p>
            <a:r>
              <a:rPr lang="en-US" dirty="0"/>
              <a:t>Vocabulary definitions</a:t>
            </a:r>
          </a:p>
          <a:p>
            <a:pPr lvl="1"/>
            <a:r>
              <a:rPr lang="en-US" dirty="0"/>
              <a:t>Only a subset relating to time series</a:t>
            </a:r>
          </a:p>
        </p:txBody>
      </p:sp>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968918" y="1302772"/>
            <a:ext cx="4175082" cy="3581400"/>
          </a:xfrm>
          <a:prstGeom prst="rect">
            <a:avLst/>
          </a:prstGeom>
        </p:spPr>
      </p:pic>
    </p:spTree>
    <p:extLst>
      <p:ext uri="{BB962C8B-B14F-4D97-AF65-F5344CB8AC3E}">
        <p14:creationId xmlns:p14="http://schemas.microsoft.com/office/powerpoint/2010/main" val="1232909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Harmonization</a:t>
            </a:r>
          </a:p>
        </p:txBody>
      </p:sp>
      <p:grpSp>
        <p:nvGrpSpPr>
          <p:cNvPr id="5" name="Group 4">
            <a:extLst>
              <a:ext uri="{FF2B5EF4-FFF2-40B4-BE49-F238E27FC236}">
                <a16:creationId xmlns:a16="http://schemas.microsoft.com/office/drawing/2014/main" id="{1AC826C9-85DA-D84E-B383-197B6EF1AC93}"/>
              </a:ext>
            </a:extLst>
          </p:cNvPr>
          <p:cNvGrpSpPr/>
          <p:nvPr/>
        </p:nvGrpSpPr>
        <p:grpSpPr>
          <a:xfrm>
            <a:off x="3199247" y="949318"/>
            <a:ext cx="4649353" cy="5331011"/>
            <a:chOff x="3199247" y="949318"/>
            <a:chExt cx="4649353" cy="5331011"/>
          </a:xfrm>
        </p:grpSpPr>
        <p:pic>
          <p:nvPicPr>
            <p:cNvPr id="6" name="Picture 5"/>
            <p:cNvPicPr>
              <a:picLocks noChangeAspect="1"/>
            </p:cNvPicPr>
            <p:nvPr/>
          </p:nvPicPr>
          <p:blipFill>
            <a:blip r:embed="rId3"/>
            <a:stretch>
              <a:fillRect/>
            </a:stretch>
          </p:blipFill>
          <p:spPr>
            <a:xfrm>
              <a:off x="3263391" y="1020979"/>
              <a:ext cx="4051809" cy="5259350"/>
            </a:xfrm>
            <a:prstGeom prst="rect">
              <a:avLst/>
            </a:prstGeom>
          </p:spPr>
        </p:pic>
        <p:sp>
          <p:nvSpPr>
            <p:cNvPr id="8" name="Rounded Rectangle 7"/>
            <p:cNvSpPr/>
            <p:nvPr/>
          </p:nvSpPr>
          <p:spPr>
            <a:xfrm>
              <a:off x="3199247" y="949318"/>
              <a:ext cx="2540175" cy="2783607"/>
            </a:xfrm>
            <a:prstGeom prst="roundRect">
              <a:avLst/>
            </a:prstGeom>
            <a:noFill/>
            <a:ln>
              <a:solidFill>
                <a:schemeClr val="accent5">
                  <a:lumMod val="75000"/>
                </a:schemeClr>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3" name="TextBox 2"/>
            <p:cNvSpPr txBox="1"/>
            <p:nvPr/>
          </p:nvSpPr>
          <p:spPr>
            <a:xfrm>
              <a:off x="6019800" y="1020979"/>
              <a:ext cx="1828800" cy="2408021"/>
            </a:xfrm>
            <a:prstGeom prst="rect">
              <a:avLst/>
            </a:prstGeom>
            <a:solidFill>
              <a:srgbClr val="FFFFFF"/>
            </a:solidFill>
          </p:spPr>
          <p:txBody>
            <a:bodyPr wrap="square" rtlCol="0">
              <a:noAutofit/>
            </a:bodyPr>
            <a:lstStyle/>
            <a:p>
              <a:endParaRPr lang="en-US" dirty="0" err="1"/>
            </a:p>
          </p:txBody>
        </p:sp>
        <p:sp>
          <p:nvSpPr>
            <p:cNvPr id="4" name="TextBox 3">
              <a:extLst>
                <a:ext uri="{FF2B5EF4-FFF2-40B4-BE49-F238E27FC236}">
                  <a16:creationId xmlns:a16="http://schemas.microsoft.com/office/drawing/2014/main" id="{B746EAA3-A4D4-A343-83D3-4109A5328C93}"/>
                </a:ext>
              </a:extLst>
            </p:cNvPr>
            <p:cNvSpPr txBox="1"/>
            <p:nvPr/>
          </p:nvSpPr>
          <p:spPr>
            <a:xfrm>
              <a:off x="3886200" y="5791200"/>
              <a:ext cx="1524000" cy="228600"/>
            </a:xfrm>
            <a:prstGeom prst="rect">
              <a:avLst/>
            </a:prstGeom>
            <a:noFill/>
          </p:spPr>
          <p:txBody>
            <a:bodyPr wrap="square" rtlCol="0">
              <a:noAutofit/>
            </a:bodyPr>
            <a:lstStyle/>
            <a:p>
              <a:r>
                <a:rPr lang="en-US" sz="1100" dirty="0">
                  <a:solidFill>
                    <a:srgbClr val="FFFFFF"/>
                  </a:solidFill>
                  <a:latin typeface="+mn-lt"/>
                </a:rPr>
                <a:t>Part 1 - Timeseries</a:t>
              </a:r>
            </a:p>
          </p:txBody>
        </p:sp>
      </p:grpSp>
    </p:spTree>
    <p:extLst>
      <p:ext uri="{BB962C8B-B14F-4D97-AF65-F5344CB8AC3E}">
        <p14:creationId xmlns:p14="http://schemas.microsoft.com/office/powerpoint/2010/main" val="796834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CC6B5-CAA4-F841-A0F2-A0924D3B956D}"/>
              </a:ext>
            </a:extLst>
          </p:cNvPr>
          <p:cNvSpPr>
            <a:spLocks noGrp="1"/>
          </p:cNvSpPr>
          <p:nvPr>
            <p:ph type="title"/>
          </p:nvPr>
        </p:nvSpPr>
        <p:spPr/>
        <p:txBody>
          <a:bodyPr/>
          <a:lstStyle/>
          <a:p>
            <a:r>
              <a:rPr lang="en-US" dirty="0"/>
              <a:t>Adoption of WaterML2</a:t>
            </a:r>
            <a:r>
              <a:rPr lang="en-US"/>
              <a:t>: Part 1</a:t>
            </a:r>
            <a:endParaRPr lang="en-US" dirty="0"/>
          </a:p>
        </p:txBody>
      </p:sp>
      <p:sp>
        <p:nvSpPr>
          <p:cNvPr id="3" name="Content Placeholder 2">
            <a:extLst>
              <a:ext uri="{FF2B5EF4-FFF2-40B4-BE49-F238E27FC236}">
                <a16:creationId xmlns:a16="http://schemas.microsoft.com/office/drawing/2014/main" id="{E6D34733-A12B-3842-8813-DA05864257C3}"/>
              </a:ext>
            </a:extLst>
          </p:cNvPr>
          <p:cNvSpPr>
            <a:spLocks noGrp="1"/>
          </p:cNvSpPr>
          <p:nvPr>
            <p:ph idx="1"/>
          </p:nvPr>
        </p:nvSpPr>
        <p:spPr/>
        <p:txBody>
          <a:bodyPr/>
          <a:lstStyle/>
          <a:p>
            <a:r>
              <a:rPr lang="en-US" altLang="en-US" dirty="0"/>
              <a:t>WaterML2 announcement regarding US national strategy for civil earth observations: </a:t>
            </a:r>
          </a:p>
          <a:p>
            <a:pPr lvl="1"/>
            <a:r>
              <a:rPr lang="en-US" altLang="en-US" dirty="0">
                <a:hlinkClick r:id="rId2"/>
              </a:rPr>
              <a:t>http://www.opengeospatial.org/pressroom/pressreleases/1831</a:t>
            </a:r>
          </a:p>
          <a:p>
            <a:r>
              <a:rPr lang="en-US" altLang="en-US" dirty="0"/>
              <a:t>US Federal Geographic Data Committee (FGDC) endorses WaterML2: </a:t>
            </a:r>
          </a:p>
          <a:p>
            <a:pPr lvl="1"/>
            <a:r>
              <a:rPr lang="en-US" altLang="en-US" u="sng" dirty="0">
                <a:hlinkClick r:id="rId3"/>
              </a:rPr>
              <a:t>http://www.fgdc.gov/standards/news/WaterML</a:t>
            </a:r>
          </a:p>
          <a:p>
            <a:r>
              <a:rPr lang="en-US" altLang="en-US" dirty="0"/>
              <a:t>WaterML2 recommended in EU legislation on data sharing (page 5): </a:t>
            </a:r>
          </a:p>
          <a:p>
            <a:pPr lvl="1"/>
            <a:r>
              <a:rPr lang="en-US" altLang="en-US" sz="1500" u="sng" dirty="0">
                <a:hlinkClick r:id="rId4"/>
              </a:rPr>
              <a:t>http://eur-lex.europa.eu/LexUriServ/LexUriServ.do?uri=OJ:L:2013:331:0001:0267:EN:PDF</a:t>
            </a:r>
          </a:p>
          <a:p>
            <a:r>
              <a:rPr lang="en-US" altLang="en-US" dirty="0"/>
              <a:t>USGS implements WaterML2 in national water information system: </a:t>
            </a:r>
          </a:p>
          <a:p>
            <a:pPr lvl="1"/>
            <a:r>
              <a:rPr lang="en-US" altLang="en-US" dirty="0">
                <a:hlinkClick r:id="rId5"/>
              </a:rPr>
              <a:t>http://help.waterdata.usgs.gov/news/april-10-2014</a:t>
            </a:r>
            <a:endParaRPr lang="en-US" altLang="en-US" dirty="0"/>
          </a:p>
          <a:p>
            <a:endParaRPr lang="en-US" dirty="0"/>
          </a:p>
        </p:txBody>
      </p:sp>
    </p:spTree>
    <p:extLst>
      <p:ext uri="{BB962C8B-B14F-4D97-AF65-F5344CB8AC3E}">
        <p14:creationId xmlns:p14="http://schemas.microsoft.com/office/powerpoint/2010/main" val="2241242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2CDD5-CE0A-9744-95B0-BE8B49495BEF}"/>
              </a:ext>
            </a:extLst>
          </p:cNvPr>
          <p:cNvSpPr>
            <a:spLocks noGrp="1"/>
          </p:cNvSpPr>
          <p:nvPr>
            <p:ph type="title"/>
          </p:nvPr>
        </p:nvSpPr>
        <p:spPr/>
        <p:txBody>
          <a:bodyPr/>
          <a:lstStyle/>
          <a:p>
            <a:r>
              <a:rPr lang="en-US" dirty="0"/>
              <a:t>Adoption by WMO</a:t>
            </a:r>
          </a:p>
        </p:txBody>
      </p:sp>
      <p:sp>
        <p:nvSpPr>
          <p:cNvPr id="3" name="Content Placeholder 2">
            <a:extLst>
              <a:ext uri="{FF2B5EF4-FFF2-40B4-BE49-F238E27FC236}">
                <a16:creationId xmlns:a16="http://schemas.microsoft.com/office/drawing/2014/main" id="{98F5F113-7D86-6B4D-B892-6F382332F825}"/>
              </a:ext>
            </a:extLst>
          </p:cNvPr>
          <p:cNvSpPr>
            <a:spLocks noGrp="1"/>
          </p:cNvSpPr>
          <p:nvPr>
            <p:ph idx="1"/>
          </p:nvPr>
        </p:nvSpPr>
        <p:spPr/>
        <p:txBody>
          <a:bodyPr/>
          <a:lstStyle/>
          <a:p>
            <a:r>
              <a:rPr lang="en-US" dirty="0"/>
              <a:t>WMO Executive Council 69th session meeting in May 2017 formally adopted WaterML2 Part 1 &amp; 2 standards (</a:t>
            </a:r>
            <a:r>
              <a:rPr lang="en-US" sz="2000" dirty="0"/>
              <a:t>p.133-134</a:t>
            </a:r>
            <a:r>
              <a:rPr lang="en-US" dirty="0"/>
              <a:t>)</a:t>
            </a:r>
          </a:p>
          <a:p>
            <a:r>
              <a:rPr lang="en-US" dirty="0"/>
              <a:t>Decides:</a:t>
            </a:r>
          </a:p>
          <a:p>
            <a:pPr marL="804863" lvl="1" indent="-457200">
              <a:buFont typeface="+mj-lt"/>
              <a:buAutoNum type="arabicPeriod"/>
            </a:pPr>
            <a:r>
              <a:rPr lang="en-AU" sz="1800" dirty="0"/>
              <a:t>To amend the Manual on Codes, Volume I.3 to introduce WaterML2 Parts 1 and 2 as data representations that are suitable for the exchange of hydrological information, as specified in Annex 1 of the Annex to Recommendation 12 (CBS-16); </a:t>
            </a:r>
          </a:p>
          <a:p>
            <a:pPr marL="804863" lvl="1" indent="-457200">
              <a:buFont typeface="+mj-lt"/>
              <a:buAutoNum type="arabicPeriod"/>
            </a:pPr>
            <a:r>
              <a:rPr lang="en-AU" sz="1800" dirty="0"/>
              <a:t>To amend the Guide to Hydrological Practices, Volume I as specified in Annex 2 of the Annex to Recommendation 1 (CHy-15);</a:t>
            </a:r>
            <a:endParaRPr lang="en-US" sz="1800" dirty="0"/>
          </a:p>
          <a:p>
            <a:r>
              <a:rPr lang="en-US" dirty="0"/>
              <a:t>Requests:</a:t>
            </a:r>
          </a:p>
          <a:p>
            <a:pPr lvl="1"/>
            <a:r>
              <a:rPr lang="en-AU" sz="1800" dirty="0"/>
              <a:t>WMO representatives to the Hydrology Domain Working Group of the OGC to work with that group to revise the non-normative (informative) material in the WaterML2 standards to address concerns of </a:t>
            </a:r>
            <a:r>
              <a:rPr lang="en-AU" sz="1800" dirty="0" err="1"/>
              <a:t>CHy</a:t>
            </a:r>
            <a:endParaRPr lang="en-US" dirty="0"/>
          </a:p>
          <a:p>
            <a:pPr marL="0" indent="0">
              <a:buNone/>
            </a:pPr>
            <a:endParaRPr lang="en-US" dirty="0"/>
          </a:p>
        </p:txBody>
      </p:sp>
    </p:spTree>
    <p:extLst>
      <p:ext uri="{BB962C8B-B14F-4D97-AF65-F5344CB8AC3E}">
        <p14:creationId xmlns:p14="http://schemas.microsoft.com/office/powerpoint/2010/main" val="2694371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FD735-7590-EA41-B4D8-01D4AF24B244}"/>
              </a:ext>
            </a:extLst>
          </p:cNvPr>
          <p:cNvSpPr>
            <a:spLocks noGrp="1"/>
          </p:cNvSpPr>
          <p:nvPr>
            <p:ph type="title"/>
          </p:nvPr>
        </p:nvSpPr>
        <p:spPr/>
        <p:txBody>
          <a:bodyPr/>
          <a:lstStyle/>
          <a:p>
            <a:r>
              <a:rPr lang="en-US" dirty="0"/>
              <a:t>2018 WMO/OGC Hydrology DWG Workshop</a:t>
            </a:r>
          </a:p>
        </p:txBody>
      </p:sp>
      <p:sp>
        <p:nvSpPr>
          <p:cNvPr id="3" name="Content Placeholder 2">
            <a:extLst>
              <a:ext uri="{FF2B5EF4-FFF2-40B4-BE49-F238E27FC236}">
                <a16:creationId xmlns:a16="http://schemas.microsoft.com/office/drawing/2014/main" id="{C48AF2F2-98D0-9C44-BFB8-BE6D8FC489A9}"/>
              </a:ext>
            </a:extLst>
          </p:cNvPr>
          <p:cNvSpPr>
            <a:spLocks noGrp="1"/>
          </p:cNvSpPr>
          <p:nvPr>
            <p:ph idx="1"/>
          </p:nvPr>
        </p:nvSpPr>
        <p:spPr/>
        <p:txBody>
          <a:bodyPr/>
          <a:lstStyle/>
          <a:p>
            <a:r>
              <a:rPr lang="en-US" dirty="0"/>
              <a:t>25 attendees, local and remote</a:t>
            </a:r>
          </a:p>
          <a:p>
            <a:pPr lvl="1"/>
            <a:r>
              <a:rPr lang="en-US" dirty="0"/>
              <a:t>Participants from USA, Canada, Australia, New Zealand, Germany, France, Austria, Switzerland, United Kingdom</a:t>
            </a:r>
          </a:p>
          <a:p>
            <a:r>
              <a:rPr lang="en-US" dirty="0"/>
              <a:t>Focus on strengthening links between WMO and OGC</a:t>
            </a:r>
          </a:p>
          <a:p>
            <a:pPr lvl="1"/>
            <a:r>
              <a:rPr lang="en-US" dirty="0"/>
              <a:t>10 years since collaboration commenced</a:t>
            </a:r>
          </a:p>
          <a:p>
            <a:pPr lvl="1"/>
            <a:r>
              <a:rPr lang="en-US" dirty="0"/>
              <a:t>Planning key future activities</a:t>
            </a:r>
          </a:p>
          <a:p>
            <a:r>
              <a:rPr lang="en-US" dirty="0"/>
              <a:t>Presentations on:</a:t>
            </a:r>
          </a:p>
          <a:p>
            <a:pPr lvl="1"/>
            <a:r>
              <a:rPr lang="en-US" dirty="0"/>
              <a:t>WMO systems including </a:t>
            </a:r>
            <a:r>
              <a:rPr lang="en-US" dirty="0" err="1"/>
              <a:t>HydroHUB</a:t>
            </a:r>
            <a:r>
              <a:rPr lang="en-US" dirty="0"/>
              <a:t>, WHOS</a:t>
            </a:r>
          </a:p>
          <a:p>
            <a:pPr lvl="1"/>
            <a:r>
              <a:rPr lang="en-US" dirty="0"/>
              <a:t>Environmental data sharing in USA, Canada, Australia, NZ, France</a:t>
            </a:r>
          </a:p>
          <a:p>
            <a:pPr lvl="1"/>
            <a:r>
              <a:rPr lang="en-US" dirty="0"/>
              <a:t>New technologies for linking hydrological data across basins (ELFIE)</a:t>
            </a:r>
          </a:p>
          <a:p>
            <a:pPr lvl="1"/>
            <a:r>
              <a:rPr lang="en-US" dirty="0"/>
              <a:t>Vocabularies and ontologies for hydrological data</a:t>
            </a:r>
          </a:p>
          <a:p>
            <a:pPr lvl="1"/>
            <a:r>
              <a:rPr lang="en-US" dirty="0"/>
              <a:t>RDA Global Water Information Interest Group activities including data citation, water data portals and data rescue</a:t>
            </a:r>
          </a:p>
          <a:p>
            <a:pPr lvl="1"/>
            <a:endParaRPr lang="en-US" dirty="0"/>
          </a:p>
        </p:txBody>
      </p:sp>
      <p:sp>
        <p:nvSpPr>
          <p:cNvPr id="4" name="Footer Placeholder 3">
            <a:extLst>
              <a:ext uri="{FF2B5EF4-FFF2-40B4-BE49-F238E27FC236}">
                <a16:creationId xmlns:a16="http://schemas.microsoft.com/office/drawing/2014/main" id="{FCC5F2FA-A16A-2D4B-992E-A60CAD975CBE}"/>
              </a:ext>
            </a:extLst>
          </p:cNvPr>
          <p:cNvSpPr>
            <a:spLocks noGrp="1"/>
          </p:cNvSpPr>
          <p:nvPr>
            <p:ph type="ftr" sz="quarter" idx="10"/>
          </p:nvPr>
        </p:nvSpPr>
        <p:spPr/>
        <p:txBody>
          <a:bodyPr/>
          <a:lstStyle/>
          <a:p>
            <a:pPr>
              <a:defRPr/>
            </a:pPr>
            <a:r>
              <a:rPr lang="en-US"/>
              <a:t>Copyright © 2013 Open Geospatial Consortium</a:t>
            </a:r>
          </a:p>
        </p:txBody>
      </p:sp>
    </p:spTree>
    <p:extLst>
      <p:ext uri="{BB962C8B-B14F-4D97-AF65-F5344CB8AC3E}">
        <p14:creationId xmlns:p14="http://schemas.microsoft.com/office/powerpoint/2010/main" val="2346001006"/>
      </p:ext>
    </p:extLst>
  </p:cSld>
  <p:clrMapOvr>
    <a:masterClrMapping/>
  </p:clrMapOvr>
</p:sld>
</file>

<file path=ppt/theme/theme1.xml><?xml version="1.0" encoding="utf-8"?>
<a:theme xmlns:a="http://schemas.openxmlformats.org/drawingml/2006/main" name="OGC_PowerPoint_Template">
  <a:themeElements>
    <a:clrScheme name="">
      <a:dk1>
        <a:srgbClr val="000000"/>
      </a:dk1>
      <a:lt1>
        <a:srgbClr val="FFFFCC"/>
      </a:lt1>
      <a:dk2>
        <a:srgbClr val="092E5C"/>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GC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rgbClr val="969696"/>
          </a:solidFill>
          <a:prstDash val="solid"/>
          <a:round/>
          <a:headEnd type="none" w="med" len="med"/>
          <a:tailEnd type="none" w="med" len="med"/>
        </a:ln>
        <a:effectLst/>
      </a:spPr>
      <a:bodyPr rtlCol="0" anchor="ctr"/>
      <a:lstStyle>
        <a:defPPr algn="ctr">
          <a:defRPr/>
        </a:defPPr>
      </a:lstStyle>
    </a:spDef>
    <a:lnDef>
      <a:spPr bwMode="auto">
        <a:noFill/>
        <a:ln w="12700" cap="flat" cmpd="sng" algn="ctr">
          <a:solidFill>
            <a:srgbClr val="969696"/>
          </a:solidFill>
          <a:prstDash val="solid"/>
          <a:round/>
          <a:headEnd type="none" w="med" len="med"/>
          <a:tailEnd type="none" w="med" len="med"/>
        </a:ln>
        <a:effectLst/>
      </a:spPr>
      <a:bodyPr/>
      <a:lstStyle/>
    </a:lnDef>
    <a:txDef>
      <a:spPr>
        <a:noFill/>
      </a:spPr>
      <a:bodyPr wrap="none" rtlCol="0">
        <a:noAutofit/>
      </a:bodyPr>
      <a:lstStyle>
        <a:defPPr>
          <a:defRPr dirty="0" err="1" smtClean="0"/>
        </a:defPPr>
      </a:lstStyle>
    </a:txDef>
  </a:objectDefaults>
  <a:extraClrSchemeLst>
    <a:extraClrScheme>
      <a:clrScheme name="OGC_PowerPoint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GC_PowerPoint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GC_PowerPoint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GC_PowerPoint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GC_PowerPoint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GC_PowerPoint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GC_PowerPoint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484</TotalTime>
  <Words>1191</Words>
  <Application>Microsoft Macintosh PowerPoint</Application>
  <PresentationFormat>On-screen Show (4:3)</PresentationFormat>
  <Paragraphs>140</Paragraphs>
  <Slides>14</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MS PGothic</vt:lpstr>
      <vt:lpstr>MS PGothic</vt:lpstr>
      <vt:lpstr>Arial</vt:lpstr>
      <vt:lpstr>Arial Black</vt:lpstr>
      <vt:lpstr>Calibri</vt:lpstr>
      <vt:lpstr>CG Times</vt:lpstr>
      <vt:lpstr>Corbel</vt:lpstr>
      <vt:lpstr>NewBaskerville-Roman</vt:lpstr>
      <vt:lpstr>Palatino Linotype</vt:lpstr>
      <vt:lpstr>Times New Roman</vt:lpstr>
      <vt:lpstr>OGC_PowerPoint_Template</vt:lpstr>
      <vt:lpstr>Introduction to the WMO/OGC Hydrology Domain Working Group</vt:lpstr>
      <vt:lpstr>Benefits of open standards</vt:lpstr>
      <vt:lpstr>What is the OGC?</vt:lpstr>
      <vt:lpstr>OGC Snapshot</vt:lpstr>
      <vt:lpstr>Standards</vt:lpstr>
      <vt:lpstr>Other Document Types</vt:lpstr>
      <vt:lpstr>OGC Web Services</vt:lpstr>
      <vt:lpstr>International Standardization for Water Data</vt:lpstr>
      <vt:lpstr>WaterML2.0 standards</vt:lpstr>
      <vt:lpstr>WaterML2: Part 1 – Timeseries</vt:lpstr>
      <vt:lpstr>Harmonization</vt:lpstr>
      <vt:lpstr>Adoption of WaterML2: Part 1</vt:lpstr>
      <vt:lpstr>Adoption by WMO</vt:lpstr>
      <vt:lpstr>2018 WMO/OGC Hydrology DWG Workshop</vt:lpstr>
    </vt:vector>
  </TitlesOfParts>
  <Company>OGC</Company>
  <LinksUpToDate>false</LinksUpToDate>
  <SharedDoc>false</SharedDoc>
  <HyperlinkBase/>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OGC TC/PC</dc:subject>
  <dc:creator>Carl Reed</dc:creator>
  <cp:lastModifiedBy>Tony Boston</cp:lastModifiedBy>
  <cp:revision>156</cp:revision>
  <cp:lastPrinted>2003-02-03T21:59:32Z</cp:lastPrinted>
  <dcterms:created xsi:type="dcterms:W3CDTF">2009-10-20T16:54:31Z</dcterms:created>
  <dcterms:modified xsi:type="dcterms:W3CDTF">2018-09-20T13:40:25Z</dcterms:modified>
</cp:coreProperties>
</file>