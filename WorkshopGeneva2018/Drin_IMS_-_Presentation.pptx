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393" r:id="rId3"/>
    <p:sldId id="383" r:id="rId4"/>
    <p:sldId id="326" r:id="rId5"/>
    <p:sldId id="384" r:id="rId6"/>
    <p:sldId id="270" r:id="rId7"/>
    <p:sldId id="344" r:id="rId8"/>
    <p:sldId id="390" r:id="rId9"/>
    <p:sldId id="394" r:id="rId10"/>
    <p:sldId id="395" r:id="rId11"/>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AE79"/>
    <a:srgbClr val="ADEDA1"/>
    <a:srgbClr val="75CDFF"/>
    <a:srgbClr val="008DF2"/>
    <a:srgbClr val="B9ECFF"/>
    <a:srgbClr val="E8F2F4"/>
    <a:srgbClr val="FF0000"/>
    <a:srgbClr val="5FD39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31" autoAdjust="0"/>
    <p:restoredTop sz="92526"/>
  </p:normalViewPr>
  <p:slideViewPr>
    <p:cSldViewPr snapToGrid="0" snapToObjects="1">
      <p:cViewPr varScale="1">
        <p:scale>
          <a:sx n="62" d="100"/>
          <a:sy n="62" d="100"/>
        </p:scale>
        <p:origin x="-756"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B0D739-C867-804D-BADF-57AA8BE9AA03}" type="doc">
      <dgm:prSet loTypeId="urn:microsoft.com/office/officeart/2005/8/layout/venn3" loCatId="cycle" qsTypeId="urn:microsoft.com/office/officeart/2005/8/quickstyle/simple1" qsCatId="simple" csTypeId="urn:microsoft.com/office/officeart/2005/8/colors/colorful1" csCatId="colorful" phldr="1"/>
      <dgm:spPr/>
      <dgm:t>
        <a:bodyPr/>
        <a:lstStyle/>
        <a:p>
          <a:endParaRPr lang="en-US"/>
        </a:p>
      </dgm:t>
    </dgm:pt>
    <dgm:pt modelId="{5851E426-8674-5940-A9BB-E01822081613}">
      <dgm:prSet/>
      <dgm:spPr/>
      <dgm:t>
        <a:bodyPr/>
        <a:lstStyle/>
        <a:p>
          <a:r>
            <a:rPr lang="hr-HR" b="0" i="0" dirty="0"/>
            <a:t>C</a:t>
          </a:r>
          <a:r>
            <a:rPr lang="en-GB" b="0" i="0" dirty="0" err="1"/>
            <a:t>ontinuous</a:t>
          </a:r>
          <a:r>
            <a:rPr lang="en-GB" b="0" i="0" dirty="0"/>
            <a:t> data acquisition and regular update, sufficient data quality control, data verification and validation is not in place, matter of routine and performed to the prescribed extent and frequency. </a:t>
          </a:r>
          <a:endParaRPr lang="en-GB" dirty="0"/>
        </a:p>
      </dgm:t>
    </dgm:pt>
    <dgm:pt modelId="{00B4775A-A06C-4C45-8848-8BAE259FA187}" type="parTrans" cxnId="{662ACFF3-B0E0-7E40-BB21-1E6893809F2A}">
      <dgm:prSet/>
      <dgm:spPr/>
      <dgm:t>
        <a:bodyPr/>
        <a:lstStyle/>
        <a:p>
          <a:endParaRPr lang="en-US"/>
        </a:p>
      </dgm:t>
    </dgm:pt>
    <dgm:pt modelId="{C6146A9C-DA5D-8248-9103-18BEBD437F71}" type="sibTrans" cxnId="{662ACFF3-B0E0-7E40-BB21-1E6893809F2A}">
      <dgm:prSet/>
      <dgm:spPr/>
      <dgm:t>
        <a:bodyPr/>
        <a:lstStyle/>
        <a:p>
          <a:endParaRPr lang="en-US"/>
        </a:p>
      </dgm:t>
    </dgm:pt>
    <dgm:pt modelId="{EC979BA6-C789-1648-A09C-062BE24B656D}">
      <dgm:prSet/>
      <dgm:spPr/>
      <dgm:t>
        <a:bodyPr/>
        <a:lstStyle/>
        <a:p>
          <a:r>
            <a:rPr lang="hr-HR" b="0" i="0" dirty="0"/>
            <a:t>H</a:t>
          </a:r>
          <a:r>
            <a:rPr lang="en-GB" b="0" i="0" dirty="0" err="1"/>
            <a:t>ydrological</a:t>
          </a:r>
          <a:r>
            <a:rPr lang="en-GB" b="0" i="0" dirty="0"/>
            <a:t> monitoring is not available for all catchments, wetlands and floodplains</a:t>
          </a:r>
          <a:endParaRPr lang="en-GB" dirty="0"/>
        </a:p>
      </dgm:t>
    </dgm:pt>
    <dgm:pt modelId="{30C9205B-DC15-B14F-BEB5-ADB03449B4C5}" type="parTrans" cxnId="{F93BECB6-490F-CA48-88FB-29C1A212D841}">
      <dgm:prSet/>
      <dgm:spPr/>
      <dgm:t>
        <a:bodyPr/>
        <a:lstStyle/>
        <a:p>
          <a:endParaRPr lang="en-US"/>
        </a:p>
      </dgm:t>
    </dgm:pt>
    <dgm:pt modelId="{40B81CFF-8CD2-0642-AF34-03F78F1BAB02}" type="sibTrans" cxnId="{F93BECB6-490F-CA48-88FB-29C1A212D841}">
      <dgm:prSet/>
      <dgm:spPr/>
      <dgm:t>
        <a:bodyPr/>
        <a:lstStyle/>
        <a:p>
          <a:endParaRPr lang="en-US"/>
        </a:p>
      </dgm:t>
    </dgm:pt>
    <dgm:pt modelId="{E5FFF9BF-BBA3-5146-9A3A-9F287FBA774F}">
      <dgm:prSet/>
      <dgm:spPr/>
      <dgm:t>
        <a:bodyPr/>
        <a:lstStyle/>
        <a:p>
          <a:r>
            <a:rPr lang="en-GB" b="0" i="0" dirty="0"/>
            <a:t>Quality of hydrological monitoring data is often hindered by a number of factors including fragmentation of data. </a:t>
          </a:r>
          <a:endParaRPr lang="en-GB" dirty="0"/>
        </a:p>
      </dgm:t>
    </dgm:pt>
    <dgm:pt modelId="{B7F2AA7C-4DCE-054D-9199-EDBE298E250F}" type="parTrans" cxnId="{20BAE596-B85E-294E-883B-AF3624C2AEC2}">
      <dgm:prSet/>
      <dgm:spPr/>
      <dgm:t>
        <a:bodyPr/>
        <a:lstStyle/>
        <a:p>
          <a:endParaRPr lang="en-US"/>
        </a:p>
      </dgm:t>
    </dgm:pt>
    <dgm:pt modelId="{CE360A8A-FCF2-C848-B8CB-28289864B67D}" type="sibTrans" cxnId="{20BAE596-B85E-294E-883B-AF3624C2AEC2}">
      <dgm:prSet/>
      <dgm:spPr/>
      <dgm:t>
        <a:bodyPr/>
        <a:lstStyle/>
        <a:p>
          <a:endParaRPr lang="en-US"/>
        </a:p>
      </dgm:t>
    </dgm:pt>
    <dgm:pt modelId="{E8817D8B-B30E-EA45-83B8-DC0B65696D77}">
      <dgm:prSet/>
      <dgm:spPr/>
      <dgm:t>
        <a:bodyPr/>
        <a:lstStyle/>
        <a:p>
          <a:r>
            <a:rPr lang="en-GB" b="0" i="0" dirty="0"/>
            <a:t>Water quantity and quality and other important hydrological data  are needed especially for the calibration of hydrological models. </a:t>
          </a:r>
          <a:endParaRPr lang="en-GB" dirty="0"/>
        </a:p>
      </dgm:t>
    </dgm:pt>
    <dgm:pt modelId="{45EDB7B7-F996-A04C-A4FD-FDA1822370FD}" type="parTrans" cxnId="{154B639B-28C0-D04D-904A-FC786B3ACB76}">
      <dgm:prSet/>
      <dgm:spPr/>
      <dgm:t>
        <a:bodyPr/>
        <a:lstStyle/>
        <a:p>
          <a:endParaRPr lang="en-US"/>
        </a:p>
      </dgm:t>
    </dgm:pt>
    <dgm:pt modelId="{B0DC3561-BF49-C140-B070-24AE056069A4}" type="sibTrans" cxnId="{154B639B-28C0-D04D-904A-FC786B3ACB76}">
      <dgm:prSet/>
      <dgm:spPr/>
      <dgm:t>
        <a:bodyPr/>
        <a:lstStyle/>
        <a:p>
          <a:endParaRPr lang="en-US"/>
        </a:p>
      </dgm:t>
    </dgm:pt>
    <dgm:pt modelId="{57A88A41-895C-C445-A78D-F11012B7117F}" type="pres">
      <dgm:prSet presAssocID="{38B0D739-C867-804D-BADF-57AA8BE9AA03}" presName="Name0" presStyleCnt="0">
        <dgm:presLayoutVars>
          <dgm:dir/>
          <dgm:resizeHandles val="exact"/>
        </dgm:presLayoutVars>
      </dgm:prSet>
      <dgm:spPr/>
      <dgm:t>
        <a:bodyPr/>
        <a:lstStyle/>
        <a:p>
          <a:endParaRPr lang="en-US"/>
        </a:p>
      </dgm:t>
    </dgm:pt>
    <dgm:pt modelId="{FDC609F3-6784-4F4C-9CFE-4E7CFD662728}" type="pres">
      <dgm:prSet presAssocID="{5851E426-8674-5940-A9BB-E01822081613}" presName="Name5" presStyleLbl="vennNode1" presStyleIdx="0" presStyleCnt="4">
        <dgm:presLayoutVars>
          <dgm:bulletEnabled val="1"/>
        </dgm:presLayoutVars>
      </dgm:prSet>
      <dgm:spPr/>
      <dgm:t>
        <a:bodyPr/>
        <a:lstStyle/>
        <a:p>
          <a:endParaRPr lang="en-US"/>
        </a:p>
      </dgm:t>
    </dgm:pt>
    <dgm:pt modelId="{2737AB7B-B4DD-4547-9027-6391CC7DAB71}" type="pres">
      <dgm:prSet presAssocID="{C6146A9C-DA5D-8248-9103-18BEBD437F71}" presName="space" presStyleCnt="0"/>
      <dgm:spPr/>
    </dgm:pt>
    <dgm:pt modelId="{490F1934-DC94-7540-8AE8-F587B2D40305}" type="pres">
      <dgm:prSet presAssocID="{EC979BA6-C789-1648-A09C-062BE24B656D}" presName="Name5" presStyleLbl="vennNode1" presStyleIdx="1" presStyleCnt="4">
        <dgm:presLayoutVars>
          <dgm:bulletEnabled val="1"/>
        </dgm:presLayoutVars>
      </dgm:prSet>
      <dgm:spPr/>
      <dgm:t>
        <a:bodyPr/>
        <a:lstStyle/>
        <a:p>
          <a:endParaRPr lang="en-US"/>
        </a:p>
      </dgm:t>
    </dgm:pt>
    <dgm:pt modelId="{D29EF94A-7520-B84C-9786-EBC29824E72E}" type="pres">
      <dgm:prSet presAssocID="{40B81CFF-8CD2-0642-AF34-03F78F1BAB02}" presName="space" presStyleCnt="0"/>
      <dgm:spPr/>
    </dgm:pt>
    <dgm:pt modelId="{6E07A16D-4266-2744-9D45-2F93915133A3}" type="pres">
      <dgm:prSet presAssocID="{E5FFF9BF-BBA3-5146-9A3A-9F287FBA774F}" presName="Name5" presStyleLbl="vennNode1" presStyleIdx="2" presStyleCnt="4">
        <dgm:presLayoutVars>
          <dgm:bulletEnabled val="1"/>
        </dgm:presLayoutVars>
      </dgm:prSet>
      <dgm:spPr/>
      <dgm:t>
        <a:bodyPr/>
        <a:lstStyle/>
        <a:p>
          <a:endParaRPr lang="en-US"/>
        </a:p>
      </dgm:t>
    </dgm:pt>
    <dgm:pt modelId="{464CFAF8-89C6-EA49-A65A-52D681C108A6}" type="pres">
      <dgm:prSet presAssocID="{CE360A8A-FCF2-C848-B8CB-28289864B67D}" presName="space" presStyleCnt="0"/>
      <dgm:spPr/>
    </dgm:pt>
    <dgm:pt modelId="{71D2274D-BFBE-C44A-B650-4492A7ECC6F6}" type="pres">
      <dgm:prSet presAssocID="{E8817D8B-B30E-EA45-83B8-DC0B65696D77}" presName="Name5" presStyleLbl="vennNode1" presStyleIdx="3" presStyleCnt="4">
        <dgm:presLayoutVars>
          <dgm:bulletEnabled val="1"/>
        </dgm:presLayoutVars>
      </dgm:prSet>
      <dgm:spPr/>
      <dgm:t>
        <a:bodyPr/>
        <a:lstStyle/>
        <a:p>
          <a:endParaRPr lang="en-US"/>
        </a:p>
      </dgm:t>
    </dgm:pt>
  </dgm:ptLst>
  <dgm:cxnLst>
    <dgm:cxn modelId="{20BAE596-B85E-294E-883B-AF3624C2AEC2}" srcId="{38B0D739-C867-804D-BADF-57AA8BE9AA03}" destId="{E5FFF9BF-BBA3-5146-9A3A-9F287FBA774F}" srcOrd="2" destOrd="0" parTransId="{B7F2AA7C-4DCE-054D-9199-EDBE298E250F}" sibTransId="{CE360A8A-FCF2-C848-B8CB-28289864B67D}"/>
    <dgm:cxn modelId="{F93BECB6-490F-CA48-88FB-29C1A212D841}" srcId="{38B0D739-C867-804D-BADF-57AA8BE9AA03}" destId="{EC979BA6-C789-1648-A09C-062BE24B656D}" srcOrd="1" destOrd="0" parTransId="{30C9205B-DC15-B14F-BEB5-ADB03449B4C5}" sibTransId="{40B81CFF-8CD2-0642-AF34-03F78F1BAB02}"/>
    <dgm:cxn modelId="{EC2CDCD7-51A7-A74F-BEE4-C1BD5E125D33}" type="presOf" srcId="{38B0D739-C867-804D-BADF-57AA8BE9AA03}" destId="{57A88A41-895C-C445-A78D-F11012B7117F}" srcOrd="0" destOrd="0" presId="urn:microsoft.com/office/officeart/2005/8/layout/venn3"/>
    <dgm:cxn modelId="{662ACFF3-B0E0-7E40-BB21-1E6893809F2A}" srcId="{38B0D739-C867-804D-BADF-57AA8BE9AA03}" destId="{5851E426-8674-5940-A9BB-E01822081613}" srcOrd="0" destOrd="0" parTransId="{00B4775A-A06C-4C45-8848-8BAE259FA187}" sibTransId="{C6146A9C-DA5D-8248-9103-18BEBD437F71}"/>
    <dgm:cxn modelId="{C979BBC3-745E-A14B-867D-056B8D58282F}" type="presOf" srcId="{E8817D8B-B30E-EA45-83B8-DC0B65696D77}" destId="{71D2274D-BFBE-C44A-B650-4492A7ECC6F6}" srcOrd="0" destOrd="0" presId="urn:microsoft.com/office/officeart/2005/8/layout/venn3"/>
    <dgm:cxn modelId="{9169A93B-62F3-CD46-B7D6-95F2E47530DB}" type="presOf" srcId="{5851E426-8674-5940-A9BB-E01822081613}" destId="{FDC609F3-6784-4F4C-9CFE-4E7CFD662728}" srcOrd="0" destOrd="0" presId="urn:microsoft.com/office/officeart/2005/8/layout/venn3"/>
    <dgm:cxn modelId="{154B639B-28C0-D04D-904A-FC786B3ACB76}" srcId="{38B0D739-C867-804D-BADF-57AA8BE9AA03}" destId="{E8817D8B-B30E-EA45-83B8-DC0B65696D77}" srcOrd="3" destOrd="0" parTransId="{45EDB7B7-F996-A04C-A4FD-FDA1822370FD}" sibTransId="{B0DC3561-BF49-C140-B070-24AE056069A4}"/>
    <dgm:cxn modelId="{2E8ED0D6-DD0B-DB46-A93B-004DEE39E367}" type="presOf" srcId="{E5FFF9BF-BBA3-5146-9A3A-9F287FBA774F}" destId="{6E07A16D-4266-2744-9D45-2F93915133A3}" srcOrd="0" destOrd="0" presId="urn:microsoft.com/office/officeart/2005/8/layout/venn3"/>
    <dgm:cxn modelId="{9CA6A16F-0790-CA45-B40E-211107305420}" type="presOf" srcId="{EC979BA6-C789-1648-A09C-062BE24B656D}" destId="{490F1934-DC94-7540-8AE8-F587B2D40305}" srcOrd="0" destOrd="0" presId="urn:microsoft.com/office/officeart/2005/8/layout/venn3"/>
    <dgm:cxn modelId="{EEF55FF4-76D9-5849-BFF3-002C7DBB447B}" type="presParOf" srcId="{57A88A41-895C-C445-A78D-F11012B7117F}" destId="{FDC609F3-6784-4F4C-9CFE-4E7CFD662728}" srcOrd="0" destOrd="0" presId="urn:microsoft.com/office/officeart/2005/8/layout/venn3"/>
    <dgm:cxn modelId="{F73BB766-50CA-574F-A96A-3D749D0AD6FF}" type="presParOf" srcId="{57A88A41-895C-C445-A78D-F11012B7117F}" destId="{2737AB7B-B4DD-4547-9027-6391CC7DAB71}" srcOrd="1" destOrd="0" presId="urn:microsoft.com/office/officeart/2005/8/layout/venn3"/>
    <dgm:cxn modelId="{E56F1341-E1CD-1648-85AD-96EC169946E2}" type="presParOf" srcId="{57A88A41-895C-C445-A78D-F11012B7117F}" destId="{490F1934-DC94-7540-8AE8-F587B2D40305}" srcOrd="2" destOrd="0" presId="urn:microsoft.com/office/officeart/2005/8/layout/venn3"/>
    <dgm:cxn modelId="{8CF6A96E-A16C-134A-8E2A-1AA9CA8A0ED2}" type="presParOf" srcId="{57A88A41-895C-C445-A78D-F11012B7117F}" destId="{D29EF94A-7520-B84C-9786-EBC29824E72E}" srcOrd="3" destOrd="0" presId="urn:microsoft.com/office/officeart/2005/8/layout/venn3"/>
    <dgm:cxn modelId="{F4338A5D-042E-2049-A41A-289FC8E17894}" type="presParOf" srcId="{57A88A41-895C-C445-A78D-F11012B7117F}" destId="{6E07A16D-4266-2744-9D45-2F93915133A3}" srcOrd="4" destOrd="0" presId="urn:microsoft.com/office/officeart/2005/8/layout/venn3"/>
    <dgm:cxn modelId="{C3254A29-D084-AC4F-803E-86589169393E}" type="presParOf" srcId="{57A88A41-895C-C445-A78D-F11012B7117F}" destId="{464CFAF8-89C6-EA49-A65A-52D681C108A6}" srcOrd="5" destOrd="0" presId="urn:microsoft.com/office/officeart/2005/8/layout/venn3"/>
    <dgm:cxn modelId="{8C5EA9B3-93A7-9E4F-9AC8-66BE14D58042}" type="presParOf" srcId="{57A88A41-895C-C445-A78D-F11012B7117F}" destId="{71D2274D-BFBE-C44A-B650-4492A7ECC6F6}" srcOrd="6"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C609F3-6784-4F4C-9CFE-4E7CFD662728}">
      <dsp:nvSpPr>
        <dsp:cNvPr id="0" name=""/>
        <dsp:cNvSpPr/>
      </dsp:nvSpPr>
      <dsp:spPr>
        <a:xfrm>
          <a:off x="3571" y="1049280"/>
          <a:ext cx="3583781" cy="3583781"/>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97227" tIns="21590" rIns="197227" bIns="21590" numCol="1" spcCol="1270" anchor="ctr" anchorCtr="0">
          <a:noAutofit/>
        </a:bodyPr>
        <a:lstStyle/>
        <a:p>
          <a:pPr lvl="0" algn="ctr" defTabSz="755650">
            <a:lnSpc>
              <a:spcPct val="90000"/>
            </a:lnSpc>
            <a:spcBef>
              <a:spcPct val="0"/>
            </a:spcBef>
            <a:spcAft>
              <a:spcPct val="35000"/>
            </a:spcAft>
          </a:pPr>
          <a:r>
            <a:rPr lang="hr-HR" sz="1700" b="0" i="0" kern="1200" dirty="0"/>
            <a:t>C</a:t>
          </a:r>
          <a:r>
            <a:rPr lang="en-GB" sz="1700" b="0" i="0" kern="1200" dirty="0" err="1"/>
            <a:t>ontinuous</a:t>
          </a:r>
          <a:r>
            <a:rPr lang="en-GB" sz="1700" b="0" i="0" kern="1200" dirty="0"/>
            <a:t> data acquisition and regular update, sufficient data quality control, data verification and validation is not in place, matter of routine and performed to the prescribed extent and frequency. </a:t>
          </a:r>
          <a:endParaRPr lang="en-GB" sz="1700" kern="1200" dirty="0"/>
        </a:p>
      </dsp:txBody>
      <dsp:txXfrm>
        <a:off x="528404" y="1574113"/>
        <a:ext cx="2534115" cy="2534115"/>
      </dsp:txXfrm>
    </dsp:sp>
    <dsp:sp modelId="{490F1934-DC94-7540-8AE8-F587B2D40305}">
      <dsp:nvSpPr>
        <dsp:cNvPr id="0" name=""/>
        <dsp:cNvSpPr/>
      </dsp:nvSpPr>
      <dsp:spPr>
        <a:xfrm>
          <a:off x="2870596" y="1049280"/>
          <a:ext cx="3583781" cy="3583781"/>
        </a:xfrm>
        <a:prstGeom prst="ellipse">
          <a:avLst/>
        </a:prstGeom>
        <a:solidFill>
          <a:schemeClr val="accent3">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97227" tIns="21590" rIns="197227" bIns="21590" numCol="1" spcCol="1270" anchor="ctr" anchorCtr="0">
          <a:noAutofit/>
        </a:bodyPr>
        <a:lstStyle/>
        <a:p>
          <a:pPr lvl="0" algn="ctr" defTabSz="755650">
            <a:lnSpc>
              <a:spcPct val="90000"/>
            </a:lnSpc>
            <a:spcBef>
              <a:spcPct val="0"/>
            </a:spcBef>
            <a:spcAft>
              <a:spcPct val="35000"/>
            </a:spcAft>
          </a:pPr>
          <a:r>
            <a:rPr lang="hr-HR" sz="1700" b="0" i="0" kern="1200" dirty="0"/>
            <a:t>H</a:t>
          </a:r>
          <a:r>
            <a:rPr lang="en-GB" sz="1700" b="0" i="0" kern="1200" dirty="0" err="1"/>
            <a:t>ydrological</a:t>
          </a:r>
          <a:r>
            <a:rPr lang="en-GB" sz="1700" b="0" i="0" kern="1200" dirty="0"/>
            <a:t> monitoring is not available for all catchments, wetlands and floodplains</a:t>
          </a:r>
          <a:endParaRPr lang="en-GB" sz="1700" kern="1200" dirty="0"/>
        </a:p>
      </dsp:txBody>
      <dsp:txXfrm>
        <a:off x="3395429" y="1574113"/>
        <a:ext cx="2534115" cy="2534115"/>
      </dsp:txXfrm>
    </dsp:sp>
    <dsp:sp modelId="{6E07A16D-4266-2744-9D45-2F93915133A3}">
      <dsp:nvSpPr>
        <dsp:cNvPr id="0" name=""/>
        <dsp:cNvSpPr/>
      </dsp:nvSpPr>
      <dsp:spPr>
        <a:xfrm>
          <a:off x="5737621" y="1049280"/>
          <a:ext cx="3583781" cy="3583781"/>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97227" tIns="21590" rIns="197227" bIns="21590" numCol="1" spcCol="1270" anchor="ctr" anchorCtr="0">
          <a:noAutofit/>
        </a:bodyPr>
        <a:lstStyle/>
        <a:p>
          <a:pPr lvl="0" algn="ctr" defTabSz="755650">
            <a:lnSpc>
              <a:spcPct val="90000"/>
            </a:lnSpc>
            <a:spcBef>
              <a:spcPct val="0"/>
            </a:spcBef>
            <a:spcAft>
              <a:spcPct val="35000"/>
            </a:spcAft>
          </a:pPr>
          <a:r>
            <a:rPr lang="en-GB" sz="1700" b="0" i="0" kern="1200" dirty="0"/>
            <a:t>Quality of hydrological monitoring data is often hindered by a number of factors including fragmentation of data. </a:t>
          </a:r>
          <a:endParaRPr lang="en-GB" sz="1700" kern="1200" dirty="0"/>
        </a:p>
      </dsp:txBody>
      <dsp:txXfrm>
        <a:off x="6262454" y="1574113"/>
        <a:ext cx="2534115" cy="2534115"/>
      </dsp:txXfrm>
    </dsp:sp>
    <dsp:sp modelId="{71D2274D-BFBE-C44A-B650-4492A7ECC6F6}">
      <dsp:nvSpPr>
        <dsp:cNvPr id="0" name=""/>
        <dsp:cNvSpPr/>
      </dsp:nvSpPr>
      <dsp:spPr>
        <a:xfrm>
          <a:off x="8604646" y="1049280"/>
          <a:ext cx="3583781" cy="3583781"/>
        </a:xfrm>
        <a:prstGeom prst="ellipse">
          <a:avLst/>
        </a:prstGeom>
        <a:solidFill>
          <a:schemeClr val="accent5">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97227" tIns="21590" rIns="197227" bIns="21590" numCol="1" spcCol="1270" anchor="ctr" anchorCtr="0">
          <a:noAutofit/>
        </a:bodyPr>
        <a:lstStyle/>
        <a:p>
          <a:pPr lvl="0" algn="ctr" defTabSz="755650">
            <a:lnSpc>
              <a:spcPct val="90000"/>
            </a:lnSpc>
            <a:spcBef>
              <a:spcPct val="0"/>
            </a:spcBef>
            <a:spcAft>
              <a:spcPct val="35000"/>
            </a:spcAft>
          </a:pPr>
          <a:r>
            <a:rPr lang="en-GB" sz="1700" b="0" i="0" kern="1200" dirty="0"/>
            <a:t>Water quantity and quality and other important hydrological data  are needed especially for the calibration of hydrological models. </a:t>
          </a:r>
          <a:endParaRPr lang="en-GB" sz="1700" kern="1200" dirty="0"/>
        </a:p>
      </dsp:txBody>
      <dsp:txXfrm>
        <a:off x="9129479" y="1574113"/>
        <a:ext cx="2534115" cy="2534115"/>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AD2637A5-E66F-AE43-B736-495798892D91}" type="datetimeFigureOut">
              <a:rPr lang="en-US" smtClean="0"/>
              <a:t>9/20/2018</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13695917-61D5-D249-B406-D2F43F22D34D}" type="slidenum">
              <a:rPr lang="en-US" smtClean="0"/>
              <a:t>‹#›</a:t>
            </a:fld>
            <a:endParaRPr lang="en-US"/>
          </a:p>
        </p:txBody>
      </p:sp>
    </p:spTree>
    <p:extLst>
      <p:ext uri="{BB962C8B-B14F-4D97-AF65-F5344CB8AC3E}">
        <p14:creationId xmlns:p14="http://schemas.microsoft.com/office/powerpoint/2010/main" val="2110010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695917-61D5-D249-B406-D2F43F22D34D}" type="slidenum">
              <a:rPr lang="en-US" smtClean="0"/>
              <a:t>1</a:t>
            </a:fld>
            <a:endParaRPr lang="en-US"/>
          </a:p>
        </p:txBody>
      </p:sp>
    </p:spTree>
    <p:extLst>
      <p:ext uri="{BB962C8B-B14F-4D97-AF65-F5344CB8AC3E}">
        <p14:creationId xmlns:p14="http://schemas.microsoft.com/office/powerpoint/2010/main" val="1384310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695917-61D5-D249-B406-D2F43F22D34D}" type="slidenum">
              <a:rPr lang="en-US" smtClean="0"/>
              <a:t>2</a:t>
            </a:fld>
            <a:endParaRPr lang="en-US"/>
          </a:p>
        </p:txBody>
      </p:sp>
    </p:spTree>
    <p:extLst>
      <p:ext uri="{BB962C8B-B14F-4D97-AF65-F5344CB8AC3E}">
        <p14:creationId xmlns:p14="http://schemas.microsoft.com/office/powerpoint/2010/main" val="777319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a:effectLst>
            <a:outerShdw blurRad="50800" dist="38100" dir="2700000" algn="tl" rotWithShape="0">
              <a:prstClr val="black">
                <a:alpha val="40000"/>
              </a:prstClr>
            </a:outerShdw>
          </a:effectLst>
        </p:spPr>
        <p:txBody>
          <a:bodyPr wrap="none" anchor="t">
            <a:normAutofit/>
          </a:bodyPr>
          <a:lstStyle>
            <a:lvl1pPr algn="r">
              <a:defRPr sz="5400" b="0" i="0" spc="0" baseline="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Calibri Light" charset="0"/>
                <a:ea typeface="Calibri Light" charset="0"/>
                <a:cs typeface="Calibri Light" charset="0"/>
              </a:defRPr>
            </a:lvl1pPr>
          </a:lstStyle>
          <a:p>
            <a:r>
              <a:rPr lang="en-US" dirty="0"/>
              <a:t>Click to edit Master title style</a:t>
            </a:r>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i="0">
                <a:solidFill>
                  <a:schemeClr val="accent4">
                    <a:lumMod val="60000"/>
                    <a:lumOff val="40000"/>
                  </a:schemeClr>
                </a:solidFill>
                <a:latin typeface="Calibri Light" charset="0"/>
                <a:ea typeface="Calibri Light" charset="0"/>
                <a:cs typeface="Calibri Light"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Date Placeholder 6"/>
          <p:cNvSpPr>
            <a:spLocks noGrp="1"/>
          </p:cNvSpPr>
          <p:nvPr>
            <p:ph type="dt" sz="half" idx="10"/>
          </p:nvPr>
        </p:nvSpPr>
        <p:spPr/>
        <p:txBody>
          <a:bodyPr/>
          <a:lstStyle/>
          <a:p>
            <a:fld id="{ECD19FB2-3AAB-4D03-B13A-2960828C78E3}" type="datetimeFigureOut">
              <a:rPr lang="en-US" dirty="0"/>
              <a:t>9/20/2018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lvl1pPr>
              <a:defRPr>
                <a:solidFill>
                  <a:schemeClr val="accent4">
                    <a:lumMod val="60000"/>
                    <a:lumOff val="40000"/>
                  </a:schemeClr>
                </a:solidFill>
              </a:defRPr>
            </a:lvl1pPr>
          </a:lstStyle>
          <a:p>
            <a:r>
              <a:rPr lang="en-US" dirty="0"/>
              <a:t>Click to edit Master title style</a:t>
            </a:r>
          </a:p>
        </p:txBody>
      </p:sp>
      <p:sp>
        <p:nvSpPr>
          <p:cNvPr id="3" name="Content Placeholder 2"/>
          <p:cNvSpPr>
            <a:spLocks noGrp="1"/>
          </p:cNvSpPr>
          <p:nvPr>
            <p:ph idx="1"/>
          </p:nvPr>
        </p:nvSpPr>
        <p:spPr>
          <a:effectLst/>
        </p:spPr>
        <p:txBody>
          <a:bodyPr/>
          <a:lstStyle>
            <a:lvl1pPr>
              <a:defRPr sz="2400">
                <a:solidFill>
                  <a:schemeClr val="tx1"/>
                </a:solidFill>
              </a:defRPr>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9916976-5D93-46E4-A98A-FAD63E4D0EA8}" type="datetimeFigureOut">
              <a:rPr lang="en-US" dirty="0"/>
              <a:t>9/20/2018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a:effectLst>
            <a:outerShdw blurRad="50800" dist="38100" dir="2700000" algn="tl" rotWithShape="0">
              <a:prstClr val="black">
                <a:alpha val="40000"/>
              </a:prstClr>
            </a:outerShdw>
          </a:effectLst>
        </p:spPr>
        <p:txBody>
          <a:bodyPr wrap="none" anchor="t">
            <a:normAutofit/>
          </a:bodyPr>
          <a:lstStyle>
            <a:lvl1pPr algn="l">
              <a:defRPr sz="3200" b="0" spc="0" baseline="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solidFill>
                  <a:schemeClr val="accent4">
                    <a:lumMod val="60000"/>
                    <a:lumOff val="40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F39F4F5-F4D2-4D2A-AB60-88D37ADCB869}" type="datetimeFigureOut">
              <a:rPr lang="en-US" dirty="0"/>
              <a:t>9/20/2018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3BC6CE-6D1E-47E5-8859-F31AC5380EB2}" type="datetimeFigureOut">
              <a:rPr lang="en-US" dirty="0"/>
              <a:t>9/20/2018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B4E7C4-4DA4-404D-9965-B13F2DD7D8BF}" type="datetimeFigureOut">
              <a:rPr lang="en-US" dirty="0"/>
              <a:t>9/20/2018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6FB7AA-4A53-424F-AD41-70827B6504BA}" type="datetimeFigureOut">
              <a:rPr lang="en-US" dirty="0"/>
              <a:t>9/20/2018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884882-FB12-4BC8-9960-9AD8104D7FAE}" type="datetimeFigureOut">
              <a:rPr lang="en-US" dirty="0"/>
              <a:t>9/20/2018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D1BD23-6E54-4D9D-AD88-A2813C73CC25}" type="datetimeFigureOut">
              <a:rPr lang="en-US" dirty="0"/>
              <a:t>9/20/2018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71A834-4F3C-4AF9-9C74-05EC35A0F292}" type="datetimeFigureOut">
              <a:rPr lang="en-US" dirty="0"/>
              <a:t>9/20/2018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80C674-7DFC-42FE-B9CD-82963CDB1557}" type="datetimeFigureOut">
              <a:rPr lang="en-US" dirty="0"/>
              <a:t>9/20/2018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76456F-F47D-4F25-8053-2A695DA0CA7D}" type="datetimeFigureOut">
              <a:rPr lang="en-US" dirty="0"/>
              <a:t>9/20/2018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6C7379-69CC-4837-9905-BEBA22830C8A}" type="datetimeFigureOut">
              <a:rPr lang="en-US" dirty="0"/>
              <a:t>9/20/2018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EB8B7E-8AEE-4F10-BFEE-C999AD004D36}" type="datetimeFigureOut">
              <a:rPr lang="en-US" dirty="0"/>
              <a:t>9/20/2018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668F3F9-58BC-440B-B37B-805B9055EF92}" type="datetimeFigureOut">
              <a:rPr lang="en-US" dirty="0"/>
              <a:t>9/20/2018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D5A53AF-48EA-489D-8260-9DCAB666386A}" type="datetimeFigureOut">
              <a:rPr lang="en-US" dirty="0"/>
              <a:t>9/20/2018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ED02AE-B9A4-47BD-AF8E-97E16144138B}" type="datetimeFigureOut">
              <a:rPr lang="en-US" dirty="0"/>
              <a:t>9/20/2018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0FD78B-DB02-4362-BCDC-98A55456977C}" type="datetimeFigureOut">
              <a:rPr lang="en-US" dirty="0"/>
              <a:t>9/20/2018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a:effectLst>
            <a:outerShdw blurRad="50800" dist="38100" dir="2700000" algn="tl" rotWithShape="0">
              <a:prstClr val="black">
                <a:alpha val="40000"/>
              </a:prstClr>
            </a:outerShdw>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120000" y="1825625"/>
            <a:ext cx="10233800" cy="4351338"/>
          </a:xfrm>
          <a:prstGeom prst="rect">
            <a:avLst/>
          </a:prstGeom>
          <a:effectLst>
            <a:outerShdw blurRad="50800" dist="38100" dir="2700000" algn="tl" rotWithShape="0">
              <a:prstClr val="black">
                <a:alpha val="40000"/>
              </a:prstClr>
            </a:outerShdw>
          </a:effectLst>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1CF1133-3259-4C45-BABA-5B62D9C6F78D}" type="datetimeFigureOut">
              <a:rPr lang="en-US" dirty="0"/>
              <a:t>9/20/2018</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0" i="0" kern="1200">
          <a:solidFill>
            <a:schemeClr val="accent4">
              <a:lumMod val="60000"/>
              <a:lumOff val="40000"/>
            </a:schemeClr>
          </a:solidFill>
          <a:latin typeface="Calibri Light" charset="0"/>
          <a:ea typeface="Calibri Light" charset="0"/>
          <a:cs typeface="Calibri Light"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b="0" i="0" kern="1200">
          <a:solidFill>
            <a:schemeClr val="accent4">
              <a:lumMod val="60000"/>
              <a:lumOff val="40000"/>
            </a:schemeClr>
          </a:solidFill>
          <a:latin typeface="Calibri Light" charset="0"/>
          <a:ea typeface="Calibri Light" charset="0"/>
          <a:cs typeface="Calibri Light"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Light" charset="0"/>
          <a:ea typeface="Calibri Light" charset="0"/>
          <a:cs typeface="Calibri Light"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Light" charset="0"/>
          <a:ea typeface="Calibri Light" charset="0"/>
          <a:cs typeface="Calibri Light"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Light" charset="0"/>
          <a:ea typeface="Calibri Light" charset="0"/>
          <a:cs typeface="Calibri Light"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Calibri Light" charset="0"/>
          <a:ea typeface="Calibri Light" charset="0"/>
          <a:cs typeface="Calibri Light"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65908" y="3204214"/>
            <a:ext cx="9924011" cy="1357020"/>
          </a:xfrm>
          <a:effectLst>
            <a:outerShdw blurRad="50800" dist="38100" dir="2700000" algn="tl" rotWithShape="0">
              <a:prstClr val="black">
                <a:alpha val="40000"/>
              </a:prstClr>
            </a:outerShdw>
            <a:reflection blurRad="6350" stA="50000" endA="300" endPos="55500" dist="50800" dir="5400000" sy="-100000" algn="bl" rotWithShape="0"/>
          </a:effectLst>
        </p:spPr>
        <p:txBody>
          <a:bodyPr>
            <a:normAutofit/>
          </a:bodyPr>
          <a:lstStyle/>
          <a:p>
            <a:r>
              <a:rPr lang="en-US" sz="4800" b="1" spc="0" dirty="0"/>
              <a:t>Drin Information Management System</a:t>
            </a:r>
          </a:p>
        </p:txBody>
      </p:sp>
      <p:pic>
        <p:nvPicPr>
          <p:cNvPr id="9" name="Picture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7136" y="117076"/>
            <a:ext cx="2744191" cy="846751"/>
          </a:xfrm>
          <a:prstGeom prst="rect">
            <a:avLst/>
          </a:prstGeom>
          <a:effectLst>
            <a:reflection blurRad="6350" stA="50000" endA="300" endPos="90000" dir="5400000" sy="-100000" algn="bl" rotWithShape="0"/>
            <a:softEdge rad="31750"/>
          </a:effectLst>
        </p:spPr>
      </p:pic>
      <p:sp>
        <p:nvSpPr>
          <p:cNvPr id="11" name="Subtitle 2"/>
          <p:cNvSpPr txBox="1">
            <a:spLocks/>
          </p:cNvSpPr>
          <p:nvPr/>
        </p:nvSpPr>
        <p:spPr>
          <a:xfrm>
            <a:off x="3305262" y="180447"/>
            <a:ext cx="6771245" cy="753761"/>
          </a:xfrm>
          <a:prstGeom prst="rect">
            <a:avLst/>
          </a:prstGeom>
          <a:effectLst/>
        </p:spPr>
        <p:txBody>
          <a:bodyPr vert="horz" lIns="91440" tIns="45720" rIns="91440" bIns="45720" rtlCol="0" anchor="b">
            <a:normAutofit fontScale="92500"/>
          </a:bodyPr>
          <a:lstStyle>
            <a:lvl1pPr marL="0" indent="0" algn="r" defTabSz="914400" rtl="0" eaLnBrk="1" latinLnBrk="0" hangingPunct="1">
              <a:lnSpc>
                <a:spcPct val="90000"/>
              </a:lnSpc>
              <a:spcBef>
                <a:spcPts val="1000"/>
              </a:spcBef>
              <a:buFont typeface="Arial" panose="020B0604020202020204" pitchFamily="34" charset="0"/>
              <a:buNone/>
              <a:defRPr sz="3200" b="0" kern="120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2000" dirty="0">
                <a:solidFill>
                  <a:schemeClr val="tx2">
                    <a:lumMod val="20000"/>
                    <a:lumOff val="80000"/>
                  </a:schemeClr>
                </a:solidFill>
                <a:latin typeface="Calibri Light" charset="0"/>
                <a:ea typeface="Calibri Light" charset="0"/>
                <a:cs typeface="Calibri Light" charset="0"/>
              </a:rPr>
              <a:t>GEF Project “Enabling Transboundary Cooperation and Integrated Water Resources Management in the Extended Drin River Basin” </a:t>
            </a:r>
          </a:p>
        </p:txBody>
      </p:sp>
      <p:sp>
        <p:nvSpPr>
          <p:cNvPr id="4" name="Rectangle 3"/>
          <p:cNvSpPr/>
          <p:nvPr/>
        </p:nvSpPr>
        <p:spPr>
          <a:xfrm>
            <a:off x="6600826" y="5157972"/>
            <a:ext cx="4326681" cy="523220"/>
          </a:xfrm>
          <a:prstGeom prst="rect">
            <a:avLst/>
          </a:prstGeom>
        </p:spPr>
        <p:txBody>
          <a:bodyPr wrap="square">
            <a:spAutoFit/>
          </a:bodyPr>
          <a:lstStyle/>
          <a:p>
            <a:pPr algn="r"/>
            <a:endParaRPr lang="en-US" sz="2800" dirty="0">
              <a:ln w="0"/>
              <a:solidFill>
                <a:schemeClr val="accent4">
                  <a:lumMod val="40000"/>
                  <a:lumOff val="60000"/>
                </a:schemeClr>
              </a:solidFill>
              <a:effectLst>
                <a:outerShdw blurRad="38100" dist="25400" dir="5400000" algn="ctr" rotWithShape="0">
                  <a:srgbClr val="6E747A">
                    <a:alpha val="43000"/>
                  </a:srgbClr>
                </a:outerShdw>
              </a:effectLst>
            </a:endParaRPr>
          </a:p>
        </p:txBody>
      </p:sp>
      <p:pic>
        <p:nvPicPr>
          <p:cNvPr id="6" name="Picture 5">
            <a:extLst>
              <a:ext uri="{FF2B5EF4-FFF2-40B4-BE49-F238E27FC236}">
                <a16:creationId xmlns:a16="http://schemas.microsoft.com/office/drawing/2014/main" xmlns="" id="{6A66DD67-372D-4798-A418-1F19FF91AA8B}"/>
              </a:ext>
            </a:extLst>
          </p:cNvPr>
          <p:cNvPicPr>
            <a:picLocks noChangeAspect="1"/>
          </p:cNvPicPr>
          <p:nvPr/>
        </p:nvPicPr>
        <p:blipFill>
          <a:blip r:embed="rId4"/>
          <a:stretch>
            <a:fillRect/>
          </a:stretch>
        </p:blipFill>
        <p:spPr>
          <a:xfrm>
            <a:off x="10254472" y="269853"/>
            <a:ext cx="1764766" cy="541195"/>
          </a:xfrm>
          <a:prstGeom prst="rect">
            <a:avLst/>
          </a:prstGeom>
        </p:spPr>
      </p:pic>
    </p:spTree>
    <p:extLst>
      <p:ext uri="{BB962C8B-B14F-4D97-AF65-F5344CB8AC3E}">
        <p14:creationId xmlns:p14="http://schemas.microsoft.com/office/powerpoint/2010/main" val="530511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7136" y="117076"/>
            <a:ext cx="2744191" cy="846751"/>
          </a:xfrm>
          <a:prstGeom prst="rect">
            <a:avLst/>
          </a:prstGeom>
          <a:effectLst>
            <a:reflection blurRad="6350" stA="50000" endA="300" endPos="90000" dir="5400000" sy="-100000" algn="bl" rotWithShape="0"/>
            <a:softEdge rad="31750"/>
          </a:effectLst>
        </p:spPr>
      </p:pic>
      <p:sp>
        <p:nvSpPr>
          <p:cNvPr id="11" name="Subtitle 2"/>
          <p:cNvSpPr txBox="1">
            <a:spLocks/>
          </p:cNvSpPr>
          <p:nvPr/>
        </p:nvSpPr>
        <p:spPr>
          <a:xfrm>
            <a:off x="3305262" y="180447"/>
            <a:ext cx="6771245" cy="753761"/>
          </a:xfrm>
          <a:prstGeom prst="rect">
            <a:avLst/>
          </a:prstGeom>
          <a:effectLst/>
        </p:spPr>
        <p:txBody>
          <a:bodyPr vert="horz" lIns="91440" tIns="45720" rIns="91440" bIns="45720" rtlCol="0" anchor="b">
            <a:normAutofit fontScale="92500"/>
          </a:bodyPr>
          <a:lstStyle>
            <a:lvl1pPr marL="0" indent="0" algn="r" defTabSz="914400" rtl="0" eaLnBrk="1" latinLnBrk="0" hangingPunct="1">
              <a:lnSpc>
                <a:spcPct val="90000"/>
              </a:lnSpc>
              <a:spcBef>
                <a:spcPts val="1000"/>
              </a:spcBef>
              <a:buFont typeface="Arial" panose="020B0604020202020204" pitchFamily="34" charset="0"/>
              <a:buNone/>
              <a:defRPr sz="3200" b="0" kern="120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2000" dirty="0">
                <a:solidFill>
                  <a:schemeClr val="tx2">
                    <a:lumMod val="20000"/>
                    <a:lumOff val="80000"/>
                  </a:schemeClr>
                </a:solidFill>
                <a:latin typeface="Calibri Light" charset="0"/>
                <a:ea typeface="Calibri Light" charset="0"/>
                <a:cs typeface="Calibri Light" charset="0"/>
              </a:rPr>
              <a:t>GEF Project “Enabling Transboundary Cooperation and Integrated Water Resources Management in the Extended Drin River Basin” </a:t>
            </a:r>
          </a:p>
        </p:txBody>
      </p:sp>
      <p:sp>
        <p:nvSpPr>
          <p:cNvPr id="4" name="Rectangle 3"/>
          <p:cNvSpPr/>
          <p:nvPr/>
        </p:nvSpPr>
        <p:spPr>
          <a:xfrm>
            <a:off x="6600826" y="5157972"/>
            <a:ext cx="4326681" cy="523220"/>
          </a:xfrm>
          <a:prstGeom prst="rect">
            <a:avLst/>
          </a:prstGeom>
        </p:spPr>
        <p:txBody>
          <a:bodyPr wrap="square">
            <a:spAutoFit/>
          </a:bodyPr>
          <a:lstStyle/>
          <a:p>
            <a:pPr algn="r"/>
            <a:endParaRPr lang="en-US" sz="2800" dirty="0">
              <a:ln w="0"/>
              <a:solidFill>
                <a:schemeClr val="accent4">
                  <a:lumMod val="40000"/>
                  <a:lumOff val="60000"/>
                </a:schemeClr>
              </a:solidFill>
              <a:effectLst>
                <a:outerShdw blurRad="38100" dist="25400" dir="5400000" algn="ctr" rotWithShape="0">
                  <a:srgbClr val="6E747A">
                    <a:alpha val="43000"/>
                  </a:srgbClr>
                </a:outerShdw>
              </a:effectLst>
            </a:endParaRPr>
          </a:p>
        </p:txBody>
      </p:sp>
      <p:pic>
        <p:nvPicPr>
          <p:cNvPr id="6" name="Picture 5">
            <a:extLst>
              <a:ext uri="{FF2B5EF4-FFF2-40B4-BE49-F238E27FC236}">
                <a16:creationId xmlns:a16="http://schemas.microsoft.com/office/drawing/2014/main" xmlns="" id="{6A66DD67-372D-4798-A418-1F19FF91AA8B}"/>
              </a:ext>
            </a:extLst>
          </p:cNvPr>
          <p:cNvPicPr>
            <a:picLocks noChangeAspect="1"/>
          </p:cNvPicPr>
          <p:nvPr/>
        </p:nvPicPr>
        <p:blipFill>
          <a:blip r:embed="rId4"/>
          <a:stretch>
            <a:fillRect/>
          </a:stretch>
        </p:blipFill>
        <p:spPr>
          <a:xfrm>
            <a:off x="10254472" y="269853"/>
            <a:ext cx="1764766" cy="541195"/>
          </a:xfrm>
          <a:prstGeom prst="rect">
            <a:avLst/>
          </a:prstGeom>
        </p:spPr>
      </p:pic>
      <p:sp>
        <p:nvSpPr>
          <p:cNvPr id="3" name="TextBox 2">
            <a:extLst>
              <a:ext uri="{FF2B5EF4-FFF2-40B4-BE49-F238E27FC236}">
                <a16:creationId xmlns:a16="http://schemas.microsoft.com/office/drawing/2014/main" xmlns="" id="{7D5E2048-5EB3-4325-8F8B-0E7D838F7302}"/>
              </a:ext>
            </a:extLst>
          </p:cNvPr>
          <p:cNvSpPr txBox="1"/>
          <p:nvPr/>
        </p:nvSpPr>
        <p:spPr>
          <a:xfrm>
            <a:off x="841972" y="1883122"/>
            <a:ext cx="10456753"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a:t>UNECE has been promoting transboundary water cooperation in the Drin River basin since 2008. </a:t>
            </a:r>
          </a:p>
          <a:p>
            <a:pPr marL="285750" indent="-285750">
              <a:buFont typeface="Arial" panose="020B0604020202020204" pitchFamily="34" charset="0"/>
              <a:buChar char="•"/>
            </a:pPr>
            <a:r>
              <a:rPr lang="en-US" sz="2400" dirty="0"/>
              <a:t>Drin Dialogue 2009-2011 – multi-stakeholder consultation process supported by GWP-Med and UNECE </a:t>
            </a:r>
          </a:p>
          <a:p>
            <a:pPr marL="285750" indent="-285750">
              <a:buFont typeface="Arial" panose="020B0604020202020204" pitchFamily="34" charset="0"/>
              <a:buChar char="•"/>
            </a:pPr>
            <a:r>
              <a:rPr lang="en-US" sz="2400" dirty="0"/>
              <a:t>The signature of the MoU IN 2011 by the </a:t>
            </a:r>
            <a:r>
              <a:rPr lang="en-US" sz="2400" dirty="0" err="1"/>
              <a:t>Riparians</a:t>
            </a:r>
            <a:r>
              <a:rPr lang="en-US" sz="2400" dirty="0"/>
              <a:t> on a Shared Strategic Vision for the Sustainable Management of the Drin River Basin</a:t>
            </a:r>
          </a:p>
          <a:p>
            <a:pPr marL="285750" indent="-285750">
              <a:buFont typeface="Arial" panose="020B0604020202020204" pitchFamily="34" charset="0"/>
              <a:buChar char="•"/>
            </a:pPr>
            <a:r>
              <a:rPr lang="en-US" sz="2400" dirty="0"/>
              <a:t> The GEF project will support the further development of cooperation in the Drin Basin and the achievement of the objectives of the Drin MoU  </a:t>
            </a:r>
          </a:p>
          <a:p>
            <a:pPr marL="285750" indent="-285750">
              <a:buFont typeface="Arial" panose="020B0604020202020204" pitchFamily="34" charset="0"/>
              <a:buChar char="•"/>
            </a:pPr>
            <a:r>
              <a:rPr lang="en-US" sz="2400" dirty="0"/>
              <a:t>A Drin Basin Water Monitoring Program, which will be established under the project is compatible with the UNECE Guidelines on Monitoring and Assessment of Transboundary Rivers and the Shared Environmental Information System</a:t>
            </a:r>
          </a:p>
        </p:txBody>
      </p:sp>
    </p:spTree>
    <p:extLst>
      <p:ext uri="{BB962C8B-B14F-4D97-AF65-F5344CB8AC3E}">
        <p14:creationId xmlns:p14="http://schemas.microsoft.com/office/powerpoint/2010/main" val="206416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A40689-A830-2C48-8A6F-9929F5983654}"/>
              </a:ext>
            </a:extLst>
          </p:cNvPr>
          <p:cNvSpPr>
            <a:spLocks noGrp="1"/>
          </p:cNvSpPr>
          <p:nvPr>
            <p:ph type="title"/>
          </p:nvPr>
        </p:nvSpPr>
        <p:spPr/>
        <p:txBody>
          <a:bodyPr>
            <a:normAutofit/>
          </a:bodyPr>
          <a:lstStyle/>
          <a:p>
            <a:pPr>
              <a:lnSpc>
                <a:spcPct val="100000"/>
              </a:lnSpc>
            </a:pPr>
            <a:r>
              <a:rPr lang="en-GB" sz="3600" dirty="0"/>
              <a:t>Technical Support for Development of Information Management System (IMS) </a:t>
            </a:r>
            <a:endParaRPr lang="en-GB" dirty="0"/>
          </a:p>
        </p:txBody>
      </p:sp>
      <p:sp>
        <p:nvSpPr>
          <p:cNvPr id="3" name="Content Placeholder 2">
            <a:extLst>
              <a:ext uri="{FF2B5EF4-FFF2-40B4-BE49-F238E27FC236}">
                <a16:creationId xmlns:a16="http://schemas.microsoft.com/office/drawing/2014/main" xmlns="" id="{6F544639-D8DF-C540-B51D-27E3CDB9AD2A}"/>
              </a:ext>
            </a:extLst>
          </p:cNvPr>
          <p:cNvSpPr>
            <a:spLocks noGrp="1"/>
          </p:cNvSpPr>
          <p:nvPr>
            <p:ph idx="1"/>
          </p:nvPr>
        </p:nvSpPr>
        <p:spPr/>
        <p:txBody>
          <a:bodyPr/>
          <a:lstStyle/>
          <a:p>
            <a:r>
              <a:rPr lang="hr-HR" dirty="0"/>
              <a:t>S</a:t>
            </a:r>
            <a:r>
              <a:rPr lang="en-GB" dirty="0" err="1"/>
              <a:t>ustainable</a:t>
            </a:r>
            <a:r>
              <a:rPr lang="en-GB" dirty="0"/>
              <a:t> development in the Drin basin identified in the Drin MoU</a:t>
            </a:r>
            <a:r>
              <a:rPr lang="hr-HR" dirty="0"/>
              <a:t>:</a:t>
            </a:r>
          </a:p>
          <a:p>
            <a:pPr marL="465138" indent="-63500">
              <a:buNone/>
            </a:pPr>
            <a:r>
              <a:rPr lang="en-GB" dirty="0"/>
              <a:t> </a:t>
            </a:r>
            <a:r>
              <a:rPr lang="hr-HR" sz="2800" dirty="0"/>
              <a:t>T</a:t>
            </a:r>
            <a:r>
              <a:rPr lang="en-GB" sz="2800" dirty="0"/>
              <a:t>he need for “</a:t>
            </a:r>
            <a:r>
              <a:rPr lang="en-GB" sz="2800" i="1" dirty="0"/>
              <a:t>improving access to comprehensive data and adequate information to fully understand the current state of the environment and water resources and the hydrological system (including surface and coastal waters) as well as ecosystems of the Drin Basin</a:t>
            </a:r>
            <a:r>
              <a:rPr lang="en-GB" sz="2800" dirty="0"/>
              <a:t>” (Drin MoU Article 3i).</a:t>
            </a:r>
            <a:endParaRPr lang="hr-HR" sz="2800" dirty="0"/>
          </a:p>
          <a:p>
            <a:r>
              <a:rPr lang="hr-HR" dirty="0"/>
              <a:t>P</a:t>
            </a:r>
            <a:r>
              <a:rPr lang="en-GB" dirty="0" err="1"/>
              <a:t>riority</a:t>
            </a:r>
            <a:r>
              <a:rPr lang="en-GB" dirty="0"/>
              <a:t> actions</a:t>
            </a:r>
            <a:r>
              <a:rPr lang="hr-HR" dirty="0"/>
              <a:t>:</a:t>
            </a:r>
          </a:p>
          <a:p>
            <a:pPr marL="457200" lvl="1" indent="0">
              <a:buNone/>
            </a:pPr>
            <a:r>
              <a:rPr lang="en-GB" sz="2800" dirty="0"/>
              <a:t>“</a:t>
            </a:r>
            <a:r>
              <a:rPr lang="en-GB" sz="2800" i="1" dirty="0"/>
              <a:t>improvement of information exchange through the establishment of a system for regular exchange of relevant information among competent authorities of each party</a:t>
            </a:r>
            <a:r>
              <a:rPr lang="en-GB" sz="2800" dirty="0"/>
              <a:t>” (Drin MoU Article 4: c).</a:t>
            </a:r>
          </a:p>
          <a:p>
            <a:pPr marL="0" indent="0">
              <a:buNone/>
            </a:pPr>
            <a:endParaRPr lang="en-GB" sz="2800" dirty="0"/>
          </a:p>
          <a:p>
            <a:endParaRPr lang="en-GB" dirty="0"/>
          </a:p>
        </p:txBody>
      </p:sp>
    </p:spTree>
    <p:extLst>
      <p:ext uri="{BB962C8B-B14F-4D97-AF65-F5344CB8AC3E}">
        <p14:creationId xmlns:p14="http://schemas.microsoft.com/office/powerpoint/2010/main" val="377974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BD05EC2D-3F23-1E45-99BF-98716650C3E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2"/>
          <a:stretch/>
        </p:blipFill>
        <p:spPr>
          <a:xfrm>
            <a:off x="6096000" y="10"/>
            <a:ext cx="6096000" cy="6857990"/>
          </a:xfrm>
          <a:prstGeom prst="rect">
            <a:avLst/>
          </a:prstGeom>
        </p:spPr>
      </p:pic>
      <p:sp useBgFill="1">
        <p:nvSpPr>
          <p:cNvPr id="11" name="Rectangle 8">
            <a:extLst>
              <a:ext uri="{FF2B5EF4-FFF2-40B4-BE49-F238E27FC236}">
                <a16:creationId xmlns:a16="http://schemas.microsoft.com/office/drawing/2014/main" xmlns="" id="{229B61F6-561C-44B1-809D-51A2F295F329}"/>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6096000" cy="6858000"/>
          </a:xfrm>
          <a:prstGeom prst="rect">
            <a:avLst/>
          </a:prstGeom>
          <a:ln>
            <a:noFill/>
          </a:ln>
          <a:effectLst>
            <a:outerShdw blurRad="139700" dist="508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CE52D12A-636F-084A-AE0C-0FDF2D1F612C}"/>
              </a:ext>
            </a:extLst>
          </p:cNvPr>
          <p:cNvSpPr>
            <a:spLocks noGrp="1"/>
          </p:cNvSpPr>
          <p:nvPr>
            <p:ph type="title"/>
          </p:nvPr>
        </p:nvSpPr>
        <p:spPr>
          <a:xfrm>
            <a:off x="838201" y="365125"/>
            <a:ext cx="4854676" cy="1325563"/>
          </a:xfrm>
        </p:spPr>
        <p:txBody>
          <a:bodyPr>
            <a:normAutofit/>
          </a:bodyPr>
          <a:lstStyle/>
          <a:p>
            <a:r>
              <a:rPr lang="en-GB" dirty="0"/>
              <a:t>Drin IMS Aims</a:t>
            </a:r>
          </a:p>
        </p:txBody>
      </p:sp>
      <p:sp>
        <p:nvSpPr>
          <p:cNvPr id="3" name="Content Placeholder 2">
            <a:extLst>
              <a:ext uri="{FF2B5EF4-FFF2-40B4-BE49-F238E27FC236}">
                <a16:creationId xmlns:a16="http://schemas.microsoft.com/office/drawing/2014/main" xmlns="" id="{3E3C48F8-B85A-FB4C-BFC9-F6DB46CC051D}"/>
              </a:ext>
            </a:extLst>
          </p:cNvPr>
          <p:cNvSpPr>
            <a:spLocks noGrp="1"/>
          </p:cNvSpPr>
          <p:nvPr>
            <p:ph idx="1"/>
          </p:nvPr>
        </p:nvSpPr>
        <p:spPr>
          <a:xfrm>
            <a:off x="614856" y="1825625"/>
            <a:ext cx="5078022" cy="4351338"/>
          </a:xfrm>
        </p:spPr>
        <p:txBody>
          <a:bodyPr>
            <a:normAutofit/>
          </a:bodyPr>
          <a:lstStyle/>
          <a:p>
            <a:pPr marL="0" lvl="0" indent="0">
              <a:buNone/>
            </a:pPr>
            <a:r>
              <a:rPr lang="en-GB" sz="3200" dirty="0">
                <a:solidFill>
                  <a:schemeClr val="accent4">
                    <a:lumMod val="60000"/>
                    <a:lumOff val="40000"/>
                  </a:schemeClr>
                </a:solidFill>
              </a:rPr>
              <a:t>Establish:</a:t>
            </a:r>
          </a:p>
          <a:p>
            <a:r>
              <a:rPr lang="en-GB" dirty="0"/>
              <a:t>Repository of data collected and produced through Transboundary Diagnostic Analysis (TDA)</a:t>
            </a:r>
          </a:p>
          <a:p>
            <a:pPr lvl="0"/>
            <a:endParaRPr lang="en-GB" dirty="0"/>
          </a:p>
          <a:p>
            <a:pPr lvl="0"/>
            <a:r>
              <a:rPr lang="en-GB" dirty="0"/>
              <a:t>Platform to enable joint data collection, storage and exchange, including GIS functions </a:t>
            </a:r>
            <a:r>
              <a:rPr lang="en-GB" sz="1800" dirty="0"/>
              <a:t>(as per Drin MoU and Drin project)</a:t>
            </a:r>
          </a:p>
          <a:p>
            <a:endParaRPr lang="en-GB" dirty="0"/>
          </a:p>
        </p:txBody>
      </p:sp>
    </p:spTree>
    <p:extLst>
      <p:ext uri="{BB962C8B-B14F-4D97-AF65-F5344CB8AC3E}">
        <p14:creationId xmlns:p14="http://schemas.microsoft.com/office/powerpoint/2010/main" val="2154564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99A523-7E8B-D448-9B62-E7E6E1D974C6}"/>
              </a:ext>
            </a:extLst>
          </p:cNvPr>
          <p:cNvSpPr>
            <a:spLocks noGrp="1"/>
          </p:cNvSpPr>
          <p:nvPr>
            <p:ph type="title"/>
          </p:nvPr>
        </p:nvSpPr>
        <p:spPr/>
        <p:txBody>
          <a:bodyPr>
            <a:normAutofit/>
          </a:bodyPr>
          <a:lstStyle/>
          <a:p>
            <a:r>
              <a:rPr lang="en-GB" dirty="0"/>
              <a:t>Expert Working group on Monitoring and Information Exchange </a:t>
            </a:r>
          </a:p>
        </p:txBody>
      </p:sp>
      <p:sp>
        <p:nvSpPr>
          <p:cNvPr id="3" name="Content Placeholder 2">
            <a:extLst>
              <a:ext uri="{FF2B5EF4-FFF2-40B4-BE49-F238E27FC236}">
                <a16:creationId xmlns:a16="http://schemas.microsoft.com/office/drawing/2014/main" xmlns="" id="{B58B00B8-31D7-8E4B-AF4A-BF377536749C}"/>
              </a:ext>
            </a:extLst>
          </p:cNvPr>
          <p:cNvSpPr>
            <a:spLocks noGrp="1"/>
          </p:cNvSpPr>
          <p:nvPr>
            <p:ph idx="1"/>
          </p:nvPr>
        </p:nvSpPr>
        <p:spPr>
          <a:xfrm>
            <a:off x="398352" y="1837853"/>
            <a:ext cx="10955448" cy="4655022"/>
          </a:xfrm>
        </p:spPr>
        <p:txBody>
          <a:bodyPr>
            <a:normAutofit/>
          </a:bodyPr>
          <a:lstStyle/>
          <a:p>
            <a:pPr lvl="2"/>
            <a:r>
              <a:rPr lang="en-US" sz="2800" dirty="0"/>
              <a:t>Facilitate information and data exchange through establishment of IMS among the competent authorities on the state of environment; water resources; and hydrologic system (including surface, underground and coastal waters)</a:t>
            </a:r>
          </a:p>
          <a:p>
            <a:pPr lvl="2"/>
            <a:r>
              <a:rPr lang="en-US" sz="2800" dirty="0"/>
              <a:t>Decide on the set of data and information to be collected and exchanged (EWG </a:t>
            </a:r>
            <a:r>
              <a:rPr lang="en-GB" sz="2800" dirty="0"/>
              <a:t>agreed with the list of priority datasets (hydrological, meteorological, pollution and water level)</a:t>
            </a:r>
            <a:endParaRPr lang="en-US" sz="2800" dirty="0"/>
          </a:p>
          <a:p>
            <a:pPr lvl="2"/>
            <a:r>
              <a:rPr lang="en-US" sz="2800" dirty="0"/>
              <a:t>Form of the information and data for exchange to be used</a:t>
            </a:r>
          </a:p>
          <a:p>
            <a:pPr lvl="2"/>
            <a:r>
              <a:rPr lang="en-US" sz="2800" dirty="0"/>
              <a:t>Reporting format</a:t>
            </a:r>
          </a:p>
          <a:p>
            <a:pPr lvl="2"/>
            <a:r>
              <a:rPr lang="en-US" sz="2800" dirty="0"/>
              <a:t>Frequency of exchange</a:t>
            </a:r>
          </a:p>
          <a:p>
            <a:pPr lvl="2"/>
            <a:r>
              <a:rPr lang="en-US" sz="2800" dirty="0"/>
              <a:t>Institutions and authorities in each Party to be involved </a:t>
            </a:r>
          </a:p>
          <a:p>
            <a:endParaRPr lang="en-GB" dirty="0"/>
          </a:p>
        </p:txBody>
      </p:sp>
    </p:spTree>
    <p:extLst>
      <p:ext uri="{BB962C8B-B14F-4D97-AF65-F5344CB8AC3E}">
        <p14:creationId xmlns:p14="http://schemas.microsoft.com/office/powerpoint/2010/main" val="2615025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58131" y="129548"/>
            <a:ext cx="5091691" cy="1325563"/>
          </a:xfrm>
        </p:spPr>
        <p:txBody>
          <a:bodyPr/>
          <a:lstStyle/>
          <a:p>
            <a:r>
              <a:rPr lang="en-GB" dirty="0"/>
              <a:t>Tasks completed</a:t>
            </a:r>
          </a:p>
        </p:txBody>
      </p:sp>
      <p:grpSp>
        <p:nvGrpSpPr>
          <p:cNvPr id="7" name="Group 6"/>
          <p:cNvGrpSpPr/>
          <p:nvPr/>
        </p:nvGrpSpPr>
        <p:grpSpPr>
          <a:xfrm>
            <a:off x="8991724" y="1076597"/>
            <a:ext cx="5353283" cy="3007852"/>
            <a:chOff x="8991724" y="1076597"/>
            <a:chExt cx="5353283" cy="3007852"/>
          </a:xfrm>
        </p:grpSpPr>
        <p:sp>
          <p:nvSpPr>
            <p:cNvPr id="17" name="Rectangle 16"/>
            <p:cNvSpPr/>
            <p:nvPr/>
          </p:nvSpPr>
          <p:spPr>
            <a:xfrm>
              <a:off x="8991724" y="1076597"/>
              <a:ext cx="5353283" cy="3007852"/>
            </a:xfrm>
            <a:prstGeom prst="rect">
              <a:avLst/>
            </a:prstGeom>
            <a:noFill/>
          </p:spPr>
        </p:sp>
        <p:sp>
          <p:nvSpPr>
            <p:cNvPr id="18" name="Freeform 17"/>
            <p:cNvSpPr/>
            <p:nvPr/>
          </p:nvSpPr>
          <p:spPr>
            <a:xfrm>
              <a:off x="9026539" y="1076597"/>
              <a:ext cx="3007852" cy="3007852"/>
            </a:xfrm>
            <a:custGeom>
              <a:avLst/>
              <a:gdLst>
                <a:gd name="connsiteX0" fmla="*/ 0 w 3007852"/>
                <a:gd name="connsiteY0" fmla="*/ 1503926 h 3007852"/>
                <a:gd name="connsiteX1" fmla="*/ 1503926 w 3007852"/>
                <a:gd name="connsiteY1" fmla="*/ 0 h 3007852"/>
                <a:gd name="connsiteX2" fmla="*/ 3007852 w 3007852"/>
                <a:gd name="connsiteY2" fmla="*/ 1503926 h 3007852"/>
                <a:gd name="connsiteX3" fmla="*/ 1503926 w 3007852"/>
                <a:gd name="connsiteY3" fmla="*/ 3007852 h 3007852"/>
                <a:gd name="connsiteX4" fmla="*/ 0 w 3007852"/>
                <a:gd name="connsiteY4" fmla="*/ 1503926 h 3007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7852" h="3007852">
                  <a:moveTo>
                    <a:pt x="0" y="1503926"/>
                  </a:moveTo>
                  <a:cubicBezTo>
                    <a:pt x="0" y="673331"/>
                    <a:pt x="673331" y="0"/>
                    <a:pt x="1503926" y="0"/>
                  </a:cubicBezTo>
                  <a:cubicBezTo>
                    <a:pt x="2334521" y="0"/>
                    <a:pt x="3007852" y="673331"/>
                    <a:pt x="3007852" y="1503926"/>
                  </a:cubicBezTo>
                  <a:cubicBezTo>
                    <a:pt x="3007852" y="2334521"/>
                    <a:pt x="2334521" y="3007852"/>
                    <a:pt x="1503926" y="3007852"/>
                  </a:cubicBezTo>
                  <a:cubicBezTo>
                    <a:pt x="673331" y="3007852"/>
                    <a:pt x="0" y="2334521"/>
                    <a:pt x="0" y="1503926"/>
                  </a:cubicBezTo>
                  <a:close/>
                </a:path>
              </a:pathLst>
            </a:custGeom>
            <a:solidFill>
              <a:schemeClr val="accent6">
                <a:lumMod val="50000"/>
              </a:schemeClr>
            </a:solidFill>
          </p:spPr>
          <p:style>
            <a:lnRef idx="0">
              <a:schemeClr val="lt1">
                <a:hueOff val="0"/>
                <a:satOff val="0"/>
                <a:lumOff val="0"/>
                <a:alphaOff val="0"/>
              </a:schemeClr>
            </a:lnRef>
            <a:fillRef idx="3">
              <a:scrgbClr r="0" g="0" b="0"/>
            </a:fillRef>
            <a:effectRef idx="0">
              <a:schemeClr val="accent1">
                <a:alpha val="50000"/>
                <a:hueOff val="0"/>
                <a:satOff val="0"/>
                <a:lumOff val="0"/>
                <a:alphaOff val="0"/>
              </a:schemeClr>
            </a:effectRef>
            <a:fontRef idx="minor">
              <a:schemeClr val="tx1"/>
            </a:fontRef>
          </p:style>
          <p:txBody>
            <a:bodyPr spcFirstLastPara="0" vert="horz" wrap="square" lIns="440490" tIns="440490" rIns="440490" bIns="440490" numCol="1" spcCol="1270" anchor="ctr" anchorCtr="1">
              <a:noAutofit/>
            </a:bodyPr>
            <a:lstStyle/>
            <a:p>
              <a:pPr lvl="0" algn="l" defTabSz="800100" rtl="0">
                <a:lnSpc>
                  <a:spcPct val="90000"/>
                </a:lnSpc>
                <a:spcBef>
                  <a:spcPct val="0"/>
                </a:spcBef>
                <a:spcAft>
                  <a:spcPct val="35000"/>
                </a:spcAft>
              </a:pPr>
              <a:r>
                <a:rPr lang="en-GB" sz="1800" b="1" i="0" kern="1200" dirty="0"/>
                <a:t>Task 3: Development of the IMS Architecture</a:t>
              </a:r>
              <a:endParaRPr lang="en-GB" sz="1800" kern="1200" dirty="0"/>
            </a:p>
            <a:p>
              <a:pPr marL="285750" lvl="1" indent="-285750" algn="l" defTabSz="622300" rtl="0">
                <a:lnSpc>
                  <a:spcPct val="90000"/>
                </a:lnSpc>
                <a:spcBef>
                  <a:spcPct val="0"/>
                </a:spcBef>
                <a:spcAft>
                  <a:spcPct val="15000"/>
                </a:spcAft>
                <a:buFont typeface="Wingdings" charset="2"/>
                <a:buChar char="ü"/>
              </a:pPr>
              <a:r>
                <a:rPr lang="en-GB" sz="1400" b="0" i="0" kern="1200" dirty="0"/>
                <a:t>Specifications of the IMS</a:t>
              </a:r>
              <a:endParaRPr lang="en-GB" sz="1400" kern="1200" dirty="0"/>
            </a:p>
            <a:p>
              <a:pPr marL="285750" lvl="1" indent="-285750" algn="l" defTabSz="622300" rtl="0">
                <a:lnSpc>
                  <a:spcPct val="90000"/>
                </a:lnSpc>
                <a:spcBef>
                  <a:spcPct val="0"/>
                </a:spcBef>
                <a:spcAft>
                  <a:spcPct val="15000"/>
                </a:spcAft>
                <a:buFont typeface="Wingdings" charset="2"/>
                <a:buChar char="ü"/>
              </a:pPr>
              <a:r>
                <a:rPr lang="en-GB" sz="1400" b="0" i="0" kern="1200" dirty="0"/>
                <a:t>Draft proposal regarding the architecture of the IMS</a:t>
              </a:r>
              <a:endParaRPr lang="en-GB" sz="1400" kern="1200" dirty="0"/>
            </a:p>
            <a:p>
              <a:pPr marL="285750" lvl="1" indent="-285750" algn="l" defTabSz="622300" rtl="0">
                <a:lnSpc>
                  <a:spcPct val="90000"/>
                </a:lnSpc>
                <a:spcBef>
                  <a:spcPct val="0"/>
                </a:spcBef>
                <a:spcAft>
                  <a:spcPct val="15000"/>
                </a:spcAft>
                <a:buFont typeface="Wingdings" charset="2"/>
                <a:buChar char="ü"/>
              </a:pPr>
              <a:r>
                <a:rPr lang="en-GB" sz="1400" b="0" i="0" kern="1200" dirty="0"/>
                <a:t>Design the system architecture</a:t>
              </a:r>
              <a:endParaRPr lang="en-GB" sz="1400" kern="1200" dirty="0"/>
            </a:p>
          </p:txBody>
        </p:sp>
      </p:grpSp>
      <p:grpSp>
        <p:nvGrpSpPr>
          <p:cNvPr id="6" name="Group 5"/>
          <p:cNvGrpSpPr/>
          <p:nvPr/>
        </p:nvGrpSpPr>
        <p:grpSpPr>
          <a:xfrm>
            <a:off x="3657600" y="3783106"/>
            <a:ext cx="4577306" cy="3074894"/>
            <a:chOff x="1444970" y="172699"/>
            <a:chExt cx="2430975" cy="2163289"/>
          </a:xfrm>
        </p:grpSpPr>
        <p:sp>
          <p:nvSpPr>
            <p:cNvPr id="8" name="Oval 7"/>
            <p:cNvSpPr/>
            <p:nvPr/>
          </p:nvSpPr>
          <p:spPr>
            <a:xfrm>
              <a:off x="1444970" y="172699"/>
              <a:ext cx="2430975" cy="2163289"/>
            </a:xfrm>
            <a:prstGeom prst="ellipse">
              <a:avLst/>
            </a:prstGeom>
          </p:spPr>
          <p:style>
            <a:lnRef idx="0">
              <a:schemeClr val="lt1">
                <a:hueOff val="0"/>
                <a:satOff val="0"/>
                <a:lumOff val="0"/>
                <a:alphaOff val="0"/>
              </a:schemeClr>
            </a:lnRef>
            <a:fillRef idx="3">
              <a:schemeClr val="accent5">
                <a:alpha val="50000"/>
                <a:hueOff val="0"/>
                <a:satOff val="0"/>
                <a:lumOff val="0"/>
                <a:alphaOff val="0"/>
              </a:schemeClr>
            </a:fillRef>
            <a:effectRef idx="0">
              <a:schemeClr val="accent5">
                <a:alpha val="50000"/>
                <a:hueOff val="0"/>
                <a:satOff val="0"/>
                <a:lumOff val="0"/>
                <a:alphaOff val="0"/>
              </a:schemeClr>
            </a:effectRef>
            <a:fontRef idx="minor">
              <a:schemeClr val="tx1"/>
            </a:fontRef>
          </p:style>
        </p:sp>
        <p:sp>
          <p:nvSpPr>
            <p:cNvPr id="9" name="Oval 4"/>
            <p:cNvSpPr/>
            <p:nvPr/>
          </p:nvSpPr>
          <p:spPr>
            <a:xfrm>
              <a:off x="1782934" y="347788"/>
              <a:ext cx="1888589" cy="1813110"/>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1">
              <a:noAutofit/>
            </a:bodyPr>
            <a:lstStyle/>
            <a:p>
              <a:pPr lvl="0" algn="l" defTabSz="622300" rtl="0">
                <a:lnSpc>
                  <a:spcPct val="90000"/>
                </a:lnSpc>
                <a:spcBef>
                  <a:spcPct val="0"/>
                </a:spcBef>
                <a:spcAft>
                  <a:spcPct val="35000"/>
                </a:spcAft>
              </a:pPr>
              <a:r>
                <a:rPr lang="en-GB" sz="1600" b="1" i="0" kern="1200" dirty="0">
                  <a:solidFill>
                    <a:schemeClr val="bg1"/>
                  </a:solidFill>
                </a:rPr>
                <a:t>Task 4: Develop the IMS Implementation plan</a:t>
              </a:r>
              <a:endParaRPr lang="en-GB" sz="1600" kern="1200" dirty="0">
                <a:solidFill>
                  <a:schemeClr val="bg1"/>
                </a:solidFill>
              </a:endParaRPr>
            </a:p>
            <a:p>
              <a:pPr marL="187325" lvl="1" indent="-187325" algn="l" defTabSz="488950" rtl="0">
                <a:lnSpc>
                  <a:spcPct val="90000"/>
                </a:lnSpc>
                <a:spcBef>
                  <a:spcPct val="0"/>
                </a:spcBef>
                <a:spcAft>
                  <a:spcPct val="15000"/>
                </a:spcAft>
                <a:buChar char="•"/>
              </a:pPr>
              <a:r>
                <a:rPr lang="en-GB" sz="1600" b="0" i="0" kern="1200" dirty="0">
                  <a:solidFill>
                    <a:schemeClr val="bg1"/>
                  </a:solidFill>
                </a:rPr>
                <a:t>Implementation plan for the development of the IMS</a:t>
              </a:r>
              <a:endParaRPr lang="en-GB" sz="1600" kern="1200" dirty="0">
                <a:solidFill>
                  <a:schemeClr val="bg1"/>
                </a:solidFill>
              </a:endParaRPr>
            </a:p>
            <a:p>
              <a:pPr marL="187325" lvl="1" indent="-187325" algn="l" defTabSz="488950" rtl="0">
                <a:lnSpc>
                  <a:spcPct val="90000"/>
                </a:lnSpc>
                <a:spcBef>
                  <a:spcPct val="0"/>
                </a:spcBef>
                <a:spcAft>
                  <a:spcPct val="15000"/>
                </a:spcAft>
                <a:buChar char="•"/>
              </a:pPr>
              <a:r>
                <a:rPr lang="en-GB" sz="1600" b="0" i="0" kern="1200" dirty="0">
                  <a:solidFill>
                    <a:schemeClr val="bg1"/>
                  </a:solidFill>
                </a:rPr>
                <a:t>Report from the Implementation plan meeting(s) with the beneficiary Riparians</a:t>
              </a:r>
              <a:endParaRPr lang="en-GB" sz="1600" kern="1200" dirty="0">
                <a:solidFill>
                  <a:schemeClr val="bg1"/>
                </a:solidFill>
              </a:endParaRPr>
            </a:p>
          </p:txBody>
        </p:sp>
      </p:grpSp>
      <p:grpSp>
        <p:nvGrpSpPr>
          <p:cNvPr id="10" name="Group 9"/>
          <p:cNvGrpSpPr/>
          <p:nvPr/>
        </p:nvGrpSpPr>
        <p:grpSpPr>
          <a:xfrm>
            <a:off x="7472855" y="3216166"/>
            <a:ext cx="3719045" cy="3124063"/>
            <a:chOff x="338450" y="0"/>
            <a:chExt cx="2360429" cy="2360429"/>
          </a:xfrm>
        </p:grpSpPr>
        <p:sp>
          <p:nvSpPr>
            <p:cNvPr id="11" name="Oval 10"/>
            <p:cNvSpPr/>
            <p:nvPr/>
          </p:nvSpPr>
          <p:spPr>
            <a:xfrm>
              <a:off x="338450" y="0"/>
              <a:ext cx="2360429" cy="2360429"/>
            </a:xfrm>
            <a:prstGeom prst="ellipse">
              <a:avLst/>
            </a:prstGeom>
          </p:spPr>
          <p:style>
            <a:lnRef idx="0">
              <a:schemeClr val="lt1">
                <a:hueOff val="0"/>
                <a:satOff val="0"/>
                <a:lumOff val="0"/>
                <a:alphaOff val="0"/>
              </a:schemeClr>
            </a:lnRef>
            <a:fillRef idx="3">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sp>
        <p:sp>
          <p:nvSpPr>
            <p:cNvPr id="12" name="Oval 4"/>
            <p:cNvSpPr/>
            <p:nvPr/>
          </p:nvSpPr>
          <p:spPr>
            <a:xfrm>
              <a:off x="688431" y="308817"/>
              <a:ext cx="1906992" cy="1742794"/>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1">
              <a:noAutofit/>
            </a:bodyPr>
            <a:lstStyle/>
            <a:p>
              <a:pPr lvl="0" algn="l" defTabSz="711200" rtl="0">
                <a:lnSpc>
                  <a:spcPct val="90000"/>
                </a:lnSpc>
                <a:spcBef>
                  <a:spcPct val="0"/>
                </a:spcBef>
                <a:spcAft>
                  <a:spcPct val="35000"/>
                </a:spcAft>
              </a:pPr>
              <a:r>
                <a:rPr lang="en-GB" sz="1600" b="1" i="0" kern="1200" dirty="0">
                  <a:solidFill>
                    <a:schemeClr val="bg1"/>
                  </a:solidFill>
                </a:rPr>
                <a:t>Task 5: Develop ToR for the development of the IMS</a:t>
              </a:r>
              <a:endParaRPr lang="en-GB" sz="1600" kern="1200" dirty="0">
                <a:solidFill>
                  <a:schemeClr val="bg1"/>
                </a:solidFill>
              </a:endParaRPr>
            </a:p>
            <a:p>
              <a:pPr marL="114300" lvl="1" indent="-114300" algn="l" defTabSz="533400" rtl="0">
                <a:lnSpc>
                  <a:spcPct val="90000"/>
                </a:lnSpc>
                <a:spcBef>
                  <a:spcPct val="0"/>
                </a:spcBef>
                <a:spcAft>
                  <a:spcPct val="15000"/>
                </a:spcAft>
                <a:buChar char="•"/>
              </a:pPr>
              <a:r>
                <a:rPr lang="en-GB" sz="1600" b="0" i="0" kern="1200" dirty="0">
                  <a:solidFill>
                    <a:schemeClr val="bg1"/>
                  </a:solidFill>
                </a:rPr>
                <a:t>Terms of reference for the phased development of the IMS (work/service/supply</a:t>
              </a:r>
              <a:r>
                <a:rPr lang="en-GB" b="0" i="0" kern="1200" dirty="0">
                  <a:solidFill>
                    <a:schemeClr val="bg1"/>
                  </a:solidFill>
                </a:rPr>
                <a:t>)</a:t>
              </a:r>
              <a:endParaRPr lang="en-GB" kern="1200" dirty="0">
                <a:solidFill>
                  <a:schemeClr val="bg1"/>
                </a:solidFill>
              </a:endParaRPr>
            </a:p>
          </p:txBody>
        </p:sp>
      </p:grpSp>
      <p:sp>
        <p:nvSpPr>
          <p:cNvPr id="5" name="Freeform 4"/>
          <p:cNvSpPr/>
          <p:nvPr/>
        </p:nvSpPr>
        <p:spPr>
          <a:xfrm>
            <a:off x="4482936" y="0"/>
            <a:ext cx="5093152" cy="4385998"/>
          </a:xfrm>
          <a:custGeom>
            <a:avLst/>
            <a:gdLst>
              <a:gd name="connsiteX0" fmla="*/ 0 w 4645050"/>
              <a:gd name="connsiteY0" fmla="*/ 2322525 h 4645050"/>
              <a:gd name="connsiteX1" fmla="*/ 2322525 w 4645050"/>
              <a:gd name="connsiteY1" fmla="*/ 0 h 4645050"/>
              <a:gd name="connsiteX2" fmla="*/ 4645050 w 4645050"/>
              <a:gd name="connsiteY2" fmla="*/ 2322525 h 4645050"/>
              <a:gd name="connsiteX3" fmla="*/ 2322525 w 4645050"/>
              <a:gd name="connsiteY3" fmla="*/ 4645050 h 4645050"/>
              <a:gd name="connsiteX4" fmla="*/ 0 w 4645050"/>
              <a:gd name="connsiteY4" fmla="*/ 2322525 h 4645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5050" h="4645050">
                <a:moveTo>
                  <a:pt x="0" y="2322525"/>
                </a:moveTo>
                <a:cubicBezTo>
                  <a:pt x="0" y="1039830"/>
                  <a:pt x="1039830" y="0"/>
                  <a:pt x="2322525" y="0"/>
                </a:cubicBezTo>
                <a:cubicBezTo>
                  <a:pt x="3605220" y="0"/>
                  <a:pt x="4645050" y="1039830"/>
                  <a:pt x="4645050" y="2322525"/>
                </a:cubicBezTo>
                <a:cubicBezTo>
                  <a:pt x="4645050" y="3605220"/>
                  <a:pt x="3605220" y="4645050"/>
                  <a:pt x="2322525" y="4645050"/>
                </a:cubicBezTo>
                <a:cubicBezTo>
                  <a:pt x="1039830" y="4645050"/>
                  <a:pt x="0" y="3605220"/>
                  <a:pt x="0" y="2322525"/>
                </a:cubicBezTo>
                <a:close/>
              </a:path>
            </a:pathLst>
          </a:custGeom>
          <a:solidFill>
            <a:srgbClr val="FF0000">
              <a:alpha val="54118"/>
            </a:srgbClr>
          </a:solidFill>
        </p:spPr>
        <p:style>
          <a:lnRef idx="0">
            <a:schemeClr val="lt1">
              <a:hueOff val="0"/>
              <a:satOff val="0"/>
              <a:lumOff val="0"/>
              <a:alphaOff val="0"/>
            </a:schemeClr>
          </a:lnRef>
          <a:fillRef idx="3">
            <a:scrgbClr r="0" g="0" b="0"/>
          </a:fillRef>
          <a:effectRef idx="0">
            <a:schemeClr val="accent1">
              <a:alpha val="50000"/>
              <a:hueOff val="0"/>
              <a:satOff val="0"/>
              <a:lumOff val="0"/>
              <a:alphaOff val="0"/>
            </a:schemeClr>
          </a:effectRef>
          <a:fontRef idx="minor">
            <a:schemeClr val="tx1"/>
          </a:fontRef>
        </p:style>
        <p:txBody>
          <a:bodyPr spcFirstLastPara="0" vert="horz" wrap="square" lIns="680252" tIns="680252" rIns="680252" bIns="680252" numCol="1" spcCol="1270" anchor="ctr" anchorCtr="1">
            <a:noAutofit/>
          </a:bodyPr>
          <a:lstStyle/>
          <a:p>
            <a:pPr lvl="0" algn="l" defTabSz="800100" rtl="0">
              <a:lnSpc>
                <a:spcPct val="90000"/>
              </a:lnSpc>
              <a:spcBef>
                <a:spcPct val="0"/>
              </a:spcBef>
              <a:spcAft>
                <a:spcPct val="35000"/>
              </a:spcAft>
            </a:pPr>
            <a:r>
              <a:rPr lang="en-GB" sz="1800" b="1" i="0" kern="1200" dirty="0"/>
              <a:t>Task 2. Determine IMS thematic datasets and set of standards for exchanging basin and water management data</a:t>
            </a:r>
            <a:endParaRPr lang="en-GB" sz="1800" kern="1200" dirty="0"/>
          </a:p>
          <a:p>
            <a:pPr marL="285750" lvl="1" indent="-285750" algn="l" defTabSz="800100" rtl="0">
              <a:lnSpc>
                <a:spcPct val="90000"/>
              </a:lnSpc>
              <a:spcBef>
                <a:spcPct val="0"/>
              </a:spcBef>
              <a:spcAft>
                <a:spcPct val="15000"/>
              </a:spcAft>
              <a:buFont typeface="Wingdings" charset="2"/>
              <a:buChar char="ü"/>
            </a:pPr>
            <a:r>
              <a:rPr lang="en-GB" sz="1800" b="0" i="0" kern="1200" dirty="0"/>
              <a:t>List and specifications of IMS themes, data-sets objects and layers</a:t>
            </a:r>
            <a:endParaRPr lang="en-GB" sz="1800" kern="1200" dirty="0"/>
          </a:p>
          <a:p>
            <a:pPr marL="285750" lvl="1" indent="-285750" algn="l" defTabSz="800100" rtl="0">
              <a:lnSpc>
                <a:spcPct val="90000"/>
              </a:lnSpc>
              <a:spcBef>
                <a:spcPct val="0"/>
              </a:spcBef>
              <a:spcAft>
                <a:spcPct val="15000"/>
              </a:spcAft>
              <a:buFont typeface="Wingdings" charset="2"/>
              <a:buChar char="ü"/>
            </a:pPr>
            <a:r>
              <a:rPr lang="en-GB" sz="1800" b="0" i="0" kern="1200" dirty="0"/>
              <a:t>The feature catalogue</a:t>
            </a:r>
            <a:endParaRPr lang="en-GB" sz="1800" kern="1200" dirty="0"/>
          </a:p>
          <a:p>
            <a:pPr marL="285750" lvl="1" indent="-285750" algn="l" defTabSz="800100" rtl="0">
              <a:lnSpc>
                <a:spcPct val="90000"/>
              </a:lnSpc>
              <a:spcBef>
                <a:spcPct val="0"/>
              </a:spcBef>
              <a:spcAft>
                <a:spcPct val="15000"/>
              </a:spcAft>
              <a:buFont typeface="Wingdings" charset="2"/>
              <a:buChar char="ü"/>
            </a:pPr>
            <a:r>
              <a:rPr lang="en-GB" sz="1800" b="0" i="0" kern="1200" dirty="0"/>
              <a:t>IMS data model</a:t>
            </a:r>
            <a:endParaRPr lang="en-GB" sz="1800" kern="1200" dirty="0"/>
          </a:p>
          <a:p>
            <a:pPr marL="285750" lvl="1" indent="-285750" algn="l" defTabSz="800100" rtl="0">
              <a:lnSpc>
                <a:spcPct val="90000"/>
              </a:lnSpc>
              <a:spcBef>
                <a:spcPct val="0"/>
              </a:spcBef>
              <a:spcAft>
                <a:spcPct val="15000"/>
              </a:spcAft>
              <a:buFont typeface="Wingdings" charset="2"/>
              <a:buChar char="ü"/>
            </a:pPr>
            <a:r>
              <a:rPr lang="en-GB" sz="1800" b="0" i="0" kern="1200" dirty="0"/>
              <a:t>Standards to be used within IMS</a:t>
            </a:r>
            <a:endParaRPr lang="hr-HR" b="0" i="0" dirty="0"/>
          </a:p>
          <a:p>
            <a:pPr marL="285750" lvl="1" indent="-285750" algn="l" defTabSz="800100" rtl="0">
              <a:lnSpc>
                <a:spcPct val="90000"/>
              </a:lnSpc>
              <a:spcBef>
                <a:spcPct val="0"/>
              </a:spcBef>
              <a:spcAft>
                <a:spcPct val="15000"/>
              </a:spcAft>
              <a:buFont typeface="Wingdings" charset="2"/>
              <a:buChar char="ü"/>
            </a:pPr>
            <a:r>
              <a:rPr lang="en-GB" dirty="0"/>
              <a:t>IMS data exchange protocols </a:t>
            </a:r>
            <a:endParaRPr lang="hr-HR" dirty="0"/>
          </a:p>
        </p:txBody>
      </p:sp>
      <p:grpSp>
        <p:nvGrpSpPr>
          <p:cNvPr id="14" name="Group 13"/>
          <p:cNvGrpSpPr/>
          <p:nvPr/>
        </p:nvGrpSpPr>
        <p:grpSpPr>
          <a:xfrm>
            <a:off x="419422" y="1334506"/>
            <a:ext cx="4647878" cy="3694694"/>
            <a:chOff x="1254642" y="0"/>
            <a:chExt cx="2317898" cy="2317898"/>
          </a:xfrm>
        </p:grpSpPr>
        <p:sp>
          <p:nvSpPr>
            <p:cNvPr id="15" name="Oval 14"/>
            <p:cNvSpPr/>
            <p:nvPr/>
          </p:nvSpPr>
          <p:spPr>
            <a:xfrm>
              <a:off x="1254642" y="0"/>
              <a:ext cx="2317898" cy="2317898"/>
            </a:xfrm>
            <a:prstGeom prst="ellipse">
              <a:avLst/>
            </a:prstGeom>
          </p:spPr>
          <p:style>
            <a:lnRef idx="0">
              <a:schemeClr val="lt1">
                <a:hueOff val="0"/>
                <a:satOff val="0"/>
                <a:lumOff val="0"/>
                <a:alphaOff val="0"/>
              </a:schemeClr>
            </a:lnRef>
            <a:fillRef idx="3">
              <a:schemeClr val="accent2">
                <a:alpha val="50000"/>
                <a:hueOff val="0"/>
                <a:satOff val="0"/>
                <a:lumOff val="0"/>
                <a:alphaOff val="0"/>
              </a:schemeClr>
            </a:fillRef>
            <a:effectRef idx="0">
              <a:schemeClr val="accent2">
                <a:alpha val="50000"/>
                <a:hueOff val="0"/>
                <a:satOff val="0"/>
                <a:lumOff val="0"/>
                <a:alphaOff val="0"/>
              </a:schemeClr>
            </a:effectRef>
            <a:fontRef idx="minor">
              <a:schemeClr val="tx1"/>
            </a:fontRef>
          </p:style>
        </p:sp>
        <p:sp>
          <p:nvSpPr>
            <p:cNvPr id="16" name="Oval 4"/>
            <p:cNvSpPr/>
            <p:nvPr/>
          </p:nvSpPr>
          <p:spPr>
            <a:xfrm>
              <a:off x="1552475" y="304284"/>
              <a:ext cx="1793076" cy="1751304"/>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1">
              <a:noAutofit/>
            </a:bodyPr>
            <a:lstStyle/>
            <a:p>
              <a:pPr lvl="0" algn="l" defTabSz="444500" rtl="0">
                <a:lnSpc>
                  <a:spcPct val="90000"/>
                </a:lnSpc>
                <a:spcBef>
                  <a:spcPct val="0"/>
                </a:spcBef>
                <a:spcAft>
                  <a:spcPct val="35000"/>
                </a:spcAft>
              </a:pPr>
              <a:r>
                <a:rPr lang="en-GB" b="1" i="0" kern="1200" dirty="0"/>
                <a:t>Task 1. Analysis of the “present state” and definition of “desired state” for basin and water data management in each of the beneficiary Riparians</a:t>
              </a:r>
              <a:endParaRPr lang="en-GB" b="1" kern="1200" dirty="0"/>
            </a:p>
            <a:p>
              <a:pPr marL="285750" lvl="1" indent="-285750" algn="l" defTabSz="355600" rtl="0">
                <a:lnSpc>
                  <a:spcPct val="90000"/>
                </a:lnSpc>
                <a:spcBef>
                  <a:spcPct val="0"/>
                </a:spcBef>
                <a:spcAft>
                  <a:spcPct val="15000"/>
                </a:spcAft>
                <a:buFont typeface="Wingdings" charset="2"/>
                <a:buChar char="ü"/>
              </a:pPr>
              <a:r>
                <a:rPr lang="en-GB" b="0" i="0" kern="1200" dirty="0"/>
                <a:t>Detailed analysis report regarding current state and desired state</a:t>
              </a:r>
              <a:endParaRPr lang="en-GB" kern="1200" dirty="0"/>
            </a:p>
          </p:txBody>
        </p:sp>
      </p:grpSp>
    </p:spTree>
    <p:extLst>
      <p:ext uri="{BB962C8B-B14F-4D97-AF65-F5344CB8AC3E}">
        <p14:creationId xmlns:p14="http://schemas.microsoft.com/office/powerpoint/2010/main" val="3315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774565-BD9D-E74A-995C-2EA949402BF9}"/>
              </a:ext>
            </a:extLst>
          </p:cNvPr>
          <p:cNvSpPr>
            <a:spLocks noGrp="1"/>
          </p:cNvSpPr>
          <p:nvPr>
            <p:ph type="title"/>
          </p:nvPr>
        </p:nvSpPr>
        <p:spPr/>
        <p:txBody>
          <a:bodyPr/>
          <a:lstStyle/>
          <a:p>
            <a:r>
              <a:rPr lang="en-GB" dirty="0"/>
              <a:t>Gaps in data / information  exchange</a:t>
            </a:r>
          </a:p>
        </p:txBody>
      </p:sp>
      <p:graphicFrame>
        <p:nvGraphicFramePr>
          <p:cNvPr id="8" name="Content Placeholder 7">
            <a:extLst>
              <a:ext uri="{FF2B5EF4-FFF2-40B4-BE49-F238E27FC236}">
                <a16:creationId xmlns:a16="http://schemas.microsoft.com/office/drawing/2014/main" xmlns="" id="{F320490E-4961-624A-92B8-4A9253BE77E3}"/>
              </a:ext>
            </a:extLst>
          </p:cNvPr>
          <p:cNvGraphicFramePr>
            <a:graphicFrameLocks noGrp="1"/>
          </p:cNvGraphicFramePr>
          <p:nvPr>
            <p:ph idx="1"/>
            <p:extLst>
              <p:ext uri="{D42A27DB-BD31-4B8C-83A1-F6EECF244321}">
                <p14:modId xmlns:p14="http://schemas.microsoft.com/office/powerpoint/2010/main" val="3998451699"/>
              </p:ext>
            </p:extLst>
          </p:nvPr>
        </p:nvGraphicFramePr>
        <p:xfrm>
          <a:off x="0" y="1175657"/>
          <a:ext cx="12192000" cy="5682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1708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graphicEl>
                                              <a:dgm id="{FDC609F3-6784-4F4C-9CFE-4E7CFD662728}"/>
                                            </p:graphicEl>
                                          </p:spTgt>
                                        </p:tgtEl>
                                        <p:attrNameLst>
                                          <p:attrName>style.visibility</p:attrName>
                                        </p:attrNameLst>
                                      </p:cBhvr>
                                      <p:to>
                                        <p:strVal val="visible"/>
                                      </p:to>
                                    </p:set>
                                    <p:animEffect transition="in" filter="fade">
                                      <p:cBhvr>
                                        <p:cTn id="7" dur="500"/>
                                        <p:tgtEl>
                                          <p:spTgt spid="8">
                                            <p:graphicEl>
                                              <a:dgm id="{FDC609F3-6784-4F4C-9CFE-4E7CFD662728}"/>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graphicEl>
                                              <a:dgm id="{490F1934-DC94-7540-8AE8-F587B2D40305}"/>
                                            </p:graphicEl>
                                          </p:spTgt>
                                        </p:tgtEl>
                                        <p:attrNameLst>
                                          <p:attrName>style.visibility</p:attrName>
                                        </p:attrNameLst>
                                      </p:cBhvr>
                                      <p:to>
                                        <p:strVal val="visible"/>
                                      </p:to>
                                    </p:set>
                                    <p:animEffect transition="in" filter="fade">
                                      <p:cBhvr>
                                        <p:cTn id="12" dur="500"/>
                                        <p:tgtEl>
                                          <p:spTgt spid="8">
                                            <p:graphicEl>
                                              <a:dgm id="{490F1934-DC94-7540-8AE8-F587B2D40305}"/>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graphicEl>
                                              <a:dgm id="{6E07A16D-4266-2744-9D45-2F93915133A3}"/>
                                            </p:graphicEl>
                                          </p:spTgt>
                                        </p:tgtEl>
                                        <p:attrNameLst>
                                          <p:attrName>style.visibility</p:attrName>
                                        </p:attrNameLst>
                                      </p:cBhvr>
                                      <p:to>
                                        <p:strVal val="visible"/>
                                      </p:to>
                                    </p:set>
                                    <p:animEffect transition="in" filter="fade">
                                      <p:cBhvr>
                                        <p:cTn id="17" dur="500"/>
                                        <p:tgtEl>
                                          <p:spTgt spid="8">
                                            <p:graphicEl>
                                              <a:dgm id="{6E07A16D-4266-2744-9D45-2F93915133A3}"/>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graphicEl>
                                              <a:dgm id="{71D2274D-BFBE-C44A-B650-4492A7ECC6F6}"/>
                                            </p:graphicEl>
                                          </p:spTgt>
                                        </p:tgtEl>
                                        <p:attrNameLst>
                                          <p:attrName>style.visibility</p:attrName>
                                        </p:attrNameLst>
                                      </p:cBhvr>
                                      <p:to>
                                        <p:strVal val="visible"/>
                                      </p:to>
                                    </p:set>
                                    <p:animEffect transition="in" filter="fade">
                                      <p:cBhvr>
                                        <p:cTn id="22" dur="500"/>
                                        <p:tgtEl>
                                          <p:spTgt spid="8">
                                            <p:graphicEl>
                                              <a:dgm id="{71D2274D-BFBE-C44A-B650-4492A7ECC6F6}"/>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6BB415F-EEDF-4FFF-8A22-950873A10E88}"/>
              </a:ext>
            </a:extLst>
          </p:cNvPr>
          <p:cNvSpPr txBox="1"/>
          <p:nvPr/>
        </p:nvSpPr>
        <p:spPr>
          <a:xfrm>
            <a:off x="1158844" y="814812"/>
            <a:ext cx="9542352" cy="5909310"/>
          </a:xfrm>
          <a:prstGeom prst="rect">
            <a:avLst/>
          </a:prstGeom>
          <a:noFill/>
        </p:spPr>
        <p:txBody>
          <a:bodyPr wrap="square" rtlCol="0">
            <a:spAutoFit/>
          </a:bodyPr>
          <a:lstStyle/>
          <a:p>
            <a:r>
              <a:rPr lang="en-US" sz="2400" b="1" dirty="0"/>
              <a:t>On-going developments </a:t>
            </a:r>
          </a:p>
          <a:p>
            <a:endParaRPr lang="en-US" dirty="0"/>
          </a:p>
          <a:p>
            <a:pPr marL="285750" indent="-285750">
              <a:buFont typeface="Arial" panose="020B0604020202020204" pitchFamily="34" charset="0"/>
              <a:buChar char="•"/>
            </a:pPr>
            <a:r>
              <a:rPr lang="en-US" sz="2400" dirty="0"/>
              <a:t>Agreement on the exchange of priority </a:t>
            </a:r>
            <a:r>
              <a:rPr lang="en-GB" sz="2400" dirty="0"/>
              <a:t>datasets</a:t>
            </a:r>
          </a:p>
          <a:p>
            <a:pPr marL="285750" indent="-285750">
              <a:buFont typeface="Arial" panose="020B0604020202020204" pitchFamily="34" charset="0"/>
              <a:buChar char="•"/>
            </a:pPr>
            <a:r>
              <a:rPr lang="en-GB" sz="2400" dirty="0"/>
              <a:t>hydrological, meteorological, pollution and water level – Drin Core Group </a:t>
            </a:r>
          </a:p>
          <a:p>
            <a:pPr marL="285750" indent="-285750">
              <a:buFont typeface="Arial" panose="020B0604020202020204" pitchFamily="34" charset="0"/>
              <a:buChar char="•"/>
            </a:pPr>
            <a:r>
              <a:rPr lang="en-GB" sz="2400" dirty="0"/>
              <a:t>Finalization of thematic reports </a:t>
            </a:r>
          </a:p>
          <a:p>
            <a:pPr marL="742950" lvl="1" indent="-285750">
              <a:buFontTx/>
              <a:buChar char="-"/>
            </a:pPr>
            <a:r>
              <a:rPr lang="en-GB" sz="2400" dirty="0"/>
              <a:t>Hydrology</a:t>
            </a:r>
          </a:p>
          <a:p>
            <a:pPr marL="742950" lvl="1" indent="-285750">
              <a:buFontTx/>
              <a:buChar char="-"/>
            </a:pPr>
            <a:r>
              <a:rPr lang="en-GB" sz="2400" dirty="0"/>
              <a:t>Pollution</a:t>
            </a:r>
          </a:p>
          <a:p>
            <a:pPr marL="742950" lvl="1" indent="-285750">
              <a:buFontTx/>
              <a:buChar char="-"/>
            </a:pPr>
            <a:r>
              <a:rPr lang="en-GB" sz="2400" dirty="0"/>
              <a:t>Institutional and legal setting</a:t>
            </a:r>
          </a:p>
          <a:p>
            <a:pPr marL="742950" lvl="1" indent="-285750">
              <a:buFontTx/>
              <a:buChar char="-"/>
            </a:pPr>
            <a:r>
              <a:rPr lang="en-GB" sz="2400" dirty="0"/>
              <a:t>Biodiversity and ecosystems</a:t>
            </a:r>
          </a:p>
          <a:p>
            <a:pPr marL="742950" lvl="1" indent="-285750">
              <a:buFontTx/>
              <a:buChar char="-"/>
            </a:pPr>
            <a:r>
              <a:rPr lang="en-US" sz="2400" dirty="0"/>
              <a:t>Water-Food-Energy-Ecosystems Nexus</a:t>
            </a:r>
          </a:p>
          <a:p>
            <a:pPr marL="742950" lvl="1" indent="-285750">
              <a:buFontTx/>
              <a:buChar char="-"/>
            </a:pPr>
            <a:r>
              <a:rPr lang="en-US" sz="2400" dirty="0"/>
              <a:t>Socio-economics (completed)</a:t>
            </a:r>
          </a:p>
          <a:p>
            <a:pPr marL="285750" indent="-285750">
              <a:buFont typeface="Arial" panose="020B0604020202020204" pitchFamily="34" charset="0"/>
              <a:buChar char="•"/>
            </a:pPr>
            <a:r>
              <a:rPr lang="en-US" sz="2400" dirty="0"/>
              <a:t>Terms of Reference for Development of the Drin IMS</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105707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6BB415F-EEDF-4FFF-8A22-950873A10E88}"/>
              </a:ext>
            </a:extLst>
          </p:cNvPr>
          <p:cNvSpPr txBox="1"/>
          <p:nvPr/>
        </p:nvSpPr>
        <p:spPr>
          <a:xfrm>
            <a:off x="1158844" y="814812"/>
            <a:ext cx="9542352" cy="1200329"/>
          </a:xfrm>
          <a:prstGeom prst="rect">
            <a:avLst/>
          </a:prstGeom>
          <a:noFill/>
        </p:spPr>
        <p:txBody>
          <a:bodyPr wrap="square" rtlCol="0">
            <a:spAutoFit/>
          </a:bodyPr>
          <a:lstStyle/>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xmlns="" id="{A99B24F1-D8DC-4745-A69C-E4C65EE177C5}"/>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851026" y="325925"/>
            <a:ext cx="10864157" cy="5911913"/>
          </a:xfrm>
          <a:prstGeom prst="rect">
            <a:avLst/>
          </a:prstGeom>
        </p:spPr>
      </p:pic>
    </p:spTree>
    <p:extLst>
      <p:ext uri="{BB962C8B-B14F-4D97-AF65-F5344CB8AC3E}">
        <p14:creationId xmlns:p14="http://schemas.microsoft.com/office/powerpoint/2010/main" val="1076102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6BB415F-EEDF-4FFF-8A22-950873A10E88}"/>
              </a:ext>
            </a:extLst>
          </p:cNvPr>
          <p:cNvSpPr txBox="1"/>
          <p:nvPr/>
        </p:nvSpPr>
        <p:spPr>
          <a:xfrm>
            <a:off x="1158844" y="814812"/>
            <a:ext cx="9542352" cy="5867568"/>
          </a:xfrm>
          <a:prstGeom prst="rect">
            <a:avLst/>
          </a:prstGeom>
          <a:noFill/>
        </p:spPr>
        <p:txBody>
          <a:bodyPr wrap="square" rtlCol="0">
            <a:spAutoFit/>
          </a:bodyPr>
          <a:lstStyle/>
          <a:p>
            <a:r>
              <a:rPr lang="en-US" sz="2800" dirty="0"/>
              <a:t>2018 – 2019 </a:t>
            </a:r>
          </a:p>
          <a:p>
            <a:endParaRPr lang="en-US" sz="2400" dirty="0"/>
          </a:p>
          <a:p>
            <a:pPr marL="285750" lvl="0" indent="-285750">
              <a:lnSpc>
                <a:spcPct val="108000"/>
              </a:lnSpc>
              <a:buFont typeface="Arial" panose="020B0604020202020204" pitchFamily="34" charset="0"/>
              <a:buChar char="•"/>
            </a:pPr>
            <a:r>
              <a:rPr lang="en-GB" sz="2400" dirty="0"/>
              <a:t>Drin Geodatabase developed and populated with all collected data;</a:t>
            </a:r>
            <a:endParaRPr lang="en-US" sz="2400" dirty="0"/>
          </a:p>
          <a:p>
            <a:pPr marL="285750" lvl="0" indent="-285750">
              <a:lnSpc>
                <a:spcPct val="108000"/>
              </a:lnSpc>
              <a:buFont typeface="Arial" panose="020B0604020202020204" pitchFamily="34" charset="0"/>
              <a:buChar char="•"/>
            </a:pPr>
            <a:r>
              <a:rPr lang="en-GB" sz="2400" dirty="0"/>
              <a:t>Application modules, tools and geoportal for data processing, analysis and dissemination designed, developed, tested and deployed in operational (Drin IMS production) environment;</a:t>
            </a:r>
            <a:endParaRPr lang="en-US" sz="2400" dirty="0"/>
          </a:p>
          <a:p>
            <a:pPr marL="285750" lvl="0" indent="-285750">
              <a:lnSpc>
                <a:spcPct val="108000"/>
              </a:lnSpc>
              <a:buFont typeface="Arial" panose="020B0604020202020204" pitchFamily="34" charset="0"/>
              <a:buChar char="•"/>
            </a:pPr>
            <a:r>
              <a:rPr lang="en-GB" sz="2400" dirty="0"/>
              <a:t>Information services for data exchange and metadata flow are established;</a:t>
            </a:r>
            <a:endParaRPr lang="en-US" sz="2400" dirty="0"/>
          </a:p>
          <a:p>
            <a:pPr marL="285750" lvl="0" indent="-285750">
              <a:lnSpc>
                <a:spcPct val="108000"/>
              </a:lnSpc>
              <a:buFont typeface="Arial" panose="020B0604020202020204" pitchFamily="34" charset="0"/>
              <a:buChar char="•"/>
            </a:pPr>
            <a:r>
              <a:rPr lang="en-GB" sz="2400" dirty="0"/>
              <a:t>Users trained to use and administrate of Drin Geodatabase and Geoportal;</a:t>
            </a:r>
            <a:endParaRPr lang="en-US" sz="2400" dirty="0"/>
          </a:p>
          <a:p>
            <a:pPr marL="285750" lvl="0" indent="-285750">
              <a:lnSpc>
                <a:spcPct val="108000"/>
              </a:lnSpc>
              <a:buFont typeface="Arial" panose="020B0604020202020204" pitchFamily="34" charset="0"/>
              <a:buChar char="•"/>
            </a:pPr>
            <a:r>
              <a:rPr lang="en-GB" sz="2400" dirty="0"/>
              <a:t>Technical and user documentation prepared and delivered.</a:t>
            </a:r>
            <a:endParaRPr lang="en-US" sz="2400" dirty="0"/>
          </a:p>
          <a:p>
            <a:pPr marL="285750" indent="-285750">
              <a:buFont typeface="Arial" panose="020B0604020202020204" pitchFamily="34" charset="0"/>
              <a:buChar char="•"/>
            </a:pPr>
            <a:endParaRPr lang="en-US" sz="2400" dirty="0"/>
          </a:p>
          <a:p>
            <a:endParaRPr lang="en-US" sz="2400" dirty="0"/>
          </a:p>
          <a:p>
            <a:endParaRPr lang="en-US" sz="2400" dirty="0"/>
          </a:p>
          <a:p>
            <a:endParaRPr lang="en-US" dirty="0"/>
          </a:p>
        </p:txBody>
      </p:sp>
    </p:spTree>
    <p:extLst>
      <p:ext uri="{BB962C8B-B14F-4D97-AF65-F5344CB8AC3E}">
        <p14:creationId xmlns:p14="http://schemas.microsoft.com/office/powerpoint/2010/main" val="1400770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Depth</Template>
  <TotalTime>4027</TotalTime>
  <Words>775</Words>
  <Application>Microsoft Office PowerPoint</Application>
  <PresentationFormat>Custom</PresentationFormat>
  <Paragraphs>75</Paragraphs>
  <Slides>10</Slides>
  <Notes>2</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Depth</vt:lpstr>
      <vt:lpstr>Drin Information Management System</vt:lpstr>
      <vt:lpstr>PowerPoint Presentation</vt:lpstr>
      <vt:lpstr>Technical Support for Development of Information Management System (IMS) </vt:lpstr>
      <vt:lpstr>Drin IMS Aims</vt:lpstr>
      <vt:lpstr>Expert Working group on Monitoring and Information Exchange </vt:lpstr>
      <vt:lpstr>Tasks completed</vt:lpstr>
      <vt:lpstr>Gaps in data / information  exchange</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Projektni tim</dc:creator>
  <cp:lastModifiedBy>ONU</cp:lastModifiedBy>
  <cp:revision>260</cp:revision>
  <cp:lastPrinted>2018-09-20T07:17:10Z</cp:lastPrinted>
  <dcterms:created xsi:type="dcterms:W3CDTF">2017-11-19T22:57:53Z</dcterms:created>
  <dcterms:modified xsi:type="dcterms:W3CDTF">2018-09-20T10:40:05Z</dcterms:modified>
</cp:coreProperties>
</file>