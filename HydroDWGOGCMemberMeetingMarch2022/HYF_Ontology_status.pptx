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83" r:id="rId3"/>
    <p:sldId id="265" r:id="rId4"/>
    <p:sldId id="284" r:id="rId5"/>
    <p:sldId id="285" r:id="rId6"/>
    <p:sldId id="286" r:id="rId7"/>
    <p:sldId id="287" r:id="rId8"/>
    <p:sldId id="288" r:id="rId9"/>
    <p:sldId id="289" r:id="rId10"/>
    <p:sldId id="277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F9140-D4E4-47F9-9A25-D49AA1EE7D87}" v="9" dt="2022-03-01T11:53:49.995"/>
    <p1510:client id="{47F1B840-CC5C-4DB5-83C5-18184184228D}" v="708" dt="2022-03-01T11:48:26.5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52B0C06E-0977-954B-BAB3-30BEF9D86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15246"/>
            <a:ext cx="24580123" cy="137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screen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25+ Years of Not for Profit Work</a:t>
            </a:r>
            <a:br>
              <a:rPr/>
            </a:br>
            <a:r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1,700,000+ Operational Data Sets </a:t>
            </a:r>
            <a:br>
              <a:rPr/>
            </a:br>
            <a:r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Copyright © 202</a:t>
            </a:r>
            <a:r>
              <a:rPr lang="en-US"/>
              <a:t>2</a:t>
            </a:r>
            <a:r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70" r:id="rId4"/>
    <p:sldLayoutId id="2147483671" r:id="rId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gis.net/def/schema/hy_features/hyf?_profile=a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err="1"/>
              <a:t>HY_Features</a:t>
            </a:r>
            <a:r>
              <a:rPr lang="en-US"/>
              <a:t> Ontology</a:t>
            </a:r>
            <a:endParaRPr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/>
              <a:t>The 122</a:t>
            </a:r>
            <a:r>
              <a:rPr lang="en-US" baseline="30000"/>
              <a:t>nd</a:t>
            </a:r>
            <a:r>
              <a:rPr lang="en-US"/>
              <a:t> OGC Member Meeting</a:t>
            </a:r>
            <a:endParaRPr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847162"/>
            <a:ext cx="21971003" cy="1231529"/>
          </a:xfrm>
          <a:prstGeom prst="rect">
            <a:avLst/>
          </a:prstGeom>
        </p:spPr>
        <p:txBody>
          <a:bodyPr lIns="45719" tIns="45719" rIns="45719" bIns="45719" anchor="t">
            <a:normAutofit/>
          </a:bodyPr>
          <a:lstStyle/>
          <a:p>
            <a:r>
              <a:rPr lang="en-US"/>
              <a:t>Rob Atkinson, OGC</a:t>
            </a:r>
          </a:p>
          <a:p>
            <a:r>
              <a:rPr lang="en-US"/>
              <a:t>01 March 2022</a:t>
            </a:r>
          </a:p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48C30D-778E-C54B-8B3B-EB7DC6D11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972" y="11105083"/>
            <a:ext cx="3820067" cy="227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1014589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Status</a:t>
            </a:r>
          </a:p>
          <a:p>
            <a:r>
              <a:rPr lang="en-US"/>
              <a:t>Challenges</a:t>
            </a:r>
          </a:p>
          <a:p>
            <a:r>
              <a:rPr lang="en-US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0785-A144-8146-B8F3-10B7E1BBE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err="1"/>
              <a:t>HY_HydroFeature</a:t>
            </a:r>
            <a:r>
              <a:rPr lang="en-US"/>
              <a:t> (</a:t>
            </a:r>
            <a:r>
              <a:rPr lang="en-US" err="1"/>
              <a:t>hyf</a:t>
            </a:r>
            <a:r>
              <a:rPr lang="en-US"/>
              <a:t>) online</a:t>
            </a:r>
          </a:p>
          <a:p>
            <a:pPr lvl="1"/>
            <a:r>
              <a:rPr lang="en-US"/>
              <a:t>https://www.opengis.net/def/schema/hy_features/hyf</a:t>
            </a:r>
          </a:p>
          <a:p>
            <a:r>
              <a:rPr lang="en-US"/>
              <a:t>Package level – multiples views available</a:t>
            </a:r>
          </a:p>
          <a:p>
            <a:pPr lvl="1"/>
            <a:r>
              <a:rPr lang="en-US">
                <a:ea typeface="+mn-lt"/>
                <a:cs typeface="+mn-lt"/>
                <a:hlinkClick r:id="rId2"/>
              </a:rPr>
              <a:t>https://www.opengis.net/def/schema/hy_features/hyf?</a:t>
            </a:r>
            <a:r>
              <a:rPr lang="en-US" b="1">
                <a:ea typeface="+mn-lt"/>
                <a:cs typeface="+mn-lt"/>
                <a:hlinkClick r:id="rId2"/>
              </a:rPr>
              <a:t>_profile=alt</a:t>
            </a:r>
            <a:endParaRPr lang="en-US">
              <a:ea typeface="+mn-lt"/>
              <a:cs typeface="+mn-lt"/>
            </a:endParaRPr>
          </a:p>
          <a:p>
            <a:r>
              <a:rPr lang="en-US"/>
              <a:t>Entailment and publishing on commit</a:t>
            </a:r>
          </a:p>
          <a:p>
            <a:pPr lvl="1"/>
            <a:r>
              <a:rPr lang="en-US"/>
              <a:t>Triggers and config in Naming Authority</a:t>
            </a:r>
          </a:p>
          <a:p>
            <a:endParaRPr lang="en-US" b="1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8CE8-A945-4D20-B4AA-C39DBDCEDA3D}"/>
              </a:ext>
            </a:extLst>
          </p:cNvPr>
          <p:cNvSpPr>
            <a:spLocks noGrp="1"/>
          </p:cNvSpPr>
          <p:nvPr>
            <p:ph type="title"/>
          </p:nvPr>
        </p:nvSpPr>
        <p:spPr>
          <a:ln w="28575">
            <a:noFill/>
          </a:ln>
        </p:spPr>
        <p:txBody>
          <a:bodyPr lIns="50800" tIns="50800" rIns="50800" bIns="50800" anchor="t">
            <a:normAutofit/>
          </a:bodyPr>
          <a:lstStyle/>
          <a:p>
            <a:r>
              <a:rPr lang="en-US"/>
              <a:t>Repository structure</a:t>
            </a:r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1C2F772-5332-4B44-AA9E-18F09C74B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99" y="3963344"/>
            <a:ext cx="16238862" cy="9354254"/>
          </a:xfrm>
          <a:prstGeom prst="rect">
            <a:avLst/>
          </a:prstGeo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1FAF969-EEFD-4FEB-BA9F-43FEF505A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921" y="5326837"/>
            <a:ext cx="15100453" cy="3544739"/>
          </a:xfrm>
          <a:prstGeom prst="rect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03E9FB19-A397-43B3-8382-59136A733520}"/>
              </a:ext>
            </a:extLst>
          </p:cNvPr>
          <p:cNvCxnSpPr/>
          <p:nvPr/>
        </p:nvCxnSpPr>
        <p:spPr>
          <a:xfrm>
            <a:off x="6373257" y="5556173"/>
            <a:ext cx="2677097" cy="1189820"/>
          </a:xfrm>
          <a:prstGeom prst="curvedConnector3">
            <a:avLst/>
          </a:prstGeom>
          <a:ln w="57150">
            <a:headEnd type="non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CEEB45-1FA1-4099-A190-A1B0481B8C83}"/>
              </a:ext>
            </a:extLst>
          </p:cNvPr>
          <p:cNvSpPr txBox="1"/>
          <p:nvPr/>
        </p:nvSpPr>
        <p:spPr>
          <a:xfrm>
            <a:off x="10820399" y="6622038"/>
            <a:ext cx="274320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733392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D059-4EFD-449C-BAB2-7CC386F1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Definitions Server Viewpoint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7B437FA-5062-45A0-8A9A-A86FC8A08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68" y="2218667"/>
            <a:ext cx="19782620" cy="1183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455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F4EC-6C5B-4434-8F5A-51EA3410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73BA1-8CE0-4C2E-9232-B670FBF3D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JSON schema</a:t>
            </a:r>
          </a:p>
          <a:p>
            <a:pPr lvl="1"/>
            <a:r>
              <a:rPr lang="en-US"/>
              <a:t>Proliferation of ad-hoc schemas</a:t>
            </a:r>
          </a:p>
          <a:p>
            <a:pPr lvl="1"/>
            <a:r>
              <a:rPr lang="en-US"/>
              <a:t>Can derive a common schema from OWL constraints</a:t>
            </a:r>
          </a:p>
          <a:p>
            <a:pPr lvl="2"/>
            <a:r>
              <a:rPr lang="en-US"/>
              <a:t>Or SHACL for better control (it’s a "frame")</a:t>
            </a:r>
          </a:p>
          <a:p>
            <a:pPr lvl="1"/>
            <a:r>
              <a:rPr lang="en-US"/>
              <a:t>FG-JSON </a:t>
            </a:r>
            <a:r>
              <a:rPr lang="en-US" i="1"/>
              <a:t>should be </a:t>
            </a:r>
            <a:r>
              <a:rPr lang="en-US"/>
              <a:t>an option </a:t>
            </a:r>
          </a:p>
          <a:p>
            <a:pPr lvl="2"/>
            <a:r>
              <a:rPr lang="en-US"/>
              <a:t>OGC-API support</a:t>
            </a:r>
          </a:p>
          <a:p>
            <a:pPr lvl="2"/>
            <a:r>
              <a:rPr lang="en-US"/>
              <a:t>Pathway from UML application schema to JSON schema ?</a:t>
            </a:r>
          </a:p>
          <a:p>
            <a:pPr lvl="2"/>
            <a:r>
              <a:rPr lang="en-US"/>
              <a:t>Pathway from OWL to FG-JSON schema ?</a:t>
            </a:r>
          </a:p>
          <a:p>
            <a:pPr lvl="2"/>
            <a:r>
              <a:rPr lang="en-US" err="1"/>
              <a:t>TopoJSON</a:t>
            </a:r>
            <a:r>
              <a:rPr lang="en-US"/>
              <a:t> may be relevant – pathway to that?</a:t>
            </a:r>
          </a:p>
        </p:txBody>
      </p:sp>
    </p:spTree>
    <p:extLst>
      <p:ext uri="{BB962C8B-B14F-4D97-AF65-F5344CB8AC3E}">
        <p14:creationId xmlns:p14="http://schemas.microsoft.com/office/powerpoint/2010/main" val="15144148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781B-C823-4A8D-B3FA-5FABF6E9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Challenges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0CB82-8C84-4006-9AFA-1504FE08F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Feature Type and Property level details</a:t>
            </a:r>
          </a:p>
          <a:p>
            <a:pPr lvl="1"/>
            <a:r>
              <a:rPr lang="en-US"/>
              <a:t>What machine readable views should be present for these</a:t>
            </a:r>
          </a:p>
          <a:p>
            <a:r>
              <a:rPr lang="en-US"/>
              <a:t>UI</a:t>
            </a:r>
          </a:p>
          <a:p>
            <a:pPr lvl="1"/>
            <a:r>
              <a:rPr lang="en-US"/>
              <a:t>Still generic and ugly</a:t>
            </a:r>
          </a:p>
          <a:p>
            <a:r>
              <a:rPr lang="en-US"/>
              <a:t>Cross referencing</a:t>
            </a:r>
          </a:p>
          <a:p>
            <a:pPr lvl="1"/>
            <a:r>
              <a:rPr lang="en-US"/>
              <a:t>Model elements -&gt; encoding elements </a:t>
            </a:r>
          </a:p>
          <a:p>
            <a:pPr lvl="2"/>
            <a:r>
              <a:rPr lang="en-US"/>
              <a:t>Need a general solution</a:t>
            </a:r>
          </a:p>
          <a:p>
            <a:r>
              <a:rPr lang="en-US"/>
              <a:t>Profiles of models</a:t>
            </a:r>
          </a:p>
          <a:p>
            <a:pPr lvl="1"/>
            <a:r>
              <a:rPr lang="en-US"/>
              <a:t>What should these look like?</a:t>
            </a:r>
          </a:p>
          <a:p>
            <a:pPr marL="609600" lvl="1" indent="0">
              <a:buNone/>
            </a:pP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593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9021-017D-4500-88C9-11613398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5AB07-4B75-459D-B2FB-7E9957963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Define requirements</a:t>
            </a:r>
          </a:p>
          <a:p>
            <a:pPr lvl="1"/>
            <a:r>
              <a:rPr lang="en-US"/>
              <a:t>Will attempt to update Def Server and UI to meet needs</a:t>
            </a:r>
          </a:p>
          <a:p>
            <a:r>
              <a:rPr lang="en-US" err="1"/>
              <a:t>Formalise</a:t>
            </a:r>
            <a:r>
              <a:rPr lang="en-US"/>
              <a:t> profile(s) </a:t>
            </a:r>
          </a:p>
          <a:p>
            <a:pPr lvl="1"/>
            <a:r>
              <a:rPr lang="en-US"/>
              <a:t>Learn how to use the model in practice</a:t>
            </a:r>
          </a:p>
          <a:p>
            <a:r>
              <a:rPr lang="en-US"/>
              <a:t>OGC-API </a:t>
            </a:r>
          </a:p>
          <a:p>
            <a:pPr lvl="1"/>
            <a:r>
              <a:rPr lang="en-US"/>
              <a:t>Get some experience and provide feedback</a:t>
            </a:r>
          </a:p>
          <a:p>
            <a:pPr lvl="1"/>
            <a:r>
              <a:rPr lang="en-US"/>
              <a:t>To FG-JSON, OGC-API and Conceptual Modelling</a:t>
            </a:r>
          </a:p>
          <a:p>
            <a:r>
              <a:rPr lang="en-US"/>
              <a:t>Feature-of-interest O&amp;M patterns</a:t>
            </a:r>
          </a:p>
          <a:p>
            <a:pPr lvl="1"/>
            <a:r>
              <a:rPr lang="en-US"/>
              <a:t>Formal profile of SOSA for </a:t>
            </a:r>
            <a:r>
              <a:rPr lang="en-US" err="1"/>
              <a:t>ObservedProperty</a:t>
            </a:r>
            <a:r>
              <a:rPr lang="en-US"/>
              <a:t> = a feature attribute ..</a:t>
            </a:r>
          </a:p>
        </p:txBody>
      </p:sp>
    </p:spTree>
    <p:extLst>
      <p:ext uri="{BB962C8B-B14F-4D97-AF65-F5344CB8AC3E}">
        <p14:creationId xmlns:p14="http://schemas.microsoft.com/office/powerpoint/2010/main" val="298471707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04E3-8267-4153-9574-68E977985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err="1"/>
              <a:t>Feature.Property</a:t>
            </a:r>
            <a:r>
              <a:rPr lang="en-US"/>
              <a:t>   as </a:t>
            </a:r>
            <a:r>
              <a:rPr lang="en-US" err="1"/>
              <a:t>observedProperty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0DC24D73-903B-406B-827C-20B479987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18" y="3455639"/>
            <a:ext cx="10932404" cy="7988133"/>
          </a:xfrm>
          <a:prstGeom prst="rect">
            <a:avLst/>
          </a:prstGeom>
        </p:spPr>
      </p:pic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EC6687EE-3C7C-4C93-8789-587BECA83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386" y="3800442"/>
            <a:ext cx="11677650" cy="728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6557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Community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30_BasicColor</vt:lpstr>
      <vt:lpstr>HY_Features Ontology</vt:lpstr>
      <vt:lpstr>Agenda</vt:lpstr>
      <vt:lpstr>Status</vt:lpstr>
      <vt:lpstr>Repository structure</vt:lpstr>
      <vt:lpstr>Definitions Server Viewpoint</vt:lpstr>
      <vt:lpstr>Challenges</vt:lpstr>
      <vt:lpstr>Challenges 2</vt:lpstr>
      <vt:lpstr>Next steps</vt:lpstr>
      <vt:lpstr>Feature.Property   as observedProperty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modified xsi:type="dcterms:W3CDTF">2022-03-01T17:57:05Z</dcterms:modified>
</cp:coreProperties>
</file>