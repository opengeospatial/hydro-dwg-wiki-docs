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4"/>
  </p:notesMasterIdLst>
  <p:handoutMasterIdLst>
    <p:handoutMasterId r:id="rId5"/>
  </p:handoutMasterIdLst>
  <p:sldIdLst>
    <p:sldId id="278" r:id="rId2"/>
    <p:sldId id="282" r:id="rId3"/>
  </p:sldIdLst>
  <p:sldSz cx="9144000" cy="6858000" type="screen4x3"/>
  <p:notesSz cx="6904038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FFFF"/>
    <a:srgbClr val="FF0000"/>
    <a:srgbClr val="006600"/>
    <a:srgbClr val="000066"/>
    <a:srgbClr val="FFFF99"/>
    <a:srgbClr val="969696"/>
    <a:srgbClr val="5C0909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55" autoAdjust="0"/>
    <p:restoredTop sz="94671"/>
  </p:normalViewPr>
  <p:slideViewPr>
    <p:cSldViewPr showGuides="1">
      <p:cViewPr varScale="1">
        <p:scale>
          <a:sx n="91" d="100"/>
          <a:sy n="91" d="100"/>
        </p:scale>
        <p:origin x="1824" y="176"/>
      </p:cViewPr>
      <p:guideLst>
        <p:guide orient="horz" pos="1968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A11377C-5D62-444C-A046-781F54E350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13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46F33C5-2FE3-480B-944B-ED02EA43F9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9349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9A220-0DFC-4683-8829-77C89720CA4A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516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lg"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49895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43A99-9B82-4142-837B-BC5E3156BC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180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425BA-91E2-46F7-AEEE-A39573C29B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817A6-EEBA-46F5-968A-05B7015636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9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BF9BA-2C6B-411A-BCB9-303C89EB46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52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E8E77-EC04-47F4-AEAA-E0275F502F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94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CB325-3C57-47EC-85DF-0954CE97AD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48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31F9F-E245-423F-AF1C-65DF7C89E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91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28215-179C-47E2-A399-BBA1D4187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549531-ED37-4B57-8005-7FF815EC5E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9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8ADE3-EFED-4183-A793-D63E94A17B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425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Copyright © 2013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692C2F6B-4000-491F-BAD7-AFB1AEADC8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med" len="lg"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hyperlink" Target="http://external.opengis.org/twiki_public/bin/view/HydrologyDWG/WebHome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International Standardization for Water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279525"/>
            <a:ext cx="7106245" cy="1717427"/>
          </a:xfrm>
        </p:spPr>
        <p:txBody>
          <a:bodyPr/>
          <a:lstStyle/>
          <a:p>
            <a:pPr defTabSz="914144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800" dirty="0">
                <a:solidFill>
                  <a:srgbClr val="FF0000"/>
                </a:solidFill>
              </a:rPr>
              <a:t>Hydrology Domain Working </a:t>
            </a:r>
            <a:r>
              <a:rPr lang="en-US" sz="2800" dirty="0" smtClean="0">
                <a:solidFill>
                  <a:srgbClr val="FF0000"/>
                </a:solidFill>
              </a:rPr>
              <a:t>Group</a:t>
            </a:r>
          </a:p>
          <a:p>
            <a:pPr lvl="1" defTabSz="914144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standards </a:t>
            </a:r>
            <a:r>
              <a:rPr lang="en-US" sz="2400" dirty="0">
                <a:solidFill>
                  <a:srgbClr val="000000"/>
                </a:solidFill>
              </a:rPr>
              <a:t>for water </a:t>
            </a:r>
            <a:r>
              <a:rPr lang="en-US" sz="2400" dirty="0" smtClean="0">
                <a:solidFill>
                  <a:srgbClr val="000000"/>
                </a:solidFill>
              </a:rPr>
              <a:t>data: </a:t>
            </a:r>
            <a:r>
              <a:rPr lang="en-US" sz="2400" b="1" dirty="0" smtClean="0">
                <a:solidFill>
                  <a:srgbClr val="000000"/>
                </a:solidFill>
              </a:rPr>
              <a:t>WaterML</a:t>
            </a:r>
            <a:r>
              <a:rPr lang="en-US" sz="2400" b="1" dirty="0">
                <a:solidFill>
                  <a:srgbClr val="000000"/>
                </a:solidFill>
              </a:rPr>
              <a:t>2</a:t>
            </a:r>
            <a:r>
              <a:rPr lang="en-US" sz="2400" b="1" dirty="0" smtClean="0">
                <a:solidFill>
                  <a:srgbClr val="000000"/>
                </a:solidFill>
              </a:rPr>
              <a:t> suite</a:t>
            </a:r>
          </a:p>
          <a:p>
            <a:pPr lvl="1" defTabSz="914144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400" dirty="0" smtClean="0">
                <a:solidFill>
                  <a:srgbClr val="000000"/>
                </a:solidFill>
              </a:rPr>
              <a:t>organizing </a:t>
            </a:r>
            <a:r>
              <a:rPr lang="en-US" sz="2400" dirty="0">
                <a:solidFill>
                  <a:srgbClr val="000000"/>
                </a:solidFill>
              </a:rPr>
              <a:t>Interoperability Experiments (</a:t>
            </a:r>
            <a:r>
              <a:rPr lang="en-US" sz="2400" dirty="0" smtClean="0">
                <a:solidFill>
                  <a:srgbClr val="000000"/>
                </a:solidFill>
              </a:rPr>
              <a:t>IEs)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smtClean="0">
                <a:solidFill>
                  <a:srgbClr val="000000"/>
                </a:solidFill>
              </a:rPr>
              <a:t>                focused </a:t>
            </a:r>
            <a:r>
              <a:rPr lang="en-US" sz="2400" dirty="0">
                <a:solidFill>
                  <a:srgbClr val="000000"/>
                </a:solidFill>
              </a:rPr>
              <a:t>on different sub-domains of water</a:t>
            </a:r>
          </a:p>
          <a:p>
            <a:pPr marL="347663" lvl="1" indent="0">
              <a:buNone/>
            </a:pPr>
            <a:endParaRPr lang="en-US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000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Chairs</a:t>
            </a:r>
            <a:r>
              <a:rPr lang="en-US" sz="2000" dirty="0">
                <a:solidFill>
                  <a:srgbClr val="000000"/>
                </a:solidFill>
              </a:rPr>
              <a:t>: </a:t>
            </a:r>
            <a:endParaRPr lang="en-US" sz="2000" dirty="0" smtClean="0">
              <a:solidFill>
                <a:srgbClr val="000000"/>
              </a:solidFill>
            </a:endParaRPr>
          </a:p>
          <a:p>
            <a:pPr lvl="1"/>
            <a:r>
              <a:rPr lang="en-US" dirty="0" err="1" smtClean="0">
                <a:solidFill>
                  <a:srgbClr val="000000"/>
                </a:solidFill>
              </a:rPr>
              <a:t>Ilya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Zaslavsky</a:t>
            </a:r>
            <a:r>
              <a:rPr lang="en-US" dirty="0">
                <a:solidFill>
                  <a:srgbClr val="000000"/>
                </a:solidFill>
              </a:rPr>
              <a:t> (USA</a:t>
            </a:r>
            <a:r>
              <a:rPr lang="en-US" dirty="0" smtClean="0">
                <a:solidFill>
                  <a:srgbClr val="000000"/>
                </a:solidFill>
              </a:rPr>
              <a:t>)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</a:rPr>
              <a:t>Tony Boston (Australia)</a:t>
            </a:r>
          </a:p>
          <a:p>
            <a:pPr lvl="1"/>
            <a:r>
              <a:rPr lang="en-US" dirty="0" err="1" smtClean="0">
                <a:solidFill>
                  <a:srgbClr val="000000"/>
                </a:solidFill>
              </a:rPr>
              <a:t>Silvano</a:t>
            </a:r>
            <a:r>
              <a:rPr lang="en-US" dirty="0" smtClean="0">
                <a:solidFill>
                  <a:srgbClr val="000000"/>
                </a:solidFill>
              </a:rPr>
              <a:t> </a:t>
            </a:r>
            <a:r>
              <a:rPr lang="en-US" dirty="0" err="1" smtClean="0">
                <a:solidFill>
                  <a:srgbClr val="000000"/>
                </a:solidFill>
              </a:rPr>
              <a:t>Pecora</a:t>
            </a:r>
            <a:r>
              <a:rPr lang="en-US" dirty="0" smtClean="0">
                <a:solidFill>
                  <a:srgbClr val="000000"/>
                </a:solidFill>
              </a:rPr>
              <a:t> (Italy) </a:t>
            </a:r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sz="2400" dirty="0">
                <a:solidFill>
                  <a:srgbClr val="000000"/>
                </a:solidFill>
              </a:rPr>
              <a:t>	</a:t>
            </a:r>
            <a:endParaRPr lang="en-US" sz="2400" b="1" dirty="0"/>
          </a:p>
        </p:txBody>
      </p:sp>
      <p:pic>
        <p:nvPicPr>
          <p:cNvPr id="5" name="Picture 4" descr="wmo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4355976" y="3014896"/>
            <a:ext cx="4437952" cy="3294424"/>
            <a:chOff x="4598544" y="3327176"/>
            <a:chExt cx="4437952" cy="3294424"/>
          </a:xfrm>
        </p:grpSpPr>
        <p:sp>
          <p:nvSpPr>
            <p:cNvPr id="26" name="TextBox 9"/>
            <p:cNvSpPr txBox="1">
              <a:spLocks noChangeArrowheads="1"/>
            </p:cNvSpPr>
            <p:nvPr/>
          </p:nvSpPr>
          <p:spPr bwMode="auto">
            <a:xfrm>
              <a:off x="5593055" y="3327176"/>
              <a:ext cx="2747612" cy="399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313" tIns="45655" rIns="91313" bIns="45655">
              <a:spAutoFit/>
            </a:bodyPr>
            <a:lstStyle/>
            <a:p>
              <a:pPr algn="l" defTabSz="914144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defRPr/>
              </a:pPr>
              <a:r>
                <a:rPr lang="en-US" sz="2000" dirty="0" smtClean="0">
                  <a:solidFill>
                    <a:srgbClr val="FF0000"/>
                  </a:solidFill>
                  <a:cs typeface="+mn-cs"/>
                </a:rPr>
                <a:t>Iterative Development</a:t>
              </a:r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8544" y="3727146"/>
              <a:ext cx="4437952" cy="2894454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251520" y="3745254"/>
            <a:ext cx="3672408" cy="1988002"/>
          </a:xfrm>
          <a:prstGeom prst="rect">
            <a:avLst/>
          </a:pr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44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852141" y="6453336"/>
            <a:ext cx="6104235" cy="307645"/>
          </a:xfrm>
          <a:prstGeom prst="rect">
            <a:avLst/>
          </a:prstGeom>
          <a:noFill/>
        </p:spPr>
        <p:txBody>
          <a:bodyPr wrap="none" lIns="91313" tIns="45655" rIns="91313" bIns="45655">
            <a:spAutoFit/>
          </a:bodyPr>
          <a:lstStyle/>
          <a:p>
            <a:pPr algn="l" defTabSz="914144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1400" dirty="0">
                <a:solidFill>
                  <a:srgbClr val="000000"/>
                </a:solidFill>
                <a:cs typeface="+mn-cs"/>
                <a:hlinkClick r:id="rId5"/>
              </a:rPr>
              <a:t>http://external.opengis.org/twiki_public/bin/view/HydrologyDWG/WebHome</a:t>
            </a:r>
            <a:endParaRPr lang="en-US" sz="1400" dirty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259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 smtClean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WaterML2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Shape 154"/>
          <p:cNvGrpSpPr/>
          <p:nvPr/>
        </p:nvGrpSpPr>
        <p:grpSpPr>
          <a:xfrm>
            <a:off x="78392" y="1411186"/>
            <a:ext cx="8957608" cy="4528315"/>
            <a:chOff x="0" y="90095"/>
            <a:chExt cx="7966453" cy="3039138"/>
          </a:xfrm>
        </p:grpSpPr>
        <p:sp>
          <p:nvSpPr>
            <p:cNvPr id="6" name="Shape 155"/>
            <p:cNvSpPr/>
            <p:nvPr/>
          </p:nvSpPr>
          <p:spPr>
            <a:xfrm>
              <a:off x="0" y="90095"/>
              <a:ext cx="7966453" cy="1630177"/>
            </a:xfrm>
            <a:prstGeom prst="roundRect">
              <a:avLst>
                <a:gd name="adj" fmla="val 10000"/>
              </a:avLst>
            </a:prstGeom>
            <a:solidFill>
              <a:srgbClr val="CCD3EA">
                <a:alpha val="89803"/>
              </a:srgbClr>
            </a:solidFill>
            <a:ln w="12700" cap="flat" cmpd="sng">
              <a:solidFill>
                <a:srgbClr val="CCD3EA">
                  <a:alpha val="89803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Shape 156"/>
            <p:cNvSpPr/>
            <p:nvPr/>
          </p:nvSpPr>
          <p:spPr>
            <a:xfrm>
              <a:off x="242650" y="487643"/>
              <a:ext cx="1360208" cy="1195463"/>
            </a:xfrm>
            <a:prstGeom prst="roundRect">
              <a:avLst>
                <a:gd name="adj" fmla="val 10000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Shape 157"/>
            <p:cNvSpPr/>
            <p:nvPr/>
          </p:nvSpPr>
          <p:spPr>
            <a:xfrm rot="10800000">
              <a:off x="199749" y="1857558"/>
              <a:ext cx="1360208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Shape 158"/>
            <p:cNvSpPr txBox="1"/>
            <p:nvPr/>
          </p:nvSpPr>
          <p:spPr>
            <a:xfrm>
              <a:off x="238857" y="1857558"/>
              <a:ext cx="1281900" cy="1232700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1 </a:t>
              </a:r>
              <a:r>
                <a:rPr lang="mr-IN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–</a:t>
              </a:r>
              <a:r>
                <a:rPr lang="en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" sz="1800" b="0" kern="0" dirty="0" err="1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Timeseries</a:t>
              </a:r>
              <a:endParaRPr lang="en-AU" sz="1800" b="0" kern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-AU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Observation</a:t>
              </a:r>
              <a:endParaRPr lang="en"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Shape 159"/>
            <p:cNvSpPr/>
            <p:nvPr/>
          </p:nvSpPr>
          <p:spPr>
            <a:xfrm>
              <a:off x="1806891" y="487643"/>
              <a:ext cx="1360208" cy="1195463"/>
            </a:xfrm>
            <a:prstGeom prst="roundRect">
              <a:avLst>
                <a:gd name="adj" fmla="val 10000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Shape 160"/>
            <p:cNvSpPr/>
            <p:nvPr/>
          </p:nvSpPr>
          <p:spPr>
            <a:xfrm rot="10800000">
              <a:off x="1695979" y="1857558"/>
              <a:ext cx="1496229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Shape 161"/>
            <p:cNvSpPr txBox="1"/>
            <p:nvPr/>
          </p:nvSpPr>
          <p:spPr>
            <a:xfrm>
              <a:off x="1735086" y="1857558"/>
              <a:ext cx="1418100" cy="1232700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2 – Ratings, Gaugings and Sections</a:t>
              </a:r>
            </a:p>
          </p:txBody>
        </p:sp>
        <p:sp>
          <p:nvSpPr>
            <p:cNvPr id="13" name="Shape 162"/>
            <p:cNvSpPr/>
            <p:nvPr/>
          </p:nvSpPr>
          <p:spPr>
            <a:xfrm>
              <a:off x="6320695" y="487627"/>
              <a:ext cx="1360200" cy="1195500"/>
            </a:xfrm>
            <a:prstGeom prst="roundRect">
              <a:avLst>
                <a:gd name="adj" fmla="val 10000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Shape 163"/>
            <p:cNvSpPr/>
            <p:nvPr/>
          </p:nvSpPr>
          <p:spPr>
            <a:xfrm rot="10800000">
              <a:off x="3328230" y="1857558"/>
              <a:ext cx="1360208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Shape 164"/>
            <p:cNvSpPr txBox="1"/>
            <p:nvPr/>
          </p:nvSpPr>
          <p:spPr>
            <a:xfrm>
              <a:off x="3367339" y="1857558"/>
              <a:ext cx="1281900" cy="1232700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3 – Surface </a:t>
              </a:r>
              <a:r>
                <a:rPr lang="en-AU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Hydrology</a:t>
              </a: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-AU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r>
                <a:rPr lang="en" sz="1800" b="0" kern="0" dirty="0" err="1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eatures</a:t>
              </a:r>
              <a:endParaRPr lang="en"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Shape 165"/>
            <p:cNvSpPr/>
            <p:nvPr/>
          </p:nvSpPr>
          <p:spPr>
            <a:xfrm>
              <a:off x="4867362" y="487643"/>
              <a:ext cx="1360208" cy="1195463"/>
            </a:xfrm>
            <a:prstGeom prst="roundRect">
              <a:avLst>
                <a:gd name="adj" fmla="val 10000"/>
              </a:avLst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Shape 166"/>
            <p:cNvSpPr/>
            <p:nvPr/>
          </p:nvSpPr>
          <p:spPr>
            <a:xfrm rot="10800000">
              <a:off x="4824460" y="1857558"/>
              <a:ext cx="1360208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Shape 167"/>
            <p:cNvSpPr txBox="1"/>
            <p:nvPr/>
          </p:nvSpPr>
          <p:spPr>
            <a:xfrm>
              <a:off x="4863569" y="1857558"/>
              <a:ext cx="1281993" cy="1232567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4 – </a:t>
              </a:r>
              <a:r>
                <a:rPr lang="en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Groundwater</a:t>
              </a:r>
              <a:endParaRPr lang="en-AU" sz="1800" b="0" kern="0" dirty="0" smtClean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-AU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Features</a:t>
              </a:r>
              <a:endParaRPr lang="en"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Shape 168"/>
            <p:cNvSpPr/>
            <p:nvPr/>
          </p:nvSpPr>
          <p:spPr>
            <a:xfrm>
              <a:off x="3337120" y="487643"/>
              <a:ext cx="1360200" cy="1195500"/>
            </a:xfrm>
            <a:prstGeom prst="roundRect">
              <a:avLst>
                <a:gd name="adj" fmla="val 10000"/>
              </a:avLst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Shape 169"/>
            <p:cNvSpPr/>
            <p:nvPr/>
          </p:nvSpPr>
          <p:spPr>
            <a:xfrm rot="10800000">
              <a:off x="6320691" y="1857558"/>
              <a:ext cx="1360208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Shape 170"/>
            <p:cNvSpPr txBox="1"/>
            <p:nvPr/>
          </p:nvSpPr>
          <p:spPr>
            <a:xfrm>
              <a:off x="6359800" y="1857558"/>
              <a:ext cx="1281993" cy="1232567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5 – </a:t>
              </a: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Water </a:t>
              </a:r>
              <a:r>
                <a:rPr lang="en-AU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lang="en" sz="1800" b="0" kern="0" dirty="0" err="1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uality</a:t>
              </a:r>
              <a:r>
                <a:rPr lang="en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AU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Observation </a:t>
              </a:r>
              <a:r>
                <a:rPr lang="en" sz="1800" b="0" kern="0" dirty="0" smtClea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(best </a:t>
              </a: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practice)</a:t>
              </a:r>
            </a:p>
          </p:txBody>
        </p:sp>
      </p:grpSp>
      <p:pic>
        <p:nvPicPr>
          <p:cNvPr id="22" name="Picture 21" descr="wmologo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</TotalTime>
  <Words>89</Words>
  <Application>Microsoft Macintosh PowerPoint</Application>
  <PresentationFormat>On-screen Show (4:3)</PresentationFormat>
  <Paragraphs>24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Calibri</vt:lpstr>
      <vt:lpstr>CG Times</vt:lpstr>
      <vt:lpstr>MS PGothic</vt:lpstr>
      <vt:lpstr>Times New Roman</vt:lpstr>
      <vt:lpstr>OGC_PowerPoint_Template</vt:lpstr>
      <vt:lpstr>International Standardization for Water Data</vt:lpstr>
      <vt:lpstr>WaterML2 standards</vt:lpstr>
    </vt:vector>
  </TitlesOfParts>
  <Company>OGC</Company>
  <LinksUpToDate>false</LinksUpToDate>
  <SharedDoc>false</SharedDoc>
  <HyperlinkBase/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Carl Reed</dc:creator>
  <cp:lastModifiedBy>Tony Boston</cp:lastModifiedBy>
  <cp:revision>141</cp:revision>
  <cp:lastPrinted>2003-02-03T21:59:32Z</cp:lastPrinted>
  <dcterms:created xsi:type="dcterms:W3CDTF">2009-10-20T16:54:31Z</dcterms:created>
  <dcterms:modified xsi:type="dcterms:W3CDTF">2017-06-28T13:29:22Z</dcterms:modified>
</cp:coreProperties>
</file>