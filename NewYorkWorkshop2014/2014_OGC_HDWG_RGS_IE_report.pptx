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png" ContentType="image/png"/>
  <Default Extension="xml" ContentType="application/xml"/>
  <Default Extension="gif" ContentType="image/gif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16.xml" ContentType="application/vnd.openxmlformats-officedocument.presentationml.slide+xml"/>
  <Override PartName="/ppt/slides/slide21.xml" ContentType="application/vnd.openxmlformats-officedocument.presentationml.slide+xml"/>
  <Override PartName="/ppt/slides/slide45.xml" ContentType="application/vnd.openxmlformats-officedocument.presentationml.slide+xml"/>
  <Override PartName="/ppt/slides/slide48.xml" ContentType="application/vnd.openxmlformats-officedocument.presentationml.slide+xml"/>
  <Override PartName="/ppt/slides/slide2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33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42.xml" ContentType="application/vnd.openxmlformats-officedocument.presentationml.slide+xml"/>
  <Override PartName="/ppt/slides/slide31.xml" ContentType="application/vnd.openxmlformats-officedocument.presentationml.slide+xml"/>
  <Override PartName="/ppt/slides/slide43.xml" ContentType="application/vnd.openxmlformats-officedocument.presentationml.slide+xml"/>
  <Override PartName="/ppt/slides/slide40.xml" ContentType="application/vnd.openxmlformats-officedocument.presentationml.slide+xml"/>
  <Override PartName="/ppt/slides/slide32.xml" ContentType="application/vnd.openxmlformats-officedocument.presentationml.slide+xml"/>
  <Override PartName="/ppt/slides/slide1.xml" ContentType="application/vnd.openxmlformats-officedocument.presentationml.slide+xml"/>
  <Override PartName="/ppt/slides/slide44.xml" ContentType="application/vnd.openxmlformats-officedocument.presentationml.slide+xml"/>
  <Override PartName="/ppt/slides/slide38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46.xml" ContentType="application/vnd.openxmlformats-officedocument.presentationml.slide+xml"/>
  <Override PartName="/ppt/slides/slide13.xml" ContentType="application/vnd.openxmlformats-officedocument.presentationml.slide+xml"/>
  <Override PartName="/ppt/slides/slide29.xml" ContentType="application/vnd.openxmlformats-officedocument.presentationml.slide+xml"/>
  <Override PartName="/ppt/slides/slide39.xml" ContentType="application/vnd.openxmlformats-officedocument.presentationml.slide+xml"/>
  <Override PartName="/ppt/slides/slide9.xml" ContentType="application/vnd.openxmlformats-officedocument.presentationml.slide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30.xml" ContentType="application/vnd.openxmlformats-officedocument.presentationml.slide+xml"/>
  <Override PartName="/ppt/slides/slide8.xml" ContentType="application/vnd.openxmlformats-officedocument.presentationml.slide+xml"/>
  <Override PartName="/ppt/slides/slide27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tableStyles.xml" ContentType="application/vnd.openxmlformats-officedocument.presentationml.tableStyles+xml"/>
</Types>
</file>

<file path=_rels/.rels><?xml version="1.0" encoding="UTF-8" standalone="yes"?><Relationships xmlns="http://schemas.openxmlformats.org/package/2006/relationships"><Relationship Target="ppt/presentation.xml" Type="http://schemas.openxmlformats.org/officeDocument/2006/relationships/officeDocument" Id="rId1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aveSubsetFonts="1" autoCompressPictures="0" strictFirstAndLastChars="0" showSpecialPlsOnTitleSld="0" firstSlideNum="0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5143500" cx="9144000"/>
  <p:notesSz cy="9144000" cx="6858000"/>
  <p:defaultTextStyle>
    <a:defPPr algn="l" rtl="0" marR="0">
      <a:lnSpc>
        <a:spcPct val="100000"/>
      </a:lnSpc>
      <a:spcBef>
        <a:spcPts val="0"/>
      </a:spcBef>
      <a:spcAft>
        <a:spcPts val="0"/>
      </a:spcAft>
    </a:defPPr>
    <a:lvl1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4FB3221E-629F-44C3-849E-3408ED9AD89B}">
  <a:tblStyle styleName="Table_0" styleId="{4FB3221E-629F-44C3-849E-3408ED9AD89B}"/>
</a:tblStyleLst>
</file>

<file path=ppt/_rels/presentation.xml.rels><?xml version="1.0" encoding="UTF-8" standalone="yes"?><Relationships xmlns="http://schemas.openxmlformats.org/package/2006/relationships"><Relationship Target="slides/slide33.xml" Type="http://schemas.openxmlformats.org/officeDocument/2006/relationships/slide" Id="rId39"/><Relationship Target="slides/slide32.xml" Type="http://schemas.openxmlformats.org/officeDocument/2006/relationships/slide" Id="rId38"/><Relationship Target="slides/slide31.xml" Type="http://schemas.openxmlformats.org/officeDocument/2006/relationships/slide" Id="rId37"/><Relationship Target="slides/slide13.xml" Type="http://schemas.openxmlformats.org/officeDocument/2006/relationships/slide" Id="rId19"/><Relationship Target="slides/slide30.xml" Type="http://schemas.openxmlformats.org/officeDocument/2006/relationships/slide" Id="rId36"/><Relationship Target="slides/slide12.xml" Type="http://schemas.openxmlformats.org/officeDocument/2006/relationships/slide" Id="rId18"/><Relationship Target="slides/slide11.xml" Type="http://schemas.openxmlformats.org/officeDocument/2006/relationships/slide" Id="rId17"/><Relationship Target="slides/slide10.xml" Type="http://schemas.openxmlformats.org/officeDocument/2006/relationships/slide" Id="rId16"/><Relationship Target="slides/slide9.xml" Type="http://schemas.openxmlformats.org/officeDocument/2006/relationships/slide" Id="rId15"/><Relationship Target="slides/slide8.xml" Type="http://schemas.openxmlformats.org/officeDocument/2006/relationships/slide" Id="rId14"/><Relationship Target="slides/slide24.xml" Type="http://schemas.openxmlformats.org/officeDocument/2006/relationships/slide" Id="rId30"/><Relationship Target="slides/slide6.xml" Type="http://schemas.openxmlformats.org/officeDocument/2006/relationships/slide" Id="rId12"/><Relationship Target="slides/slide25.xml" Type="http://schemas.openxmlformats.org/officeDocument/2006/relationships/slide" Id="rId31"/><Relationship Target="slides/slide7.xml" Type="http://schemas.openxmlformats.org/officeDocument/2006/relationships/slide" Id="rId13"/><Relationship Target="slides/slide4.xml" Type="http://schemas.openxmlformats.org/officeDocument/2006/relationships/slide" Id="rId10"/><Relationship Target="slides/slide5.xml" Type="http://schemas.openxmlformats.org/officeDocument/2006/relationships/slide" Id="rId11"/><Relationship Target="slides/slide28.xml" Type="http://schemas.openxmlformats.org/officeDocument/2006/relationships/slide" Id="rId34"/><Relationship Target="slides/slide29.xml" Type="http://schemas.openxmlformats.org/officeDocument/2006/relationships/slide" Id="rId35"/><Relationship Target="slides/slide26.xml" Type="http://schemas.openxmlformats.org/officeDocument/2006/relationships/slide" Id="rId32"/><Relationship Target="slides/slide27.xml" Type="http://schemas.openxmlformats.org/officeDocument/2006/relationships/slide" Id="rId33"/><Relationship Target="slides/slide48.xml" Type="http://schemas.openxmlformats.org/officeDocument/2006/relationships/slide" Id="rId54"/><Relationship Target="slides/slide47.xml" Type="http://schemas.openxmlformats.org/officeDocument/2006/relationships/slide" Id="rId53"/><Relationship Target="slides/slide46.xml" Type="http://schemas.openxmlformats.org/officeDocument/2006/relationships/slide" Id="rId52"/><Relationship Target="slides/slide45.xml" Type="http://schemas.openxmlformats.org/officeDocument/2006/relationships/slide" Id="rId51"/><Relationship Target="slides/slide44.xml" Type="http://schemas.openxmlformats.org/officeDocument/2006/relationships/slide" Id="rId50"/><Relationship Target="slides/slide42.xml" Type="http://schemas.openxmlformats.org/officeDocument/2006/relationships/slide" Id="rId48"/><Relationship Target="slides/slide41.xml" Type="http://schemas.openxmlformats.org/officeDocument/2006/relationships/slide" Id="rId47"/><Relationship Target="slides/slide23.xml" Type="http://schemas.openxmlformats.org/officeDocument/2006/relationships/slide" Id="rId29"/><Relationship Target="slides/slide43.xml" Type="http://schemas.openxmlformats.org/officeDocument/2006/relationships/slide" Id="rId49"/><Relationship Target="slides/slide20.xml" Type="http://schemas.openxmlformats.org/officeDocument/2006/relationships/slide" Id="rId26"/><Relationship Target="slides/slide19.xml" Type="http://schemas.openxmlformats.org/officeDocument/2006/relationships/slide" Id="rId25"/><Relationship Target="slides/slide22.xml" Type="http://schemas.openxmlformats.org/officeDocument/2006/relationships/slide" Id="rId28"/><Relationship Target="slides/slide21.xml" Type="http://schemas.openxmlformats.org/officeDocument/2006/relationships/slide" Id="rId27"/><Relationship Target="presProps.xml" Type="http://schemas.openxmlformats.org/officeDocument/2006/relationships/presProps" Id="rId2"/><Relationship Target="slides/slide15.xml" Type="http://schemas.openxmlformats.org/officeDocument/2006/relationships/slide" Id="rId21"/><Relationship Target="slides/slide34.xml" Type="http://schemas.openxmlformats.org/officeDocument/2006/relationships/slide" Id="rId40"/><Relationship Target="theme/theme2.xml" Type="http://schemas.openxmlformats.org/officeDocument/2006/relationships/theme" Id="rId1"/><Relationship Target="slides/slide16.xml" Type="http://schemas.openxmlformats.org/officeDocument/2006/relationships/slide" Id="rId22"/><Relationship Target="slides/slide35.xml" Type="http://schemas.openxmlformats.org/officeDocument/2006/relationships/slide" Id="rId41"/><Relationship Target="slideMasters/slideMaster1.xml" Type="http://schemas.openxmlformats.org/officeDocument/2006/relationships/slideMaster" Id="rId4"/><Relationship Target="slides/slide17.xml" Type="http://schemas.openxmlformats.org/officeDocument/2006/relationships/slide" Id="rId23"/><Relationship Target="slides/slide36.xml" Type="http://schemas.openxmlformats.org/officeDocument/2006/relationships/slide" Id="rId42"/><Relationship Target="tableStyles.xml" Type="http://schemas.openxmlformats.org/officeDocument/2006/relationships/tableStyles" Id="rId3"/><Relationship Target="slides/slide18.xml" Type="http://schemas.openxmlformats.org/officeDocument/2006/relationships/slide" Id="rId24"/><Relationship Target="slides/slide37.xml" Type="http://schemas.openxmlformats.org/officeDocument/2006/relationships/slide" Id="rId43"/><Relationship Target="slides/slide38.xml" Type="http://schemas.openxmlformats.org/officeDocument/2006/relationships/slide" Id="rId44"/><Relationship Target="slides/slide39.xml" Type="http://schemas.openxmlformats.org/officeDocument/2006/relationships/slide" Id="rId45"/><Relationship Target="slides/slide40.xml" Type="http://schemas.openxmlformats.org/officeDocument/2006/relationships/slide" Id="rId46"/><Relationship Target="slides/slide14.xml" Type="http://schemas.openxmlformats.org/officeDocument/2006/relationships/slide" Id="rId20"/><Relationship Target="slides/slide3.xml" Type="http://schemas.openxmlformats.org/officeDocument/2006/relationships/slide" Id="rId9"/><Relationship Target="notesMasters/notesMaster1.xml" Type="http://schemas.openxmlformats.org/officeDocument/2006/relationships/notesMaster" Id="rId6"/><Relationship Target="slideMasters/slideMaster2.xml" Type="http://schemas.openxmlformats.org/officeDocument/2006/relationships/slideMaster" Id="rId5"/><Relationship Target="slides/slide2.xml" Type="http://schemas.openxmlformats.org/officeDocument/2006/relationships/slide" Id="rId8"/><Relationship Target="slides/slide1.xml" Type="http://schemas.openxmlformats.org/officeDocument/2006/relationships/slide" Id="rId7"/></Relationships>
</file>

<file path=ppt/notesMasters/_rels/notesMaster1.xml.rels><?xml version="1.0" encoding="UTF-8" standalone="yes"?><Relationships xmlns="http://schemas.openxmlformats.org/package/2006/relationships"><Relationship Target="../theme/theme3.xml" Type="http://schemas.openxmlformats.org/officeDocument/2006/relationships/theme" Id="rId1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" name="Shape 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Shape 2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3" name="Shape 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</p:notesMaster>
</file>

<file path=ppt/notesSlides/_rels/notesSlide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50" name="Shape 5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56" name="Shape 5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7" name="Shape 57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58" name="Shape 5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62" name="Shape 6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3" name="Shape 63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68" name="Shape 6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9" name="Shape 69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70" name="Shape 7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74" name="Shape 7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5" name="Shape 75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76" name="Shape 7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80" name="Shape 8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1" name="Shape 81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82" name="Shape 8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86" name="Shape 8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7" name="Shape 87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88" name="Shape 8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2" name="Shape 9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3" name="Shape 93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94" name="Shape 9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8" name="Shape 9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9" name="Shape 99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00" name="Shape 10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5" name="Shape 10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6" name="Shape 106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07" name="Shape 10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11" name="Shape 11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2" name="Shape 112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13" name="Shape 11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17" name="Shape 11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8" name="Shape 118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19" name="Shape 11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23" name="Shape 12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4" name="Shape 124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25" name="Shape 12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29" name="Shape 12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0" name="Shape 130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31" name="Shape 13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36" name="Shape 13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7" name="Shape 137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38" name="Shape 13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42" name="Shape 14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3" name="Shape 143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44" name="Shape 14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48" name="Shape 14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9" name="Shape 149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50" name="Shape 15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54" name="Shape 15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5" name="Shape 155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56" name="Shape 15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61" name="Shape 16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2" name="Shape 162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63" name="Shape 16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67" name="Shape 16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8" name="Shape 168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69" name="Shape 16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75" name="Shape 17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6" name="Shape 176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77" name="Shape 17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81" name="Shape 18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2" name="Shape 182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83" name="Shape 18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89" name="Shape 18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0" name="Shape 190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91" name="Shape 19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97" name="Shape 19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8" name="Shape 198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199" name="Shape 19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05" name="Shape 20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6" name="Shape 206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207" name="Shape 20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12" name="Shape 21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3" name="Shape 213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214" name="Shape 21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19" name="Shape 21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0" name="Shape 220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221" name="Shape 22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26" name="Shape 22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7" name="Shape 227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228" name="Shape 22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33" name="Shape 23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4" name="Shape 234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235" name="Shape 23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39" name="Shape 23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0" name="Shape 240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241" name="Shape 24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45" name="Shape 24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6" name="Shape 246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247" name="Shape 24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51" name="Shape 25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2" name="Shape 252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253" name="Shape 25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57" name="Shape 25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8" name="Shape 258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259" name="Shape 25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63" name="Shape 26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4" name="Shape 264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265" name="Shape 26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71" name="Shape 27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2" name="Shape 272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273" name="Shape 27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79" name="Shape 27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0" name="Shape 280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281" name="Shape 28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86" name="Shape 28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7" name="Shape 287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288" name="Shape 28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94" name="Shape 29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5" name="Shape 295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296" name="Shape 29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00" name="Shape 30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1" name="Shape 301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302" name="Shape 30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06" name="Shape 30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7" name="Shape 307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308" name="Shape 30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12" name="Shape 31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3" name="Shape 313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314" name="Shape 31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18" name="Shape 31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9" name="Shape 319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320" name="Shape 32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24" name="Shape 32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5" name="Shape 325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326" name="Shape 32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31" name="Shape 33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2" name="Shape 332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333" name="Shape 33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37" name="Shape 33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8" name="Shape 338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339" name="Shape 33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43" name="Shape 34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4" name="Shape 344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345" name="Shape 34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58" name="Shape 35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59" name="Shape 359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360" name="Shape 36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65" name="Shape 36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66" name="Shape 366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367" name="Shape 36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2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3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4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5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6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7.xml.rels><?xml version="1.0" encoding="UTF-8" standalone="yes"?><Relationships xmlns="http://schemas.openxmlformats.org/package/2006/relationships"><Relationship Target="../slideMasters/slideMaster2.xml" Type="http://schemas.openxmlformats.org/officeDocument/2006/relationships/slideMaster" Id="rId1"/></Relationships>
</file>

<file path=ppt/slideLayouts/_rels/slideLayout8.xml.rels><?xml version="1.0" encoding="UTF-8" standalone="yes"?><Relationships xmlns="http://schemas.openxmlformats.org/package/2006/relationships"><Relationship Target="../slideMasters/slideMaster2.xml" Type="http://schemas.openxmlformats.org/officeDocument/2006/relationships/slideMaster" Id="rId1"/></Relationships>
</file>

<file path=ppt/slideLayouts/_rels/slideLayout9.xml.rels><?xml version="1.0" encoding="UTF-8" standalone="yes"?><Relationships xmlns="http://schemas.openxmlformats.org/package/2006/relationships"><Relationship Target="../slideMasters/slideMaster2.xml" Type="http://schemas.openxmlformats.org/officeDocument/2006/relationships/slideMaster" Id="rId1"/></Relationships>
</file>

<file path=ppt/slideLayouts/_rels/slideLayout10.xml.rels><?xml version="1.0" encoding="UTF-8" standalone="yes"?><Relationships xmlns="http://schemas.openxmlformats.org/package/2006/relationships"><Relationship Target="../slideMasters/slideMaster2.xml" Type="http://schemas.openxmlformats.org/officeDocument/2006/relationships/slideMaster" Id="rId1"/></Relationships>
</file>

<file path=ppt/slideLayouts/_rels/slideLayout11.xml.rels><?xml version="1.0" encoding="UTF-8" standalone="yes"?><Relationships xmlns="http://schemas.openxmlformats.org/package/2006/relationships"><Relationship Target="../slideMasters/slideMaster2.xml" Type="http://schemas.openxmlformats.org/officeDocument/2006/relationships/slideMaster" Id="rId1"/></Relationships>
</file>

<file path=ppt/slideLayouts/_rels/slideLayout12.xml.rels><?xml version="1.0" encoding="UTF-8" standalone="yes"?><Relationships xmlns="http://schemas.openxmlformats.org/package/2006/relationships"><Relationship Target="../slideMasters/slideMaster2.xml" Type="http://schemas.openxmlformats.org/officeDocument/2006/relationships/slideMaster" Id="rId1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7" name="Shape 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" name="Shape 8"/>
          <p:cNvSpPr/>
          <p:nvPr/>
        </p:nvSpPr>
        <p:spPr>
          <a:xfrm rot="10800000" flipH="1">
            <a:off y="3093234" x="0"/>
            <a:ext cy="712499" cx="845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" name="Shape 9"/>
          <p:cNvSpPr txBox="1"/>
          <p:nvPr>
            <p:ph type="ctrTitle"/>
          </p:nvPr>
        </p:nvSpPr>
        <p:spPr>
          <a:xfrm>
            <a:off y="1300757" x="685800"/>
            <a:ext cy="1684199" cx="7772400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>
              <a:spcBef>
                <a:spcPts val="0"/>
              </a:spcBef>
              <a:buClr>
                <a:schemeClr val="dk2"/>
              </a:buClr>
              <a:buSzPct val="100000"/>
              <a:defRPr sz="72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defRPr sz="72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defRPr sz="72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defRPr sz="72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defRPr sz="72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defRPr sz="72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defRPr sz="72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defRPr sz="72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defRPr sz="7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" name="Shape 10"/>
          <p:cNvSpPr txBox="1"/>
          <p:nvPr>
            <p:ph idx="1" type="subTitle"/>
          </p:nvPr>
        </p:nvSpPr>
        <p:spPr>
          <a:xfrm>
            <a:off y="3093357" x="685800"/>
            <a:ext cy="712499" cx="7772400"/>
          </a:xfrm>
          <a:prstGeom prst="rect">
            <a:avLst/>
          </a:prstGeom>
        </p:spPr>
        <p:txBody>
          <a:bodyPr bIns="91425" rIns="91425" lIns="91425" tIns="91425" anchor="ctr" anchorCtr="0"/>
          <a:lstStyle>
            <a:lvl1pPr>
              <a:spcBef>
                <a:spcPts val="0"/>
              </a:spcBef>
              <a:buClr>
                <a:schemeClr val="lt2"/>
              </a:buClr>
              <a:buNone/>
              <a:defRPr b="1">
                <a:solidFill>
                  <a:schemeClr val="lt2"/>
                </a:solidFill>
              </a:defRPr>
            </a:lvl1pPr>
            <a:lvl2pPr>
              <a:spcBef>
                <a:spcPts val="0"/>
              </a:spcBef>
              <a:buClr>
                <a:schemeClr val="lt2"/>
              </a:buClr>
              <a:buSzPct val="100000"/>
              <a:buNone/>
              <a:defRPr b="1" sz="3000">
                <a:solidFill>
                  <a:schemeClr val="lt2"/>
                </a:solidFill>
              </a:defRPr>
            </a:lvl2pPr>
            <a:lvl3pPr>
              <a:spcBef>
                <a:spcPts val="0"/>
              </a:spcBef>
              <a:buClr>
                <a:schemeClr val="lt2"/>
              </a:buClr>
              <a:buSzPct val="100000"/>
              <a:buNone/>
              <a:defRPr b="1" sz="3000">
                <a:solidFill>
                  <a:schemeClr val="lt2"/>
                </a:solidFill>
              </a:defRPr>
            </a:lvl3pPr>
            <a:lvl4pPr>
              <a:spcBef>
                <a:spcPts val="0"/>
              </a:spcBef>
              <a:buClr>
                <a:schemeClr val="lt2"/>
              </a:buClr>
              <a:buSzPct val="100000"/>
              <a:buNone/>
              <a:defRPr b="1" sz="3000">
                <a:solidFill>
                  <a:schemeClr val="lt2"/>
                </a:solidFill>
              </a:defRPr>
            </a:lvl4pPr>
            <a:lvl5pPr>
              <a:spcBef>
                <a:spcPts val="0"/>
              </a:spcBef>
              <a:buClr>
                <a:schemeClr val="lt2"/>
              </a:buClr>
              <a:buSzPct val="100000"/>
              <a:buNone/>
              <a:defRPr b="1" sz="3000">
                <a:solidFill>
                  <a:schemeClr val="lt2"/>
                </a:solidFill>
              </a:defRPr>
            </a:lvl5pPr>
            <a:lvl6pPr>
              <a:spcBef>
                <a:spcPts val="0"/>
              </a:spcBef>
              <a:buClr>
                <a:schemeClr val="lt2"/>
              </a:buClr>
              <a:buSzPct val="100000"/>
              <a:buNone/>
              <a:defRPr b="1" sz="3000">
                <a:solidFill>
                  <a:schemeClr val="lt2"/>
                </a:solidFill>
              </a:defRPr>
            </a:lvl6pPr>
            <a:lvl7pPr>
              <a:spcBef>
                <a:spcPts val="0"/>
              </a:spcBef>
              <a:buClr>
                <a:schemeClr val="lt2"/>
              </a:buClr>
              <a:buSzPct val="100000"/>
              <a:buNone/>
              <a:defRPr b="1" sz="3000">
                <a:solidFill>
                  <a:schemeClr val="lt2"/>
                </a:solidFill>
              </a:defRPr>
            </a:lvl7pPr>
            <a:lvl8pPr>
              <a:spcBef>
                <a:spcPts val="0"/>
              </a:spcBef>
              <a:buClr>
                <a:schemeClr val="lt2"/>
              </a:buClr>
              <a:buSzPct val="100000"/>
              <a:buNone/>
              <a:defRPr b="1" sz="3000">
                <a:solidFill>
                  <a:schemeClr val="lt2"/>
                </a:solidFill>
              </a:defRPr>
            </a:lvl8pPr>
            <a:lvl9pPr>
              <a:spcBef>
                <a:spcPts val="0"/>
              </a:spcBef>
              <a:buClr>
                <a:schemeClr val="lt2"/>
              </a:buClr>
              <a:buSzPct val="100000"/>
              <a:buNone/>
              <a:defRPr b="1" sz="3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1" name="Shape 1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" name="Shape 12"/>
          <p:cNvSpPr/>
          <p:nvPr/>
        </p:nvSpPr>
        <p:spPr>
          <a:xfrm>
            <a:off y="205977" x="0"/>
            <a:ext cy="1165500" cx="868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" name="Shape 13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sp>
        <p:nvSpPr>
          <p:cNvPr id="14" name="Shape 14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15" name="Shape 1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" name="Shape 16"/>
          <p:cNvSpPr/>
          <p:nvPr/>
        </p:nvSpPr>
        <p:spPr>
          <a:xfrm>
            <a:off y="205977" x="0"/>
            <a:ext cy="1165500" cx="868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7" name="Shape 17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y="1460499" x="457200"/>
            <a:ext cy="3465299" cx="40302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2" type="body"/>
          </p:nvPr>
        </p:nvSpPr>
        <p:spPr>
          <a:xfrm>
            <a:off y="1461908" x="4656667"/>
            <a:ext cy="3465299" cx="40302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0" name="Shape 2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" name="Shape 21"/>
          <p:cNvSpPr/>
          <p:nvPr/>
        </p:nvSpPr>
        <p:spPr>
          <a:xfrm>
            <a:off y="205977" x="0"/>
            <a:ext cy="1165500" cx="868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2" name="Shape 22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23" name="Shape 2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" name="Shape 24"/>
          <p:cNvSpPr/>
          <p:nvPr/>
        </p:nvSpPr>
        <p:spPr>
          <a:xfrm>
            <a:off y="4406309" x="0"/>
            <a:ext cy="519599" cx="868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5" name="Shape 25"/>
          <p:cNvSpPr txBox="1"/>
          <p:nvPr>
            <p:ph idx="1" type="body"/>
          </p:nvPr>
        </p:nvSpPr>
        <p:spPr>
          <a:xfrm>
            <a:off y="4406309" x="457200"/>
            <a:ext cy="519599" cx="8229600"/>
          </a:xfrm>
          <a:prstGeom prst="rect">
            <a:avLst/>
          </a:prstGeom>
        </p:spPr>
        <p:txBody>
          <a:bodyPr bIns="91425" rIns="91425" lIns="91425" tIns="91425" anchor="ctr" anchorCtr="0"/>
          <a:lstStyle>
            <a:lvl1pPr>
              <a:spcBef>
                <a:spcPts val="0"/>
              </a:spcBef>
              <a:buClr>
                <a:schemeClr val="lt1"/>
              </a:buClr>
              <a:buSzPct val="100000"/>
              <a:buNone/>
              <a:defRPr b="1" sz="2400">
                <a:solidFill>
                  <a:schemeClr val="lt1"/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26" name="Shape 26"/>
        <p:cNvGrpSpPr/>
        <p:nvPr/>
      </p:nvGrpSpPr>
      <p:grpSpPr>
        <a:xfrm>
          <a:off y="0" x="0"/>
          <a:ext cy="0" cx="0"/>
          <a:chOff y="0" x="0"/>
          <a:chExt cy="0" cx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30" name="Shape 3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" name="Shape 31"/>
          <p:cNvSpPr txBox="1"/>
          <p:nvPr>
            <p:ph type="ctrTitle"/>
          </p:nvPr>
        </p:nvSpPr>
        <p:spPr>
          <a:xfrm>
            <a:off y="1583342" x="685800"/>
            <a:ext cy="1159799" cx="7772400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 algn="ctr" rtl="0">
              <a:spcBef>
                <a:spcPts val="0"/>
              </a:spcBef>
              <a:buSzPct val="100000"/>
              <a:defRPr sz="4800"/>
            </a:lvl1pPr>
            <a:lvl2pPr algn="ctr" rtl="0">
              <a:spcBef>
                <a:spcPts val="0"/>
              </a:spcBef>
              <a:buSzPct val="100000"/>
              <a:defRPr sz="4800"/>
            </a:lvl2pPr>
            <a:lvl3pPr algn="ctr" rtl="0">
              <a:spcBef>
                <a:spcPts val="0"/>
              </a:spcBef>
              <a:buSzPct val="100000"/>
              <a:defRPr sz="4800"/>
            </a:lvl3pPr>
            <a:lvl4pPr algn="ctr" rtl="0">
              <a:spcBef>
                <a:spcPts val="0"/>
              </a:spcBef>
              <a:buSzPct val="100000"/>
              <a:defRPr sz="4800"/>
            </a:lvl4pPr>
            <a:lvl5pPr algn="ctr" rtl="0">
              <a:spcBef>
                <a:spcPts val="0"/>
              </a:spcBef>
              <a:buSzPct val="100000"/>
              <a:defRPr sz="4800"/>
            </a:lvl5pPr>
            <a:lvl6pPr algn="ctr" rtl="0">
              <a:spcBef>
                <a:spcPts val="0"/>
              </a:spcBef>
              <a:buSzPct val="100000"/>
              <a:defRPr sz="4800"/>
            </a:lvl6pPr>
            <a:lvl7pPr algn="ctr" rtl="0">
              <a:spcBef>
                <a:spcPts val="0"/>
              </a:spcBef>
              <a:buSzPct val="100000"/>
              <a:defRPr sz="4800"/>
            </a:lvl7pPr>
            <a:lvl8pPr algn="ctr" rtl="0">
              <a:spcBef>
                <a:spcPts val="0"/>
              </a:spcBef>
              <a:buSzPct val="100000"/>
              <a:defRPr sz="4800"/>
            </a:lvl8pPr>
            <a:lvl9pPr algn="ctr" rtl="0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32" name="Shape 32"/>
          <p:cNvSpPr txBox="1"/>
          <p:nvPr>
            <p:ph idx="1" type="subTitle"/>
          </p:nvPr>
        </p:nvSpPr>
        <p:spPr>
          <a:xfrm>
            <a:off y="2840053" x="685800"/>
            <a:ext cy="784799" cx="77724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 algn="ctr" rtl="0">
              <a:spcBef>
                <a:spcPts val="0"/>
              </a:spcBef>
              <a:buClr>
                <a:schemeClr val="dk2"/>
              </a:buClr>
              <a:buNone/>
              <a:defRPr>
                <a:solidFill>
                  <a:schemeClr val="dk2"/>
                </a:solidFill>
              </a:defRPr>
            </a:lvl1pPr>
            <a:lvl2pPr algn="ctr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 algn="ctr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 algn="ctr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 algn="ctr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 algn="ctr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 algn="ctr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 algn="ctr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 algn="ctr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33" name="Shape 3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" name="Shape 34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35" name="Shape 35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36" name="Shape 3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7" name="Shape 37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38" name="Shape 38"/>
          <p:cNvSpPr txBox="1"/>
          <p:nvPr>
            <p:ph idx="1" type="body"/>
          </p:nvPr>
        </p:nvSpPr>
        <p:spPr>
          <a:xfrm>
            <a:off y="1200150" x="457200"/>
            <a:ext cy="3725699" cx="39945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y="1200150" x="4692273"/>
            <a:ext cy="3725699" cx="39945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40" name="Shape 4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1" name="Shape 41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42" name="Shape 4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3" name="Shape 43"/>
          <p:cNvSpPr txBox="1"/>
          <p:nvPr>
            <p:ph idx="1" type="body"/>
          </p:nvPr>
        </p:nvSpPr>
        <p:spPr>
          <a:xfrm>
            <a:off y="4406309" x="457200"/>
            <a:ext cy="519599" cx="82296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 algn="ctr" rtl="0">
              <a:spcBef>
                <a:spcPts val="360"/>
              </a:spcBef>
              <a:buSzPct val="100000"/>
              <a:buNone/>
              <a:defRPr sz="1800"/>
            </a:lvl1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44" name="Shape 44"/>
        <p:cNvGrpSpPr/>
        <p:nvPr/>
      </p:nvGrpSpPr>
      <p:grpSpPr>
        <a:xfrm>
          <a:off y="0" x="0"/>
          <a:ext cy="0" cx="0"/>
          <a:chOff y="0" x="0"/>
          <a:chExt cy="0" cx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Target="../slideLayouts/slideLayout2.xml" Type="http://schemas.openxmlformats.org/officeDocument/2006/relationships/slideLayout" Id="rId2"/><Relationship Target="../slideLayouts/slideLayout1.xml" Type="http://schemas.openxmlformats.org/officeDocument/2006/relationships/slideLayout" Id="rId1"/><Relationship Target="../slideLayouts/slideLayout4.xml" Type="http://schemas.openxmlformats.org/officeDocument/2006/relationships/slideLayout" Id="rId4"/><Relationship Target="../slideLayouts/slideLayout3.xml" Type="http://schemas.openxmlformats.org/officeDocument/2006/relationships/slideLayout" Id="rId3"/><Relationship Target="../slideLayouts/slideLayout6.xml" Type="http://schemas.openxmlformats.org/officeDocument/2006/relationships/slideLayout" Id="rId6"/><Relationship Target="../slideLayouts/slideLayout5.xml" Type="http://schemas.openxmlformats.org/officeDocument/2006/relationships/slideLayout" Id="rId5"/><Relationship Target="../theme/theme1.xml" Type="http://schemas.openxmlformats.org/officeDocument/2006/relationships/theme" Id="rId7"/></Relationships>
</file>

<file path=ppt/slideMasters/_rels/slideMaster2.xml.rels><?xml version="1.0" encoding="UTF-8" standalone="yes"?><Relationships xmlns="http://schemas.openxmlformats.org/package/2006/relationships"><Relationship Target="../slideLayouts/slideLayout8.xml" Type="http://schemas.openxmlformats.org/officeDocument/2006/relationships/slideLayout" Id="rId2"/><Relationship Target="../slideLayouts/slideLayout7.xml" Type="http://schemas.openxmlformats.org/officeDocument/2006/relationships/slideLayout" Id="rId1"/><Relationship Target="../slideLayouts/slideLayout10.xml" Type="http://schemas.openxmlformats.org/officeDocument/2006/relationships/slideLayout" Id="rId4"/><Relationship Target="../slideLayouts/slideLayout9.xml" Type="http://schemas.openxmlformats.org/officeDocument/2006/relationships/slideLayout" Id="rId3"/><Relationship Target="../slideLayouts/slideLayout12.xml" Type="http://schemas.openxmlformats.org/officeDocument/2006/relationships/slideLayout" Id="rId6"/><Relationship Target="../slideLayouts/slideLayout11.xml" Type="http://schemas.openxmlformats.org/officeDocument/2006/relationships/slideLayout" Id="rId5"/><Relationship Target="../theme/theme4.xml" Type="http://schemas.openxmlformats.org/officeDocument/2006/relationships/theme" Id="rId7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" name="Shape 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" name="Shape 5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>
              <a:spcBef>
                <a:spcPts val="0"/>
              </a:spcBef>
              <a:buClr>
                <a:schemeClr val="lt1"/>
              </a:buClr>
              <a:buSzPct val="100000"/>
              <a:buNone/>
              <a:defRPr b="1" sz="48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buClr>
                <a:schemeClr val="lt1"/>
              </a:buClr>
              <a:buSzPct val="100000"/>
              <a:buNone/>
              <a:defRPr b="1" sz="48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buClr>
                <a:schemeClr val="lt1"/>
              </a:buClr>
              <a:buSzPct val="100000"/>
              <a:buNone/>
              <a:defRPr b="1" sz="48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buClr>
                <a:schemeClr val="lt1"/>
              </a:buClr>
              <a:buSzPct val="100000"/>
              <a:buNone/>
              <a:defRPr b="1" sz="48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buClr>
                <a:schemeClr val="lt1"/>
              </a:buClr>
              <a:buSzPct val="100000"/>
              <a:buNone/>
              <a:defRPr b="1" sz="48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buClr>
                <a:schemeClr val="lt1"/>
              </a:buClr>
              <a:buSzPct val="100000"/>
              <a:buNone/>
              <a:defRPr b="1" sz="48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buClr>
                <a:schemeClr val="lt1"/>
              </a:buClr>
              <a:buSzPct val="100000"/>
              <a:buNone/>
              <a:defRPr b="1" sz="48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buClr>
                <a:schemeClr val="lt1"/>
              </a:buClr>
              <a:buSzPct val="100000"/>
              <a:buNone/>
              <a:defRPr b="1" sz="48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buClr>
                <a:schemeClr val="lt1"/>
              </a:buClr>
              <a:buSzPct val="100000"/>
              <a:buNone/>
              <a:defRPr b="1"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" name="Shape 6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>
              <a:spcBef>
                <a:spcPts val="600"/>
              </a:spcBef>
              <a:buClr>
                <a:schemeClr val="dk2"/>
              </a:buClr>
              <a:buSzPct val="100000"/>
              <a:defRPr sz="3000">
                <a:solidFill>
                  <a:schemeClr val="dk2"/>
                </a:solidFill>
              </a:defRPr>
            </a:lvl1pPr>
            <a:lvl2pPr>
              <a:spcBef>
                <a:spcPts val="480"/>
              </a:spcBef>
              <a:buClr>
                <a:schemeClr val="dk2"/>
              </a:buClr>
              <a:buSzPct val="100000"/>
              <a:defRPr sz="2400">
                <a:solidFill>
                  <a:schemeClr val="dk2"/>
                </a:solidFill>
              </a:defRPr>
            </a:lvl2pPr>
            <a:lvl3pPr>
              <a:spcBef>
                <a:spcPts val="480"/>
              </a:spcBef>
              <a:buClr>
                <a:schemeClr val="dk2"/>
              </a:buClr>
              <a:buSzPct val="100000"/>
              <a:defRPr sz="2400">
                <a:solidFill>
                  <a:schemeClr val="dk2"/>
                </a:solidFill>
              </a:defRPr>
            </a:lvl3pPr>
            <a:lvl4pPr>
              <a:spcBef>
                <a:spcPts val="360"/>
              </a:spcBef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4pPr>
            <a:lvl5pPr>
              <a:spcBef>
                <a:spcPts val="360"/>
              </a:spcBef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5pPr>
            <a:lvl6pPr>
              <a:spcBef>
                <a:spcPts val="360"/>
              </a:spcBef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6pPr>
            <a:lvl7pPr>
              <a:spcBef>
                <a:spcPts val="360"/>
              </a:spcBef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7pPr>
            <a:lvl8pPr>
              <a:spcBef>
                <a:spcPts val="360"/>
              </a:spcBef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8pPr>
            <a:lvl9pPr>
              <a:spcBef>
                <a:spcPts val="360"/>
              </a:spcBef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" name="Shape 28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1pPr>
            <a:lvl2pPr rtl="0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2pPr>
            <a:lvl3pPr rtl="0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3pPr>
            <a:lvl4pPr rtl="0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4pPr>
            <a:lvl5pPr rtl="0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5pPr>
            <a:lvl6pPr rtl="0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6pPr>
            <a:lvl7pPr rtl="0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7pPr>
            <a:lvl8pPr rtl="0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8pPr>
            <a:lvl9pPr rtl="0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Shape 29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spcBef>
                <a:spcPts val="600"/>
              </a:spcBef>
              <a:buClr>
                <a:schemeClr val="dk1"/>
              </a:buClr>
              <a:buSzPct val="100000"/>
              <a:defRPr sz="3000">
                <a:solidFill>
                  <a:schemeClr val="dk1"/>
                </a:solidFill>
              </a:defRPr>
            </a:lvl1pPr>
            <a:lvl2pPr rtl="0"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2pPr>
            <a:lvl3pPr rtl="0"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3pPr>
            <a:lvl4pPr rtl="0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4pPr>
            <a:lvl5pPr rtl="0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5pPr>
            <a:lvl6pPr rtl="0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6pPr>
            <a:lvl7pPr rtl="0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7pPr>
            <a:lvl8pPr rtl="0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8pPr>
            <a:lvl9pPr rtl="0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Target="../notesSlides/notesSlide1.xml" Type="http://schemas.openxmlformats.org/officeDocument/2006/relationships/notesSlide" Id="rId2"/><Relationship Target="../slideLayouts/slideLayout1.xml" Type="http://schemas.openxmlformats.org/officeDocument/2006/relationships/slideLayout" Id="rId1"/><Relationship Target="../media/image13.png" Type="http://schemas.openxmlformats.org/officeDocument/2006/relationships/image" Id="rId3"/></Relationships>
</file>

<file path=ppt/slides/_rels/slide2.xml.rels><?xml version="1.0" encoding="UTF-8" standalone="yes"?><Relationships xmlns="http://schemas.openxmlformats.org/package/2006/relationships"><Relationship Target="../notesSlides/notesSlide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.xml.rels><?xml version="1.0" encoding="UTF-8" standalone="yes"?><Relationships xmlns="http://schemas.openxmlformats.org/package/2006/relationships"><Relationship Target="../notesSlides/notesSlide3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4.xml.rels><?xml version="1.0" encoding="UTF-8" standalone="yes"?><Relationships xmlns="http://schemas.openxmlformats.org/package/2006/relationships"><Relationship Target="../notesSlides/notesSlide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http://external.opengis.org/twiki_public/HydrologyDWG/UserRequirements" Type="http://schemas.openxmlformats.org/officeDocument/2006/relationships/hyperlink" TargetMode="External" Id="rId4"/><Relationship Target="https://docs.google.com/spreadsheet/ccc?key=0ArdtTd_VTBTZdGVCZnM3czk1c1NzbVBONWd6Z3dyZHc&amp;usp=drive_web" Type="http://schemas.openxmlformats.org/officeDocument/2006/relationships/hyperlink" TargetMode="External" Id="rId3"/><Relationship Target="http://external.opengis.org/twiki_public/HydrologyDWG/RgsApiDesign" Type="http://schemas.openxmlformats.org/officeDocument/2006/relationships/hyperlink" TargetMode="External" Id="rId5"/></Relationships>
</file>

<file path=ppt/slides/_rels/slide5.xml.rels><?xml version="1.0" encoding="UTF-8" standalone="yes"?><Relationships xmlns="http://schemas.openxmlformats.org/package/2006/relationships"><Relationship Target="../notesSlides/notesSlide5.xml" Type="http://schemas.openxmlformats.org/officeDocument/2006/relationships/notesSlide" Id="rId2"/><Relationship Target="../slideLayouts/slideLayout2.xml" Type="http://schemas.openxmlformats.org/officeDocument/2006/relationships/slideLayout" Id="rId1"/><Relationship Target="http://www.opengeospatial.org/node/1928" Type="http://schemas.openxmlformats.org/officeDocument/2006/relationships/hyperlink" TargetMode="External" Id="rId4"/><Relationship Target="https://portal.opengeospatial.org/files/?artifact_id=54423" Type="http://schemas.openxmlformats.org/officeDocument/2006/relationships/hyperlink" TargetMode="External" Id="rId3"/></Relationships>
</file>

<file path=ppt/slides/_rels/slide6.xml.rels><?xml version="1.0" encoding="UTF-8" standalone="yes"?><Relationships xmlns="http://schemas.openxmlformats.org/package/2006/relationships"><Relationship Target="../notesSlides/notesSlide6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7.xml.rels><?xml version="1.0" encoding="UTF-8" standalone="yes"?><Relationships xmlns="http://schemas.openxmlformats.org/package/2006/relationships"><Relationship Target="../notesSlides/notesSlide7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8.xml.rels><?xml version="1.0" encoding="UTF-8" standalone="yes"?><Relationships xmlns="http://schemas.openxmlformats.org/package/2006/relationships"><Relationship Target="../notesSlides/notesSlide8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2.png" Type="http://schemas.openxmlformats.org/officeDocument/2006/relationships/image" Id="rId3"/></Relationships>
</file>

<file path=ppt/slides/_rels/slide9.xml.rels><?xml version="1.0" encoding="UTF-8" standalone="yes"?><Relationships xmlns="http://schemas.openxmlformats.org/package/2006/relationships"><Relationship Target="../notesSlides/notesSlide9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0.xml.rels><?xml version="1.0" encoding="UTF-8" standalone="yes"?><Relationships xmlns="http://schemas.openxmlformats.org/package/2006/relationships"><Relationship Target="../notesSlides/notesSlide10.xml" Type="http://schemas.openxmlformats.org/officeDocument/2006/relationships/notesSlide" Id="rId2"/><Relationship Target="../slideLayouts/slideLayout5.xml" Type="http://schemas.openxmlformats.org/officeDocument/2006/relationships/slideLayout" Id="rId1"/><Relationship Target="../media/image11.png" Type="http://schemas.openxmlformats.org/officeDocument/2006/relationships/image" Id="rId3"/></Relationships>
</file>

<file path=ppt/slides/_rels/slide11.xml.rels><?xml version="1.0" encoding="UTF-8" standalone="yes"?><Relationships xmlns="http://schemas.openxmlformats.org/package/2006/relationships"><Relationship Target="../notesSlides/notesSlide11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2.xml.rels><?xml version="1.0" encoding="UTF-8" standalone="yes"?><Relationships xmlns="http://schemas.openxmlformats.org/package/2006/relationships"><Relationship Target="../notesSlides/notesSlide1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3.xml.rels><?xml version="1.0" encoding="UTF-8" standalone="yes"?><Relationships xmlns="http://schemas.openxmlformats.org/package/2006/relationships"><Relationship Target="../notesSlides/notesSlide13.xml" Type="http://schemas.openxmlformats.org/officeDocument/2006/relationships/notesSlide" Id="rId2"/><Relationship Target="../slideLayouts/slideLayout6.xml" Type="http://schemas.openxmlformats.org/officeDocument/2006/relationships/slideLayout" Id="rId1"/><Relationship Target="../media/image06.png" Type="http://schemas.openxmlformats.org/officeDocument/2006/relationships/image" Id="rId3"/></Relationships>
</file>

<file path=ppt/slides/_rels/slide14.xml.rels><?xml version="1.0" encoding="UTF-8" standalone="yes"?><Relationships xmlns="http://schemas.openxmlformats.org/package/2006/relationships"><Relationship Target="../notesSlides/notesSlide14.xml" Type="http://schemas.openxmlformats.org/officeDocument/2006/relationships/notesSlide" Id="rId2"/><Relationship Target="../slideLayouts/slideLayout6.xml" Type="http://schemas.openxmlformats.org/officeDocument/2006/relationships/slideLayout" Id="rId1"/><Relationship Target="../media/image07.png" Type="http://schemas.openxmlformats.org/officeDocument/2006/relationships/image" Id="rId3"/></Relationships>
</file>

<file path=ppt/slides/_rels/slide15.xml.rels><?xml version="1.0" encoding="UTF-8" standalone="yes"?><Relationships xmlns="http://schemas.openxmlformats.org/package/2006/relationships"><Relationship Target="../notesSlides/notesSlide15.xml" Type="http://schemas.openxmlformats.org/officeDocument/2006/relationships/notesSlide" Id="rId2"/><Relationship Target="../slideLayouts/slideLayout8.xml" Type="http://schemas.openxmlformats.org/officeDocument/2006/relationships/slideLayout" Id="rId1"/></Relationships>
</file>

<file path=ppt/slides/_rels/slide16.xml.rels><?xml version="1.0" encoding="UTF-8" standalone="yes"?><Relationships xmlns="http://schemas.openxmlformats.org/package/2006/relationships"><Relationship Target="../notesSlides/notesSlide16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7.xml.rels><?xml version="1.0" encoding="UTF-8" standalone="yes"?><Relationships xmlns="http://schemas.openxmlformats.org/package/2006/relationships"><Relationship Target="../notesSlides/notesSlide17.xml" Type="http://schemas.openxmlformats.org/officeDocument/2006/relationships/notesSlide" Id="rId2"/><Relationship Target="../slideLayouts/slideLayout8.xml" Type="http://schemas.openxmlformats.org/officeDocument/2006/relationships/slideLayout" Id="rId1"/><Relationship Target="../media/image01.png" Type="http://schemas.openxmlformats.org/officeDocument/2006/relationships/image" Id="rId3"/></Relationships>
</file>

<file path=ppt/slides/_rels/slide18.xml.rels><?xml version="1.0" encoding="UTF-8" standalone="yes"?><Relationships xmlns="http://schemas.openxmlformats.org/package/2006/relationships"><Relationship Target="../notesSlides/notesSlide18.xml" Type="http://schemas.openxmlformats.org/officeDocument/2006/relationships/notesSlide" Id="rId2"/><Relationship Target="../slideLayouts/slideLayout2.xml" Type="http://schemas.openxmlformats.org/officeDocument/2006/relationships/slideLayout" Id="rId1"/><Relationship Target="http://waterml2.csiro.au/validator" Type="http://schemas.openxmlformats.org/officeDocument/2006/relationships/hyperlink" TargetMode="External" Id="rId4"/><Relationship Target="https://github.com/peterataylor/WaterML2-part2-api-tester" Type="http://schemas.openxmlformats.org/officeDocument/2006/relationships/hyperlink" TargetMode="External" Id="rId3"/></Relationships>
</file>

<file path=ppt/slides/_rels/slide19.xml.rels><?xml version="1.0" encoding="UTF-8" standalone="yes"?><Relationships xmlns="http://schemas.openxmlformats.org/package/2006/relationships"><Relationship Target="../notesSlides/notesSlide19.xml" Type="http://schemas.openxmlformats.org/officeDocument/2006/relationships/notesSlide" Id="rId2"/><Relationship Target="../slideLayouts/slideLayout8.xml" Type="http://schemas.openxmlformats.org/officeDocument/2006/relationships/slideLayout" Id="rId1"/><Relationship Target="../media/image00.png" Type="http://schemas.openxmlformats.org/officeDocument/2006/relationships/image" Id="rId3"/></Relationships>
</file>

<file path=ppt/slides/_rels/slide20.xml.rels><?xml version="1.0" encoding="UTF-8" standalone="yes"?><Relationships xmlns="http://schemas.openxmlformats.org/package/2006/relationships"><Relationship Target="../notesSlides/notesSlide20.xml" Type="http://schemas.openxmlformats.org/officeDocument/2006/relationships/notesSlide" Id="rId2"/><Relationship Target="../slideLayouts/slideLayout8.xml" Type="http://schemas.openxmlformats.org/officeDocument/2006/relationships/slideLayout" Id="rId1"/><Relationship Target="../media/image05.png" Type="http://schemas.openxmlformats.org/officeDocument/2006/relationships/image" Id="rId3"/></Relationships>
</file>

<file path=ppt/slides/_rels/slide21.xml.rels><?xml version="1.0" encoding="UTF-8" standalone="yes"?><Relationships xmlns="http://schemas.openxmlformats.org/package/2006/relationships"><Relationship Target="../notesSlides/notesSlide21.xml" Type="http://schemas.openxmlformats.org/officeDocument/2006/relationships/notesSlide" Id="rId2"/><Relationship Target="../slideLayouts/slideLayout5.xml" Type="http://schemas.openxmlformats.org/officeDocument/2006/relationships/slideLayout" Id="rId1"/><Relationship Target="http://www.canberratimes.com.au/photogallery/act-news/canberra-freezes-through-record-cold-spell-20140806-3d7rz.html?aggregate=&amp;selectedImage=0" Type="http://schemas.openxmlformats.org/officeDocument/2006/relationships/hyperlink" TargetMode="External" Id="rId4"/><Relationship Target="../media/image04.png" Type="http://schemas.openxmlformats.org/officeDocument/2006/relationships/image" Id="rId3"/></Relationships>
</file>

<file path=ppt/slides/_rels/slide22.xml.rels><?xml version="1.0" encoding="UTF-8" standalone="yes"?><Relationships xmlns="http://schemas.openxmlformats.org/package/2006/relationships"><Relationship Target="../notesSlides/notesSlide22.xml" Type="http://schemas.openxmlformats.org/officeDocument/2006/relationships/notesSlide" Id="rId2"/><Relationship Target="../slideLayouts/slideLayout2.xml" Type="http://schemas.openxmlformats.org/officeDocument/2006/relationships/slideLayout" Id="rId1"/><Relationship Target="http://waterml2.csiro.au/rgs-api/v1/monitoring-point/419006/" Type="http://schemas.openxmlformats.org/officeDocument/2006/relationships/hyperlink" TargetMode="External" Id="rId4"/><Relationship Target="http://waterml2.csiro.au/rgs-api/v1/docs/" Type="http://schemas.openxmlformats.org/officeDocument/2006/relationships/hyperlink" TargetMode="External" Id="rId3"/><Relationship Target="http://waterml2.csiro.au/rgs-api/v1/gauging/?monitoring-point=419009&amp;start-date=2009-02-15&amp;format=xml" Type="http://schemas.openxmlformats.org/officeDocument/2006/relationships/hyperlink" TargetMode="External" Id="rId6"/><Relationship Target="http://waterml2.csiro.au/rgs-api/v1/monitoring-point/419006/?format=xml" Type="http://schemas.openxmlformats.org/officeDocument/2006/relationships/hyperlink" TargetMode="External" Id="rId5"/><Relationship Target="http://waterml2.csiro.au/rgs-api/v1/conversion-group/?monitoring-point=419009" Type="http://schemas.openxmlformats.org/officeDocument/2006/relationships/hyperlink" TargetMode="External" Id="rId7"/></Relationships>
</file>

<file path=ppt/slides/_rels/slide23.xml.rels><?xml version="1.0" encoding="UTF-8" standalone="yes"?><Relationships xmlns="http://schemas.openxmlformats.org/package/2006/relationships"><Relationship Target="../notesSlides/notesSlide23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8.png" Type="http://schemas.openxmlformats.org/officeDocument/2006/relationships/image" Id="rId4"/><Relationship Target="../media/image03.png" Type="http://schemas.openxmlformats.org/officeDocument/2006/relationships/image" Id="rId3"/></Relationships>
</file>

<file path=ppt/slides/_rels/slide24.xml.rels><?xml version="1.0" encoding="UTF-8" standalone="yes"?><Relationships xmlns="http://schemas.openxmlformats.org/package/2006/relationships"><Relationship Target="../notesSlides/notesSlide24.xml" Type="http://schemas.openxmlformats.org/officeDocument/2006/relationships/notesSlide" Id="rId2"/><Relationship Target="../slideLayouts/slideLayout3.xml" Type="http://schemas.openxmlformats.org/officeDocument/2006/relationships/slideLayout" Id="rId1"/><Relationship Target="../media/image08.png" Type="http://schemas.openxmlformats.org/officeDocument/2006/relationships/image" Id="rId3"/></Relationships>
</file>

<file path=ppt/slides/_rels/slide25.xml.rels><?xml version="1.0" encoding="UTF-8" standalone="yes"?><Relationships xmlns="http://schemas.openxmlformats.org/package/2006/relationships"><Relationship Target="../notesSlides/notesSlide25.xml" Type="http://schemas.openxmlformats.org/officeDocument/2006/relationships/notesSlide" Id="rId2"/><Relationship Target="../slideLayouts/slideLayout3.xml" Type="http://schemas.openxmlformats.org/officeDocument/2006/relationships/slideLayout" Id="rId1"/><Relationship Target="../media/image08.png" Type="http://schemas.openxmlformats.org/officeDocument/2006/relationships/image" Id="rId3"/></Relationships>
</file>

<file path=ppt/slides/_rels/slide26.xml.rels><?xml version="1.0" encoding="UTF-8" standalone="yes"?><Relationships xmlns="http://schemas.openxmlformats.org/package/2006/relationships"><Relationship Target="../notesSlides/notesSlide26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9.png" Type="http://schemas.openxmlformats.org/officeDocument/2006/relationships/image" Id="rId4"/><Relationship Target="http://www.ceh.ac.uk/data/nrfa/data/peakflow.html?52011" Type="http://schemas.openxmlformats.org/officeDocument/2006/relationships/hyperlink" TargetMode="External" Id="rId3"/></Relationships>
</file>

<file path=ppt/slides/_rels/slide27.xml.rels><?xml version="1.0" encoding="UTF-8" standalone="yes"?><Relationships xmlns="http://schemas.openxmlformats.org/package/2006/relationships"><Relationship Target="../notesSlides/notesSlide27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9.png" Type="http://schemas.openxmlformats.org/officeDocument/2006/relationships/image" Id="rId3"/></Relationships>
</file>

<file path=ppt/slides/_rels/slide28.xml.rels><?xml version="1.0" encoding="UTF-8" standalone="yes"?><Relationships xmlns="http://schemas.openxmlformats.org/package/2006/relationships"><Relationship Target="../notesSlides/notesSlide28.xml" Type="http://schemas.openxmlformats.org/officeDocument/2006/relationships/notesSlide" Id="rId2"/><Relationship Target="../slideLayouts/slideLayout2.xml" Type="http://schemas.openxmlformats.org/officeDocument/2006/relationships/slideLayout" Id="rId1"/><Relationship Target="http://www.ceh.ac.uk/nrfa/rgs-api/conversion?monitoring-point=54012" Type="http://schemas.openxmlformats.org/officeDocument/2006/relationships/hyperlink" TargetMode="External" Id="rId4"/><Relationship Target="http://www.ceh.ac.uk/nrfa/rgs-api/monitoring-point/" Type="http://schemas.openxmlformats.org/officeDocument/2006/relationships/hyperlink" TargetMode="External" Id="rId3"/><Relationship Target="http://www.ceh.ac.uk/nrfa/rgs-api/gauging?monitoring-point=54012" Type="http://schemas.openxmlformats.org/officeDocument/2006/relationships/hyperlink" TargetMode="External" Id="rId6"/><Relationship Target="http://www.ceh.ac.uk/nrfa/rgs-api/conversion/1222a/,DanaInfo=nercowa.ad.nerc.ac.uk,SSL+redir.aspx?C=AtRY_RHr5EO1cP2sN9RFEKpZCGBxitFITLRQ4MY7RW7yI-5y4r2AMu_yHRe8ZIjDCclhvCA_ACA.&amp;URL=http%3a%2f%2fwww.ceh.ac.uk%2fnrfa%2frgs-api%2fconversion%2f1222" Type="http://schemas.openxmlformats.org/officeDocument/2006/relationships/hyperlink" TargetMode="External" Id="rId5"/><Relationship Target="../media/image09.png" Type="http://schemas.openxmlformats.org/officeDocument/2006/relationships/image" Id="rId7"/></Relationships>
</file>

<file path=ppt/slides/_rels/slide29.xml.rels><?xml version="1.0" encoding="UTF-8" standalone="yes"?><Relationships xmlns="http://schemas.openxmlformats.org/package/2006/relationships"><Relationship Target="../notesSlides/notesSlide29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9.png" Type="http://schemas.openxmlformats.org/officeDocument/2006/relationships/image" Id="rId3"/></Relationships>
</file>

<file path=ppt/slides/_rels/slide30.xml.rels><?xml version="1.0" encoding="UTF-8" standalone="yes"?><Relationships xmlns="http://schemas.openxmlformats.org/package/2006/relationships"><Relationship Target="../notesSlides/notesSlide30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1.xml.rels><?xml version="1.0" encoding="UTF-8" standalone="yes"?><Relationships xmlns="http://schemas.openxmlformats.org/package/2006/relationships"><Relationship Target="../notesSlides/notesSlide31.xml" Type="http://schemas.openxmlformats.org/officeDocument/2006/relationships/notesSlide" Id="rId2"/><Relationship Target="../slideLayouts/slideLayout2.xml" Type="http://schemas.openxmlformats.org/officeDocument/2006/relationships/slideLayout" Id="rId1"/><Relationship Target="http://203.12.195.133/cgi/waterml2/monitoring-point?monitoring-point=225201A" Type="http://schemas.openxmlformats.org/officeDocument/2006/relationships/hyperlink" TargetMode="External" Id="rId4"/><Relationship Target="http://203.12.195.133/rest.htm" Type="http://schemas.openxmlformats.org/officeDocument/2006/relationships/hyperlink" TargetMode="External" Id="rId3"/><Relationship Target="http://203.12.195.133/cgi/waterml2/conversion-group?monitoring-point=225201A" Type="http://schemas.openxmlformats.org/officeDocument/2006/relationships/hyperlink" TargetMode="External" Id="rId5"/></Relationships>
</file>

<file path=ppt/slides/_rels/slide32.xml.rels><?xml version="1.0" encoding="UTF-8" standalone="yes"?><Relationships xmlns="http://schemas.openxmlformats.org/package/2006/relationships"><Relationship Target="../notesSlides/notesSlide3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3.xml.rels><?xml version="1.0" encoding="UTF-8" standalone="yes"?><Relationships xmlns="http://schemas.openxmlformats.org/package/2006/relationships"><Relationship Target="../notesSlides/notesSlide33.xml" Type="http://schemas.openxmlformats.org/officeDocument/2006/relationships/notesSlide" Id="rId2"/><Relationship Target="../slideLayouts/slideLayout2.xml" Type="http://schemas.openxmlformats.org/officeDocument/2006/relationships/slideLayout" Id="rId1"/><Relationship Target="http://staging.waterdata.usgs.gov/nwisweb/cgi-src/conversion-group" Type="http://schemas.openxmlformats.org/officeDocument/2006/relationships/hyperlink" TargetMode="External" Id="rId4"/><Relationship Target="http://staging.waterdata.usgs.gov/nwisweb/cgi-src/conversion" Type="http://schemas.openxmlformats.org/officeDocument/2006/relationships/hyperlink" TargetMode="External" Id="rId3"/><Relationship Target="http://staging.waterdata.usgs.gov/nwisweb/cgi-src/monitoring-point" Type="http://schemas.openxmlformats.org/officeDocument/2006/relationships/hyperlink" TargetMode="External" Id="rId6"/><Relationship Target="http://staging.waterdata.usgs.gov/nwisweb/cgi-src/gauging" Type="http://schemas.openxmlformats.org/officeDocument/2006/relationships/hyperlink" TargetMode="External" Id="rId5"/></Relationships>
</file>

<file path=ppt/slides/_rels/slide34.xml.rels><?xml version="1.0" encoding="UTF-8" standalone="yes"?><Relationships xmlns="http://schemas.openxmlformats.org/package/2006/relationships"><Relationship Target="../notesSlides/notesSlide34.xml" Type="http://schemas.openxmlformats.org/officeDocument/2006/relationships/notesSlide" Id="rId2"/><Relationship Target="../slideLayouts/slideLayout5.xml" Type="http://schemas.openxmlformats.org/officeDocument/2006/relationships/slideLayout" Id="rId1"/><Relationship Target="../media/image17.jpg" Type="http://schemas.openxmlformats.org/officeDocument/2006/relationships/image" Id="rId3"/></Relationships>
</file>

<file path=ppt/slides/_rels/slide35.xml.rels><?xml version="1.0" encoding="UTF-8" standalone="yes"?><Relationships xmlns="http://schemas.openxmlformats.org/package/2006/relationships"><Relationship Target="../notesSlides/notesSlide35.xml" Type="http://schemas.openxmlformats.org/officeDocument/2006/relationships/notesSlide" Id="rId2"/><Relationship Target="../slideLayouts/slideLayout2.xml" Type="http://schemas.openxmlformats.org/officeDocument/2006/relationships/slideLayout" Id="rId1"/><Relationship Target="http://waterml2.csiro.au/validator" Type="http://schemas.openxmlformats.org/officeDocument/2006/relationships/hyperlink" TargetMode="External" Id="rId4"/><Relationship Target="../media/image20.png" Type="http://schemas.openxmlformats.org/officeDocument/2006/relationships/image" Id="rId3"/></Relationships>
</file>

<file path=ppt/slides/_rels/slide36.xml.rels><?xml version="1.0" encoding="UTF-8" standalone="yes"?><Relationships xmlns="http://schemas.openxmlformats.org/package/2006/relationships"><Relationship Target="../notesSlides/notesSlide36.xml" Type="http://schemas.openxmlformats.org/officeDocument/2006/relationships/notesSlide" Id="rId2"/><Relationship Target="../slideLayouts/slideLayout2.xml" Type="http://schemas.openxmlformats.org/officeDocument/2006/relationships/slideLayout" Id="rId1"/><Relationship Target="http://waterml2.csiro.au/rgs-api/v1/viz/" Type="http://schemas.openxmlformats.org/officeDocument/2006/relationships/hyperlink" TargetMode="External" Id="rId4"/><Relationship Target="../media/image25.png" Type="http://schemas.openxmlformats.org/officeDocument/2006/relationships/image" Id="rId3"/></Relationships>
</file>

<file path=ppt/slides/_rels/slide37.xml.rels><?xml version="1.0" encoding="UTF-8" standalone="yes"?><Relationships xmlns="http://schemas.openxmlformats.org/package/2006/relationships"><Relationship Target="../notesSlides/notesSlide37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3.png" Type="http://schemas.openxmlformats.org/officeDocument/2006/relationships/image" Id="rId3"/></Relationships>
</file>

<file path=ppt/slides/_rels/slide38.xml.rels><?xml version="1.0" encoding="UTF-8" standalone="yes"?><Relationships xmlns="http://schemas.openxmlformats.org/package/2006/relationships"><Relationship Target="../notesSlides/notesSlide38.xml" Type="http://schemas.openxmlformats.org/officeDocument/2006/relationships/notesSlide" Id="rId2"/><Relationship Target="../slideLayouts/slideLayout5.xml" Type="http://schemas.openxmlformats.org/officeDocument/2006/relationships/slideLayout" Id="rId1"/><Relationship Target="https://www.facebook.com/bureauofmeteorology/photos/pb.170992086298033.-2207520000.1407302407./760652073998695/?type=3&amp;theater" Type="http://schemas.openxmlformats.org/officeDocument/2006/relationships/hyperlink" TargetMode="External" Id="rId4"/><Relationship Target="../media/image27.png" Type="http://schemas.openxmlformats.org/officeDocument/2006/relationships/image" Id="rId3"/></Relationships>
</file>

<file path=ppt/slides/_rels/slide39.xml.rels><?xml version="1.0" encoding="UTF-8" standalone="yes"?><Relationships xmlns="http://schemas.openxmlformats.org/package/2006/relationships"><Relationship Target="../notesSlides/notesSlide39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40.xml.rels><?xml version="1.0" encoding="UTF-8" standalone="yes"?><Relationships xmlns="http://schemas.openxmlformats.org/package/2006/relationships"><Relationship Target="../notesSlides/notesSlide40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41.xml.rels><?xml version="1.0" encoding="UTF-8" standalone="yes"?><Relationships xmlns="http://schemas.openxmlformats.org/package/2006/relationships"><Relationship Target="../notesSlides/notesSlide41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42.xml.rels><?xml version="1.0" encoding="UTF-8" standalone="yes"?><Relationships xmlns="http://schemas.openxmlformats.org/package/2006/relationships"><Relationship Target="../notesSlides/notesSlide4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43.xml.rels><?xml version="1.0" encoding="UTF-8" standalone="yes"?><Relationships xmlns="http://schemas.openxmlformats.org/package/2006/relationships"><Relationship Target="../notesSlides/notesSlide43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44.xml.rels><?xml version="1.0" encoding="UTF-8" standalone="yes"?><Relationships xmlns="http://schemas.openxmlformats.org/package/2006/relationships"><Relationship Target="../notesSlides/notesSlide44.xml" Type="http://schemas.openxmlformats.org/officeDocument/2006/relationships/notesSlide" Id="rId2"/><Relationship Target="../slideLayouts/slideLayout5.xml" Type="http://schemas.openxmlformats.org/officeDocument/2006/relationships/slideLayout" Id="rId1"/><Relationship Target="http://scienceblogs.com/startswithabang/files/2013/10/960x332-foot-in-water-26430848.jpg" Type="http://schemas.openxmlformats.org/officeDocument/2006/relationships/hyperlink" TargetMode="External" Id="rId4"/><Relationship Target="../media/image18.png" Type="http://schemas.openxmlformats.org/officeDocument/2006/relationships/image" Id="rId3"/></Relationships>
</file>

<file path=ppt/slides/_rels/slide45.xml.rels><?xml version="1.0" encoding="UTF-8" standalone="yes"?><Relationships xmlns="http://schemas.openxmlformats.org/package/2006/relationships"><Relationship Target="../notesSlides/notesSlide45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46.xml.rels><?xml version="1.0" encoding="UTF-8" standalone="yes"?><Relationships xmlns="http://schemas.openxmlformats.org/package/2006/relationships"><Relationship Target="../notesSlides/notesSlide46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47.xml.rels><?xml version="1.0" encoding="UTF-8" standalone="yes"?><Relationships xmlns="http://schemas.openxmlformats.org/package/2006/relationships"><Relationship Target="../media/image22.png" Type="http://schemas.openxmlformats.org/officeDocument/2006/relationships/image" Id="rId12"/><Relationship Target="../notesSlides/notesSlide47.xml" Type="http://schemas.openxmlformats.org/officeDocument/2006/relationships/notesSlide" Id="rId2"/><Relationship Target="../slideLayouts/slideLayout8.xml" Type="http://schemas.openxmlformats.org/officeDocument/2006/relationships/slideLayout" Id="rId1"/><Relationship Target="../media/image28.png" Type="http://schemas.openxmlformats.org/officeDocument/2006/relationships/image" Id="rId10"/><Relationship Target="../media/image12.gif" Type="http://schemas.openxmlformats.org/officeDocument/2006/relationships/image" Id="rId4"/><Relationship Target="../media/image21.png" Type="http://schemas.openxmlformats.org/officeDocument/2006/relationships/image" Id="rId11"/><Relationship Target="../media/image10.jpg" Type="http://schemas.openxmlformats.org/officeDocument/2006/relationships/image" Id="rId3"/><Relationship Target="../media/image19.jpg" Type="http://schemas.openxmlformats.org/officeDocument/2006/relationships/image" Id="rId9"/><Relationship Target="../media/image15.jpg" Type="http://schemas.openxmlformats.org/officeDocument/2006/relationships/image" Id="rId6"/><Relationship Target="../media/image16.jpg" Type="http://schemas.openxmlformats.org/officeDocument/2006/relationships/image" Id="rId5"/><Relationship Target="../media/image14.jpg" Type="http://schemas.openxmlformats.org/officeDocument/2006/relationships/image" Id="rId8"/><Relationship Target="../media/image26.jpg" Type="http://schemas.openxmlformats.org/officeDocument/2006/relationships/image" Id="rId7"/></Relationships>
</file>

<file path=ppt/slides/_rels/slide48.xml.rels><?xml version="1.0" encoding="UTF-8" standalone="yes"?><Relationships xmlns="http://schemas.openxmlformats.org/package/2006/relationships"><Relationship Target="../notesSlides/notesSlide48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4.png" Type="http://schemas.openxmlformats.org/officeDocument/2006/relationships/image" Id="rId3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5" name="Shape 4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46" name="Shape 46"/>
          <p:cNvPicPr preferRelativeResize="0"/>
          <p:nvPr/>
        </p:nvPicPr>
        <p:blipFill rotWithShape="1">
          <a:blip r:embed="rId3">
            <a:alphaModFix/>
          </a:blip>
          <a:srcRect t="1044" b="71023" r="1642" l="0"/>
          <a:stretch/>
        </p:blipFill>
        <p:spPr>
          <a:xfrm>
            <a:off y="63250" x="0"/>
            <a:ext cy="1684199" cx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Shape 47"/>
          <p:cNvSpPr txBox="1"/>
          <p:nvPr>
            <p:ph type="ctrTitle"/>
          </p:nvPr>
        </p:nvSpPr>
        <p:spPr>
          <a:xfrm>
            <a:off y="1376957" x="685800"/>
            <a:ext cy="1684199" cx="77724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sz="3600" lang="en"/>
              <a:t>Water ML 2 Part 2 </a:t>
            </a:r>
          </a:p>
          <a:p>
            <a:pPr>
              <a:spcBef>
                <a:spcPts val="0"/>
              </a:spcBef>
              <a:buNone/>
            </a:pPr>
            <a:r>
              <a:rPr sz="3600" lang="en"/>
              <a:t>Ratings Gaugings and Sections</a:t>
            </a:r>
          </a:p>
        </p:txBody>
      </p:sp>
      <p:sp>
        <p:nvSpPr>
          <p:cNvPr id="48" name="Shape 48"/>
          <p:cNvSpPr txBox="1"/>
          <p:nvPr>
            <p:ph idx="1" type="subTitle"/>
          </p:nvPr>
        </p:nvSpPr>
        <p:spPr>
          <a:xfrm>
            <a:off y="3093357" x="685800"/>
            <a:ext cy="712499" cx="77724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b="1" sz="3000" lang="en"/>
              <a:t>Interoperability Experiment</a:t>
            </a:r>
            <a:r>
              <a:rPr lang="en"/>
              <a:t> Report</a:t>
            </a:r>
          </a:p>
        </p:txBody>
      </p:sp>
      <p:sp>
        <p:nvSpPr>
          <p:cNvPr id="49" name="Shape 49"/>
          <p:cNvSpPr txBox="1"/>
          <p:nvPr>
            <p:ph idx="2" type="subTitle"/>
          </p:nvPr>
        </p:nvSpPr>
        <p:spPr>
          <a:xfrm>
            <a:off y="4377700" x="163550"/>
            <a:ext cy="658500" cx="35010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algn="l" rtl="0">
              <a:spcBef>
                <a:spcPts val="0"/>
              </a:spcBef>
              <a:buNone/>
            </a:pPr>
            <a:r>
              <a:rPr b="1" sz="1200" lang="en"/>
              <a:t>OGC Hydrology Domain Working Group </a:t>
            </a:r>
          </a:p>
          <a:p>
            <a:pPr algn="l" rtl="0">
              <a:spcBef>
                <a:spcPts val="0"/>
              </a:spcBef>
              <a:buNone/>
            </a:pPr>
            <a:r>
              <a:rPr b="1" sz="1200" lang="en"/>
              <a:t>2014 Workshop</a:t>
            </a:r>
          </a:p>
          <a:p>
            <a:pPr algn="l" rtl="0" lvl="0">
              <a:spcBef>
                <a:spcPts val="0"/>
              </a:spcBef>
              <a:buNone/>
            </a:pPr>
            <a:r>
              <a:rPr b="1" sz="1200" lang="en"/>
              <a:t>City University New York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3" name="Shape 5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4" name="Shape 54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Presentation Outline</a:t>
            </a:r>
          </a:p>
        </p:txBody>
      </p:sp>
      <p:sp>
        <p:nvSpPr>
          <p:cNvPr id="55" name="Shape 55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lang="en"/>
              <a:t>Introduction and overview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lang="en"/>
              <a:t>IE Design Overview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lang="en"/>
              <a:t>Service offering demonstrations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lang="en"/>
              <a:t>Client demonstrations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lang="en"/>
              <a:t>Engineering report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lang="en"/>
              <a:t>API - where to from here?</a:t>
            </a:r>
          </a:p>
          <a:p>
            <a:pPr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lang="en"/>
              <a:t>SWG Formation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9" name="Shape 5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0" name="Shape 60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WaterML2.0 parts</a:t>
            </a:r>
          </a:p>
        </p:txBody>
      </p:sp>
      <p:sp>
        <p:nvSpPr>
          <p:cNvPr id="61" name="Shape 61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34375"/>
              <a:buFont typeface="Arial"/>
              <a:buNone/>
            </a:pPr>
            <a:r>
              <a:rPr sz="3200" lang="en">
                <a:solidFill>
                  <a:schemeClr val="dk1"/>
                </a:solidFill>
              </a:rPr>
              <a:t>●</a:t>
            </a:r>
            <a:r>
              <a:rPr b="1" sz="3200" lang="en">
                <a:solidFill>
                  <a:schemeClr val="dk1"/>
                </a:solidFill>
              </a:rPr>
              <a:t>part 1 - timeseries</a:t>
            </a:r>
            <a:r>
              <a:rPr sz="3200" lang="en">
                <a:solidFill>
                  <a:schemeClr val="dk1"/>
                </a:solidFill>
              </a:rPr>
              <a:t>: exchange of time-series and monitoring points</a:t>
            </a:r>
          </a:p>
          <a:p>
            <a:pPr rtl="0"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34375"/>
              <a:buFont typeface="Arial"/>
              <a:buNone/>
            </a:pPr>
            <a:r>
              <a:rPr sz="3200" lang="en">
                <a:solidFill>
                  <a:schemeClr val="dk1"/>
                </a:solidFill>
              </a:rPr>
              <a:t>●</a:t>
            </a:r>
            <a:r>
              <a:rPr b="1" sz="3200" lang="en">
                <a:solidFill>
                  <a:schemeClr val="dk1"/>
                </a:solidFill>
              </a:rPr>
              <a:t>part 2</a:t>
            </a:r>
            <a:r>
              <a:rPr sz="3200" lang="en">
                <a:solidFill>
                  <a:schemeClr val="dk1"/>
                </a:solidFill>
              </a:rPr>
              <a:t> - exchange of </a:t>
            </a:r>
            <a:r>
              <a:rPr b="1" sz="3200" lang="en">
                <a:solidFill>
                  <a:schemeClr val="dk1"/>
                </a:solidFill>
              </a:rPr>
              <a:t>R</a:t>
            </a:r>
            <a:r>
              <a:rPr sz="3200" lang="en">
                <a:solidFill>
                  <a:schemeClr val="dk1"/>
                </a:solidFill>
              </a:rPr>
              <a:t>ating tables, </a:t>
            </a:r>
            <a:r>
              <a:rPr b="1" sz="3200" lang="en">
                <a:solidFill>
                  <a:schemeClr val="dk1"/>
                </a:solidFill>
              </a:rPr>
              <a:t>G</a:t>
            </a:r>
            <a:r>
              <a:rPr sz="3200" lang="en">
                <a:solidFill>
                  <a:schemeClr val="dk1"/>
                </a:solidFill>
              </a:rPr>
              <a:t>augings, </a:t>
            </a:r>
            <a:r>
              <a:rPr b="1" sz="3200" lang="en">
                <a:solidFill>
                  <a:schemeClr val="dk1"/>
                </a:solidFill>
              </a:rPr>
              <a:t>C</a:t>
            </a:r>
            <a:r>
              <a:rPr sz="3200" lang="en">
                <a:solidFill>
                  <a:schemeClr val="dk1"/>
                </a:solidFill>
              </a:rPr>
              <a:t>ross-sections (RGS)</a:t>
            </a:r>
          </a:p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5" name="Shape 6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6" name="Shape 66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Requirements</a:t>
            </a:r>
          </a:p>
        </p:txBody>
      </p:sp>
      <p:sp>
        <p:nvSpPr>
          <p:cNvPr id="67" name="Shape 67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Initial requirements drafted at workshop in the UK, 2012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Available in online </a:t>
            </a:r>
            <a:r>
              <a:rPr u="sng" lang="en">
                <a:solidFill>
                  <a:schemeClr val="hlink"/>
                </a:solidFill>
                <a:hlinkClick r:id="rId3"/>
              </a:rPr>
              <a:t>spreadsheet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Further iterations resulted in detailed service requirements:</a:t>
            </a:r>
          </a:p>
          <a:p>
            <a:pPr rtl="0" lvl="1" indent="-381000" marL="914400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u="sng" lang="en">
                <a:solidFill>
                  <a:schemeClr val="hlink"/>
                </a:solidFill>
                <a:hlinkClick r:id="rId4"/>
              </a:rPr>
              <a:t>User reqs</a:t>
            </a:r>
          </a:p>
          <a:p>
            <a:pPr rtl="0" lvl="1" indent="-381000" marL="914400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u="sng" lang="en">
                <a:solidFill>
                  <a:schemeClr val="hlink"/>
                </a:solidFill>
                <a:hlinkClick r:id="rId5"/>
              </a:rPr>
              <a:t>API reqs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1" name="Shape 7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2" name="Shape 72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Information model</a:t>
            </a:r>
          </a:p>
        </p:txBody>
      </p:sp>
      <p:sp>
        <p:nvSpPr>
          <p:cNvPr id="73" name="Shape 73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Draft was published as </a:t>
            </a:r>
            <a:r>
              <a:rPr u="sng" lang="en">
                <a:solidFill>
                  <a:schemeClr val="hlink"/>
                </a:solidFill>
                <a:hlinkClick r:id="rId3"/>
              </a:rPr>
              <a:t>discussion paper</a:t>
            </a:r>
            <a:r>
              <a:rPr lang="en"/>
              <a:t> in 2013</a:t>
            </a:r>
          </a:p>
          <a:p>
            <a:pPr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Interoperability Experiment </a:t>
            </a:r>
            <a:r>
              <a:rPr u="sng" lang="en">
                <a:solidFill>
                  <a:schemeClr val="hlink"/>
                </a:solidFill>
                <a:hlinkClick r:id="rId4"/>
              </a:rPr>
              <a:t>kicked off in 2013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7" name="Shape 7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8" name="Shape 78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Technical objectives</a:t>
            </a:r>
          </a:p>
        </p:txBody>
      </p:sp>
      <p:sp>
        <p:nvSpPr>
          <p:cNvPr id="79" name="Shape 79"/>
          <p:cNvSpPr txBox="1"/>
          <p:nvPr>
            <p:ph idx="1" type="body"/>
          </p:nvPr>
        </p:nvSpPr>
        <p:spPr>
          <a:xfrm>
            <a:off y="1460499" x="457200"/>
            <a:ext cy="55514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381000" marL="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sz="2400" lang="en"/>
              <a:t>Test WaterML2.0 part 2 information model </a:t>
            </a:r>
          </a:p>
          <a:p>
            <a:pPr rtl="0" lvl="0" indent="-381000" marL="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sz="2400" lang="en"/>
              <a:t>Test compatibility with existing OGC services (WFS and SOS)</a:t>
            </a:r>
          </a:p>
          <a:p>
            <a:pPr rtl="0" lvl="1" indent="-381000" marL="9144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lphaLcPeriod"/>
            </a:pPr>
            <a:r>
              <a:rPr sz="2400" lang="en"/>
              <a:t>explore options for RESTful services;</a:t>
            </a:r>
          </a:p>
          <a:p>
            <a:pPr rtl="0" lvl="0" indent="-381000" marL="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sz="2400" lang="en"/>
              <a:t>Test encodings using GML/XML, and investigate alternative encodings, such as JSON. </a:t>
            </a:r>
          </a:p>
          <a:p>
            <a:pPr>
              <a:spcBef>
                <a:spcPts val="0"/>
              </a:spcBef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3" name="Shape 8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4" name="Shape 84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Domain objectives</a:t>
            </a:r>
          </a:p>
        </p:txBody>
      </p:sp>
      <p:sp>
        <p:nvSpPr>
          <p:cNvPr id="85" name="Shape 85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sz="2400" lang="en"/>
              <a:t>1. Advance exchange processes between the Bureau and Australian water agencies; </a:t>
            </a:r>
          </a:p>
          <a:p>
            <a:pPr rtl="0">
              <a:spcBef>
                <a:spcPts val="0"/>
              </a:spcBef>
              <a:buNone/>
            </a:pPr>
            <a:r>
              <a:rPr sz="2400" lang="en"/>
              <a:t>2. Enhance the exchange of ratings between USGS, NWS and the US Army Corps of Engineers (USACE); </a:t>
            </a:r>
          </a:p>
          <a:p>
            <a:pPr>
              <a:spcBef>
                <a:spcPts val="0"/>
              </a:spcBef>
              <a:buNone/>
            </a:pPr>
            <a:r>
              <a:rPr sz="2400" lang="en"/>
              <a:t>3. Provide web-accessible ratings and gaugings data for the UK’s National River Flow Archive, enabling understanding of rating quality, and with a view to future exchange between agencies.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9" name="Shape 8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0" name="Shape 90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IE scenarios</a:t>
            </a:r>
          </a:p>
        </p:txBody>
      </p:sp>
      <p:pic>
        <p:nvPicPr>
          <p:cNvPr id="91" name="Shape 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1424950" x="457200"/>
            <a:ext cy="3718548" cx="785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5" name="Shape 9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6" name="Shape 96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lang="en"/>
              <a:t>Scenarios for exchange</a:t>
            </a:r>
          </a:p>
        </p:txBody>
      </p:sp>
      <p:sp>
        <p:nvSpPr>
          <p:cNvPr id="97" name="Shape 97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b="1" sz="2400" lang="en"/>
              <a:t>Flood forecasting (US)</a:t>
            </a:r>
            <a:r>
              <a:rPr sz="2400" lang="en"/>
              <a:t> - Exchange between USGS and US National Weather Service </a:t>
            </a:r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 sz="2400"/>
          </a:p>
          <a:p>
            <a:pPr rtl="0" lvl="0">
              <a:spcBef>
                <a:spcPts val="0"/>
              </a:spcBef>
              <a:buNone/>
            </a:pPr>
            <a:r>
              <a:rPr b="1" sz="2400" lang="en"/>
              <a:t>Inter-agency exchange (AUS)</a:t>
            </a:r>
            <a:r>
              <a:rPr sz="2400" lang="en"/>
              <a:t> - exchange between the Aus Bureau, MDBA, NSW Office of Water, Tas DPIPWE, Vic DEPI</a:t>
            </a:r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 sz="2400"/>
          </a:p>
          <a:p>
            <a:pPr rtl="0" lvl="0">
              <a:spcBef>
                <a:spcPts val="0"/>
              </a:spcBef>
              <a:buNone/>
            </a:pPr>
            <a:r>
              <a:rPr b="1" sz="2400" lang="en"/>
              <a:t>Public data publishing (UK) </a:t>
            </a:r>
            <a:r>
              <a:rPr sz="2400" lang="en"/>
              <a:t>- publication of the UK’s National River Flow archive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1" name="Shape 10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2" name="Shape 102"/>
          <p:cNvSpPr txBox="1"/>
          <p:nvPr>
            <p:ph idx="1" type="body"/>
          </p:nvPr>
        </p:nvSpPr>
        <p:spPr>
          <a:xfrm>
            <a:off y="4406309" x="457200"/>
            <a:ext cy="519599" cx="82296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IE Design Overview</a:t>
            </a:r>
          </a:p>
        </p:txBody>
      </p:sp>
      <p:pic>
        <p:nvPicPr>
          <p:cNvPr id="103" name="Shape 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0" x="191900"/>
            <a:ext cy="4274724" cx="6591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Shape 104"/>
          <p:cNvSpPr txBox="1"/>
          <p:nvPr/>
        </p:nvSpPr>
        <p:spPr>
          <a:xfrm>
            <a:off y="4023050" x="5940300"/>
            <a:ext cy="457200" cx="3657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sz="800" lang="en">
                <a:solidFill>
                  <a:srgbClr val="EFEFEF"/>
                </a:solidFill>
              </a:rPr>
              <a:t>Image: CSIRO</a:t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8" name="Shape 10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9" name="Shape 109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lang="en"/>
              <a:t>Encodings</a:t>
            </a:r>
          </a:p>
        </p:txBody>
      </p:sp>
      <p:sp>
        <p:nvSpPr>
          <p:cNvPr id="110" name="Shape 110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Most OGC standards use XML encodings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There is an XML encoding of the RGS model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However, the IE is using JSON to test the model</a:t>
            </a:r>
          </a:p>
          <a:p>
            <a:pPr rtl="0" lvl="1" indent="-381000" marL="914400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lang="en"/>
              <a:t>Lower barrier to entry</a:t>
            </a:r>
          </a:p>
          <a:p>
            <a:pPr rtl="0" lvl="1" indent="-381000" marL="914400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lang="en"/>
              <a:t>Better support for web development</a:t>
            </a:r>
          </a:p>
          <a:p>
            <a:pPr rtl="0" lvl="1" indent="-381000" marL="914400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lang="en"/>
              <a:t>Broader interest in use of JSON for data exchange standards</a:t>
            </a: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4" name="Shape 11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5" name="Shape 115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lang="en"/>
              <a:t>Service choice</a:t>
            </a:r>
          </a:p>
        </p:txBody>
      </p:sp>
      <p:sp>
        <p:nvSpPr>
          <p:cNvPr id="116" name="Shape 116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-4191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/>
              <a:t>OGC services could be used for RGS data:</a:t>
            </a:r>
          </a:p>
          <a:p>
            <a:pPr algn="l" rtl="0" lvl="1" marR="0" indent="-381000" marL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Courier New"/>
              <a:buChar char="o"/>
            </a:pPr>
            <a:r>
              <a:rPr lang="en"/>
              <a:t>SOS - for gauging observations and cross-sections</a:t>
            </a:r>
          </a:p>
          <a:p>
            <a:pPr algn="l" rtl="0" lvl="1" marR="0" indent="-381000" marL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Courier New"/>
              <a:buChar char="o"/>
            </a:pPr>
            <a:r>
              <a:rPr lang="en"/>
              <a:t>WFS - for rating tables</a:t>
            </a:r>
          </a:p>
          <a:p>
            <a:pPr algn="l" rtl="0" lvl="0" marR="0" indent="-4191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However, there is overhead in implementing these specifications </a:t>
            </a:r>
          </a:p>
          <a:p>
            <a:pPr algn="l" rtl="0" lvl="1" marR="0" indent="-381000" marL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Courier New"/>
              <a:buChar char="o"/>
            </a:pPr>
            <a:r>
              <a:rPr lang="en"/>
              <a:t>We decided to use a RESTful API for the experiment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0" name="Shape 12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121" name="Shape 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152400" x="152400"/>
            <a:ext cy="4381500" cx="806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Shape 122"/>
          <p:cNvSpPr txBox="1"/>
          <p:nvPr/>
        </p:nvSpPr>
        <p:spPr>
          <a:xfrm>
            <a:off y="4610100" x="2578425"/>
            <a:ext cy="457200" cx="3657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b="1" sz="1800" lang="en"/>
              <a:t>OGC services approach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6" name="Shape 12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7" name="Shape 127"/>
          <p:cNvSpPr txBox="1"/>
          <p:nvPr/>
        </p:nvSpPr>
        <p:spPr>
          <a:xfrm>
            <a:off y="4610100" x="2953875"/>
            <a:ext cy="457200" cx="3657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b="1" sz="1800" lang="en"/>
              <a:t>RESTful service approach</a:t>
            </a:r>
          </a:p>
        </p:txBody>
      </p:sp>
      <p:pic>
        <p:nvPicPr>
          <p:cNvPr id="128" name="Shape 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72350" x="245700"/>
            <a:ext cy="4537749" cx="808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2" name="Shape 13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3" name="Shape 133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lang="en"/>
              <a:t>API</a:t>
            </a:r>
          </a:p>
        </p:txBody>
      </p:sp>
      <p:graphicFrame>
        <p:nvGraphicFramePr>
          <p:cNvPr id="134" name="Shape 134"/>
          <p:cNvGraphicFramePr/>
          <p:nvPr/>
        </p:nvGraphicFramePr>
        <p:xfrm>
          <a:off y="458612" x="457200"/>
          <a:ext cy="3000000" cx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{4FB3221E-629F-44C3-849E-3408ED9AD89B}</a:tableStyleId>
              </a:tblPr>
              <a:tblGrid>
                <a:gridCol w="1646950"/>
                <a:gridCol w="2241675"/>
                <a:gridCol w="3762300"/>
              </a:tblGrid>
              <a:tr h="350075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lnSpc>
                          <a:spcPct val="13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b="1" sz="1200" lang="en">
                          <a:solidFill>
                            <a:srgbClr val="5E5E5E"/>
                          </a:solidFill>
                        </a:rPr>
                        <a:t>Returns</a:t>
                      </a:r>
                    </a:p>
                  </a:txBody>
                  <a:tcPr marR="1428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lnSpc>
                          <a:spcPct val="13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b="1" sz="1200" lang="en">
                          <a:solidFill>
                            <a:srgbClr val="5E5E5E"/>
                          </a:solidFill>
                        </a:rPr>
                        <a:t>URL</a:t>
                      </a:r>
                    </a:p>
                  </a:txBody>
                  <a:tcPr marR="1428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lnSpc>
                          <a:spcPct val="13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b="1" sz="1200" lang="en">
                          <a:solidFill>
                            <a:srgbClr val="5E5E5E"/>
                          </a:solidFill>
                        </a:rPr>
                        <a:t>Description</a:t>
                      </a:r>
                    </a:p>
                  </a:txBody>
                  <a:tcPr marR="1428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  <a:solidFill>
                      <a:srgbClr val="F4CCCC"/>
                    </a:solidFill>
                  </a:tcPr>
                </a:tc>
              </a:tr>
              <a:tr h="682175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MonitoringPoint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/monitoring-point/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Returns a list of all monitoring points. Current returns fully encoded descriptions rather than simple references.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484700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MonitoringPoint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/monitoring-point/&lt;mp-id&gt;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Returns description of a specific monitoring point by ID.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682175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ConversionGroup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/conversion-group/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Returns a list of all available conversion groups (combinations of monitoring-points/paramFrom/paramTo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484700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ConversionGroup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/conversion-group/&lt;cg-id&gt;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Returns a specific conversion group description.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287225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Conversion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/conversion/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Returns a list of all available conversions. Get latest rating also available.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287225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Conversion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/conversion/&lt;conv-id&gt;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Returns a specific conversion by its identifier.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484700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ConversionPeriod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/conversion-period/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Returns a list of all available conversion periods.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287225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Gauging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/gauging/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Returns all available gauging observations.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484700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Gauging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/gauging/&lt;gauging-id&gt;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spcBef>
                          <a:spcPts val="0"/>
                        </a:spcBef>
                        <a:buNone/>
                      </a:pPr>
                      <a:r>
                        <a:rPr sz="1200" lang="en">
                          <a:solidFill>
                            <a:srgbClr val="5E5E5E"/>
                          </a:solidFill>
                        </a:rPr>
                        <a:t>Returns a specific gauging observation by its identifier.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</a:tbl>
          </a:graphicData>
        </a:graphic>
      </p:graphicFrame>
      <p:sp>
        <p:nvSpPr>
          <p:cNvPr id="135" name="Shape 135"/>
          <p:cNvSpPr txBox="1"/>
          <p:nvPr/>
        </p:nvSpPr>
        <p:spPr>
          <a:xfrm>
            <a:off y="59900" x="596300"/>
            <a:ext cy="457200" cx="3657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b="1" lang="en"/>
              <a:t>Base RESTful API calls</a:t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9" name="Shape 13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0" name="Shape 140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lang="en"/>
              <a:t>Information model</a:t>
            </a:r>
          </a:p>
        </p:txBody>
      </p:sp>
      <p:sp>
        <p:nvSpPr>
          <p:cNvPr id="141" name="Shape 141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"/>
              <a:t>The IE implementation model simplifies the full WaterML2.0 part 2 model</a:t>
            </a:r>
          </a:p>
          <a:p>
            <a:pPr rtl="0" lvl="0" indent="-3810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sz="2400" lang="en"/>
              <a:t>Collapses some classes</a:t>
            </a:r>
          </a:p>
          <a:p>
            <a:pPr rtl="0" lvl="0" indent="-3810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sz="2400" lang="en"/>
              <a:t>Restricts ‘in-line’ and ‘by-reference’ associations</a:t>
            </a:r>
          </a:p>
          <a:p>
            <a:pPr rtl="0" lvl="0" indent="-3810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sz="2400" lang="en"/>
              <a:t>More restrictive cardinalities</a:t>
            </a: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5" name="Shape 14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146" name="Shape 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152400" x="276500"/>
            <a:ext cy="4991099" cx="570061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Shape 147"/>
          <p:cNvSpPr txBox="1"/>
          <p:nvPr/>
        </p:nvSpPr>
        <p:spPr>
          <a:xfrm>
            <a:off y="486350" x="5915075"/>
            <a:ext cy="457200" cx="3657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sz="2400" lang="en"/>
              <a:t>IE Information Model</a:t>
            </a: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1" name="Shape 15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2" name="Shape 152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Validation	</a:t>
            </a:r>
          </a:p>
        </p:txBody>
      </p:sp>
      <p:sp>
        <p:nvSpPr>
          <p:cNvPr id="153" name="Shape 153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A validation script was developed, </a:t>
            </a:r>
            <a:r>
              <a:rPr u="sng" lang="en">
                <a:solidFill>
                  <a:schemeClr val="hlink"/>
                </a:solidFill>
                <a:hlinkClick r:id="rId3"/>
              </a:rPr>
              <a:t>available here</a:t>
            </a:r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/>
          </a:p>
          <a:p>
            <a:pPr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Also wrapped as a web-based validator, available here: </a:t>
            </a:r>
            <a:r>
              <a:rPr u="sng" lang="en">
                <a:solidFill>
                  <a:schemeClr val="hlink"/>
                </a:solidFill>
                <a:hlinkClick r:id="rId4"/>
              </a:rPr>
              <a:t>http://waterml2.csiro.au/validator</a:t>
            </a:r>
            <a:r>
              <a:rPr lang="en"/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7" name="Shape 15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158" name="Shape 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152400" x="152400"/>
            <a:ext cy="4838374" cx="863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Shape 159"/>
          <p:cNvSpPr txBox="1"/>
          <p:nvPr/>
        </p:nvSpPr>
        <p:spPr>
          <a:xfrm>
            <a:off y="312625" x="223450"/>
            <a:ext cy="457200" cx="3657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b="1" sz="1800" lang="en"/>
              <a:t>IE Service Validator</a:t>
            </a:r>
          </a:p>
        </p:txBody>
      </p:sp>
      <p:sp>
        <p:nvSpPr>
          <p:cNvPr id="160" name="Shape 160"/>
          <p:cNvSpPr txBox="1"/>
          <p:nvPr/>
        </p:nvSpPr>
        <p:spPr>
          <a:xfrm>
            <a:off y="2620725" x="74550"/>
            <a:ext cy="2432099" cx="1836600"/>
          </a:xfrm>
          <a:prstGeom prst="rect">
            <a:avLst/>
          </a:prstGeom>
          <a:noFill/>
          <a:ln w="38100" cap="flat">
            <a:solidFill>
              <a:srgbClr val="A61C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restart="never" dur="indefinite" nodeType="tmRoot">
          <p:childTnLst>
            <p:seq nextAc="seek" concurrent="1">
              <p:cTn id="2"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fill="hold" presetSubtype="0" presetClass="entr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4" name="Shape 16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165" name="Shape 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120725" x="2361200"/>
            <a:ext cy="4902050" cx="607697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Shape 166"/>
          <p:cNvSpPr txBox="1"/>
          <p:nvPr/>
        </p:nvSpPr>
        <p:spPr>
          <a:xfrm>
            <a:off y="200950" x="136600"/>
            <a:ext cy="2940900" cx="1873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sz="2400" lang="en"/>
              <a:t>The validation workflow</a:t>
            </a: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0" name="Shape 17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1" name="Shape 171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lang="en"/>
              <a:t>Service offering demos</a:t>
            </a:r>
          </a:p>
        </p:txBody>
      </p:sp>
      <p:sp>
        <p:nvSpPr>
          <p:cNvPr id="172" name="Shape 172"/>
          <p:cNvSpPr txBox="1"/>
          <p:nvPr>
            <p:ph idx="1" type="body"/>
          </p:nvPr>
        </p:nvSpPr>
        <p:spPr>
          <a:xfrm>
            <a:off y="4406309" x="457200"/>
            <a:ext cy="519599" cx="82296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lang="en"/>
              <a:t>Service offering demos</a:t>
            </a:r>
          </a:p>
        </p:txBody>
      </p:sp>
      <p:pic>
        <p:nvPicPr>
          <p:cNvPr id="173" name="Shape 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152400" x="152400"/>
            <a:ext cy="4075950" cx="543119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Shape 174"/>
          <p:cNvSpPr txBox="1"/>
          <p:nvPr/>
        </p:nvSpPr>
        <p:spPr>
          <a:xfrm>
            <a:off y="4141375" x="102950"/>
            <a:ext cy="252600" cx="52248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u="sng" sz="600" lang="en">
                <a:solidFill>
                  <a:schemeClr val="hlink"/>
                </a:solidFill>
                <a:hlinkClick r:id="rId4"/>
              </a:rPr>
              <a:t>http://www.canberratimes.com.au/photogallery/act-news/canberra-freezes-through-record-cold-spell-20140806-3d7rz.html?aggregate=&amp;selectedImage=0</a:t>
            </a: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8" name="Shape 17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9" name="Shape 179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CSIRO API demo</a:t>
            </a:r>
          </a:p>
        </p:txBody>
      </p:sp>
      <p:sp>
        <p:nvSpPr>
          <p:cNvPr id="180" name="Shape 180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u="sng" lang="en">
                <a:solidFill>
                  <a:schemeClr val="hlink"/>
                </a:solidFill>
                <a:hlinkClick r:id="rId3"/>
              </a:rPr>
              <a:t>Documentation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Example calls</a:t>
            </a:r>
          </a:p>
          <a:p>
            <a:pPr rtl="0" lvl="1" indent="-381000" marL="914400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u="sng" lang="en">
                <a:solidFill>
                  <a:schemeClr val="hlink"/>
                </a:solidFill>
                <a:hlinkClick r:id="rId4"/>
              </a:rPr>
              <a:t>MP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XML/JSON response examples</a:t>
            </a:r>
          </a:p>
          <a:p>
            <a:pPr rtl="0" lvl="1" indent="-381000" marL="914400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u="sng" lang="en">
                <a:solidFill>
                  <a:schemeClr val="hlink"/>
                </a:solidFill>
                <a:hlinkClick r:id="rId5"/>
              </a:rPr>
              <a:t>XML MP</a:t>
            </a:r>
          </a:p>
          <a:p>
            <a:pPr rtl="0" lvl="1" indent="-381000" marL="914400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u="sng" lang="en">
                <a:solidFill>
                  <a:schemeClr val="hlink"/>
                </a:solidFill>
                <a:hlinkClick r:id="rId6"/>
              </a:rPr>
              <a:t>Gauging temporal subset, XML</a:t>
            </a:r>
          </a:p>
          <a:p>
            <a:pPr lvl="1" indent="-381000" marL="914400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u="sng" lang="en">
                <a:solidFill>
                  <a:schemeClr val="hlink"/>
                </a:solidFill>
                <a:hlinkClick r:id="rId7"/>
              </a:rPr>
              <a:t>Conversion groups for specific MP</a:t>
            </a:r>
          </a:p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4" name="Shape 18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5" name="Shape 185"/>
          <p:cNvSpPr txBox="1"/>
          <p:nvPr>
            <p:ph type="title"/>
          </p:nvPr>
        </p:nvSpPr>
        <p:spPr>
          <a:xfrm>
            <a:off y="205975" x="457200"/>
            <a:ext cy="1313100" cx="82172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Aquatic Informatics -</a:t>
            </a:r>
            <a:r>
              <a:rPr sz="3600" lang="en"/>
              <a:t> WaterML 2 Part 2 Implementation</a:t>
            </a:r>
          </a:p>
        </p:txBody>
      </p:sp>
      <p:pic>
        <p:nvPicPr>
          <p:cNvPr id="186" name="Shape 1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1752600" x="228600"/>
            <a:ext cy="3343275" cx="883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Shape 1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y="4603396" x="93100"/>
            <a:ext cy="492474" cx="169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Shape 188"/>
          <p:cNvSpPr txBox="1"/>
          <p:nvPr/>
        </p:nvSpPr>
        <p:spPr>
          <a:xfrm>
            <a:off y="4783725" x="4692525"/>
            <a:ext cy="279899" cx="4527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rtl="0"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sz="1000" lang="en">
                <a:solidFill>
                  <a:schemeClr val="dk1"/>
                </a:solidFill>
              </a:rPr>
              <a:t>DPIPWE - Department of Primary Industries, Parks, Water and Environment</a:t>
            </a:r>
          </a:p>
          <a:p>
            <a:pPr>
              <a:spcBef>
                <a:spcPts val="0"/>
              </a:spcBef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2" name="Shape 19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3" name="Shape 193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Challenges</a:t>
            </a:r>
          </a:p>
        </p:txBody>
      </p:sp>
      <p:sp>
        <p:nvSpPr>
          <p:cNvPr id="194" name="Shape 194"/>
          <p:cNvSpPr txBox="1"/>
          <p:nvPr>
            <p:ph idx="1" type="body"/>
          </p:nvPr>
        </p:nvSpPr>
        <p:spPr>
          <a:xfrm>
            <a:off y="1308099" x="457200"/>
            <a:ext cy="3465299" cx="40302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355600" marL="4572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sz="2000" lang="en">
                <a:solidFill>
                  <a:schemeClr val="dk1"/>
                </a:solidFill>
              </a:rPr>
              <a:t>Data model</a:t>
            </a:r>
          </a:p>
          <a:p>
            <a:pPr rtl="0" lvl="1" indent="-381000" marL="9144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41176"/>
              <a:buFont typeface="Courier New"/>
              <a:buChar char="o"/>
            </a:pPr>
            <a:r>
              <a:rPr b="1" sz="1700" lang="en">
                <a:solidFill>
                  <a:schemeClr val="dk1"/>
                </a:solidFill>
              </a:rPr>
              <a:t>Shifts: </a:t>
            </a:r>
            <a:r>
              <a:rPr sz="1400" lang="en">
                <a:solidFill>
                  <a:schemeClr val="dk1"/>
                </a:solidFill>
              </a:rPr>
              <a:t>thanks Pete &amp; Paul !</a:t>
            </a:r>
          </a:p>
          <a:p>
            <a:pPr rtl="0" lvl="1" indent="-381000" marL="9144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41176"/>
              <a:buFont typeface="Courier New"/>
              <a:buChar char="o"/>
            </a:pPr>
            <a:r>
              <a:rPr b="1" sz="1700" lang="en">
                <a:solidFill>
                  <a:schemeClr val="dk1"/>
                </a:solidFill>
              </a:rPr>
              <a:t>Objects: </a:t>
            </a:r>
            <a:r>
              <a:rPr sz="1400" lang="en">
                <a:solidFill>
                  <a:schemeClr val="dk1"/>
                </a:solidFill>
              </a:rPr>
              <a:t>IDs and addressability</a:t>
            </a:r>
          </a:p>
          <a:p>
            <a:pPr rtl="0" lvl="1" indent="-381000" marL="9144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41176"/>
              <a:buFont typeface="Courier New"/>
              <a:buChar char="o"/>
            </a:pPr>
            <a:r>
              <a:rPr sz="1700" lang="en">
                <a:solidFill>
                  <a:schemeClr val="dk1"/>
                </a:solidFill>
              </a:rPr>
              <a:t>Rating</a:t>
            </a:r>
            <a:r>
              <a:rPr sz="1400" lang="en">
                <a:solidFill>
                  <a:schemeClr val="dk1"/>
                </a:solidFill>
              </a:rPr>
              <a:t>: how to convert equation to rating table</a:t>
            </a:r>
          </a:p>
          <a:p>
            <a:pPr rtl="0" lvl="0" indent="-355600" marL="4572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sz="2000" lang="en">
                <a:solidFill>
                  <a:schemeClr val="dk1"/>
                </a:solidFill>
              </a:rPr>
              <a:t>Performance</a:t>
            </a:r>
          </a:p>
          <a:p>
            <a:pPr rtl="0" lvl="1" indent="-336550" marL="9144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sz="1700" lang="en">
                <a:solidFill>
                  <a:schemeClr val="dk1"/>
                </a:solidFill>
              </a:rPr>
              <a:t>Paging</a:t>
            </a:r>
          </a:p>
          <a:p>
            <a:pPr rtl="0" lvl="2" indent="-317500" marL="13716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Wingdings"/>
              <a:buChar char="§"/>
            </a:pPr>
            <a:r>
              <a:rPr sz="1400" lang="en">
                <a:solidFill>
                  <a:schemeClr val="dk1"/>
                </a:solidFill>
              </a:rPr>
              <a:t>challenging to implement efficiently</a:t>
            </a:r>
          </a:p>
          <a:p>
            <a:pPr rtl="0" lvl="1" indent="-381000" marL="9144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41176"/>
              <a:buFont typeface="Courier New"/>
              <a:buChar char="o"/>
            </a:pPr>
            <a:r>
              <a:rPr sz="1700" lang="en">
                <a:solidFill>
                  <a:schemeClr val="dk1"/>
                </a:solidFill>
              </a:rPr>
              <a:t>Verbosity (</a:t>
            </a:r>
            <a:r>
              <a:rPr sz="1400" lang="en">
                <a:solidFill>
                  <a:schemeClr val="dk1"/>
                </a:solidFill>
              </a:rPr>
              <a:t>e.g., gaugings)</a:t>
            </a:r>
          </a:p>
          <a:p>
            <a:pPr rtl="0" lv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95" name="Shape 195"/>
          <p:cNvSpPr txBox="1"/>
          <p:nvPr>
            <p:ph idx="2" type="body"/>
          </p:nvPr>
        </p:nvSpPr>
        <p:spPr>
          <a:xfrm>
            <a:off y="1309508" x="4656667"/>
            <a:ext cy="3465299" cx="40302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355600" marL="4572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sz="2000" lang="en">
                <a:solidFill>
                  <a:schemeClr val="dk1"/>
                </a:solidFill>
              </a:rPr>
              <a:t>Data normalization</a:t>
            </a:r>
          </a:p>
          <a:p>
            <a:pPr rtl="0" lvl="1" indent="-336550" marL="9144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sz="1700" lang="en">
                <a:solidFill>
                  <a:schemeClr val="dk1"/>
                </a:solidFill>
              </a:rPr>
              <a:t>embed or link related data when responding to requests</a:t>
            </a:r>
          </a:p>
          <a:p>
            <a:pPr rtl="0" lvl="0" indent="-355600" marL="4572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sz="2000" lang="en">
                <a:solidFill>
                  <a:schemeClr val="dk1"/>
                </a:solidFill>
              </a:rPr>
              <a:t>Vocabulary (ontologies)</a:t>
            </a:r>
          </a:p>
          <a:p>
            <a:pPr rtl="0" lvl="1" indent="-336550" marL="9144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sz="1700" lang="en">
                <a:solidFill>
                  <a:schemeClr val="dk1"/>
                </a:solidFill>
              </a:rPr>
              <a:t>Values can be exchanged but the semantics are missing (e.g., metadata, parameters)</a:t>
            </a:r>
          </a:p>
          <a:p>
            <a:pPr lvl="1" indent="-336550" marL="9144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sz="1700" lang="en">
                <a:solidFill>
                  <a:schemeClr val="dk1"/>
                </a:solidFill>
              </a:rPr>
              <a:t>Continues to be a major issue for us</a:t>
            </a:r>
          </a:p>
        </p:txBody>
      </p:sp>
      <p:pic>
        <p:nvPicPr>
          <p:cNvPr id="196" name="Shape 1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4603396" x="93100"/>
            <a:ext cy="492474" cx="169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00" name="Shape 20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1" name="Shape 201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Value Proposition?</a:t>
            </a:r>
          </a:p>
        </p:txBody>
      </p:sp>
      <p:sp>
        <p:nvSpPr>
          <p:cNvPr id="202" name="Shape 202"/>
          <p:cNvSpPr txBox="1"/>
          <p:nvPr>
            <p:ph idx="1" type="body"/>
          </p:nvPr>
        </p:nvSpPr>
        <p:spPr>
          <a:xfrm>
            <a:off y="1308100" x="457200"/>
            <a:ext cy="3465299" cx="37803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355600" marL="4572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sz="2000" lang="en">
                <a:solidFill>
                  <a:schemeClr val="dk1"/>
                </a:solidFill>
              </a:rPr>
              <a:t>Data standards &amp; interoperability</a:t>
            </a:r>
          </a:p>
          <a:p>
            <a:pPr rtl="0" lvl="1" indent="-355600" marL="9144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17647"/>
              <a:buFont typeface="Courier New"/>
              <a:buChar char="o"/>
            </a:pPr>
            <a:r>
              <a:rPr sz="1700" lang="en">
                <a:solidFill>
                  <a:schemeClr val="dk1"/>
                </a:solidFill>
              </a:rPr>
              <a:t>a public good</a:t>
            </a:r>
          </a:p>
          <a:p>
            <a:pPr rtl="0" lvl="1" indent="-355600" marL="9144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17647"/>
              <a:buFont typeface="Courier New"/>
              <a:buChar char="o"/>
            </a:pPr>
            <a:r>
              <a:rPr sz="1700" lang="en">
                <a:solidFill>
                  <a:schemeClr val="dk1"/>
                </a:solidFill>
              </a:rPr>
              <a:t>Optimal outcomes for individual actors don’t necessarily imply an optimal outcome in aggregate - </a:t>
            </a:r>
            <a:r>
              <a:rPr sz="1400" lang="en">
                <a:solidFill>
                  <a:schemeClr val="dk1"/>
                </a:solidFill>
              </a:rPr>
              <a:t>Thomas Schelling</a:t>
            </a:r>
          </a:p>
          <a:p>
            <a:pPr rtl="0" lvl="1" indent="-355600" marL="9144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17647"/>
              <a:buFont typeface="Courier New"/>
              <a:buChar char="o"/>
            </a:pPr>
            <a:r>
              <a:rPr sz="1700" lang="en">
                <a:solidFill>
                  <a:schemeClr val="dk1"/>
                </a:solidFill>
              </a:rPr>
              <a:t>OGC leadership is critical in realizing this good</a:t>
            </a:r>
          </a:p>
          <a:p>
            <a:pPr rtl="0" lv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03" name="Shape 203"/>
          <p:cNvSpPr txBox="1"/>
          <p:nvPr>
            <p:ph idx="2" type="body"/>
          </p:nvPr>
        </p:nvSpPr>
        <p:spPr>
          <a:xfrm>
            <a:off y="1385700" x="4090825"/>
            <a:ext cy="3465299" cx="45959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355600" marL="4572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sz="2000" lang="en">
                <a:solidFill>
                  <a:schemeClr val="dk1"/>
                </a:solidFill>
              </a:rPr>
              <a:t>Aquatic Informatics</a:t>
            </a:r>
          </a:p>
          <a:p>
            <a:pPr rtl="0" lvl="1" indent="-355600" marL="9144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17647"/>
              <a:buFont typeface="Courier New"/>
              <a:buChar char="o"/>
            </a:pPr>
            <a:r>
              <a:rPr sz="1700" lang="en">
                <a:solidFill>
                  <a:schemeClr val="dk1"/>
                </a:solidFill>
              </a:rPr>
              <a:t>Our clients are asking for it</a:t>
            </a:r>
          </a:p>
          <a:p>
            <a:pPr rtl="0" lvl="1" indent="-355600" marL="9144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17647"/>
              <a:buFont typeface="Courier New"/>
              <a:buChar char="o"/>
            </a:pPr>
            <a:r>
              <a:rPr sz="1700" lang="en">
                <a:solidFill>
                  <a:schemeClr val="dk1"/>
                </a:solidFill>
              </a:rPr>
              <a:t>Contributing to a public good</a:t>
            </a:r>
          </a:p>
          <a:p>
            <a:pPr rtl="0" lvl="1" indent="-355600" marL="9144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17647"/>
              <a:buFont typeface="Courier New"/>
              <a:buChar char="o"/>
            </a:pPr>
            <a:r>
              <a:rPr sz="1700" lang="en">
                <a:solidFill>
                  <a:schemeClr val="dk1"/>
                </a:solidFill>
              </a:rPr>
              <a:t>Knowledge sharing</a:t>
            </a:r>
          </a:p>
          <a:p>
            <a:pPr rtl="0" lvl="0" indent="-355600" marL="4572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sz="2000" lang="en">
                <a:solidFill>
                  <a:schemeClr val="dk1"/>
                </a:solidFill>
              </a:rPr>
              <a:t>Client (DPIPWE)</a:t>
            </a:r>
          </a:p>
          <a:p>
            <a:pPr rtl="0" lvl="1" indent="-355600" marL="9144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17647"/>
              <a:buFont typeface="Courier New"/>
              <a:buChar char="o"/>
            </a:pPr>
            <a:r>
              <a:rPr sz="1700" lang="en">
                <a:solidFill>
                  <a:schemeClr val="dk1"/>
                </a:solidFill>
              </a:rPr>
              <a:t>“</a:t>
            </a:r>
            <a:r>
              <a:rPr b="1" sz="1700" lang="en">
                <a:solidFill>
                  <a:schemeClr val="dk1"/>
                </a:solidFill>
              </a:rPr>
              <a:t>In a nutshell it will </a:t>
            </a:r>
            <a:r>
              <a:rPr u="sng" b="1" sz="1700" lang="en">
                <a:solidFill>
                  <a:schemeClr val="dk1"/>
                </a:solidFill>
              </a:rPr>
              <a:t>improve the service </a:t>
            </a:r>
            <a:r>
              <a:rPr b="1" sz="1700" lang="en">
                <a:solidFill>
                  <a:schemeClr val="dk1"/>
                </a:solidFill>
              </a:rPr>
              <a:t>we provide to our clients and </a:t>
            </a:r>
            <a:r>
              <a:rPr u="sng" b="1" sz="1700" lang="en">
                <a:solidFill>
                  <a:schemeClr val="dk1"/>
                </a:solidFill>
              </a:rPr>
              <a:t>reduce our maintenance </a:t>
            </a:r>
            <a:r>
              <a:rPr b="1" sz="1700" lang="en">
                <a:solidFill>
                  <a:schemeClr val="dk1"/>
                </a:solidFill>
              </a:rPr>
              <a:t> effort</a:t>
            </a:r>
            <a:r>
              <a:rPr sz="1700" lang="en">
                <a:solidFill>
                  <a:schemeClr val="dk1"/>
                </a:solidFill>
              </a:rPr>
              <a:t> … </a:t>
            </a:r>
            <a:r>
              <a:rPr b="1" sz="1700" lang="en">
                <a:solidFill>
                  <a:schemeClr val="dk1"/>
                </a:solidFill>
              </a:rPr>
              <a:t>and enable us to meet data supply needs into the  </a:t>
            </a:r>
            <a:r>
              <a:rPr u="sng" b="1" sz="1700" lang="en">
                <a:solidFill>
                  <a:schemeClr val="dk1"/>
                </a:solidFill>
              </a:rPr>
              <a:t>foreseeable future</a:t>
            </a:r>
            <a:r>
              <a:rPr sz="1700" lang="en">
                <a:solidFill>
                  <a:schemeClr val="dk1"/>
                </a:solidFill>
              </a:rPr>
              <a:t>”  - </a:t>
            </a:r>
            <a:r>
              <a:rPr sz="1400" lang="en">
                <a:solidFill>
                  <a:schemeClr val="dk1"/>
                </a:solidFill>
              </a:rPr>
              <a:t>Donald Hine</a:t>
            </a:r>
          </a:p>
        </p:txBody>
      </p:sp>
      <p:pic>
        <p:nvPicPr>
          <p:cNvPr id="204" name="Shape 2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4603396" x="93100"/>
            <a:ext cy="492474" cx="169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08" name="Shape 20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9" name="Shape 209"/>
          <p:cNvSpPr txBox="1"/>
          <p:nvPr>
            <p:ph idx="1" type="body"/>
          </p:nvPr>
        </p:nvSpPr>
        <p:spPr>
          <a:xfrm>
            <a:off y="1448874" x="352675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3810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sz="2400" lang="en"/>
              <a:t>1000 monitoring points </a:t>
            </a:r>
          </a:p>
          <a:p>
            <a:pPr rtl="0" lvl="0" indent="-3810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sz="2400" lang="en"/>
              <a:t>Stage - flow conversions only</a:t>
            </a:r>
          </a:p>
          <a:p>
            <a:pPr rtl="0" lvl="0" indent="-3810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sz="2400" lang="en"/>
              <a:t>Time variant ratings, 1:1 ratio between period and rating</a:t>
            </a:r>
          </a:p>
          <a:p>
            <a:pPr rtl="0" lvl="0" indent="-3810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sz="2400" lang="en"/>
              <a:t>Each has multiple “parts” - stage range</a:t>
            </a:r>
          </a:p>
          <a:p>
            <a:pPr rtl="0" lvl="0" indent="-3810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sz="2400" lang="en"/>
              <a:t>Ratings for each “part” is an equation</a:t>
            </a:r>
          </a:p>
          <a:p>
            <a:pPr rtl="0">
              <a:spcBef>
                <a:spcPts val="0"/>
              </a:spcBef>
              <a:buNone/>
            </a:pPr>
            <a:r>
              <a:rPr u="sng" sz="1400" lang="en">
                <a:solidFill>
                  <a:schemeClr val="hlink"/>
                </a:solidFill>
                <a:hlinkClick r:id="rId3"/>
              </a:rPr>
              <a:t>http://www.ceh.ac.uk/data/nrfa/data/peakflow.html?52011</a:t>
            </a:r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  <p:sp>
        <p:nvSpPr>
          <p:cNvPr id="210" name="Shape 210"/>
          <p:cNvSpPr txBox="1"/>
          <p:nvPr>
            <p:ph type="title"/>
          </p:nvPr>
        </p:nvSpPr>
        <p:spPr>
          <a:xfrm>
            <a:off y="403351" x="457200"/>
            <a:ext cy="6183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sz="3000" lang="en"/>
              <a:t>Centre for Ecology and Hydrology - UK</a:t>
            </a:r>
          </a:p>
        </p:txBody>
      </p:sp>
      <p:pic>
        <p:nvPicPr>
          <p:cNvPr id="211" name="Shape 2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y="4492025" x="89325"/>
            <a:ext cy="571500" cx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15" name="Shape 21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6" name="Shape 216"/>
          <p:cNvSpPr txBox="1"/>
          <p:nvPr>
            <p:ph idx="1" type="body"/>
          </p:nvPr>
        </p:nvSpPr>
        <p:spPr>
          <a:xfrm>
            <a:off y="1448874" x="352675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sz="2400" lang="en"/>
              <a:t>Use cases:</a:t>
            </a:r>
          </a:p>
          <a:p>
            <a:pPr rtl="0" lvl="0" indent="-3810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sz="2400" lang="en"/>
              <a:t>Provide ratings and gaugings to enable users to understand rating history and assess uncertainty of ratings and flow data</a:t>
            </a:r>
          </a:p>
          <a:p>
            <a:pPr rtl="0" lvl="0" indent="-3810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sz="2400" lang="en"/>
              <a:t>Provide ratings to enable users to convert stage - flow</a:t>
            </a:r>
          </a:p>
          <a:p>
            <a:pPr rtl="0" lvl="0" indent="-3810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sz="2400" lang="en"/>
              <a:t>Future exchange with data providers</a:t>
            </a:r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  <p:sp>
        <p:nvSpPr>
          <p:cNvPr id="217" name="Shape 217"/>
          <p:cNvSpPr txBox="1"/>
          <p:nvPr>
            <p:ph type="title"/>
          </p:nvPr>
        </p:nvSpPr>
        <p:spPr>
          <a:xfrm>
            <a:off y="403351" x="457200"/>
            <a:ext cy="6183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sz="3000" lang="en"/>
              <a:t>Centre for Ecology and Hydrology - UK</a:t>
            </a:r>
          </a:p>
        </p:txBody>
      </p:sp>
      <p:pic>
        <p:nvPicPr>
          <p:cNvPr id="218" name="Shape 2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4492025" x="89325"/>
            <a:ext cy="571500" cx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22" name="Shape 22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3" name="Shape 223"/>
          <p:cNvSpPr txBox="1"/>
          <p:nvPr>
            <p:ph idx="1" type="body"/>
          </p:nvPr>
        </p:nvSpPr>
        <p:spPr>
          <a:xfrm>
            <a:off y="1448874" x="352675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u="sng" sz="1100" lang="en">
                <a:solidFill>
                  <a:schemeClr val="hlink"/>
                </a:solidFill>
                <a:hlinkClick r:id="rId3"/>
              </a:rPr>
              <a:t>http://www.ceh.ac.uk/nrfa/rgs-api/monitoring-point/</a:t>
            </a:r>
          </a:p>
          <a:p>
            <a:pPr rtl="0" lvl="0">
              <a:spcBef>
                <a:spcPts val="0"/>
              </a:spcBef>
              <a:buNone/>
            </a:pPr>
            <a:r>
              <a:rPr u="sng" sz="1100" lang="en">
                <a:solidFill>
                  <a:schemeClr val="hlink"/>
                </a:solidFill>
                <a:hlinkClick r:id="rId4"/>
              </a:rPr>
              <a:t>http://www.ceh.ac.uk/nrfa/rgs-api/conversion?monitoring-point=54012</a:t>
            </a:r>
          </a:p>
          <a:p>
            <a:pPr rtl="0" lvl="0">
              <a:spcBef>
                <a:spcPts val="0"/>
              </a:spcBef>
              <a:buNone/>
            </a:pPr>
            <a:r>
              <a:rPr u="sng" sz="1100" lang="en">
                <a:solidFill>
                  <a:schemeClr val="hlink"/>
                </a:solidFill>
                <a:hlinkClick r:id="rId5"/>
              </a:rPr>
              <a:t>http://www.ceh.ac.uk/nrfa/rgs-api/conversion/1222</a:t>
            </a:r>
          </a:p>
          <a:p>
            <a:pPr rtl="0" lvl="0">
              <a:spcBef>
                <a:spcPts val="0"/>
              </a:spcBef>
              <a:buNone/>
            </a:pPr>
            <a:r>
              <a:rPr u="sng" sz="1100" lang="en">
                <a:solidFill>
                  <a:schemeClr val="hlink"/>
                </a:solidFill>
                <a:hlinkClick r:id="rId6"/>
              </a:rPr>
              <a:t>http://www.ceh.ac.uk/nrfa/rgs-api/gauging?monitoring-point=54012</a:t>
            </a:r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24" name="Shape 224"/>
          <p:cNvSpPr txBox="1"/>
          <p:nvPr>
            <p:ph type="title"/>
          </p:nvPr>
        </p:nvSpPr>
        <p:spPr>
          <a:xfrm>
            <a:off y="403351" x="457200"/>
            <a:ext cy="6183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sz="3000" lang="en"/>
              <a:t>Centre for Ecology and Hydrology - UK</a:t>
            </a:r>
          </a:p>
        </p:txBody>
      </p:sp>
      <p:pic>
        <p:nvPicPr>
          <p:cNvPr id="225" name="Shape 2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y="4492025" x="89325"/>
            <a:ext cy="571500" cx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29" name="Shape 22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0" name="Shape 230"/>
          <p:cNvSpPr txBox="1"/>
          <p:nvPr>
            <p:ph idx="1" type="body"/>
          </p:nvPr>
        </p:nvSpPr>
        <p:spPr>
          <a:xfrm>
            <a:off y="1448874" x="352675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3810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sz="2400" lang="en"/>
              <a:t>Implemented in java alongside existing web-services</a:t>
            </a:r>
          </a:p>
          <a:p>
            <a:pPr rtl="0" lvl="0" indent="-3810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sz="2400" lang="en"/>
              <a:t>REST API relatively simple to implement</a:t>
            </a:r>
          </a:p>
          <a:p>
            <a:pPr rtl="0" lvl="0" indent="-3810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sz="2400" lang="en"/>
              <a:t>No paging</a:t>
            </a:r>
          </a:p>
          <a:p>
            <a:pPr rtl="0" lvl="0" indent="-3810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sz="2400" lang="en"/>
              <a:t>Currently no concept of conversionperiod_set, conversion-period: IDs constructed.</a:t>
            </a:r>
          </a:p>
          <a:p>
            <a:pPr rtl="0" lvl="0" indent="-3810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sz="2400" lang="en"/>
              <a:t>Considering how to keep equation information alongside conversion table</a:t>
            </a:r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 sz="2400"/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 sz="2400"/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  <p:sp>
        <p:nvSpPr>
          <p:cNvPr id="231" name="Shape 231"/>
          <p:cNvSpPr txBox="1"/>
          <p:nvPr>
            <p:ph type="title"/>
          </p:nvPr>
        </p:nvSpPr>
        <p:spPr>
          <a:xfrm>
            <a:off y="403351" x="457200"/>
            <a:ext cy="6183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sz="3000" lang="en"/>
              <a:t>Centre for Ecology and Hydrology - UK</a:t>
            </a:r>
          </a:p>
        </p:txBody>
      </p:sp>
      <p:pic>
        <p:nvPicPr>
          <p:cNvPr id="232" name="Shape 2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4492025" x="89325"/>
            <a:ext cy="571500" cx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36" name="Shape 23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7" name="Shape 237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-4191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Implementation over Hydstra</a:t>
            </a:r>
          </a:p>
          <a:p>
            <a:pPr algn="l" rtl="0" lvl="0" marR="0" indent="-4191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Deployed at the Department of Environment and Primary Industries (DEPI) </a:t>
            </a:r>
          </a:p>
          <a:p>
            <a:pPr algn="l" rtl="0" lvl="0" marR="0" indent="-4191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WISKI implementation is being investigated also</a:t>
            </a:r>
          </a:p>
        </p:txBody>
      </p:sp>
      <p:sp>
        <p:nvSpPr>
          <p:cNvPr id="238" name="Shape 238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Kisters</a:t>
            </a:r>
          </a:p>
        </p:txBody>
      </p:sp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42" name="Shape 24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3" name="Shape 243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Landing page: </a:t>
            </a:r>
            <a:r>
              <a:rPr u="sng" lang="en">
                <a:solidFill>
                  <a:schemeClr val="hlink"/>
                </a:solidFill>
                <a:hlinkClick r:id="rId3"/>
              </a:rPr>
              <a:t>http://203.12.195.133/rest.htm</a:t>
            </a:r>
            <a:r>
              <a:rPr lang="en"/>
              <a:t> 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Get monitoring point:</a:t>
            </a:r>
          </a:p>
          <a:p>
            <a:pPr rtl="0" lvl="1" indent="-381000" marL="914400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u="sng" lang="en">
                <a:solidFill>
                  <a:schemeClr val="hlink"/>
                </a:solidFill>
                <a:hlinkClick r:id="rId4"/>
              </a:rPr>
              <a:t>http://203.12.195.133/cgi/waterml2/monitoring-point?monitoring-point=225201A</a:t>
            </a:r>
            <a:r>
              <a:rPr lang="en"/>
              <a:t> 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Conversion group:</a:t>
            </a:r>
          </a:p>
          <a:p>
            <a:pPr rtl="0" lvl="1" indent="-381000" marL="914400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u="sng" lang="en">
                <a:solidFill>
                  <a:schemeClr val="hlink"/>
                </a:solidFill>
                <a:hlinkClick r:id="rId5"/>
              </a:rPr>
              <a:t>http://203.12.195.133/cgi/waterml2/conversion-group?monitoring-point=225201A</a:t>
            </a:r>
            <a:r>
              <a:rPr lang="en"/>
              <a:t> </a:t>
            </a:r>
          </a:p>
        </p:txBody>
      </p:sp>
      <p:sp>
        <p:nvSpPr>
          <p:cNvPr id="244" name="Shape 244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lang="en"/>
              <a:t>Kisters</a:t>
            </a:r>
          </a:p>
        </p:txBody>
      </p:sp>
    </p:spTree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48" name="Shape 24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9" name="Shape 249"/>
          <p:cNvSpPr txBox="1"/>
          <p:nvPr/>
        </p:nvSpPr>
        <p:spPr>
          <a:xfrm>
            <a:off y="1474200" x="399350"/>
            <a:ext cy="4153500" cx="8512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rtl="0" lvl="0" indent="-381000" marL="45720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sz="2400" lang="en"/>
              <a:t>Current ratings depot contains “corrections” and “ratings” files for 14,000+ sites/locations</a:t>
            </a:r>
            <a:r>
              <a:rPr sz="800" lang="en"/>
              <a:t>   </a:t>
            </a:r>
          </a:p>
          <a:p>
            <a:pPr rtl="0" lvl="0" indent="-381000" marL="45720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sz="2400" lang="en"/>
              <a:t>RGS-API is simple wrapper on the production depot</a:t>
            </a:r>
          </a:p>
          <a:p>
            <a:pPr rtl="0" lvl="0">
              <a:spcBef>
                <a:spcPts val="0"/>
              </a:spcBef>
              <a:buNone/>
            </a:pPr>
            <a:r>
              <a:rPr sz="800" lang="en"/>
              <a:t>   </a:t>
            </a:r>
          </a:p>
          <a:p>
            <a:pPr rtl="0" lvl="0" indent="-381000" marL="45720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sz="2400" lang="en"/>
              <a:t>Old RDB (tab-delimited) format is default output of USGS ADAPS timeseries-processing software</a:t>
            </a:r>
          </a:p>
          <a:p>
            <a:pPr rtl="0" lvl="0">
              <a:spcBef>
                <a:spcPts val="0"/>
              </a:spcBef>
              <a:buNone/>
            </a:pPr>
            <a:r>
              <a:rPr sz="800" lang="en"/>
              <a:t>  </a:t>
            </a:r>
          </a:p>
          <a:p>
            <a:pPr rtl="0" lvl="0" indent="-381000" marL="45720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sz="2400" lang="en"/>
              <a:t>Aquarius software does not support that old RDB format nor will we “teach” it to do so</a:t>
            </a:r>
          </a:p>
          <a:p>
            <a:pPr rtl="0" lvl="0">
              <a:spcBef>
                <a:spcPts val="0"/>
              </a:spcBef>
              <a:buNone/>
            </a:pPr>
            <a:r>
              <a:rPr sz="800" lang="en"/>
              <a:t>  </a:t>
            </a:r>
          </a:p>
          <a:p>
            <a:pPr rtl="0" lvl="0" indent="-381000" marL="45720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sz="2400" lang="en"/>
              <a:t>Therefore, starting in August 2015 the RGS schema will be the only ratings format supplied by NWIS</a:t>
            </a:r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 sz="1800"/>
          </a:p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50" name="Shape 250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sz="3600" lang="en"/>
              <a:t>United States Geological Survey</a:t>
            </a:r>
          </a:p>
        </p:txBody>
      </p:sp>
    </p:spTree>
  </p:cSld>
  <p:clrMapOvr>
    <a:masterClrMapping/>
  </p:clrMapOvr>
  <p:transition spd="slow">
    <p:cut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54" name="Shape 25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5" name="Shape 255"/>
          <p:cNvSpPr txBox="1"/>
          <p:nvPr/>
        </p:nvSpPr>
        <p:spPr>
          <a:xfrm>
            <a:off y="1474200" x="399350"/>
            <a:ext cy="3669299" cx="8512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rtl="0" lvl="0" indent="-342900" marL="45720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sz="1800" lang="en"/>
              <a:t>Conversion:</a:t>
            </a:r>
            <a:r>
              <a:rPr lang="en"/>
              <a:t> </a:t>
            </a:r>
            <a:br>
              <a:rPr lang="en"/>
            </a:br>
            <a:r>
              <a:rPr lang="en"/>
              <a:t>   </a:t>
            </a:r>
            <a:r>
              <a:rPr u="sng" sz="1800" lang="en">
                <a:solidFill>
                  <a:schemeClr val="hlink"/>
                </a:solidFill>
                <a:hlinkClick r:id="rId3"/>
              </a:rPr>
              <a:t>http://staging.waterdata.usgs.gov/nwisweb/cgi-src/conversion</a:t>
            </a:r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 sz="1800"/>
          </a:p>
          <a:p>
            <a:pPr rtl="0" lvl="0" indent="-342900" marL="45720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sz="1800" lang="en"/>
              <a:t>Conversion-group:</a:t>
            </a:r>
            <a:br>
              <a:rPr sz="1800" lang="en"/>
            </a:br>
            <a:r>
              <a:rPr sz="1800" lang="en"/>
              <a:t>   </a:t>
            </a:r>
            <a:r>
              <a:rPr u="sng" sz="1800" lang="en">
                <a:solidFill>
                  <a:schemeClr val="hlink"/>
                </a:solidFill>
                <a:hlinkClick r:id="rId4"/>
              </a:rPr>
              <a:t>http://staging.waterdata.usgs.gov/nwisweb/cgi-src/conversion-group</a:t>
            </a:r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 sz="1800"/>
          </a:p>
          <a:p>
            <a:pPr rtl="0" lvl="0" indent="-342900" marL="45720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sz="1800" lang="en"/>
              <a:t>Gauging:</a:t>
            </a:r>
            <a:br>
              <a:rPr sz="1800" lang="en"/>
            </a:br>
            <a:r>
              <a:rPr sz="1800" lang="en"/>
              <a:t>   </a:t>
            </a:r>
            <a:r>
              <a:rPr u="sng" sz="1800" lang="en">
                <a:solidFill>
                  <a:schemeClr val="hlink"/>
                </a:solidFill>
                <a:hlinkClick r:id="rId5"/>
              </a:rPr>
              <a:t>http://staging.waterdata.usgs.gov/nwisweb/cgi-src/gauging</a:t>
            </a:r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 sz="1800"/>
          </a:p>
          <a:p>
            <a:pPr rtl="0" lvl="0" indent="-342900" marL="45720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sz="1800" lang="en"/>
              <a:t>Monitoring-point:</a:t>
            </a:r>
            <a:br>
              <a:rPr sz="1800" lang="en"/>
            </a:br>
            <a:r>
              <a:rPr sz="1800" lang="en"/>
              <a:t>   </a:t>
            </a:r>
            <a:r>
              <a:rPr u="sng" sz="1800" lang="en">
                <a:solidFill>
                  <a:schemeClr val="hlink"/>
                </a:solidFill>
                <a:hlinkClick r:id="rId6"/>
              </a:rPr>
              <a:t>http://staging.waterdata.usgs.gov/nwisweb/cgi-src/monitoring-point</a:t>
            </a:r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 sz="1800"/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 sz="1800"/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 sz="1800"/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/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56" name="Shape 256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sz="3600" lang="en"/>
              <a:t>United States Geological Survey</a:t>
            </a:r>
          </a:p>
        </p:txBody>
      </p:sp>
    </p:spTree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60" name="Shape 26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1" name="Shape 261"/>
          <p:cNvSpPr txBox="1"/>
          <p:nvPr>
            <p:ph idx="1" type="body"/>
          </p:nvPr>
        </p:nvSpPr>
        <p:spPr>
          <a:xfrm>
            <a:off y="4406309" x="457200"/>
            <a:ext cy="519599" cx="82296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Client demonstrations</a:t>
            </a:r>
          </a:p>
        </p:txBody>
      </p:sp>
      <p:pic>
        <p:nvPicPr>
          <p:cNvPr id="262" name="Shape 2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173450" x="148225"/>
            <a:ext cy="4053350" cx="5404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66" name="Shape 26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7" name="Shape 267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Validation service</a:t>
            </a:r>
          </a:p>
        </p:txBody>
      </p:sp>
      <p:sp>
        <p:nvSpPr>
          <p:cNvPr id="268" name="Shape 268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269" name="Shape 2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1460500" x="333025"/>
            <a:ext cy="3605174" cx="295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Shape 270"/>
          <p:cNvSpPr txBox="1"/>
          <p:nvPr/>
        </p:nvSpPr>
        <p:spPr>
          <a:xfrm>
            <a:off y="1594200" x="4323000"/>
            <a:ext cy="363600" cx="28818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u="sng" lang="en">
                <a:solidFill>
                  <a:schemeClr val="hlink"/>
                </a:solidFill>
                <a:hlinkClick r:id="rId4"/>
              </a:rPr>
              <a:t>http://waterml2.csiro.au/validator</a:t>
            </a:r>
          </a:p>
        </p:txBody>
      </p:sp>
    </p:spTree>
  </p:cSld>
  <p:clrMapOvr>
    <a:masterClrMapping/>
  </p:clrMapOvr>
  <p:transition spd="slow">
    <p:cut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74" name="Shape 27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5" name="Shape 275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Web client demo</a:t>
            </a:r>
          </a:p>
        </p:txBody>
      </p:sp>
      <p:sp>
        <p:nvSpPr>
          <p:cNvPr id="276" name="Shape 276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277" name="Shape 2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1501775" x="313275"/>
            <a:ext cy="3501524" cx="489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Shape 278"/>
          <p:cNvSpPr txBox="1"/>
          <p:nvPr/>
        </p:nvSpPr>
        <p:spPr>
          <a:xfrm>
            <a:off y="1501775" x="5353075"/>
            <a:ext cy="290099" cx="3261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u="sng" lang="en">
                <a:solidFill>
                  <a:schemeClr val="hlink"/>
                </a:solidFill>
                <a:hlinkClick r:id="rId4"/>
              </a:rPr>
              <a:t>http://waterml2.csiro.au/rgs-api/v1/viz/</a:t>
            </a:r>
          </a:p>
        </p:txBody>
      </p:sp>
    </p:spTree>
  </p:cSld>
  <p:clrMapOvr>
    <a:masterClrMapping/>
  </p:clrMapOvr>
  <p:transition spd="slow">
    <p:cut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82" name="Shape 28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3" name="Shape 283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Hydstra import demo</a:t>
            </a:r>
          </a:p>
        </p:txBody>
      </p:sp>
      <p:sp>
        <p:nvSpPr>
          <p:cNvPr id="284" name="Shape 284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285" name="Shape 2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1673749" x="365999"/>
            <a:ext cy="3085425" cx="4507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89" name="Shape 28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0" name="Shape 290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Engineering report</a:t>
            </a:r>
          </a:p>
        </p:txBody>
      </p:sp>
      <p:sp>
        <p:nvSpPr>
          <p:cNvPr id="291" name="Shape 291"/>
          <p:cNvSpPr txBox="1"/>
          <p:nvPr>
            <p:ph idx="1" type="body"/>
          </p:nvPr>
        </p:nvSpPr>
        <p:spPr>
          <a:xfrm>
            <a:off y="4406309" x="457200"/>
            <a:ext cy="519599" cx="82296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Engineering report</a:t>
            </a:r>
          </a:p>
        </p:txBody>
      </p:sp>
      <p:pic>
        <p:nvPicPr>
          <p:cNvPr id="292" name="Shape 2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129775" x="155950"/>
            <a:ext cy="4003424" cx="63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Shape 293"/>
          <p:cNvSpPr txBox="1"/>
          <p:nvPr/>
        </p:nvSpPr>
        <p:spPr>
          <a:xfrm>
            <a:off y="4133200" x="111000"/>
            <a:ext cy="206100" cx="73059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u="sng" sz="600" lang="en">
                <a:solidFill>
                  <a:schemeClr val="hlink"/>
                </a:solidFill>
                <a:hlinkClick r:id="rId4"/>
              </a:rPr>
              <a:t>https://www.facebook.com/bureauofmeteorology/photos/pb.170992086298033.-2207520000.1407302407./760652073998695/?type=3&amp;theater</a:t>
            </a:r>
          </a:p>
        </p:txBody>
      </p:sp>
    </p:spTree>
  </p:cSld>
  <p:clrMapOvr>
    <a:masterClrMapping/>
  </p:clrMapOvr>
  <p:transition spd="slow">
    <p:cut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97" name="Shape 29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8" name="Shape 298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lang="en"/>
              <a:t>IE Report</a:t>
            </a:r>
          </a:p>
        </p:txBody>
      </p:sp>
      <p:sp>
        <p:nvSpPr>
          <p:cNvPr id="299" name="Shape 299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Close to final version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Will be submitted as OGC Engineering Report</a:t>
            </a:r>
          </a:p>
        </p:txBody>
      </p:sp>
    </p:spTree>
  </p:cSld>
  <p:clrMapOvr>
    <a:masterClrMapping/>
  </p:clrMapOvr>
  <p:transition spd="slow">
    <p:cut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03" name="Shape 30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4" name="Shape 304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What worked</a:t>
            </a:r>
          </a:p>
        </p:txBody>
      </p:sp>
      <p:sp>
        <p:nvSpPr>
          <p:cNvPr id="305" name="Shape 305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Choice to use RESTful APIs allowed 5 </a:t>
            </a:r>
            <a:r>
              <a:rPr lang="en" i="1"/>
              <a:t>separate </a:t>
            </a:r>
            <a:r>
              <a:rPr lang="en"/>
              <a:t>implementations of the API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JSON encoding lowered development effort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Allowed focussing on more important part of testing the information model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The clients work across all 5 services with no code differences</a:t>
            </a:r>
          </a:p>
        </p:txBody>
      </p:sp>
    </p:spTree>
  </p:cSld>
  <p:clrMapOvr>
    <a:masterClrMapping/>
  </p:clrMapOvr>
  <p:transition spd="slow">
    <p:cut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09" name="Shape 30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0" name="Shape 310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lang="en"/>
              <a:t>What worked</a:t>
            </a:r>
          </a:p>
        </p:txBody>
      </p:sp>
      <p:sp>
        <p:nvSpPr>
          <p:cNvPr id="311" name="Shape 311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Achieved the both the technical and domain level objectives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Tested and refined the WaterML2.0 part 2 model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Now in a good position to standardise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Agencies involved getting positive outcomes</a:t>
            </a:r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cut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15" name="Shape 31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6" name="Shape 316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Mapping to internal data structures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Handling large service responses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Separation of information model and web service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Optimizing API return collections</a:t>
            </a:r>
          </a:p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17" name="Shape 317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Challenges</a:t>
            </a:r>
          </a:p>
        </p:txBody>
      </p:sp>
    </p:spTree>
  </p:cSld>
  <p:clrMapOvr>
    <a:masterClrMapping/>
  </p:clrMapOvr>
  <p:transition spd="slow">
    <p:cut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21" name="Shape 32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2" name="Shape 322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Identifiers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No common approach for JSON encodings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Handling US practice of rating shifts</a:t>
            </a:r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/>
          </a:p>
          <a:p>
            <a:pPr rtl="0"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23" name="Shape 323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lang="en"/>
              <a:t>Challenges</a:t>
            </a:r>
          </a:p>
        </p:txBody>
      </p:sp>
    </p:spTree>
  </p:cSld>
  <p:clrMapOvr>
    <a:masterClrMapping/>
  </p:clrMapOvr>
  <p:transition spd="slow">
    <p:cut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27" name="Shape 32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8" name="Shape 328"/>
          <p:cNvSpPr txBox="1"/>
          <p:nvPr>
            <p:ph idx="1" type="body"/>
          </p:nvPr>
        </p:nvSpPr>
        <p:spPr>
          <a:xfrm>
            <a:off y="4406309" x="457200"/>
            <a:ext cy="519599" cx="82296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Next steps</a:t>
            </a:r>
          </a:p>
        </p:txBody>
      </p:sp>
      <p:pic>
        <p:nvPicPr>
          <p:cNvPr id="329" name="Shape 3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221475" x="181200"/>
            <a:ext cy="3015699" cx="872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Shape 330"/>
          <p:cNvSpPr txBox="1"/>
          <p:nvPr/>
        </p:nvSpPr>
        <p:spPr>
          <a:xfrm>
            <a:off y="3175575" x="181200"/>
            <a:ext cy="301799" cx="75488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u="sng" sz="600" lang="en">
                <a:solidFill>
                  <a:schemeClr val="hlink"/>
                </a:solidFill>
                <a:hlinkClick r:id="rId4"/>
              </a:rPr>
              <a:t>http://scienceblogs.com/startswithabang/files/2013/10/960x332-foot-in-water-26430848.jpg</a:t>
            </a:r>
          </a:p>
        </p:txBody>
      </p:sp>
    </p:spTree>
  </p:cSld>
  <p:clrMapOvr>
    <a:masterClrMapping/>
  </p:clrMapOvr>
  <p:transition spd="slow">
    <p:cut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34" name="Shape 33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5" name="Shape 335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API - where to from here?</a:t>
            </a:r>
          </a:p>
        </p:txBody>
      </p:sp>
      <p:sp>
        <p:nvSpPr>
          <p:cNvPr id="336" name="Shape 336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Being drafted as a RESTful API and JSON discussion paper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Have had interest from software vendors to put into commercial implementations</a:t>
            </a:r>
          </a:p>
          <a:p>
            <a:pPr rtl="0" lvl="0" indent="-41910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/>
              <a:t>Best practice at next TC meeting? </a:t>
            </a:r>
          </a:p>
        </p:txBody>
      </p:sp>
    </p:spTree>
  </p:cSld>
  <p:clrMapOvr>
    <a:masterClrMapping/>
  </p:clrMapOvr>
  <p:transition spd="slow">
    <p:cut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40" name="Shape 34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1" name="Shape 341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Where to from here?</a:t>
            </a:r>
          </a:p>
        </p:txBody>
      </p:sp>
      <p:sp>
        <p:nvSpPr>
          <p:cNvPr id="342" name="Shape 342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"/>
              <a:t>SWG Formation</a:t>
            </a:r>
          </a:p>
          <a:p>
            <a:pPr>
              <a:spcBef>
                <a:spcPts val="0"/>
              </a:spcBef>
              <a:buNone/>
            </a:pPr>
            <a:r>
              <a:rPr lang="en"/>
              <a:t>Engineering report</a:t>
            </a:r>
          </a:p>
        </p:txBody>
      </p:sp>
    </p:spTree>
  </p:cSld>
  <p:clrMapOvr>
    <a:masterClrMapping/>
  </p:clrMapOvr>
  <p:transition spd="slow">
    <p:cut/>
  </p:transition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46" name="Shape 34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7" name="Shape 347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lang="en"/>
              <a:t>Many thanks to all contributors!</a:t>
            </a:r>
          </a:p>
        </p:txBody>
      </p:sp>
      <p:pic>
        <p:nvPicPr>
          <p:cNvPr id="348" name="Shape 3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2649100" x="7285800"/>
            <a:ext cy="822524" cx="82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Shape 3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y="1466387" x="6019800"/>
            <a:ext cy="669874" cx="226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Shape 3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y="2845337" x="4668375"/>
            <a:ext cy="581025" cx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Shape 3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y="2980650" x="2495825"/>
            <a:ext cy="295275" cx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Shape 3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y="1466362" x="3083037"/>
            <a:ext cy="669900" cx="220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Shape 3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y="4070937" x="1293200"/>
            <a:ext cy="571500" cx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Shape 35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y="2936775" x="208975"/>
            <a:ext cy="675300" cx="1838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Shape 35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y="4269962" x="3775700"/>
            <a:ext cy="372499" cx="151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Shape 35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y="4070950" x="5834325"/>
            <a:ext cy="571500" cx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Shape 35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y="1390075" x="649625"/>
            <a:ext cy="669874" cx="157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61" name="Shape 36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62" name="Shape 362"/>
          <p:cNvSpPr txBox="1"/>
          <p:nvPr>
            <p:ph type="title"/>
          </p:nvPr>
        </p:nvSpPr>
        <p:spPr>
          <a:xfrm>
            <a:off y="205977" x="457200"/>
            <a:ext cy="1141499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the end</a:t>
            </a:r>
          </a:p>
        </p:txBody>
      </p:sp>
      <p:sp>
        <p:nvSpPr>
          <p:cNvPr id="363" name="Shape 363"/>
          <p:cNvSpPr txBox="1"/>
          <p:nvPr>
            <p:ph idx="1" type="body"/>
          </p:nvPr>
        </p:nvSpPr>
        <p:spPr>
          <a:xfrm>
            <a:off y="1460499" x="457200"/>
            <a:ext cy="34652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364" name="Shape 3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2210575" x="2446100"/>
            <a:ext cy="2143125" cx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modern">
  <a:themeElements>
    <a:clrScheme name="Custom 348">
      <a:dk1>
        <a:srgbClr val="000000"/>
      </a:dk1>
      <a:lt1>
        <a:srgbClr val="FFFFFF"/>
      </a:lt1>
      <a:dk2>
        <a:srgbClr val="191919"/>
      </a:dk2>
      <a:lt2>
        <a:srgbClr val="CCCCCC"/>
      </a:lt2>
      <a:accent1>
        <a:srgbClr val="7E5554"/>
      </a:accent1>
      <a:accent2>
        <a:srgbClr val="910A10"/>
      </a:accent2>
      <a:accent3>
        <a:srgbClr val="84294D"/>
      </a:accent3>
      <a:accent4>
        <a:srgbClr val="DA823B"/>
      </a:accent4>
      <a:accent5>
        <a:srgbClr val="625D3C"/>
      </a:accent5>
      <a:accent6>
        <a:srgbClr val="00384A"/>
      </a:accent6>
      <a:hlink>
        <a:srgbClr val="227A78"/>
      </a:hlink>
      <a:folHlink>
        <a:srgbClr val="394749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B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B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3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B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-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B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