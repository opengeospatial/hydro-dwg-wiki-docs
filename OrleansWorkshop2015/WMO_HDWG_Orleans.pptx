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notesSlides/notesSlide17.xml" ContentType="application/vnd.openxmlformats-officedocument.presentationml.notesSlide+xml"/>
  <Default Extension="emf" ContentType="image/x-emf"/>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Default Extension="jpeg" ContentType="image/jpeg"/>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1" r:id="rId1"/>
    <p:sldMasterId id="2147483650" r:id="rId2"/>
    <p:sldMasterId id="2147483712" r:id="rId3"/>
  </p:sldMasterIdLst>
  <p:notesMasterIdLst>
    <p:notesMasterId r:id="rId73"/>
  </p:notesMasterIdLst>
  <p:handoutMasterIdLst>
    <p:handoutMasterId r:id="rId74"/>
  </p:handoutMasterIdLst>
  <p:sldIdLst>
    <p:sldId id="263" r:id="rId4"/>
    <p:sldId id="559" r:id="rId5"/>
    <p:sldId id="560" r:id="rId6"/>
    <p:sldId id="561" r:id="rId7"/>
    <p:sldId id="555" r:id="rId8"/>
    <p:sldId id="556" r:id="rId9"/>
    <p:sldId id="557" r:id="rId10"/>
    <p:sldId id="558" r:id="rId11"/>
    <p:sldId id="332" r:id="rId12"/>
    <p:sldId id="375" r:id="rId13"/>
    <p:sldId id="367" r:id="rId14"/>
    <p:sldId id="370" r:id="rId15"/>
    <p:sldId id="530" r:id="rId16"/>
    <p:sldId id="531" r:id="rId17"/>
    <p:sldId id="532" r:id="rId18"/>
    <p:sldId id="533" r:id="rId19"/>
    <p:sldId id="534" r:id="rId20"/>
    <p:sldId id="535" r:id="rId21"/>
    <p:sldId id="536" r:id="rId22"/>
    <p:sldId id="537" r:id="rId23"/>
    <p:sldId id="538" r:id="rId24"/>
    <p:sldId id="539" r:id="rId25"/>
    <p:sldId id="540" r:id="rId26"/>
    <p:sldId id="541" r:id="rId27"/>
    <p:sldId id="542" r:id="rId28"/>
    <p:sldId id="543" r:id="rId29"/>
    <p:sldId id="544" r:id="rId30"/>
    <p:sldId id="545" r:id="rId31"/>
    <p:sldId id="546" r:id="rId32"/>
    <p:sldId id="547" r:id="rId33"/>
    <p:sldId id="548" r:id="rId34"/>
    <p:sldId id="549" r:id="rId35"/>
    <p:sldId id="550" r:id="rId36"/>
    <p:sldId id="551" r:id="rId37"/>
    <p:sldId id="552" r:id="rId38"/>
    <p:sldId id="553" r:id="rId39"/>
    <p:sldId id="554" r:id="rId40"/>
    <p:sldId id="389" r:id="rId41"/>
    <p:sldId id="564" r:id="rId42"/>
    <p:sldId id="565" r:id="rId43"/>
    <p:sldId id="566" r:id="rId44"/>
    <p:sldId id="567" r:id="rId45"/>
    <p:sldId id="526" r:id="rId46"/>
    <p:sldId id="529" r:id="rId47"/>
    <p:sldId id="569" r:id="rId48"/>
    <p:sldId id="568" r:id="rId49"/>
    <p:sldId id="570" r:id="rId50"/>
    <p:sldId id="571" r:id="rId51"/>
    <p:sldId id="573" r:id="rId52"/>
    <p:sldId id="574" r:id="rId53"/>
    <p:sldId id="575" r:id="rId54"/>
    <p:sldId id="572" r:id="rId55"/>
    <p:sldId id="576" r:id="rId56"/>
    <p:sldId id="489" r:id="rId57"/>
    <p:sldId id="500" r:id="rId58"/>
    <p:sldId id="505" r:id="rId59"/>
    <p:sldId id="507" r:id="rId60"/>
    <p:sldId id="517" r:id="rId61"/>
    <p:sldId id="518" r:id="rId62"/>
    <p:sldId id="528" r:id="rId63"/>
    <p:sldId id="519" r:id="rId64"/>
    <p:sldId id="527" r:id="rId65"/>
    <p:sldId id="521" r:id="rId66"/>
    <p:sldId id="520" r:id="rId67"/>
    <p:sldId id="522" r:id="rId68"/>
    <p:sldId id="523" r:id="rId69"/>
    <p:sldId id="524" r:id="rId70"/>
    <p:sldId id="525" r:id="rId71"/>
    <p:sldId id="262" r:id="rId72"/>
  </p:sldIdLst>
  <p:sldSz cx="9144000" cy="6858000" type="screen4x3"/>
  <p:notesSz cx="6858000" cy="9144000"/>
  <p:defaultTextStyle>
    <a:defPPr>
      <a:defRPr lang="en-US"/>
    </a:defPPr>
    <a:lvl1pPr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1pPr>
    <a:lvl2pPr marL="457200"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2pPr>
    <a:lvl3pPr marL="914400"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3pPr>
    <a:lvl4pPr marL="1371600"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4pPr>
    <a:lvl5pPr marL="1828800"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5pPr>
    <a:lvl6pPr marL="2286000" algn="l" defTabSz="457200" rtl="0" eaLnBrk="1" latinLnBrk="0" hangingPunct="1">
      <a:defRPr sz="2400" kern="1200">
        <a:solidFill>
          <a:schemeClr val="tx1"/>
        </a:solidFill>
        <a:latin typeface="Arial" charset="0"/>
        <a:ea typeface="+mn-ea"/>
        <a:cs typeface="+mn-cs"/>
      </a:defRPr>
    </a:lvl6pPr>
    <a:lvl7pPr marL="2743200" algn="l" defTabSz="457200" rtl="0" eaLnBrk="1" latinLnBrk="0" hangingPunct="1">
      <a:defRPr sz="2400" kern="1200">
        <a:solidFill>
          <a:schemeClr val="tx1"/>
        </a:solidFill>
        <a:latin typeface="Arial" charset="0"/>
        <a:ea typeface="+mn-ea"/>
        <a:cs typeface="+mn-cs"/>
      </a:defRPr>
    </a:lvl7pPr>
    <a:lvl8pPr marL="3200400" algn="l" defTabSz="457200" rtl="0" eaLnBrk="1" latinLnBrk="0" hangingPunct="1">
      <a:defRPr sz="2400" kern="1200">
        <a:solidFill>
          <a:schemeClr val="tx1"/>
        </a:solidFill>
        <a:latin typeface="Arial" charset="0"/>
        <a:ea typeface="+mn-ea"/>
        <a:cs typeface="+mn-cs"/>
      </a:defRPr>
    </a:lvl8pPr>
    <a:lvl9pPr marL="3657600" algn="l" defTabSz="457200" rtl="0" eaLnBrk="1" latinLnBrk="0" hangingPunct="1">
      <a:defRPr sz="24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FF0000"/>
    <a:srgbClr val="E03D4F"/>
    <a:srgbClr val="FF99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6092" autoAdjust="0"/>
  </p:normalViewPr>
  <p:slideViewPr>
    <p:cSldViewPr>
      <p:cViewPr varScale="1">
        <p:scale>
          <a:sx n="64" d="100"/>
          <a:sy n="64" d="100"/>
        </p:scale>
        <p:origin x="-696"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596ABF-A499-4DC3-A5B1-DE9AC565DCE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GB"/>
        </a:p>
      </dgm:t>
    </dgm:pt>
    <dgm:pt modelId="{08010019-1E63-4E08-B04A-E21CFF2DE15B}">
      <dgm:prSet phldrT="[Text]" custT="1"/>
      <dgm:spPr/>
      <dgm:t>
        <a:bodyPr/>
        <a:lstStyle/>
        <a:p>
          <a:pPr algn="ctr"/>
          <a:r>
            <a:rPr lang="en-GB" altLang="en-US" sz="4400" dirty="0" err="1" smtClean="0">
              <a:solidFill>
                <a:schemeClr val="tx2"/>
              </a:solidFill>
              <a:latin typeface="+mn-lt"/>
              <a:ea typeface="MS PGothic" pitchFamily="34" charset="-128"/>
              <a:cs typeface="MS PGothic" charset="0"/>
            </a:rPr>
            <a:t>Timeseries</a:t>
          </a:r>
          <a:r>
            <a:rPr lang="en-GB" altLang="en-US" sz="4400" dirty="0" smtClean="0">
              <a:solidFill>
                <a:schemeClr val="tx2"/>
              </a:solidFill>
              <a:latin typeface="+mn-lt"/>
              <a:ea typeface="MS PGothic" pitchFamily="34" charset="-128"/>
              <a:cs typeface="MS PGothic" charset="0"/>
            </a:rPr>
            <a:t> Profile</a:t>
          </a:r>
        </a:p>
      </dgm:t>
    </dgm:pt>
    <dgm:pt modelId="{BF5F9BC9-A650-4DD2-876E-ECFAC3978963}" type="parTrans" cxnId="{C838930D-1ED2-4114-A9D0-88387C5C0AB8}">
      <dgm:prSet/>
      <dgm:spPr/>
      <dgm:t>
        <a:bodyPr/>
        <a:lstStyle/>
        <a:p>
          <a:endParaRPr lang="en-GB"/>
        </a:p>
      </dgm:t>
    </dgm:pt>
    <dgm:pt modelId="{89A655D2-2B77-437C-893B-5E87E4992101}" type="sibTrans" cxnId="{C838930D-1ED2-4114-A9D0-88387C5C0AB8}">
      <dgm:prSet/>
      <dgm:spPr/>
      <dgm:t>
        <a:bodyPr/>
        <a:lstStyle/>
        <a:p>
          <a:endParaRPr lang="en-GB"/>
        </a:p>
      </dgm:t>
    </dgm:pt>
    <dgm:pt modelId="{DCE0E2B3-27D3-4573-9CE3-DF2FE90DE723}">
      <dgm:prSet phldrT="[Text]" custT="1"/>
      <dgm:spPr/>
      <dgm:t>
        <a:bodyPr/>
        <a:lstStyle/>
        <a:p>
          <a:pPr algn="ctr"/>
          <a:r>
            <a:rPr lang="en-GB" altLang="en-US" sz="4400" dirty="0" err="1" smtClean="0">
              <a:solidFill>
                <a:schemeClr val="tx2"/>
              </a:solidFill>
              <a:latin typeface="+mn-lt"/>
              <a:ea typeface="MS PGothic" pitchFamily="34" charset="-128"/>
              <a:cs typeface="MS PGothic" charset="0"/>
            </a:rPr>
            <a:t>TimeseriesML</a:t>
          </a:r>
          <a:r>
            <a:rPr lang="en-GB" altLang="en-US" sz="4400" dirty="0" smtClean="0">
              <a:solidFill>
                <a:schemeClr val="tx2"/>
              </a:solidFill>
              <a:latin typeface="+mn-lt"/>
              <a:ea typeface="MS PGothic" pitchFamily="34" charset="-128"/>
              <a:cs typeface="MS PGothic" charset="0"/>
            </a:rPr>
            <a:t> 1.0</a:t>
          </a:r>
        </a:p>
      </dgm:t>
    </dgm:pt>
    <dgm:pt modelId="{FB772D98-33EF-48F5-9D53-296D09F3F23F}" type="parTrans" cxnId="{60CB076C-66E7-4C23-97A4-5473105B285F}">
      <dgm:prSet/>
      <dgm:spPr/>
      <dgm:t>
        <a:bodyPr/>
        <a:lstStyle/>
        <a:p>
          <a:endParaRPr lang="en-GB"/>
        </a:p>
      </dgm:t>
    </dgm:pt>
    <dgm:pt modelId="{94A2EDB3-24A8-46FF-BA26-85694D9AA9A9}" type="sibTrans" cxnId="{60CB076C-66E7-4C23-97A4-5473105B285F}">
      <dgm:prSet/>
      <dgm:spPr/>
      <dgm:t>
        <a:bodyPr/>
        <a:lstStyle/>
        <a:p>
          <a:endParaRPr lang="en-GB"/>
        </a:p>
      </dgm:t>
    </dgm:pt>
    <dgm:pt modelId="{92822B10-8AEF-45FA-9DA1-CE8FD15C6DF9}">
      <dgm:prSet phldrT="[Text]" custT="1"/>
      <dgm:spPr/>
      <dgm:t>
        <a:bodyPr/>
        <a:lstStyle/>
        <a:p>
          <a:pPr algn="ctr"/>
          <a:r>
            <a:rPr lang="en-US" altLang="en-US" sz="2800" dirty="0" err="1" smtClean="0">
              <a:solidFill>
                <a:schemeClr val="tx2"/>
              </a:solidFill>
              <a:latin typeface="+mn-lt"/>
              <a:ea typeface="MS PGothic" pitchFamily="34" charset="-128"/>
              <a:cs typeface="MS PGothic" charset="0"/>
            </a:rPr>
            <a:t>Timeseries</a:t>
          </a:r>
          <a:r>
            <a:rPr lang="en-US" altLang="en-US" sz="2800" dirty="0" smtClean="0">
              <a:solidFill>
                <a:schemeClr val="tx2"/>
              </a:solidFill>
              <a:latin typeface="+mn-lt"/>
              <a:ea typeface="MS PGothic" pitchFamily="34" charset="-128"/>
              <a:cs typeface="MS PGothic" charset="0"/>
            </a:rPr>
            <a:t> Profile of Observations and Measurements </a:t>
          </a:r>
          <a:endParaRPr lang="en-GB" altLang="en-US" sz="2800" dirty="0" smtClean="0">
            <a:solidFill>
              <a:schemeClr val="tx2"/>
            </a:solidFill>
            <a:latin typeface="+mn-lt"/>
            <a:ea typeface="MS PGothic" pitchFamily="34" charset="-128"/>
            <a:cs typeface="MS PGothic" charset="0"/>
          </a:endParaRPr>
        </a:p>
      </dgm:t>
    </dgm:pt>
    <dgm:pt modelId="{F9285552-C375-4A7E-8827-F60652464DD7}" type="parTrans" cxnId="{B5DFC751-494A-4BB9-BFCD-34220650BFDC}">
      <dgm:prSet/>
      <dgm:spPr/>
      <dgm:t>
        <a:bodyPr/>
        <a:lstStyle/>
        <a:p>
          <a:endParaRPr lang="en-GB"/>
        </a:p>
      </dgm:t>
    </dgm:pt>
    <dgm:pt modelId="{87E96462-1EC5-4587-B761-2B40F67F3D11}" type="sibTrans" cxnId="{B5DFC751-494A-4BB9-BFCD-34220650BFDC}">
      <dgm:prSet/>
      <dgm:spPr/>
      <dgm:t>
        <a:bodyPr/>
        <a:lstStyle/>
        <a:p>
          <a:endParaRPr lang="en-GB"/>
        </a:p>
      </dgm:t>
    </dgm:pt>
    <dgm:pt modelId="{12116E2D-2DFC-44C2-8C74-5EFFBD7D63AA}">
      <dgm:prSet phldrT="[Text]" custT="1"/>
      <dgm:spPr/>
      <dgm:t>
        <a:bodyPr/>
        <a:lstStyle/>
        <a:p>
          <a:pPr algn="ctr"/>
          <a:r>
            <a:rPr lang="en-US" altLang="en-US" sz="2800" dirty="0" smtClean="0">
              <a:solidFill>
                <a:schemeClr val="tx2"/>
              </a:solidFill>
              <a:latin typeface="+mn-lt"/>
              <a:ea typeface="MS PGothic" pitchFamily="34" charset="-128"/>
              <a:cs typeface="MS PGothic" charset="0"/>
            </a:rPr>
            <a:t>XML Encoding of the </a:t>
          </a:r>
          <a:r>
            <a:rPr lang="en-US" altLang="en-US" sz="2800" dirty="0" err="1" smtClean="0">
              <a:solidFill>
                <a:schemeClr val="tx2"/>
              </a:solidFill>
              <a:latin typeface="+mn-lt"/>
              <a:ea typeface="MS PGothic" pitchFamily="34" charset="-128"/>
              <a:cs typeface="MS PGothic" charset="0"/>
            </a:rPr>
            <a:t>Timeseries</a:t>
          </a:r>
          <a:r>
            <a:rPr lang="en-US" altLang="en-US" sz="2800" dirty="0" smtClean="0">
              <a:solidFill>
                <a:schemeClr val="tx2"/>
              </a:solidFill>
              <a:latin typeface="+mn-lt"/>
              <a:ea typeface="MS PGothic" pitchFamily="34" charset="-128"/>
              <a:cs typeface="MS PGothic" charset="0"/>
            </a:rPr>
            <a:t> Profile of Observations and Measurements </a:t>
          </a:r>
          <a:endParaRPr lang="en-GB" altLang="en-US" sz="2800" dirty="0" smtClean="0">
            <a:solidFill>
              <a:schemeClr val="tx2"/>
            </a:solidFill>
            <a:latin typeface="+mn-lt"/>
            <a:ea typeface="MS PGothic" pitchFamily="34" charset="-128"/>
            <a:cs typeface="MS PGothic" charset="0"/>
          </a:endParaRPr>
        </a:p>
      </dgm:t>
    </dgm:pt>
    <dgm:pt modelId="{7C472031-EBF1-4139-84F0-CF5B6977C5FD}" type="parTrans" cxnId="{06C4D415-3208-4CDD-9C8C-AA9ADEEBBFFF}">
      <dgm:prSet/>
      <dgm:spPr/>
      <dgm:t>
        <a:bodyPr/>
        <a:lstStyle/>
        <a:p>
          <a:endParaRPr lang="en-GB"/>
        </a:p>
      </dgm:t>
    </dgm:pt>
    <dgm:pt modelId="{F5790E5C-2B2B-493A-A643-79222D755D65}" type="sibTrans" cxnId="{06C4D415-3208-4CDD-9C8C-AA9ADEEBBFFF}">
      <dgm:prSet/>
      <dgm:spPr/>
      <dgm:t>
        <a:bodyPr/>
        <a:lstStyle/>
        <a:p>
          <a:endParaRPr lang="en-GB"/>
        </a:p>
      </dgm:t>
    </dgm:pt>
    <dgm:pt modelId="{616D2228-D164-4EEC-A75D-A3210310BBAC}">
      <dgm:prSet phldrT="[Text]" custT="1"/>
      <dgm:spPr/>
      <dgm:t>
        <a:bodyPr/>
        <a:lstStyle/>
        <a:p>
          <a:pPr algn="l"/>
          <a:endParaRPr lang="en-GB" sz="2800" dirty="0"/>
        </a:p>
      </dgm:t>
    </dgm:pt>
    <dgm:pt modelId="{32B5D5E1-33E9-4EA4-A304-495ADDAB2866}" type="parTrans" cxnId="{EF659A6A-120D-44FC-9CDF-35CB952B05A0}">
      <dgm:prSet/>
      <dgm:spPr/>
      <dgm:t>
        <a:bodyPr/>
        <a:lstStyle/>
        <a:p>
          <a:endParaRPr lang="en-GB"/>
        </a:p>
      </dgm:t>
    </dgm:pt>
    <dgm:pt modelId="{57FFD837-A521-437D-BE93-2B51F4DF1A6B}" type="sibTrans" cxnId="{EF659A6A-120D-44FC-9CDF-35CB952B05A0}">
      <dgm:prSet/>
      <dgm:spPr/>
      <dgm:t>
        <a:bodyPr/>
        <a:lstStyle/>
        <a:p>
          <a:endParaRPr lang="en-GB"/>
        </a:p>
      </dgm:t>
    </dgm:pt>
    <dgm:pt modelId="{D56D6313-3868-4F17-90BA-7A3C41CB89C4}" type="pres">
      <dgm:prSet presAssocID="{A4596ABF-A499-4DC3-A5B1-DE9AC565DCE5}" presName="linear" presStyleCnt="0">
        <dgm:presLayoutVars>
          <dgm:animLvl val="lvl"/>
          <dgm:resizeHandles val="exact"/>
        </dgm:presLayoutVars>
      </dgm:prSet>
      <dgm:spPr/>
      <dgm:t>
        <a:bodyPr/>
        <a:lstStyle/>
        <a:p>
          <a:endParaRPr lang="en-GB"/>
        </a:p>
      </dgm:t>
    </dgm:pt>
    <dgm:pt modelId="{01FAAB5B-A411-4D37-AEE7-B0FC81560ABD}" type="pres">
      <dgm:prSet presAssocID="{08010019-1E63-4E08-B04A-E21CFF2DE15B}" presName="parentText" presStyleLbl="node1" presStyleIdx="0" presStyleCnt="2">
        <dgm:presLayoutVars>
          <dgm:chMax val="0"/>
          <dgm:bulletEnabled val="1"/>
        </dgm:presLayoutVars>
      </dgm:prSet>
      <dgm:spPr/>
      <dgm:t>
        <a:bodyPr/>
        <a:lstStyle/>
        <a:p>
          <a:endParaRPr lang="en-GB"/>
        </a:p>
      </dgm:t>
    </dgm:pt>
    <dgm:pt modelId="{D7A1DFE4-58C3-4DC0-B4DE-DF255F887997}" type="pres">
      <dgm:prSet presAssocID="{08010019-1E63-4E08-B04A-E21CFF2DE15B}" presName="childText" presStyleLbl="revTx" presStyleIdx="0" presStyleCnt="2">
        <dgm:presLayoutVars>
          <dgm:bulletEnabled val="1"/>
        </dgm:presLayoutVars>
      </dgm:prSet>
      <dgm:spPr/>
      <dgm:t>
        <a:bodyPr/>
        <a:lstStyle/>
        <a:p>
          <a:endParaRPr lang="en-GB"/>
        </a:p>
      </dgm:t>
    </dgm:pt>
    <dgm:pt modelId="{89DB024F-FFC2-4078-BF6B-B21EA83FF93D}" type="pres">
      <dgm:prSet presAssocID="{DCE0E2B3-27D3-4573-9CE3-DF2FE90DE723}" presName="parentText" presStyleLbl="node1" presStyleIdx="1" presStyleCnt="2">
        <dgm:presLayoutVars>
          <dgm:chMax val="0"/>
          <dgm:bulletEnabled val="1"/>
        </dgm:presLayoutVars>
      </dgm:prSet>
      <dgm:spPr/>
      <dgm:t>
        <a:bodyPr/>
        <a:lstStyle/>
        <a:p>
          <a:endParaRPr lang="en-GB"/>
        </a:p>
      </dgm:t>
    </dgm:pt>
    <dgm:pt modelId="{85C6F83A-E780-4B10-8A86-B4FBBD0BFF99}" type="pres">
      <dgm:prSet presAssocID="{DCE0E2B3-27D3-4573-9CE3-DF2FE90DE723}" presName="childText" presStyleLbl="revTx" presStyleIdx="1" presStyleCnt="2">
        <dgm:presLayoutVars>
          <dgm:bulletEnabled val="1"/>
        </dgm:presLayoutVars>
      </dgm:prSet>
      <dgm:spPr/>
      <dgm:t>
        <a:bodyPr/>
        <a:lstStyle/>
        <a:p>
          <a:endParaRPr lang="en-GB"/>
        </a:p>
      </dgm:t>
    </dgm:pt>
  </dgm:ptLst>
  <dgm:cxnLst>
    <dgm:cxn modelId="{31A28EAE-966F-441C-AD26-92F6FC617593}" type="presOf" srcId="{08010019-1E63-4E08-B04A-E21CFF2DE15B}" destId="{01FAAB5B-A411-4D37-AEE7-B0FC81560ABD}" srcOrd="0" destOrd="0" presId="urn:microsoft.com/office/officeart/2005/8/layout/vList2"/>
    <dgm:cxn modelId="{223C0055-B1F5-4056-8D4A-11B28AB5F9B0}" type="presOf" srcId="{DCE0E2B3-27D3-4573-9CE3-DF2FE90DE723}" destId="{89DB024F-FFC2-4078-BF6B-B21EA83FF93D}" srcOrd="0" destOrd="0" presId="urn:microsoft.com/office/officeart/2005/8/layout/vList2"/>
    <dgm:cxn modelId="{48BBC0C1-73BA-42BF-A0B0-AC60929C40E5}" type="presOf" srcId="{A4596ABF-A499-4DC3-A5B1-DE9AC565DCE5}" destId="{D56D6313-3868-4F17-90BA-7A3C41CB89C4}" srcOrd="0" destOrd="0" presId="urn:microsoft.com/office/officeart/2005/8/layout/vList2"/>
    <dgm:cxn modelId="{B5DFC751-494A-4BB9-BFCD-34220650BFDC}" srcId="{08010019-1E63-4E08-B04A-E21CFF2DE15B}" destId="{92822B10-8AEF-45FA-9DA1-CE8FD15C6DF9}" srcOrd="0" destOrd="0" parTransId="{F9285552-C375-4A7E-8827-F60652464DD7}" sibTransId="{87E96462-1EC5-4587-B761-2B40F67F3D11}"/>
    <dgm:cxn modelId="{06C4D415-3208-4CDD-9C8C-AA9ADEEBBFFF}" srcId="{DCE0E2B3-27D3-4573-9CE3-DF2FE90DE723}" destId="{12116E2D-2DFC-44C2-8C74-5EFFBD7D63AA}" srcOrd="0" destOrd="0" parTransId="{7C472031-EBF1-4139-84F0-CF5B6977C5FD}" sibTransId="{F5790E5C-2B2B-493A-A643-79222D755D65}"/>
    <dgm:cxn modelId="{C838930D-1ED2-4114-A9D0-88387C5C0AB8}" srcId="{A4596ABF-A499-4DC3-A5B1-DE9AC565DCE5}" destId="{08010019-1E63-4E08-B04A-E21CFF2DE15B}" srcOrd="0" destOrd="0" parTransId="{BF5F9BC9-A650-4DD2-876E-ECFAC3978963}" sibTransId="{89A655D2-2B77-437C-893B-5E87E4992101}"/>
    <dgm:cxn modelId="{ABA4322F-EB1E-4C5B-A0AB-711CA5A436F6}" type="presOf" srcId="{92822B10-8AEF-45FA-9DA1-CE8FD15C6DF9}" destId="{D7A1DFE4-58C3-4DC0-B4DE-DF255F887997}" srcOrd="0" destOrd="0" presId="urn:microsoft.com/office/officeart/2005/8/layout/vList2"/>
    <dgm:cxn modelId="{7812EA5D-E517-46A8-8F3C-58276006545A}" type="presOf" srcId="{12116E2D-2DFC-44C2-8C74-5EFFBD7D63AA}" destId="{85C6F83A-E780-4B10-8A86-B4FBBD0BFF99}" srcOrd="0" destOrd="0" presId="urn:microsoft.com/office/officeart/2005/8/layout/vList2"/>
    <dgm:cxn modelId="{E0A77E57-73AF-4817-9972-87A129903881}" type="presOf" srcId="{616D2228-D164-4EEC-A75D-A3210310BBAC}" destId="{D7A1DFE4-58C3-4DC0-B4DE-DF255F887997}" srcOrd="0" destOrd="1" presId="urn:microsoft.com/office/officeart/2005/8/layout/vList2"/>
    <dgm:cxn modelId="{60CB076C-66E7-4C23-97A4-5473105B285F}" srcId="{A4596ABF-A499-4DC3-A5B1-DE9AC565DCE5}" destId="{DCE0E2B3-27D3-4573-9CE3-DF2FE90DE723}" srcOrd="1" destOrd="0" parTransId="{FB772D98-33EF-48F5-9D53-296D09F3F23F}" sibTransId="{94A2EDB3-24A8-46FF-BA26-85694D9AA9A9}"/>
    <dgm:cxn modelId="{EF659A6A-120D-44FC-9CDF-35CB952B05A0}" srcId="{08010019-1E63-4E08-B04A-E21CFF2DE15B}" destId="{616D2228-D164-4EEC-A75D-A3210310BBAC}" srcOrd="1" destOrd="0" parTransId="{32B5D5E1-33E9-4EA4-A304-495ADDAB2866}" sibTransId="{57FFD837-A521-437D-BE93-2B51F4DF1A6B}"/>
    <dgm:cxn modelId="{20E910F7-058A-409F-9E06-450D42C581E8}" type="presParOf" srcId="{D56D6313-3868-4F17-90BA-7A3C41CB89C4}" destId="{01FAAB5B-A411-4D37-AEE7-B0FC81560ABD}" srcOrd="0" destOrd="0" presId="urn:microsoft.com/office/officeart/2005/8/layout/vList2"/>
    <dgm:cxn modelId="{773DDC40-4CA9-4965-8D47-214909B06AFB}" type="presParOf" srcId="{D56D6313-3868-4F17-90BA-7A3C41CB89C4}" destId="{D7A1DFE4-58C3-4DC0-B4DE-DF255F887997}" srcOrd="1" destOrd="0" presId="urn:microsoft.com/office/officeart/2005/8/layout/vList2"/>
    <dgm:cxn modelId="{CB4DAEC1-BB90-41DD-BF16-F5E328EC62F5}" type="presParOf" srcId="{D56D6313-3868-4F17-90BA-7A3C41CB89C4}" destId="{89DB024F-FFC2-4078-BF6B-B21EA83FF93D}" srcOrd="2" destOrd="0" presId="urn:microsoft.com/office/officeart/2005/8/layout/vList2"/>
    <dgm:cxn modelId="{9ED0F04B-FDB3-4443-8529-000120558C56}" type="presParOf" srcId="{D56D6313-3868-4F17-90BA-7A3C41CB89C4}" destId="{85C6F83A-E780-4B10-8A86-B4FBBD0BFF99}" srcOrd="3"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1FAAB5B-A411-4D37-AEE7-B0FC81560ABD}">
      <dsp:nvSpPr>
        <dsp:cNvPr id="0" name=""/>
        <dsp:cNvSpPr/>
      </dsp:nvSpPr>
      <dsp:spPr>
        <a:xfrm>
          <a:off x="0" y="16131"/>
          <a:ext cx="8458200" cy="10296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GB" altLang="en-US" sz="4400" kern="1200" dirty="0" err="1" smtClean="0">
              <a:solidFill>
                <a:schemeClr val="tx2"/>
              </a:solidFill>
              <a:latin typeface="+mn-lt"/>
              <a:ea typeface="MS PGothic" pitchFamily="34" charset="-128"/>
              <a:cs typeface="MS PGothic" charset="0"/>
            </a:rPr>
            <a:t>Timeseries</a:t>
          </a:r>
          <a:r>
            <a:rPr lang="en-GB" altLang="en-US" sz="4400" kern="1200" dirty="0" smtClean="0">
              <a:solidFill>
                <a:schemeClr val="tx2"/>
              </a:solidFill>
              <a:latin typeface="+mn-lt"/>
              <a:ea typeface="MS PGothic" pitchFamily="34" charset="-128"/>
              <a:cs typeface="MS PGothic" charset="0"/>
            </a:rPr>
            <a:t> Profile</a:t>
          </a:r>
        </a:p>
      </dsp:txBody>
      <dsp:txXfrm>
        <a:off x="0" y="16131"/>
        <a:ext cx="8458200" cy="1029600"/>
      </dsp:txXfrm>
    </dsp:sp>
    <dsp:sp modelId="{D7A1DFE4-58C3-4DC0-B4DE-DF255F887997}">
      <dsp:nvSpPr>
        <dsp:cNvPr id="0" name=""/>
        <dsp:cNvSpPr/>
      </dsp:nvSpPr>
      <dsp:spPr>
        <a:xfrm>
          <a:off x="0" y="1045731"/>
          <a:ext cx="8458200" cy="128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35560" rIns="199136" bIns="35560" numCol="1" spcCol="1270" anchor="t" anchorCtr="0">
          <a:noAutofit/>
        </a:bodyPr>
        <a:lstStyle/>
        <a:p>
          <a:pPr marL="285750" lvl="1" indent="-285750" algn="ctr" defTabSz="1244600">
            <a:lnSpc>
              <a:spcPct val="90000"/>
            </a:lnSpc>
            <a:spcBef>
              <a:spcPct val="0"/>
            </a:spcBef>
            <a:spcAft>
              <a:spcPct val="20000"/>
            </a:spcAft>
            <a:buChar char="••"/>
          </a:pPr>
          <a:r>
            <a:rPr lang="en-US" altLang="en-US" sz="2800" kern="1200" dirty="0" err="1" smtClean="0">
              <a:solidFill>
                <a:schemeClr val="tx2"/>
              </a:solidFill>
              <a:latin typeface="+mn-lt"/>
              <a:ea typeface="MS PGothic" pitchFamily="34" charset="-128"/>
              <a:cs typeface="MS PGothic" charset="0"/>
            </a:rPr>
            <a:t>Timeseries</a:t>
          </a:r>
          <a:r>
            <a:rPr lang="en-US" altLang="en-US" sz="2800" kern="1200" dirty="0" smtClean="0">
              <a:solidFill>
                <a:schemeClr val="tx2"/>
              </a:solidFill>
              <a:latin typeface="+mn-lt"/>
              <a:ea typeface="MS PGothic" pitchFamily="34" charset="-128"/>
              <a:cs typeface="MS PGothic" charset="0"/>
            </a:rPr>
            <a:t> Profile of Observations and Measurements </a:t>
          </a:r>
          <a:endParaRPr lang="en-GB" altLang="en-US" sz="2800" kern="1200" dirty="0" smtClean="0">
            <a:solidFill>
              <a:schemeClr val="tx2"/>
            </a:solidFill>
            <a:latin typeface="+mn-lt"/>
            <a:ea typeface="MS PGothic" pitchFamily="34" charset="-128"/>
            <a:cs typeface="MS PGothic" charset="0"/>
          </a:endParaRPr>
        </a:p>
        <a:p>
          <a:pPr marL="285750" lvl="1" indent="-285750" algn="l" defTabSz="1244600">
            <a:lnSpc>
              <a:spcPct val="90000"/>
            </a:lnSpc>
            <a:spcBef>
              <a:spcPct val="0"/>
            </a:spcBef>
            <a:spcAft>
              <a:spcPct val="20000"/>
            </a:spcAft>
            <a:buChar char="••"/>
          </a:pPr>
          <a:endParaRPr lang="en-GB" sz="2800" kern="1200" dirty="0"/>
        </a:p>
      </dsp:txBody>
      <dsp:txXfrm>
        <a:off x="0" y="1045731"/>
        <a:ext cx="8458200" cy="1280812"/>
      </dsp:txXfrm>
    </dsp:sp>
    <dsp:sp modelId="{89DB024F-FFC2-4078-BF6B-B21EA83FF93D}">
      <dsp:nvSpPr>
        <dsp:cNvPr id="0" name=""/>
        <dsp:cNvSpPr/>
      </dsp:nvSpPr>
      <dsp:spPr>
        <a:xfrm>
          <a:off x="0" y="2326543"/>
          <a:ext cx="8458200" cy="10296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GB" altLang="en-US" sz="4400" kern="1200" dirty="0" err="1" smtClean="0">
              <a:solidFill>
                <a:schemeClr val="tx2"/>
              </a:solidFill>
              <a:latin typeface="+mn-lt"/>
              <a:ea typeface="MS PGothic" pitchFamily="34" charset="-128"/>
              <a:cs typeface="MS PGothic" charset="0"/>
            </a:rPr>
            <a:t>TimeseriesML</a:t>
          </a:r>
          <a:r>
            <a:rPr lang="en-GB" altLang="en-US" sz="4400" kern="1200" dirty="0" smtClean="0">
              <a:solidFill>
                <a:schemeClr val="tx2"/>
              </a:solidFill>
              <a:latin typeface="+mn-lt"/>
              <a:ea typeface="MS PGothic" pitchFamily="34" charset="-128"/>
              <a:cs typeface="MS PGothic" charset="0"/>
            </a:rPr>
            <a:t> 1.0</a:t>
          </a:r>
        </a:p>
      </dsp:txBody>
      <dsp:txXfrm>
        <a:off x="0" y="2326543"/>
        <a:ext cx="8458200" cy="1029600"/>
      </dsp:txXfrm>
    </dsp:sp>
    <dsp:sp modelId="{85C6F83A-E780-4B10-8A86-B4FBBD0BFF99}">
      <dsp:nvSpPr>
        <dsp:cNvPr id="0" name=""/>
        <dsp:cNvSpPr/>
      </dsp:nvSpPr>
      <dsp:spPr>
        <a:xfrm>
          <a:off x="0" y="3356143"/>
          <a:ext cx="8458200" cy="91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35560" rIns="199136" bIns="35560" numCol="1" spcCol="1270" anchor="t" anchorCtr="0">
          <a:noAutofit/>
        </a:bodyPr>
        <a:lstStyle/>
        <a:p>
          <a:pPr marL="285750" lvl="1" indent="-285750" algn="ctr" defTabSz="1244600">
            <a:lnSpc>
              <a:spcPct val="90000"/>
            </a:lnSpc>
            <a:spcBef>
              <a:spcPct val="0"/>
            </a:spcBef>
            <a:spcAft>
              <a:spcPct val="20000"/>
            </a:spcAft>
            <a:buChar char="••"/>
          </a:pPr>
          <a:r>
            <a:rPr lang="en-US" altLang="en-US" sz="2800" kern="1200" dirty="0" smtClean="0">
              <a:solidFill>
                <a:schemeClr val="tx2"/>
              </a:solidFill>
              <a:latin typeface="+mn-lt"/>
              <a:ea typeface="MS PGothic" pitchFamily="34" charset="-128"/>
              <a:cs typeface="MS PGothic" charset="0"/>
            </a:rPr>
            <a:t>XML Encoding of the </a:t>
          </a:r>
          <a:r>
            <a:rPr lang="en-US" altLang="en-US" sz="2800" kern="1200" dirty="0" err="1" smtClean="0">
              <a:solidFill>
                <a:schemeClr val="tx2"/>
              </a:solidFill>
              <a:latin typeface="+mn-lt"/>
              <a:ea typeface="MS PGothic" pitchFamily="34" charset="-128"/>
              <a:cs typeface="MS PGothic" charset="0"/>
            </a:rPr>
            <a:t>Timeseries</a:t>
          </a:r>
          <a:r>
            <a:rPr lang="en-US" altLang="en-US" sz="2800" kern="1200" dirty="0" smtClean="0">
              <a:solidFill>
                <a:schemeClr val="tx2"/>
              </a:solidFill>
              <a:latin typeface="+mn-lt"/>
              <a:ea typeface="MS PGothic" pitchFamily="34" charset="-128"/>
              <a:cs typeface="MS PGothic" charset="0"/>
            </a:rPr>
            <a:t> Profile of Observations and Measurements </a:t>
          </a:r>
          <a:endParaRPr lang="en-GB" altLang="en-US" sz="2800" kern="1200" dirty="0" smtClean="0">
            <a:solidFill>
              <a:schemeClr val="tx2"/>
            </a:solidFill>
            <a:latin typeface="+mn-lt"/>
            <a:ea typeface="MS PGothic" pitchFamily="34" charset="-128"/>
            <a:cs typeface="MS PGothic" charset="0"/>
          </a:endParaRPr>
        </a:p>
      </dsp:txBody>
      <dsp:txXfrm>
        <a:off x="0" y="3356143"/>
        <a:ext cx="8458200" cy="9108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charset="0"/>
              </a:defRPr>
            </a:lvl1pPr>
          </a:lstStyle>
          <a:p>
            <a:endParaRPr lang="en-US"/>
          </a:p>
        </p:txBody>
      </p:sp>
      <p:sp>
        <p:nvSpPr>
          <p:cNvPr id="389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charset="0"/>
              </a:defRPr>
            </a:lvl1pPr>
          </a:lstStyle>
          <a:p>
            <a:endParaRPr lang="en-US"/>
          </a:p>
        </p:txBody>
      </p:sp>
      <p:sp>
        <p:nvSpPr>
          <p:cNvPr id="389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charset="0"/>
              </a:defRPr>
            </a:lvl1pPr>
          </a:lstStyle>
          <a:p>
            <a:endParaRPr lang="en-US"/>
          </a:p>
        </p:txBody>
      </p:sp>
      <p:sp>
        <p:nvSpPr>
          <p:cNvPr id="38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charset="0"/>
              </a:defRPr>
            </a:lvl1pPr>
          </a:lstStyle>
          <a:p>
            <a:fld id="{54B8B9AA-BEDC-2047-A842-1DC58C64A6F5}" type="slidenum">
              <a:rPr lang="en-US"/>
              <a:pPr/>
              <a:t>‹N›</a:t>
            </a:fld>
            <a:endParaRPr lang="en-US"/>
          </a:p>
        </p:txBody>
      </p:sp>
    </p:spTree>
    <p:extLst>
      <p:ext uri="{BB962C8B-B14F-4D97-AF65-F5344CB8AC3E}">
        <p14:creationId xmlns:p14="http://schemas.microsoft.com/office/powerpoint/2010/main" xmlns="" val="27862313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charset="0"/>
              </a:defRPr>
            </a:lvl1pPr>
          </a:lstStyle>
          <a:p>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charset="0"/>
              </a:defRPr>
            </a:lvl1pPr>
          </a:lstStyle>
          <a:p>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charset="0"/>
              </a:defRPr>
            </a:lvl1pPr>
          </a:lstStyle>
          <a:p>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charset="0"/>
              </a:defRPr>
            </a:lvl1pPr>
          </a:lstStyle>
          <a:p>
            <a:fld id="{9B0FE348-F6E3-0D4A-9E6C-6330799BBDC4}" type="slidenum">
              <a:rPr lang="en-US"/>
              <a:pPr/>
              <a:t>‹N›</a:t>
            </a:fld>
            <a:endParaRPr lang="en-US"/>
          </a:p>
        </p:txBody>
      </p:sp>
    </p:spTree>
    <p:extLst>
      <p:ext uri="{BB962C8B-B14F-4D97-AF65-F5344CB8AC3E}">
        <p14:creationId xmlns:p14="http://schemas.microsoft.com/office/powerpoint/2010/main" xmlns="" val="16070581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0FE348-F6E3-0D4A-9E6C-6330799BBDC4}" type="slidenum">
              <a:rPr lang="en-US" smtClean="0"/>
              <a:pPr/>
              <a:t>1</a:t>
            </a:fld>
            <a:endParaRPr lang="en-US"/>
          </a:p>
        </p:txBody>
      </p:sp>
    </p:spTree>
    <p:extLst>
      <p:ext uri="{BB962C8B-B14F-4D97-AF65-F5344CB8AC3E}">
        <p14:creationId xmlns:p14="http://schemas.microsoft.com/office/powerpoint/2010/main" xmlns="" val="1761129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A08714-0123-4697-BB9E-E797D37FF921}" type="slidenum">
              <a:rPr lang="en-US" smtClean="0"/>
              <a:pPr/>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A08714-0123-4697-BB9E-E797D37FF921}" type="slidenum">
              <a:rPr lang="en-US" smtClean="0"/>
              <a:pPr/>
              <a:t>11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B016F9-CE24-4E5C-871E-3BDA4C18453A}" type="slidenum">
              <a:rPr lang="en-US"/>
              <a:pPr/>
              <a:t>12</a:t>
            </a:fld>
            <a:endParaRPr lang="en-US"/>
          </a:p>
        </p:txBody>
      </p:sp>
      <p:sp>
        <p:nvSpPr>
          <p:cNvPr id="450562" name="Rectangle 2"/>
          <p:cNvSpPr>
            <a:spLocks noGrp="1" noRot="1" noChangeAspect="1" noChangeArrowheads="1" noTextEdit="1"/>
          </p:cNvSpPr>
          <p:nvPr>
            <p:ph type="sldImg"/>
          </p:nvPr>
        </p:nvSpPr>
        <p:spPr>
          <a:ln/>
        </p:spPr>
      </p:sp>
      <p:sp>
        <p:nvSpPr>
          <p:cNvPr id="450563" name="Rectangle 3"/>
          <p:cNvSpPr>
            <a:spLocks noGrp="1" noChangeArrowheads="1"/>
          </p:cNvSpPr>
          <p:nvPr>
            <p:ph type="body" idx="1"/>
          </p:nvPr>
        </p:nvSpPr>
        <p:spPr/>
        <p:txBody>
          <a:bodyPr/>
          <a:lstStyle/>
          <a:p>
            <a:r>
              <a:rPr lang="en-US" dirty="0" smtClean="0"/>
              <a:t>Here’s</a:t>
            </a:r>
            <a:r>
              <a:rPr lang="en-US" baseline="0" dirty="0" smtClean="0"/>
              <a:t> the workflow.  The user has some site locations and variables of interest.  The user sends the request to a </a:t>
            </a:r>
            <a:r>
              <a:rPr lang="en-US" baseline="0" dirty="0" err="1" smtClean="0"/>
              <a:t>WaterOneFlow</a:t>
            </a:r>
            <a:r>
              <a:rPr lang="en-US" baseline="0" dirty="0" smtClean="0"/>
              <a:t> web service for the data using those four standard functions.  The web service does the leg work of finding the data repository and extracting information from it.  The web service then transforms the data into </a:t>
            </a:r>
            <a:r>
              <a:rPr lang="en-US" baseline="0" dirty="0" err="1" smtClean="0"/>
              <a:t>WaterML</a:t>
            </a:r>
            <a:r>
              <a:rPr lang="en-US" baseline="0" dirty="0" smtClean="0"/>
              <a:t>, and sends the result back to the user.  Thus, no matter where the data are coming from, the user only has to know how to make those four standard queries and how to translate a single data format that comes back (</a:t>
            </a:r>
            <a:r>
              <a:rPr lang="en-US" baseline="0" dirty="0" err="1" smtClean="0"/>
              <a:t>WaterML</a:t>
            </a:r>
            <a:r>
              <a:rPr lang="en-US" baseline="0" dirty="0" smtClean="0"/>
              <a:t>).</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27</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28</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29</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30</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31</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32</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33</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34</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35</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36</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5453" y="8686288"/>
            <a:ext cx="2970946" cy="456249"/>
          </a:xfrm>
          <a:prstGeom prst="rect">
            <a:avLst/>
          </a:prstGeom>
          <a:noFill/>
          <a:ln w="9525">
            <a:noFill/>
            <a:miter lim="800000"/>
            <a:headEnd/>
            <a:tailEnd/>
          </a:ln>
        </p:spPr>
        <p:txBody>
          <a:bodyPr lIns="91568" tIns="45784" rIns="91568" bIns="45784" anchor="b"/>
          <a:lstStyle/>
          <a:p>
            <a:pPr algn="r"/>
            <a:fld id="{CDFDE890-66C6-42F5-B1FA-8E76708DAC42}" type="slidenum">
              <a:rPr lang="it-IT" sz="1200"/>
              <a:pPr algn="r"/>
              <a:t>37</a:t>
            </a:fld>
            <a:endParaRPr lang="it-IT"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AU" dirty="0" smtClean="0"/>
              <a:t>The 'what'</a:t>
            </a:r>
          </a:p>
          <a:p>
            <a:r>
              <a:rPr lang="en-AU" dirty="0" smtClean="0"/>
              <a:t>To achieve the WIGOS Vision:</a:t>
            </a:r>
          </a:p>
          <a:p>
            <a:r>
              <a:rPr lang="en-US" dirty="0" smtClean="0"/>
              <a:t>WIGOS will implement a framework for enabling the integration, interoperability, optimized evolution and best-practice operation of</a:t>
            </a:r>
          </a:p>
          <a:p>
            <a:r>
              <a:rPr lang="en-US" dirty="0" smtClean="0"/>
              <a:t>WMO observing systems, and </a:t>
            </a:r>
          </a:p>
          <a:p>
            <a:r>
              <a:rPr lang="en-US" dirty="0" smtClean="0"/>
              <a:t>WMO’s contribution to co-sponsored systems. </a:t>
            </a:r>
          </a:p>
          <a:p>
            <a:r>
              <a:rPr lang="en-US" dirty="0" smtClean="0"/>
              <a:t>WIGOS will use and exploit the WMO Information System (WIS)</a:t>
            </a:r>
          </a:p>
          <a:p>
            <a:r>
              <a:rPr lang="en-US" dirty="0" smtClean="0"/>
              <a:t>To allow continuous and reliable access to an expanded set of environmental data and products, and associated metadata</a:t>
            </a:r>
          </a:p>
          <a:p>
            <a:endParaRPr lang="en-AU" dirty="0" smtClean="0"/>
          </a:p>
        </p:txBody>
      </p:sp>
      <p:sp>
        <p:nvSpPr>
          <p:cNvPr id="2458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50000"/>
              </a:spcBef>
              <a:spcAft>
                <a:spcPct val="0"/>
              </a:spcAft>
              <a:buClr>
                <a:srgbClr val="FF9900"/>
              </a:buClr>
              <a:buFont typeface="Wingdings" pitchFamily="2" charset="2"/>
              <a:defRPr sz="2400">
                <a:solidFill>
                  <a:schemeClr val="tx1"/>
                </a:solidFill>
                <a:latin typeface="Arial" charset="0"/>
              </a:defRPr>
            </a:lvl6pPr>
            <a:lvl7pPr marL="2971800" indent="-228600" eaLnBrk="0" fontAlgn="base" hangingPunct="0">
              <a:spcBef>
                <a:spcPct val="50000"/>
              </a:spcBef>
              <a:spcAft>
                <a:spcPct val="0"/>
              </a:spcAft>
              <a:buClr>
                <a:srgbClr val="FF9900"/>
              </a:buClr>
              <a:buFont typeface="Wingdings" pitchFamily="2" charset="2"/>
              <a:defRPr sz="2400">
                <a:solidFill>
                  <a:schemeClr val="tx1"/>
                </a:solidFill>
                <a:latin typeface="Arial" charset="0"/>
              </a:defRPr>
            </a:lvl7pPr>
            <a:lvl8pPr marL="3429000" indent="-228600" eaLnBrk="0" fontAlgn="base" hangingPunct="0">
              <a:spcBef>
                <a:spcPct val="50000"/>
              </a:spcBef>
              <a:spcAft>
                <a:spcPct val="0"/>
              </a:spcAft>
              <a:buClr>
                <a:srgbClr val="FF9900"/>
              </a:buClr>
              <a:buFont typeface="Wingdings" pitchFamily="2" charset="2"/>
              <a:defRPr sz="2400">
                <a:solidFill>
                  <a:schemeClr val="tx1"/>
                </a:solidFill>
                <a:latin typeface="Arial" charset="0"/>
              </a:defRPr>
            </a:lvl8pPr>
            <a:lvl9pPr marL="3886200" indent="-228600" eaLnBrk="0" fontAlgn="base" hangingPunct="0">
              <a:spcBef>
                <a:spcPct val="50000"/>
              </a:spcBef>
              <a:spcAft>
                <a:spcPct val="0"/>
              </a:spcAft>
              <a:buClr>
                <a:srgbClr val="FF9900"/>
              </a:buClr>
              <a:buFont typeface="Wingdings" pitchFamily="2" charset="2"/>
              <a:defRPr sz="2400">
                <a:solidFill>
                  <a:schemeClr val="tx1"/>
                </a:solidFill>
                <a:latin typeface="Arial" charset="0"/>
              </a:defRPr>
            </a:lvl9pPr>
          </a:lstStyle>
          <a:p>
            <a:fld id="{2E936132-9EB1-4D69-9186-46A9C966EC70}" type="slidenum">
              <a:rPr lang="en-US" sz="1200" smtClean="0">
                <a:latin typeface="Times" charset="0"/>
              </a:rPr>
              <a:pPr/>
              <a:t>45</a:t>
            </a:fld>
            <a:endParaRPr lang="en-US" sz="1200" smtClean="0">
              <a:latin typeface="Times"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50000"/>
              </a:spcBef>
              <a:spcAft>
                <a:spcPct val="0"/>
              </a:spcAft>
              <a:buClr>
                <a:srgbClr val="FF9900"/>
              </a:buClr>
              <a:buFont typeface="Wingdings" pitchFamily="2" charset="2"/>
              <a:defRPr sz="2400">
                <a:solidFill>
                  <a:schemeClr val="tx1"/>
                </a:solidFill>
                <a:latin typeface="Arial" charset="0"/>
              </a:defRPr>
            </a:lvl6pPr>
            <a:lvl7pPr marL="2971800" indent="-228600" algn="ctr" eaLnBrk="0" fontAlgn="base" hangingPunct="0">
              <a:spcBef>
                <a:spcPct val="50000"/>
              </a:spcBef>
              <a:spcAft>
                <a:spcPct val="0"/>
              </a:spcAft>
              <a:buClr>
                <a:srgbClr val="FF9900"/>
              </a:buClr>
              <a:buFont typeface="Wingdings" pitchFamily="2" charset="2"/>
              <a:defRPr sz="2400">
                <a:solidFill>
                  <a:schemeClr val="tx1"/>
                </a:solidFill>
                <a:latin typeface="Arial" charset="0"/>
              </a:defRPr>
            </a:lvl7pPr>
            <a:lvl8pPr marL="3429000" indent="-228600" algn="ctr" eaLnBrk="0" fontAlgn="base" hangingPunct="0">
              <a:spcBef>
                <a:spcPct val="50000"/>
              </a:spcBef>
              <a:spcAft>
                <a:spcPct val="0"/>
              </a:spcAft>
              <a:buClr>
                <a:srgbClr val="FF9900"/>
              </a:buClr>
              <a:buFont typeface="Wingdings" pitchFamily="2" charset="2"/>
              <a:defRPr sz="2400">
                <a:solidFill>
                  <a:schemeClr val="tx1"/>
                </a:solidFill>
                <a:latin typeface="Arial" charset="0"/>
              </a:defRPr>
            </a:lvl8pPr>
            <a:lvl9pPr marL="3886200" indent="-228600" algn="ctr" eaLnBrk="0" fontAlgn="base" hangingPunct="0">
              <a:spcBef>
                <a:spcPct val="50000"/>
              </a:spcBef>
              <a:spcAft>
                <a:spcPct val="0"/>
              </a:spcAft>
              <a:buClr>
                <a:srgbClr val="FF9900"/>
              </a:buClr>
              <a:buFont typeface="Wingdings" pitchFamily="2" charset="2"/>
              <a:defRPr sz="2400">
                <a:solidFill>
                  <a:schemeClr val="tx1"/>
                </a:solidFill>
                <a:latin typeface="Arial" charset="0"/>
              </a:defRPr>
            </a:lvl9pPr>
          </a:lstStyle>
          <a:p>
            <a:fld id="{3EDD949B-6ADA-465E-9EEE-A75CE1F2C01F}" type="slidenum">
              <a:rPr lang="en-GB" altLang="en-US" sz="1200">
                <a:latin typeface="Times" charset="0"/>
              </a:rPr>
              <a:pPr/>
              <a:t>48</a:t>
            </a:fld>
            <a:endParaRPr lang="en-GB" altLang="en-US" sz="1200">
              <a:latin typeface="Times" charset="0"/>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defRPr/>
            </a:pPr>
            <a:r>
              <a:rPr lang="en-US" altLang="en-US" dirty="0" smtClean="0"/>
              <a:t>Profile of O&amp;M: result = </a:t>
            </a:r>
            <a:r>
              <a:rPr lang="en-US" altLang="en-US" dirty="0" err="1" smtClean="0"/>
              <a:t>Timeseries</a:t>
            </a:r>
            <a:endParaRPr lang="en-US" altLang="en-US" dirty="0" smtClean="0"/>
          </a:p>
        </p:txBody>
      </p:sp>
      <p:sp>
        <p:nvSpPr>
          <p:cNvPr id="4" name="Slide Number Placeholder 3"/>
          <p:cNvSpPr>
            <a:spLocks noGrp="1"/>
          </p:cNvSpPr>
          <p:nvPr>
            <p:ph type="sldNum" sz="quarter" idx="10"/>
          </p:nvPr>
        </p:nvSpPr>
        <p:spPr/>
        <p:txBody>
          <a:bodyPr/>
          <a:lstStyle/>
          <a:p>
            <a:fld id="{D10127E1-1E55-4E44-8D08-C2D2659E18B4}" type="slidenum">
              <a:rPr lang="en-GB" smtClean="0"/>
              <a:pPr/>
              <a:t>50</a:t>
            </a:fld>
            <a:endParaRPr lang="en-GB"/>
          </a:p>
        </p:txBody>
      </p:sp>
    </p:spTree>
    <p:extLst>
      <p:ext uri="{BB962C8B-B14F-4D97-AF65-F5344CB8AC3E}">
        <p14:creationId xmlns="" xmlns:p14="http://schemas.microsoft.com/office/powerpoint/2010/main" val="1970501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50000"/>
              </a:spcBef>
              <a:spcAft>
                <a:spcPct val="0"/>
              </a:spcAft>
              <a:buClr>
                <a:srgbClr val="FF9900"/>
              </a:buClr>
              <a:buFont typeface="Wingdings" pitchFamily="2" charset="2"/>
              <a:defRPr sz="2400">
                <a:solidFill>
                  <a:schemeClr val="tx1"/>
                </a:solidFill>
                <a:latin typeface="Arial" charset="0"/>
              </a:defRPr>
            </a:lvl6pPr>
            <a:lvl7pPr marL="2971800" indent="-228600" algn="ctr" eaLnBrk="0" fontAlgn="base" hangingPunct="0">
              <a:spcBef>
                <a:spcPct val="50000"/>
              </a:spcBef>
              <a:spcAft>
                <a:spcPct val="0"/>
              </a:spcAft>
              <a:buClr>
                <a:srgbClr val="FF9900"/>
              </a:buClr>
              <a:buFont typeface="Wingdings" pitchFamily="2" charset="2"/>
              <a:defRPr sz="2400">
                <a:solidFill>
                  <a:schemeClr val="tx1"/>
                </a:solidFill>
                <a:latin typeface="Arial" charset="0"/>
              </a:defRPr>
            </a:lvl7pPr>
            <a:lvl8pPr marL="3429000" indent="-228600" algn="ctr" eaLnBrk="0" fontAlgn="base" hangingPunct="0">
              <a:spcBef>
                <a:spcPct val="50000"/>
              </a:spcBef>
              <a:spcAft>
                <a:spcPct val="0"/>
              </a:spcAft>
              <a:buClr>
                <a:srgbClr val="FF9900"/>
              </a:buClr>
              <a:buFont typeface="Wingdings" pitchFamily="2" charset="2"/>
              <a:defRPr sz="2400">
                <a:solidFill>
                  <a:schemeClr val="tx1"/>
                </a:solidFill>
                <a:latin typeface="Arial" charset="0"/>
              </a:defRPr>
            </a:lvl8pPr>
            <a:lvl9pPr marL="3886200" indent="-228600" algn="ctr" eaLnBrk="0" fontAlgn="base" hangingPunct="0">
              <a:spcBef>
                <a:spcPct val="50000"/>
              </a:spcBef>
              <a:spcAft>
                <a:spcPct val="0"/>
              </a:spcAft>
              <a:buClr>
                <a:srgbClr val="FF9900"/>
              </a:buClr>
              <a:buFont typeface="Wingdings" pitchFamily="2" charset="2"/>
              <a:defRPr sz="2400">
                <a:solidFill>
                  <a:schemeClr val="tx1"/>
                </a:solidFill>
                <a:latin typeface="Arial" charset="0"/>
              </a:defRPr>
            </a:lvl9pPr>
          </a:lstStyle>
          <a:p>
            <a:fld id="{3EDD949B-6ADA-465E-9EEE-A75CE1F2C01F}" type="slidenum">
              <a:rPr lang="en-GB" altLang="en-US" sz="1200">
                <a:latin typeface="Times" charset="0"/>
              </a:rPr>
              <a:pPr/>
              <a:t>52</a:t>
            </a:fld>
            <a:endParaRPr lang="en-GB" altLang="en-US" sz="1200">
              <a:latin typeface="Times" charset="0"/>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r-FR" sz="1200" i="1" kern="0" dirty="0" smtClean="0">
                <a:solidFill>
                  <a:srgbClr val="595959"/>
                </a:solidFill>
                <a:latin typeface="Times" charset="0"/>
                <a:ea typeface="Times New Roman"/>
                <a:cs typeface="+mn-cs"/>
              </a:rPr>
              <a:t>Modèle pour l’Échange des informations sur le Temps, le </a:t>
            </a:r>
            <a:r>
              <a:rPr lang="fr-FR" sz="1200" i="1" kern="0" dirty="0" err="1" smtClean="0">
                <a:solidFill>
                  <a:srgbClr val="595959"/>
                </a:solidFill>
                <a:latin typeface="Times" charset="0"/>
                <a:ea typeface="Times New Roman"/>
                <a:cs typeface="+mn-cs"/>
              </a:rPr>
              <a:t>Climate</a:t>
            </a:r>
            <a:r>
              <a:rPr lang="fr-FR" sz="1200" i="1" kern="0" dirty="0" smtClean="0">
                <a:solidFill>
                  <a:srgbClr val="595959"/>
                </a:solidFill>
                <a:latin typeface="Times" charset="0"/>
                <a:ea typeface="Times New Roman"/>
                <a:cs typeface="+mn-cs"/>
              </a:rPr>
              <a:t> et l’</a:t>
            </a:r>
            <a:r>
              <a:rPr lang="fr-FR" sz="1200" i="1" kern="0" dirty="0" err="1" smtClean="0">
                <a:solidFill>
                  <a:srgbClr val="595959"/>
                </a:solidFill>
                <a:latin typeface="Times" charset="0"/>
                <a:ea typeface="Times New Roman"/>
                <a:cs typeface="+mn-cs"/>
              </a:rPr>
              <a:t>Éau</a:t>
            </a:r>
            <a:endParaRPr lang="en-GB" dirty="0"/>
          </a:p>
        </p:txBody>
      </p:sp>
      <p:sp>
        <p:nvSpPr>
          <p:cNvPr id="4" name="Slide Number Placeholder 3"/>
          <p:cNvSpPr>
            <a:spLocks noGrp="1"/>
          </p:cNvSpPr>
          <p:nvPr>
            <p:ph type="sldNum" sz="quarter" idx="10"/>
          </p:nvPr>
        </p:nvSpPr>
        <p:spPr/>
        <p:txBody>
          <a:bodyPr/>
          <a:lstStyle/>
          <a:p>
            <a:fld id="{5B646D5B-D828-4086-93A6-FAB251D3B76D}" type="slidenum">
              <a:rPr lang="en-GB" altLang="en-US" smtClean="0"/>
              <a:pPr/>
              <a:t>53</a:t>
            </a:fld>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58</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59</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61</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63</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64</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65</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66</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67</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57CB4F-95A1-D04C-BDAD-A36BCB04A36A}" type="slidenum">
              <a:rPr lang="en-US" smtClean="0">
                <a:solidFill>
                  <a:prstClr val="black"/>
                </a:solidFill>
                <a:latin typeface="Calibri"/>
              </a:rPr>
              <a:pPr/>
              <a:t>68</a:t>
            </a:fld>
            <a:endParaRPr lang="en-US">
              <a:solidFill>
                <a:prstClr val="black"/>
              </a:solidFill>
              <a:latin typeface="Calibri"/>
            </a:endParaRPr>
          </a:p>
        </p:txBody>
      </p:sp>
    </p:spTree>
    <p:extLst>
      <p:ext uri="{BB962C8B-B14F-4D97-AF65-F5344CB8AC3E}">
        <p14:creationId xmlns:p14="http://schemas.microsoft.com/office/powerpoint/2010/main" xmlns="" val="42363586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38914" name="Picture 11" descr="wmo_ppt_2012.psd"/>
          <p:cNvPicPr>
            <a:picLocks noChangeAspect="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38915" name="Text Box 7"/>
          <p:cNvSpPr txBox="1">
            <a:spLocks noChangeArrowheads="1"/>
          </p:cNvSpPr>
          <p:nvPr/>
        </p:nvSpPr>
        <p:spPr bwMode="auto">
          <a:xfrm>
            <a:off x="468313" y="1341438"/>
            <a:ext cx="1079500" cy="366712"/>
          </a:xfrm>
          <a:prstGeom prst="rect">
            <a:avLst/>
          </a:prstGeom>
          <a:noFill/>
          <a:ln w="9525">
            <a:noFill/>
            <a:miter lim="800000"/>
            <a:headEnd/>
            <a:tailEnd/>
          </a:ln>
          <a:effectLst/>
        </p:spPr>
        <p:txBody>
          <a:bodyPr>
            <a:prstTxWarp prst="textNoShape">
              <a:avLst/>
            </a:prstTxWarp>
            <a:spAutoFit/>
          </a:bodyPr>
          <a:lstStyle/>
          <a:p>
            <a:pPr algn="ctr">
              <a:buClrTx/>
              <a:buFontTx/>
              <a:buNone/>
            </a:pPr>
            <a:r>
              <a:rPr lang="en-US" sz="1800">
                <a:solidFill>
                  <a:schemeClr val="bg1"/>
                </a:solidFill>
                <a:latin typeface="Arial Black" charset="0"/>
              </a:rPr>
              <a:t>WMO</a:t>
            </a:r>
          </a:p>
        </p:txBody>
      </p:sp>
      <p:sp>
        <p:nvSpPr>
          <p:cNvPr id="38916" name="Rectangle 3"/>
          <p:cNvSpPr>
            <a:spLocks noGrp="1" noChangeArrowheads="1"/>
          </p:cNvSpPr>
          <p:nvPr>
            <p:ph type="ctrTitle"/>
          </p:nvPr>
        </p:nvSpPr>
        <p:spPr>
          <a:xfrm>
            <a:off x="611188" y="3211513"/>
            <a:ext cx="7921625" cy="1730375"/>
          </a:xfrm>
        </p:spPr>
        <p:txBody>
          <a:bodyPr/>
          <a:lstStyle>
            <a:lvl1pPr algn="ctr">
              <a:defRPr sz="4000">
                <a:solidFill>
                  <a:schemeClr val="bg1"/>
                </a:solidFill>
              </a:defRPr>
            </a:lvl1pPr>
          </a:lstStyle>
          <a:p>
            <a:r>
              <a:rPr lang="en-US"/>
              <a:t>Click to edit Master title style</a:t>
            </a:r>
          </a:p>
        </p:txBody>
      </p:sp>
      <p:sp>
        <p:nvSpPr>
          <p:cNvPr id="38917" name="Rectangle 4"/>
          <p:cNvSpPr>
            <a:spLocks noGrp="1" noChangeArrowheads="1"/>
          </p:cNvSpPr>
          <p:nvPr>
            <p:ph type="subTitle" idx="1"/>
          </p:nvPr>
        </p:nvSpPr>
        <p:spPr>
          <a:xfrm>
            <a:off x="611188" y="5106988"/>
            <a:ext cx="7921625" cy="914400"/>
          </a:xfrm>
        </p:spPr>
        <p:txBody>
          <a:bodyPr/>
          <a:lstStyle>
            <a:lvl1pPr marL="0" indent="0" algn="ctr">
              <a:buFont typeface="Wingdings" charset="2"/>
              <a:buNone/>
              <a:defRPr>
                <a:solidFill>
                  <a:schemeClr val="bg1"/>
                </a:solidFill>
              </a:defRPr>
            </a:lvl1pPr>
          </a:lstStyle>
          <a:p>
            <a:r>
              <a:rPr lang="en-US"/>
              <a:t>Click to edit Master subtitle style</a:t>
            </a:r>
          </a:p>
        </p:txBody>
      </p:sp>
      <p:sp>
        <p:nvSpPr>
          <p:cNvPr id="11" name="Rectangle 6"/>
          <p:cNvSpPr>
            <a:spLocks noGrp="1" noChangeArrowheads="1"/>
          </p:cNvSpPr>
          <p:nvPr>
            <p:ph type="ftr" sz="quarter" idx="3"/>
          </p:nvPr>
        </p:nvSpPr>
        <p:spPr>
          <a:xfrm>
            <a:off x="2843213" y="6467475"/>
            <a:ext cx="2520950" cy="331788"/>
          </a:xfrm>
          <a:prstGeom prst="rect">
            <a:avLst/>
          </a:prstGeom>
        </p:spPr>
        <p:txBody>
          <a:bodyPr/>
          <a:lstStyle>
            <a:lvl1pPr>
              <a:defRPr/>
            </a:lvl1pPr>
          </a:lstStyle>
          <a:p>
            <a:r>
              <a:rPr lang="en-US"/>
              <a:t>test footer</a:t>
            </a:r>
          </a:p>
        </p:txBody>
      </p:sp>
      <p:sp>
        <p:nvSpPr>
          <p:cNvPr id="12" name="Rectangle 7"/>
          <p:cNvSpPr>
            <a:spLocks noGrp="1" noChangeArrowheads="1"/>
          </p:cNvSpPr>
          <p:nvPr>
            <p:ph type="sldNum" sz="quarter" idx="4"/>
          </p:nvPr>
        </p:nvSpPr>
        <p:spPr>
          <a:xfrm>
            <a:off x="5795963" y="6467475"/>
            <a:ext cx="1152525" cy="331788"/>
          </a:xfrm>
          <a:prstGeom prst="rect">
            <a:avLst/>
          </a:prstGeom>
        </p:spPr>
        <p:txBody>
          <a:bodyPr/>
          <a:lstStyle>
            <a:lvl1pPr>
              <a:defRPr/>
            </a:lvl1pPr>
          </a:lstStyle>
          <a:p>
            <a:fld id="{03988176-642E-434C-9F92-5784E04D22AC}" type="slidenum">
              <a:rPr lang="en-US"/>
              <a:pPr/>
              <a:t>‹N›</a:t>
            </a:fld>
            <a:endParaRPr lang="en-US"/>
          </a:p>
        </p:txBody>
      </p:sp>
    </p:spTree>
  </p:cSld>
  <p:clrMapOvr>
    <a:masterClrMapping/>
  </p:clrMapOvr>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wmo_ppt_2012.psd"/>
          <p:cNvPicPr>
            <a:picLocks noChangeAspect="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Text Box 7"/>
          <p:cNvSpPr txBox="1">
            <a:spLocks noChangeArrowheads="1"/>
          </p:cNvSpPr>
          <p:nvPr/>
        </p:nvSpPr>
        <p:spPr bwMode="auto">
          <a:xfrm>
            <a:off x="468313" y="1341438"/>
            <a:ext cx="1079500" cy="366712"/>
          </a:xfrm>
          <a:prstGeom prst="rect">
            <a:avLst/>
          </a:prstGeom>
          <a:noFill/>
          <a:ln w="9525">
            <a:noFill/>
            <a:miter lim="800000"/>
            <a:headEnd/>
            <a:tailEnd/>
          </a:ln>
          <a:effectLst/>
        </p:spPr>
        <p:txBody>
          <a:bodyPr>
            <a:prstTxWarp prst="textNoShape">
              <a:avLst/>
            </a:prstTxWarp>
            <a:spAutoFit/>
          </a:bodyPr>
          <a:lstStyle/>
          <a:p>
            <a:pPr algn="ctr">
              <a:buClrTx/>
              <a:buFontTx/>
              <a:buNone/>
            </a:pPr>
            <a:r>
              <a:rPr lang="en-US" sz="1800">
                <a:solidFill>
                  <a:schemeClr val="bg1"/>
                </a:solidFill>
                <a:latin typeface="Arial Black" charset="0"/>
              </a:rPr>
              <a:t>WMO</a:t>
            </a:r>
          </a:p>
        </p:txBody>
      </p:sp>
      <p:sp>
        <p:nvSpPr>
          <p:cNvPr id="51203" name="Rectangle 3"/>
          <p:cNvSpPr>
            <a:spLocks noGrp="1" noChangeArrowheads="1"/>
          </p:cNvSpPr>
          <p:nvPr>
            <p:ph type="ctrTitle"/>
          </p:nvPr>
        </p:nvSpPr>
        <p:spPr>
          <a:xfrm>
            <a:off x="1908175" y="260350"/>
            <a:ext cx="6985000" cy="1470025"/>
          </a:xfrm>
        </p:spPr>
        <p:txBody>
          <a:bodyPr/>
          <a:lstStyle>
            <a:lvl1pPr>
              <a:defRPr sz="4000">
                <a:solidFill>
                  <a:schemeClr val="bg1"/>
                </a:solidFill>
              </a:defRPr>
            </a:lvl1pPr>
          </a:lstStyle>
          <a:p>
            <a:pPr lvl="0"/>
            <a:r>
              <a:rPr lang="en-GB" noProof="0" smtClean="0"/>
              <a:t>Click to edit Master title style</a:t>
            </a:r>
          </a:p>
        </p:txBody>
      </p:sp>
      <p:sp>
        <p:nvSpPr>
          <p:cNvPr id="51204" name="Rectangle 4"/>
          <p:cNvSpPr>
            <a:spLocks noGrp="1" noChangeArrowheads="1"/>
          </p:cNvSpPr>
          <p:nvPr>
            <p:ph type="subTitle" idx="1"/>
          </p:nvPr>
        </p:nvSpPr>
        <p:spPr>
          <a:xfrm>
            <a:off x="1908175" y="3405188"/>
            <a:ext cx="6985000" cy="1752600"/>
          </a:xfrm>
        </p:spPr>
        <p:txBody>
          <a:bodyPr/>
          <a:lstStyle>
            <a:lvl1pPr marL="0" indent="0">
              <a:defRPr>
                <a:solidFill>
                  <a:schemeClr val="bg1"/>
                </a:solidFill>
              </a:defRPr>
            </a:lvl1pPr>
          </a:lstStyle>
          <a:p>
            <a:pPr lvl="0"/>
            <a:r>
              <a:rPr lang="en-GB" noProof="0" smtClean="0"/>
              <a:t>Click to edit Master subtitle style</a:t>
            </a:r>
          </a:p>
        </p:txBody>
      </p:sp>
      <p:sp>
        <p:nvSpPr>
          <p:cNvPr id="6" name="Rectangle 6"/>
          <p:cNvSpPr>
            <a:spLocks noGrp="1" noChangeArrowheads="1"/>
          </p:cNvSpPr>
          <p:nvPr>
            <p:ph type="ftr" sz="quarter" idx="10"/>
          </p:nvPr>
        </p:nvSpPr>
        <p:spPr>
          <a:xfrm>
            <a:off x="2843213" y="6467475"/>
            <a:ext cx="2520950" cy="331788"/>
          </a:xfrm>
          <a:prstGeom prst="rect">
            <a:avLst/>
          </a:prstGeom>
        </p:spPr>
        <p:txBody>
          <a:bodyPr/>
          <a:lstStyle>
            <a:lvl1pPr>
              <a:defRPr/>
            </a:lvl1pPr>
          </a:lstStyle>
          <a:p>
            <a:r>
              <a:rPr lang="en-US"/>
              <a:t>test footer</a:t>
            </a:r>
          </a:p>
        </p:txBody>
      </p:sp>
      <p:sp>
        <p:nvSpPr>
          <p:cNvPr id="7" name="Rectangle 7"/>
          <p:cNvSpPr>
            <a:spLocks noGrp="1" noChangeArrowheads="1"/>
          </p:cNvSpPr>
          <p:nvPr>
            <p:ph type="sldNum" sz="quarter" idx="11"/>
          </p:nvPr>
        </p:nvSpPr>
        <p:spPr>
          <a:xfrm>
            <a:off x="5795963" y="6467475"/>
            <a:ext cx="1152525" cy="331788"/>
          </a:xfrm>
          <a:prstGeom prst="rect">
            <a:avLst/>
          </a:prstGeom>
        </p:spPr>
        <p:txBody>
          <a:bodyPr/>
          <a:lstStyle>
            <a:lvl1pPr>
              <a:defRPr/>
            </a:lvl1pPr>
          </a:lstStyle>
          <a:p>
            <a:fld id="{5C3454A0-E1E3-2948-8FF4-A3758E70161A}" type="slidenum">
              <a:rPr lang="en-US"/>
              <a:pPr/>
              <a:t>‹N›</a:t>
            </a:fld>
            <a:endParaRPr lang="en-US"/>
          </a:p>
        </p:txBody>
      </p:sp>
      <p:sp>
        <p:nvSpPr>
          <p:cNvPr id="8" name="Title 9"/>
          <p:cNvSpPr txBox="1">
            <a:spLocks/>
          </p:cNvSpPr>
          <p:nvPr userDrawn="1"/>
        </p:nvSpPr>
        <p:spPr>
          <a:xfrm>
            <a:off x="117474" y="6453188"/>
            <a:ext cx="2582317" cy="288925"/>
          </a:xfrm>
          <a:prstGeom prst="rect">
            <a:avLst/>
          </a:prstGeom>
        </p:spPr>
        <p:txBody>
          <a:bodyPr anchor="ctr">
            <a:normAutofit/>
          </a:bodyPr>
          <a:lstStyle/>
          <a:p>
            <a:pPr defTabSz="457200" eaLnBrk="1" fontAlgn="auto" hangingPunct="1">
              <a:spcBef>
                <a:spcPct val="0"/>
              </a:spcBef>
              <a:spcAft>
                <a:spcPts val="0"/>
              </a:spcAft>
              <a:buClrTx/>
              <a:buFontTx/>
              <a:buNone/>
              <a:defRPr/>
            </a:pPr>
            <a:r>
              <a:rPr lang="en-US" sz="1200" dirty="0" smtClean="0">
                <a:latin typeface="Arial"/>
                <a:ea typeface="+mj-ea"/>
                <a:cs typeface="Arial"/>
              </a:rPr>
              <a:t>WMO</a:t>
            </a:r>
            <a:r>
              <a:rPr lang="en-US" sz="1200" dirty="0">
                <a:latin typeface="Arial"/>
                <a:ea typeface="+mj-ea"/>
                <a:cs typeface="Arial"/>
              </a:rPr>
              <a:t> </a:t>
            </a:r>
            <a:r>
              <a:rPr lang="en-US" sz="1200" dirty="0" smtClean="0">
                <a:latin typeface="Arial"/>
                <a:ea typeface="+mj-ea"/>
                <a:cs typeface="Arial"/>
              </a:rPr>
              <a:t>Commission for Hydrology</a:t>
            </a:r>
            <a:endParaRPr lang="en-US" sz="1200" dirty="0">
              <a:latin typeface="Arial"/>
              <a:ea typeface="+mj-ea"/>
              <a:cs typeface="Arial"/>
            </a:endParaRPr>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5" name="Rectangle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F442605E-2C53-CE4F-9176-99952CEC9B1E}" type="slidenum">
              <a:rPr lang="en-US"/>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403350" y="1412875"/>
            <a:ext cx="3703638" cy="4683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5259388" y="1412875"/>
            <a:ext cx="3705225" cy="4683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6" name="Rectangle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5DA60D3E-DB37-6140-A435-533548C5AA4A}" type="slidenum">
              <a:rPr lang="en-US"/>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31640" y="188640"/>
            <a:ext cx="7355160" cy="1080120"/>
          </a:xfrm>
        </p:spPr>
        <p:txBody>
          <a:bodyPr/>
          <a:lstStyle>
            <a:lvl1pPr>
              <a:defRPr/>
            </a:lvl1pPr>
          </a:lstStyle>
          <a:p>
            <a:r>
              <a:rPr lang="en-US" dirty="0" smtClean="0"/>
              <a:t>Click to edit Master title style</a:t>
            </a:r>
            <a:endParaRPr lang="en-GB"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Footer Placeholder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8" name="Slide Number Placeholder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A0E8FD32-72A5-0E49-89D0-3F59C7739568}" type="slidenum">
              <a:rPr lang="en-US"/>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4" name="Rectangle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DC2E9497-9811-0445-AC59-ECE5962C2608}" type="slidenum">
              <a:rPr lang="en-US"/>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3" name="Rectangle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73264133-DE3E-AE4F-B9EC-BE16A8DC5E9A}" type="slidenum">
              <a:rPr lang="en-US"/>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1640" y="188640"/>
            <a:ext cx="7344816" cy="1008112"/>
          </a:xfrm>
        </p:spPr>
        <p:txBody>
          <a:bodyPr/>
          <a:lstStyle>
            <a:lvl1pPr algn="l">
              <a:defRPr sz="3200" b="0"/>
            </a:lvl1pPr>
          </a:lstStyle>
          <a:p>
            <a:r>
              <a:rPr lang="en-US" dirty="0" smtClean="0"/>
              <a:t>Click to edit Master title style</a:t>
            </a:r>
            <a:endParaRPr lang="en-GB" dirty="0"/>
          </a:p>
        </p:txBody>
      </p:sp>
      <p:sp>
        <p:nvSpPr>
          <p:cNvPr id="3" name="Content Placeholder 2"/>
          <p:cNvSpPr>
            <a:spLocks noGrp="1"/>
          </p:cNvSpPr>
          <p:nvPr>
            <p:ph idx="1"/>
          </p:nvPr>
        </p:nvSpPr>
        <p:spPr>
          <a:xfrm>
            <a:off x="3575050" y="1412776"/>
            <a:ext cx="5111750" cy="4713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6" name="Rectangle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2072A6A3-05A9-0B45-BDBB-051E9FEE6615}" type="slidenum">
              <a:rPr lang="en-US"/>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6" name="Rectangle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F77EC8B7-AAD7-9A4A-AE79-EA1B323F795F}" type="slidenum">
              <a:rPr lang="en-US"/>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5" name="Rectangle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4DFAA2F8-6EFF-B040-A7A7-43DF3A562847}" type="slidenum">
              <a:rPr lang="en-US"/>
              <a:pPr/>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5488" y="188913"/>
            <a:ext cx="1889125" cy="5907087"/>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403350" y="188913"/>
            <a:ext cx="5519738" cy="59070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6"/>
          <p:cNvSpPr>
            <a:spLocks noGrp="1" noChangeArrowheads="1"/>
          </p:cNvSpPr>
          <p:nvPr>
            <p:ph type="ftr" sz="quarter" idx="10"/>
          </p:nvPr>
        </p:nvSpPr>
        <p:spPr>
          <a:xfrm>
            <a:off x="1042988" y="6453188"/>
            <a:ext cx="4465637" cy="312737"/>
          </a:xfrm>
          <a:prstGeom prst="rect">
            <a:avLst/>
          </a:prstGeom>
          <a:ln/>
        </p:spPr>
        <p:txBody>
          <a:bodyPr/>
          <a:lstStyle>
            <a:lvl1pPr>
              <a:defRPr/>
            </a:lvl1pPr>
          </a:lstStyle>
          <a:p>
            <a:r>
              <a:rPr lang="en-US"/>
              <a:t>test footer</a:t>
            </a:r>
          </a:p>
        </p:txBody>
      </p:sp>
      <p:sp>
        <p:nvSpPr>
          <p:cNvPr id="5" name="Rectangle 7"/>
          <p:cNvSpPr>
            <a:spLocks noGrp="1" noChangeArrowheads="1"/>
          </p:cNvSpPr>
          <p:nvPr>
            <p:ph type="sldNum" sz="quarter" idx="11"/>
          </p:nvPr>
        </p:nvSpPr>
        <p:spPr>
          <a:xfrm>
            <a:off x="5867400" y="6478588"/>
            <a:ext cx="1152525" cy="312737"/>
          </a:xfrm>
          <a:prstGeom prst="rect">
            <a:avLst/>
          </a:prstGeom>
          <a:ln/>
        </p:spPr>
        <p:txBody>
          <a:bodyPr/>
          <a:lstStyle>
            <a:lvl1pPr>
              <a:defRPr/>
            </a:lvl1pPr>
          </a:lstStyle>
          <a:p>
            <a:fld id="{F3C7A14E-5B4C-E24D-A61E-A6567BE66BE5}" type="slidenum">
              <a:rPr lang="en-US"/>
              <a:pPr/>
              <a:t>‹N›</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0825" y="188913"/>
            <a:ext cx="8713788" cy="7921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50825" y="1052513"/>
            <a:ext cx="4279900" cy="48974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3125" y="1052513"/>
            <a:ext cx="4281488" cy="48974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042988" y="6453188"/>
            <a:ext cx="4465637" cy="312737"/>
          </a:xfrm>
          <a:prstGeom prst="rect">
            <a:avLst/>
          </a:prstGeom>
        </p:spPr>
        <p:txBody>
          <a:bodyPr/>
          <a:lstStyle>
            <a:lvl1pPr>
              <a:defRPr/>
            </a:lvl1pPr>
          </a:lstStyle>
          <a:p>
            <a:r>
              <a:rPr lang="en-US"/>
              <a:t>test footer</a:t>
            </a:r>
          </a:p>
        </p:txBody>
      </p:sp>
      <p:sp>
        <p:nvSpPr>
          <p:cNvPr id="6" name="Slide Number Placeholder 5"/>
          <p:cNvSpPr>
            <a:spLocks noGrp="1"/>
          </p:cNvSpPr>
          <p:nvPr>
            <p:ph type="sldNum" sz="quarter" idx="11"/>
          </p:nvPr>
        </p:nvSpPr>
        <p:spPr>
          <a:xfrm>
            <a:off x="5867400" y="6478588"/>
            <a:ext cx="1152525" cy="312737"/>
          </a:xfrm>
          <a:prstGeom prst="rect">
            <a:avLst/>
          </a:prstGeom>
        </p:spPr>
        <p:txBody>
          <a:bodyPr/>
          <a:lstStyle>
            <a:lvl1pPr>
              <a:defRPr smtClean="0"/>
            </a:lvl1pPr>
          </a:lstStyle>
          <a:p>
            <a:fld id="{9033E12E-9C6D-9347-BD57-13C9F4E6827E}" type="slidenum">
              <a:rPr lang="en-US"/>
              <a:pPr/>
              <a:t>‹N›</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3849B94F-9706-4244-812D-9C62A65E9828}" type="slidenum">
              <a:rPr lang="en-US"/>
              <a:pPr/>
              <a:t>‹N›</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6A35919E-E7C3-4743-A656-E9720EACCDB8}" type="slidenum">
              <a:rPr lang="en-US"/>
              <a:pPr/>
              <a:t>‹N›</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50D6DC1D-4386-9442-8722-02AD801544FC}" type="slidenum">
              <a:rPr lang="en-US"/>
              <a:pPr/>
              <a:t>‹N›</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79388" y="981075"/>
            <a:ext cx="4316412"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981075"/>
            <a:ext cx="4316413"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10"/>
          <p:cNvSpPr>
            <a:spLocks noGrp="1" noChangeArrowheads="1"/>
          </p:cNvSpPr>
          <p:nvPr>
            <p:ph type="ftr" sz="quarter" idx="10"/>
          </p:nvPr>
        </p:nvSpPr>
        <p:spPr>
          <a:ln/>
        </p:spPr>
        <p:txBody>
          <a:bodyPr/>
          <a:lstStyle>
            <a:lvl1pPr>
              <a:defRPr/>
            </a:lvl1pPr>
          </a:lstStyle>
          <a:p>
            <a:r>
              <a:rPr lang="en-US"/>
              <a:t>test footer</a:t>
            </a:r>
          </a:p>
        </p:txBody>
      </p:sp>
      <p:sp>
        <p:nvSpPr>
          <p:cNvPr id="6" name="Rectangle 11"/>
          <p:cNvSpPr>
            <a:spLocks noGrp="1" noChangeArrowheads="1"/>
          </p:cNvSpPr>
          <p:nvPr>
            <p:ph type="sldNum" sz="quarter" idx="11"/>
          </p:nvPr>
        </p:nvSpPr>
        <p:spPr>
          <a:ln/>
        </p:spPr>
        <p:txBody>
          <a:bodyPr/>
          <a:lstStyle>
            <a:lvl1pPr>
              <a:defRPr/>
            </a:lvl1pPr>
          </a:lstStyle>
          <a:p>
            <a:fld id="{4A287F05-228A-FF41-99CD-DC3361B5858E}" type="slidenum">
              <a:rPr lang="en-US"/>
              <a:pPr/>
              <a:t>‹N›</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10"/>
          <p:cNvSpPr>
            <a:spLocks noGrp="1" noChangeArrowheads="1"/>
          </p:cNvSpPr>
          <p:nvPr>
            <p:ph type="ftr" sz="quarter" idx="10"/>
          </p:nvPr>
        </p:nvSpPr>
        <p:spPr>
          <a:ln/>
        </p:spPr>
        <p:txBody>
          <a:bodyPr/>
          <a:lstStyle>
            <a:lvl1pPr>
              <a:defRPr/>
            </a:lvl1pPr>
          </a:lstStyle>
          <a:p>
            <a:r>
              <a:rPr lang="en-US"/>
              <a:t>test footer</a:t>
            </a:r>
          </a:p>
        </p:txBody>
      </p:sp>
      <p:sp>
        <p:nvSpPr>
          <p:cNvPr id="8" name="Rectangle 11"/>
          <p:cNvSpPr>
            <a:spLocks noGrp="1" noChangeArrowheads="1"/>
          </p:cNvSpPr>
          <p:nvPr>
            <p:ph type="sldNum" sz="quarter" idx="11"/>
          </p:nvPr>
        </p:nvSpPr>
        <p:spPr>
          <a:ln/>
        </p:spPr>
        <p:txBody>
          <a:bodyPr/>
          <a:lstStyle>
            <a:lvl1pPr>
              <a:defRPr/>
            </a:lvl1pPr>
          </a:lstStyle>
          <a:p>
            <a:fld id="{18764DF5-E3FC-174D-A072-CCD938153C71}" type="slidenum">
              <a:rPr lang="en-US"/>
              <a:pPr/>
              <a:t>‹N›</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10"/>
          <p:cNvSpPr>
            <a:spLocks noGrp="1" noChangeArrowheads="1"/>
          </p:cNvSpPr>
          <p:nvPr>
            <p:ph type="ftr" sz="quarter" idx="10"/>
          </p:nvPr>
        </p:nvSpPr>
        <p:spPr>
          <a:ln/>
        </p:spPr>
        <p:txBody>
          <a:bodyPr/>
          <a:lstStyle>
            <a:lvl1pPr>
              <a:defRPr/>
            </a:lvl1pPr>
          </a:lstStyle>
          <a:p>
            <a:r>
              <a:rPr lang="en-US"/>
              <a:t>test footer</a:t>
            </a:r>
          </a:p>
        </p:txBody>
      </p:sp>
      <p:sp>
        <p:nvSpPr>
          <p:cNvPr id="4" name="Rectangle 11"/>
          <p:cNvSpPr>
            <a:spLocks noGrp="1" noChangeArrowheads="1"/>
          </p:cNvSpPr>
          <p:nvPr>
            <p:ph type="sldNum" sz="quarter" idx="11"/>
          </p:nvPr>
        </p:nvSpPr>
        <p:spPr>
          <a:ln/>
        </p:spPr>
        <p:txBody>
          <a:bodyPr/>
          <a:lstStyle>
            <a:lvl1pPr>
              <a:defRPr/>
            </a:lvl1pPr>
          </a:lstStyle>
          <a:p>
            <a:fld id="{866700CA-ECEF-FE46-9AA8-DBB90AB03F20}" type="slidenum">
              <a:rPr lang="en-US"/>
              <a:pPr/>
              <a:t>‹N›</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ftr" sz="quarter" idx="10"/>
          </p:nvPr>
        </p:nvSpPr>
        <p:spPr>
          <a:ln/>
        </p:spPr>
        <p:txBody>
          <a:bodyPr/>
          <a:lstStyle>
            <a:lvl1pPr>
              <a:defRPr/>
            </a:lvl1pPr>
          </a:lstStyle>
          <a:p>
            <a:r>
              <a:rPr lang="en-US"/>
              <a:t>test footer</a:t>
            </a:r>
          </a:p>
        </p:txBody>
      </p:sp>
      <p:sp>
        <p:nvSpPr>
          <p:cNvPr id="3" name="Rectangle 11"/>
          <p:cNvSpPr>
            <a:spLocks noGrp="1" noChangeArrowheads="1"/>
          </p:cNvSpPr>
          <p:nvPr>
            <p:ph type="sldNum" sz="quarter" idx="11"/>
          </p:nvPr>
        </p:nvSpPr>
        <p:spPr>
          <a:ln/>
        </p:spPr>
        <p:txBody>
          <a:bodyPr/>
          <a:lstStyle>
            <a:lvl1pPr>
              <a:defRPr/>
            </a:lvl1pPr>
          </a:lstStyle>
          <a:p>
            <a:fld id="{F1E81FF2-4E24-C941-AC23-233E5C2FC59D}" type="slidenum">
              <a:rPr lang="en-US"/>
              <a:pPr/>
              <a:t>‹N›</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0"/>
          <p:cNvSpPr>
            <a:spLocks noGrp="1" noChangeArrowheads="1"/>
          </p:cNvSpPr>
          <p:nvPr>
            <p:ph type="ftr" sz="quarter" idx="10"/>
          </p:nvPr>
        </p:nvSpPr>
        <p:spPr>
          <a:ln/>
        </p:spPr>
        <p:txBody>
          <a:bodyPr/>
          <a:lstStyle>
            <a:lvl1pPr>
              <a:defRPr/>
            </a:lvl1pPr>
          </a:lstStyle>
          <a:p>
            <a:r>
              <a:rPr lang="en-US"/>
              <a:t>test footer</a:t>
            </a:r>
          </a:p>
        </p:txBody>
      </p:sp>
      <p:sp>
        <p:nvSpPr>
          <p:cNvPr id="6" name="Rectangle 11"/>
          <p:cNvSpPr>
            <a:spLocks noGrp="1" noChangeArrowheads="1"/>
          </p:cNvSpPr>
          <p:nvPr>
            <p:ph type="sldNum" sz="quarter" idx="11"/>
          </p:nvPr>
        </p:nvSpPr>
        <p:spPr>
          <a:ln/>
        </p:spPr>
        <p:txBody>
          <a:bodyPr/>
          <a:lstStyle>
            <a:lvl1pPr>
              <a:defRPr/>
            </a:lvl1pPr>
          </a:lstStyle>
          <a:p>
            <a:fld id="{E1CA3AF0-607D-5941-BE81-84374F3F659A}" type="slidenum">
              <a:rPr lang="en-US"/>
              <a:pPr/>
              <a:t>‹N›</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0"/>
          <p:cNvSpPr>
            <a:spLocks noGrp="1" noChangeArrowheads="1"/>
          </p:cNvSpPr>
          <p:nvPr>
            <p:ph type="ftr" sz="quarter" idx="10"/>
          </p:nvPr>
        </p:nvSpPr>
        <p:spPr>
          <a:ln/>
        </p:spPr>
        <p:txBody>
          <a:bodyPr/>
          <a:lstStyle>
            <a:lvl1pPr>
              <a:defRPr/>
            </a:lvl1pPr>
          </a:lstStyle>
          <a:p>
            <a:r>
              <a:rPr lang="en-US"/>
              <a:t>test footer</a:t>
            </a:r>
          </a:p>
        </p:txBody>
      </p:sp>
      <p:sp>
        <p:nvSpPr>
          <p:cNvPr id="6" name="Rectangle 11"/>
          <p:cNvSpPr>
            <a:spLocks noGrp="1" noChangeArrowheads="1"/>
          </p:cNvSpPr>
          <p:nvPr>
            <p:ph type="sldNum" sz="quarter" idx="11"/>
          </p:nvPr>
        </p:nvSpPr>
        <p:spPr>
          <a:ln/>
        </p:spPr>
        <p:txBody>
          <a:bodyPr/>
          <a:lstStyle>
            <a:lvl1pPr>
              <a:defRPr/>
            </a:lvl1pPr>
          </a:lstStyle>
          <a:p>
            <a:fld id="{6333A60F-864C-1B46-A8E4-6FF4176A320F}" type="slidenum">
              <a:rPr lang="en-US"/>
              <a:pPr/>
              <a:t>‹N›</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A7F609F8-EAA9-7243-AB35-49B52605CE4F}" type="slidenum">
              <a:rPr lang="en-US"/>
              <a:pPr/>
              <a:t>‹N›</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9100" y="188913"/>
            <a:ext cx="2195513" cy="626427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79388" y="188913"/>
            <a:ext cx="6437312" cy="62642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4DFEFDA7-82CE-884E-96EA-203CC73A85C6}" type="slidenum">
              <a:rPr lang="en-US"/>
              <a:pPr/>
              <a:t>‹N›</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7"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ctrTitle" hasCustomPrompt="1"/>
          </p:nvPr>
        </p:nvSpPr>
        <p:spPr>
          <a:xfrm>
            <a:off x="1371600" y="1828800"/>
            <a:ext cx="6400800" cy="1271016"/>
          </a:xfrm>
        </p:spPr>
        <p:txBody>
          <a:bodyPr rIns="0" anchor="b">
            <a:noAutofit/>
          </a:bodyPr>
          <a:lstStyle>
            <a:lvl1pPr algn="l">
              <a:defRPr sz="5400" b="1" i="0">
                <a:solidFill>
                  <a:srgbClr val="FFFFFF"/>
                </a:solidFill>
                <a:latin typeface="+mj-lt"/>
                <a:cs typeface="Avenir LT Std 55 Roman" pitchFamily="34" charset="0"/>
              </a:defRPr>
            </a:lvl1pPr>
          </a:lstStyle>
          <a:p>
            <a:r>
              <a:rPr lang="en-US" dirty="0"/>
              <a:t>Presentation title</a:t>
            </a:r>
          </a:p>
        </p:txBody>
      </p:sp>
      <p:sp>
        <p:nvSpPr>
          <p:cNvPr id="3" name="Subtitle 2"/>
          <p:cNvSpPr>
            <a:spLocks noGrp="1"/>
          </p:cNvSpPr>
          <p:nvPr>
            <p:ph type="subTitle" idx="1" hasCustomPrompt="1"/>
          </p:nvPr>
        </p:nvSpPr>
        <p:spPr>
          <a:xfrm>
            <a:off x="1371600" y="3246120"/>
            <a:ext cx="6400800" cy="758952"/>
          </a:xfrm>
        </p:spPr>
        <p:txBody>
          <a:bodyPr>
            <a:noAutofit/>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of Presenter(s)</a:t>
            </a:r>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3136757622"/>
      </p:ext>
    </p:extLst>
  </p:cSld>
  <p:clrMapOvr>
    <a:masterClrMapping/>
  </p:clrMapOvr>
  <p:transition spd="med">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5200" cy="484631"/>
          </a:xfrm>
        </p:spPr>
        <p:txBody>
          <a:bodyPr anchor="t"/>
          <a:lstStyle>
            <a:lvl1pPr>
              <a:defRPr lang="en-US" sz="3000" b="1" i="0" kern="1200" dirty="0">
                <a:solidFill>
                  <a:srgbClr val="007AC2"/>
                </a:solidFill>
                <a:latin typeface="+mj-lt"/>
                <a:ea typeface="+mj-ea"/>
                <a:cs typeface="Avenir LT Std 55 Roman"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marL="0" marR="0" lvl="0" indent="0" algn="l" defTabSz="457200" rtl="0" eaLnBrk="1" fontAlgn="auto" latinLnBrk="0" hangingPunct="1">
              <a:lnSpc>
                <a:spcPct val="100000"/>
              </a:lnSpc>
              <a:spcBef>
                <a:spcPts val="300"/>
              </a:spcBef>
              <a:spcAft>
                <a:spcPts val="1200"/>
              </a:spcAft>
              <a:buClrTx/>
              <a:buSzPct val="80000"/>
              <a:buFontTx/>
              <a:buNone/>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body text</a:t>
            </a:r>
          </a:p>
        </p:txBody>
      </p:sp>
      <p:sp>
        <p:nvSpPr>
          <p:cNvPr id="7" name="Segnaposto numero diapositiva 6"/>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176867203"/>
      </p:ext>
    </p:extLst>
  </p:cSld>
  <p:clrMapOvr>
    <a:masterClrMapping/>
  </p:clrMapOvr>
  <p:transition spd="med">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a:t>Click to edit master title style</a:t>
            </a:r>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egnaposto numero diapositiva 5"/>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3663666874"/>
      </p:ext>
    </p:extLst>
  </p:cSld>
  <p:clrMapOvr>
    <a:masterClrMapping/>
  </p:clrMapOvr>
  <p:transition spd="med">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7315200" cy="2057400"/>
          </a:xfrm>
        </p:spPr>
        <p:txBody>
          <a:bodyPr anchor="t"/>
          <a:lstStyle>
            <a:lvl1pPr>
              <a:defRPr lang="en-US" sz="7200" b="1" i="0" kern="1200" baseline="0" dirty="0">
                <a:solidFill>
                  <a:srgbClr val="007AC2"/>
                </a:solidFill>
                <a:latin typeface="+mj-lt"/>
                <a:ea typeface="+mj-ea"/>
                <a:cs typeface="Avenir LT Std 55 Roman" pitchFamily="34" charset="0"/>
              </a:defRPr>
            </a:lvl1pPr>
          </a:lstStyle>
          <a:p>
            <a:r>
              <a:rPr lang="en-US" dirty="0"/>
              <a:t>BIG but short</a:t>
            </a:r>
            <a:br>
              <a:rPr lang="en-US" dirty="0"/>
            </a:br>
            <a:r>
              <a:rPr lang="en-US" dirty="0"/>
              <a:t>message here</a:t>
            </a:r>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1761018151"/>
      </p:ext>
    </p:extLst>
  </p:cSld>
  <p:clrMapOvr>
    <a:masterClrMapping/>
  </p:clrMapOvr>
  <p:transition spd="med">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8"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5486400" cy="2057400"/>
          </a:xfrm>
        </p:spPr>
        <p:txBody>
          <a:bodyPr anchor="t"/>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dirty="0"/>
              <a:t>“Click to edit quote” </a:t>
            </a:r>
          </a:p>
        </p:txBody>
      </p:sp>
      <p:sp>
        <p:nvSpPr>
          <p:cNvPr id="10" name="Text Placeholder 9"/>
          <p:cNvSpPr>
            <a:spLocks noGrp="1"/>
          </p:cNvSpPr>
          <p:nvPr>
            <p:ph type="body" sz="quarter" idx="10" hasCustomPrompt="1"/>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dirty="0"/>
              <a:t>Name</a:t>
            </a:r>
          </a:p>
        </p:txBody>
      </p:sp>
      <p:sp>
        <p:nvSpPr>
          <p:cNvPr id="7" name="Segnaposto numero diapositiva 6"/>
          <p:cNvSpPr>
            <a:spLocks noGrp="1"/>
          </p:cNvSpPr>
          <p:nvPr>
            <p:ph type="sldNum" sz="quarter" idx="11"/>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4034160106"/>
      </p:ext>
    </p:extLst>
  </p:cSld>
  <p:clrMapOvr>
    <a:masterClrMapping/>
  </p:clrMapOvr>
  <p:transition spd="med">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3418242204"/>
      </p:ext>
    </p:extLst>
  </p:cSld>
  <p:clrMapOvr>
    <a:masterClrMapping/>
  </p:clrMapOvr>
  <p:transition spd="med">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_water">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pic>
        <p:nvPicPr>
          <p:cNvPr id="5" name="Picture 4"/>
          <p:cNvPicPr>
            <a:picLocks noChangeAspect="1"/>
          </p:cNvPicPr>
          <p:nvPr userDrawn="1"/>
        </p:nvPicPr>
        <p:blipFill rotWithShape="1">
          <a:blip r:embed="rId2" cstate="print">
            <a:alphaModFix/>
            <a:extLst>
              <a:ext uri="{28A0092B-C50C-407E-A947-70E740481C1C}">
                <a14:useLocalDpi xmlns:a14="http://schemas.microsoft.com/office/drawing/2010/main" xmlns=""/>
              </a:ext>
            </a:extLst>
          </a:blip>
          <a:srcRect/>
          <a:stretch/>
        </p:blipFill>
        <p:spPr>
          <a:xfrm>
            <a:off x="0" y="2947249"/>
            <a:ext cx="9144000" cy="3910751"/>
          </a:xfrm>
          <a:prstGeom prst="rect">
            <a:avLst/>
          </a:prstGeom>
        </p:spPr>
      </p:pic>
      <p:sp>
        <p:nvSpPr>
          <p:cNvPr id="6" name="Segnaposto numero diapositiva 5"/>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3618440745"/>
      </p:ext>
    </p:extLst>
  </p:cSld>
  <p:clrMapOvr>
    <a:masterClrMapping/>
  </p:clrMapOvr>
  <p:transition spd="med">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3" name="Segnaposto numero diapositiva 2"/>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1725117516"/>
      </p:ext>
    </p:extLst>
  </p:cSld>
  <p:clrMapOvr>
    <a:masterClrMapping/>
  </p:clrMapOvr>
  <p:transition spd="med">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5"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3" name="Segnaposto numero diapositiva 2"/>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400617282"/>
      </p:ext>
    </p:extLst>
  </p:cSld>
  <p:clrMapOvr>
    <a:masterClrMapping/>
  </p:clrMapOvr>
  <p:transition spd="med">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3" y="687388"/>
            <a:ext cx="7313612" cy="365760"/>
          </a:xfrm>
        </p:spPr>
        <p:txBody>
          <a:bodyPr lIns="0" tIns="0" rIns="0" bIns="0"/>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3" y="1078992"/>
            <a:ext cx="7313612" cy="342900"/>
          </a:xfrm>
        </p:spPr>
        <p:txBody>
          <a:bodyPr lIns="0" tIns="0" rIns="0" bIns="0"/>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hasCustomPrompt="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r>
              <a:rPr lang="en-US"/>
              <a:t>Click to edit tagline</a:t>
            </a:r>
          </a:p>
        </p:txBody>
      </p:sp>
      <p:sp>
        <p:nvSpPr>
          <p:cNvPr id="6" name="Segnaposto numero diapositiva 5"/>
          <p:cNvSpPr>
            <a:spLocks noGrp="1"/>
          </p:cNvSpPr>
          <p:nvPr>
            <p:ph type="sldNum" sz="quarter" idx="12"/>
          </p:nvPr>
        </p:nvSpPr>
        <p:spPr/>
        <p:txBody>
          <a:bodyPr/>
          <a:lstStyle/>
          <a:p>
            <a:fld id="{947CD9D8-4C11-4D56-84AC-F9003AC5D8FC}"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132511535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latin typeface="Arial"/>
                <a:ea typeface="ＭＳ Ｐゴシック"/>
                <a:cs typeface="ＭＳ Ｐゴシック"/>
              </a:rPr>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29586465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360363" y="270000"/>
            <a:ext cx="8460000" cy="900000"/>
          </a:xfrm>
        </p:spPr>
        <p:txBody>
          <a:bodyPr>
            <a:noAutofit/>
          </a:bodyPr>
          <a:lstStyle>
            <a:lvl1pPr marL="0" indent="0">
              <a:lnSpc>
                <a:spcPct val="85000"/>
              </a:lnSpc>
              <a:spcBef>
                <a:spcPts val="0"/>
              </a:spcBef>
              <a:spcAft>
                <a:spcPts val="283"/>
              </a:spcAft>
              <a:buNone/>
              <a:defRPr sz="2800" b="1">
                <a:solidFill>
                  <a:schemeClr val="accent2"/>
                </a:solidFill>
              </a:defRPr>
            </a:lvl1pPr>
            <a:lvl2pPr marL="0" indent="0">
              <a:lnSpc>
                <a:spcPct val="85000"/>
              </a:lnSpc>
              <a:spcBef>
                <a:spcPts val="0"/>
              </a:spcBef>
              <a:buNone/>
              <a:defRPr sz="2200" b="1">
                <a:solidFill>
                  <a:schemeClr val="accent1">
                    <a:lumMod val="75000"/>
                  </a:schemeClr>
                </a:solidFill>
              </a:defRPr>
            </a:lvl2pPr>
            <a:lvl3pPr>
              <a:buNone/>
              <a:defRPr sz="2800">
                <a:solidFill>
                  <a:srgbClr val="00A9CE"/>
                </a:solidFill>
              </a:defRPr>
            </a:lvl3pPr>
            <a:lvl4pPr>
              <a:buNone/>
              <a:defRPr sz="2800">
                <a:solidFill>
                  <a:srgbClr val="00A9CE"/>
                </a:solidFill>
              </a:defRPr>
            </a:lvl4pPr>
            <a:lvl5pPr>
              <a:buNone/>
              <a:defRPr sz="2800">
                <a:solidFill>
                  <a:srgbClr val="00A9CE"/>
                </a:solidFill>
              </a:defRPr>
            </a:lvl5pPr>
          </a:lstStyle>
          <a:p>
            <a:pPr lvl="0"/>
            <a:r>
              <a:rPr lang="en-US" smtClean="0"/>
              <a:t>Click to edit Master text styles</a:t>
            </a:r>
          </a:p>
          <a:p>
            <a:pPr lvl="1"/>
            <a:r>
              <a:rPr lang="en-US" smtClean="0"/>
              <a:t>Second level</a:t>
            </a:r>
          </a:p>
        </p:txBody>
      </p:sp>
      <p:sp>
        <p:nvSpPr>
          <p:cNvPr id="11" name="Text Placeholder 10"/>
          <p:cNvSpPr>
            <a:spLocks noGrp="1"/>
          </p:cNvSpPr>
          <p:nvPr>
            <p:ph type="body" sz="quarter" idx="15"/>
          </p:nvPr>
        </p:nvSpPr>
        <p:spPr>
          <a:xfrm>
            <a:off x="360363" y="1276350"/>
            <a:ext cx="8459787" cy="4559300"/>
          </a:xfrm>
        </p:spPr>
        <p:txBody>
          <a:bodyPr>
            <a:noAutofit/>
          </a:bodyPr>
          <a:lstStyle>
            <a:lvl1pPr marL="378000" indent="-378000">
              <a:buFont typeface="+mj-lt"/>
              <a:buAutoNum type="arabicPeriod"/>
              <a:defRPr/>
            </a:lvl1pPr>
            <a:lvl2pPr marL="648000" indent="-270000">
              <a:defRPr/>
            </a:lvl2pPr>
            <a:lvl3pPr marL="648000" indent="-270000">
              <a:defRPr/>
            </a:lvl3pPr>
            <a:lvl4pPr marL="648000" indent="-270000">
              <a:defRPr/>
            </a:lvl4pPr>
            <a:lvl5pPr marL="648000" indent="-270000">
              <a:defRPr/>
            </a:lvl5pPr>
            <a:lvl6pPr marL="648000" indent="-270000">
              <a:defRPr/>
            </a:lvl6pPr>
            <a:lvl7pPr marL="648000" indent="-270000">
              <a:defRPr/>
            </a:lvl7pPr>
            <a:lvl8pPr marL="648000" indent="-270000">
              <a:defRPr/>
            </a:lvl8pPr>
            <a:lvl9pPr marL="648000" indent="-270000">
              <a:defRPr/>
            </a:lvl9pPr>
          </a:lstStyle>
          <a:p>
            <a:pPr lvl="0"/>
            <a:r>
              <a:rPr lang="en-US" smtClean="0"/>
              <a:t>Click to edit Master text styles</a:t>
            </a:r>
          </a:p>
          <a:p>
            <a:pPr lvl="1"/>
            <a:r>
              <a:rPr lang="en-US" smtClean="0"/>
              <a:t>Second level</a:t>
            </a:r>
          </a:p>
        </p:txBody>
      </p:sp>
      <p:sp>
        <p:nvSpPr>
          <p:cNvPr id="6" name="Footer Placeholder 4"/>
          <p:cNvSpPr>
            <a:spLocks noGrp="1"/>
          </p:cNvSpPr>
          <p:nvPr>
            <p:ph type="ftr" sz="quarter" idx="3"/>
          </p:nvPr>
        </p:nvSpPr>
        <p:spPr>
          <a:xfrm>
            <a:off x="360363" y="6516688"/>
            <a:ext cx="6119812" cy="107950"/>
          </a:xfrm>
          <a:prstGeom prst="rect">
            <a:avLst/>
          </a:prstGeom>
        </p:spPr>
        <p:txBody>
          <a:bodyPr vert="horz" lIns="0" tIns="0" rIns="0" bIns="0" rtlCol="0" anchor="ctr"/>
          <a:lstStyle>
            <a:lvl1pPr algn="l" fontAlgn="auto">
              <a:spcBef>
                <a:spcPts val="0"/>
              </a:spcBef>
              <a:spcAft>
                <a:spcPts val="0"/>
              </a:spcAft>
              <a:defRPr sz="900" dirty="0">
                <a:solidFill>
                  <a:schemeClr val="bg1"/>
                </a:solidFill>
                <a:latin typeface="+mn-lt"/>
              </a:defRPr>
            </a:lvl1pPr>
          </a:lstStyle>
          <a:p>
            <a:pPr eaLnBrk="1" hangingPunct="1">
              <a:buClrTx/>
              <a:buFontTx/>
              <a:buNone/>
              <a:defRPr/>
            </a:pPr>
            <a:r>
              <a:rPr lang="en-US" smtClean="0">
                <a:solidFill>
                  <a:prstClr val="white"/>
                </a:solidFill>
                <a:latin typeface="Arial"/>
                <a:ea typeface="ＭＳ Ｐゴシック"/>
                <a:cs typeface="ＭＳ Ｐゴシック"/>
              </a:rPr>
              <a:t>WaterML-WQ |  Simon Cox |  Page 2</a:t>
            </a:r>
            <a:endParaRPr lang="en-US">
              <a:solidFill>
                <a:prstClr val="white"/>
              </a:solidFill>
              <a:latin typeface="Arial"/>
              <a:ea typeface="ＭＳ Ｐゴシック"/>
              <a:cs typeface="ＭＳ Ｐゴシック"/>
            </a:endParaRPr>
          </a:p>
        </p:txBody>
      </p:sp>
    </p:spTree>
    <p:extLst>
      <p:ext uri="{BB962C8B-B14F-4D97-AF65-F5344CB8AC3E}">
        <p14:creationId xmlns:p14="http://schemas.microsoft.com/office/powerpoint/2010/main" xmlns="" val="318505270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04863" y="4800600"/>
            <a:ext cx="7526337" cy="566738"/>
          </a:xfrm>
        </p:spPr>
        <p:txBody>
          <a:bodyPr anchor="b">
            <a:normAutofit/>
          </a:bodyPr>
          <a:lstStyle>
            <a:lvl1pPr algn="l">
              <a:defRPr sz="2400" b="0"/>
            </a:lvl1pPr>
          </a:lstStyle>
          <a:p>
            <a:r>
              <a:rPr lang="it-IT" smtClean="0"/>
              <a:t>Fare clic per modificare lo stile del titolo</a:t>
            </a:r>
            <a:endParaRPr lang="en-US" dirty="0"/>
          </a:p>
        </p:txBody>
      </p:sp>
      <p:sp>
        <p:nvSpPr>
          <p:cNvPr id="15" name="Picture Placeholder 14"/>
          <p:cNvSpPr>
            <a:spLocks noGrp="1" noChangeAspect="1"/>
          </p:cNvSpPr>
          <p:nvPr>
            <p:ph type="pic" sz="quarter" idx="13"/>
          </p:nvPr>
        </p:nvSpPr>
        <p:spPr bwMode="auto">
          <a:xfrm>
            <a:off x="0" y="0"/>
            <a:ext cx="9144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it-IT" smtClean="0"/>
              <a:t>Fare clic sull'icona per inserire un'immagine</a:t>
            </a:r>
            <a:endParaRPr lang="en-US" dirty="0"/>
          </a:p>
        </p:txBody>
      </p:sp>
      <p:sp>
        <p:nvSpPr>
          <p:cNvPr id="4" name="Text Placeholder 3"/>
          <p:cNvSpPr>
            <a:spLocks noGrp="1"/>
          </p:cNvSpPr>
          <p:nvPr>
            <p:ph type="body" sz="half" idx="2"/>
          </p:nvPr>
        </p:nvSpPr>
        <p:spPr>
          <a:xfrm>
            <a:off x="804863" y="5367338"/>
            <a:ext cx="7526337"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Date Placeholder 4"/>
          <p:cNvSpPr>
            <a:spLocks noGrp="1"/>
          </p:cNvSpPr>
          <p:nvPr>
            <p:ph type="dt" sz="half" idx="10"/>
          </p:nvPr>
        </p:nvSpPr>
        <p:spPr>
          <a:xfrm>
            <a:off x="6911422" y="6041361"/>
            <a:ext cx="993161" cy="365125"/>
          </a:xfrm>
          <a:prstGeom prst="rect">
            <a:avLst/>
          </a:prstGeom>
        </p:spPr>
        <p:txBody>
          <a:bodyPr/>
          <a:lstStyle/>
          <a:p>
            <a:pPr defTabSz="457200"/>
            <a:fld id="{605455D5-AD0A-7044-BB98-0982BC8DE1CB}" type="datetimeFigureOut">
              <a:rPr lang="it-IT">
                <a:solidFill>
                  <a:prstClr val="white"/>
                </a:solidFill>
              </a:rPr>
              <a:pPr defTabSz="457200"/>
              <a:t>16/09/2015</a:t>
            </a:fld>
            <a:endParaRPr lang="en-GB">
              <a:solidFill>
                <a:prstClr val="white"/>
              </a:solidFill>
            </a:endParaRPr>
          </a:p>
        </p:txBody>
      </p:sp>
      <p:sp>
        <p:nvSpPr>
          <p:cNvPr id="6" name="Footer Placeholder 5"/>
          <p:cNvSpPr>
            <a:spLocks noGrp="1"/>
          </p:cNvSpPr>
          <p:nvPr>
            <p:ph type="ftr" sz="quarter" idx="11"/>
          </p:nvPr>
        </p:nvSpPr>
        <p:spPr>
          <a:xfrm>
            <a:off x="442797" y="6041361"/>
            <a:ext cx="6289532" cy="365125"/>
          </a:xfrm>
          <a:prstGeom prst="rect">
            <a:avLst/>
          </a:prstGeom>
        </p:spPr>
        <p:txBody>
          <a:bodyPr/>
          <a:lstStyle/>
          <a:p>
            <a:pPr defTabSz="457200"/>
            <a:endParaRPr lang="en-GB">
              <a:solidFill>
                <a:prstClr val="white"/>
              </a:solidFill>
            </a:endParaRPr>
          </a:p>
        </p:txBody>
      </p:sp>
      <p:sp>
        <p:nvSpPr>
          <p:cNvPr id="7" name="Slide Number Placeholder 6"/>
          <p:cNvSpPr>
            <a:spLocks noGrp="1"/>
          </p:cNvSpPr>
          <p:nvPr>
            <p:ph type="sldNum" sz="quarter" idx="12"/>
          </p:nvPr>
        </p:nvSpPr>
        <p:spPr/>
        <p:txBody>
          <a:bodyPr/>
          <a:lstStyle/>
          <a:p>
            <a:fld id="{EB632B90-26A2-C94C-82BF-87A24744036B}" type="slidenum">
              <a:rPr lang="en-GB" smtClean="0">
                <a:solidFill>
                  <a:srgbClr val="99CB38"/>
                </a:solidFill>
              </a:rPr>
              <a:pPr/>
              <a:t>‹N›</a:t>
            </a:fld>
            <a:endParaRPr lang="en-GB">
              <a:solidFill>
                <a:srgbClr val="99CB38"/>
              </a:solidFill>
            </a:endParaRPr>
          </a:p>
        </p:txBody>
      </p:sp>
      <p:sp>
        <p:nvSpPr>
          <p:cNvPr id="8" name="Date Placeholder 3"/>
          <p:cNvSpPr txBox="1">
            <a:spLocks/>
          </p:cNvSpPr>
          <p:nvPr userDrawn="1"/>
        </p:nvSpPr>
        <p:spPr>
          <a:xfrm>
            <a:off x="6911422" y="6041361"/>
            <a:ext cx="993161" cy="365125"/>
          </a:xfrm>
          <a:prstGeom prst="rect">
            <a:avLst/>
          </a:prstGeom>
        </p:spPr>
        <p:txBody>
          <a:bodyPr/>
          <a:ls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05455D5-AD0A-7044-BB98-0982BC8DE1CB}" type="datetimeFigureOut">
              <a:rPr lang="it-IT" smtClean="0">
                <a:solidFill>
                  <a:prstClr val="white"/>
                </a:solidFill>
              </a:rPr>
              <a:pPr/>
              <a:t>16/09/2015</a:t>
            </a:fld>
            <a:endParaRPr lang="en-GB">
              <a:solidFill>
                <a:prstClr val="white"/>
              </a:solidFill>
            </a:endParaRPr>
          </a:p>
        </p:txBody>
      </p:sp>
      <p:sp>
        <p:nvSpPr>
          <p:cNvPr id="9" name="Slide Number Placeholder 5"/>
          <p:cNvSpPr txBox="1">
            <a:spLocks/>
          </p:cNvSpPr>
          <p:nvPr userDrawn="1"/>
        </p:nvSpPr>
        <p:spPr>
          <a:xfrm>
            <a:off x="7904584" y="5915887"/>
            <a:ext cx="796616" cy="490599"/>
          </a:xfrm>
          <a:prstGeom prst="rect">
            <a:avLst/>
          </a:prstGeom>
        </p:spPr>
        <p:txBody>
          <a:bodyPr vert="horz" lIns="91440" tIns="45720" rIns="91440" bIns="10800" rtlCol="0" anchor="b"/>
          <a:lstStyle>
            <a:defPPr>
              <a:defRPr lang="it-IT"/>
            </a:defPPr>
            <a:lvl1pPr marL="0" algn="r" defTabSz="457200" rtl="0" eaLnBrk="1" latinLnBrk="0" hangingPunct="1">
              <a:defRPr sz="20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B632B90-26A2-C94C-82BF-87A24744036B}" type="slidenum">
              <a:rPr lang="en-GB" smtClean="0">
                <a:solidFill>
                  <a:srgbClr val="99CB38"/>
                </a:solidFill>
              </a:rPr>
              <a:pPr/>
              <a:t>‹N›</a:t>
            </a:fld>
            <a:endParaRPr lang="en-GB">
              <a:solidFill>
                <a:srgbClr val="99CB38"/>
              </a:solidFill>
            </a:endParaRPr>
          </a:p>
        </p:txBody>
      </p:sp>
      <p:sp>
        <p:nvSpPr>
          <p:cNvPr id="10" name="Date Placeholder 3"/>
          <p:cNvSpPr txBox="1">
            <a:spLocks/>
          </p:cNvSpPr>
          <p:nvPr userDrawn="1"/>
        </p:nvSpPr>
        <p:spPr>
          <a:xfrm>
            <a:off x="6911422" y="6041361"/>
            <a:ext cx="993161" cy="365125"/>
          </a:xfrm>
          <a:prstGeom prst="rect">
            <a:avLst/>
          </a:prstGeom>
        </p:spPr>
        <p:txBody>
          <a:bodyPr vert="horz" lIns="91440" tIns="45720" rIns="91440" bIns="45720" rtlCol="0" anchor="b"/>
          <a:lstStyle>
            <a:defPPr>
              <a:defRPr lang="it-IT"/>
            </a:defPPr>
            <a:lvl1pPr marL="0" algn="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05455D5-AD0A-7044-BB98-0982BC8DE1CB}" type="datetimeFigureOut">
              <a:rPr lang="it-IT" smtClean="0">
                <a:solidFill>
                  <a:prstClr val="white"/>
                </a:solidFill>
              </a:rPr>
              <a:pPr/>
              <a:t>16/09/2015</a:t>
            </a:fld>
            <a:endParaRPr lang="en-GB">
              <a:solidFill>
                <a:prstClr val="white"/>
              </a:solidFill>
            </a:endParaRPr>
          </a:p>
        </p:txBody>
      </p:sp>
      <p:sp>
        <p:nvSpPr>
          <p:cNvPr id="11" name="Rettangolo 10"/>
          <p:cNvSpPr/>
          <p:nvPr userDrawn="1"/>
        </p:nvSpPr>
        <p:spPr>
          <a:xfrm>
            <a:off x="0" y="6041361"/>
            <a:ext cx="9144000" cy="816639"/>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400" dirty="0" smtClean="0">
                <a:solidFill>
                  <a:srgbClr val="99CB38">
                    <a:lumMod val="40000"/>
                    <a:lumOff val="60000"/>
                  </a:srgbClr>
                </a:solidFill>
              </a:rPr>
              <a:t>4th GEOSS Science and Technology Stakeholder Workshop,</a:t>
            </a:r>
          </a:p>
          <a:p>
            <a:pPr algn="ctr" defTabSz="457200"/>
            <a:r>
              <a:rPr lang="en-US" sz="1400" dirty="0" smtClean="0">
                <a:solidFill>
                  <a:srgbClr val="99CB38">
                    <a:lumMod val="40000"/>
                    <a:lumOff val="60000"/>
                  </a:srgbClr>
                </a:solidFill>
              </a:rPr>
              <a:t>March 24-26, 2015, Norfolk, VA, USA</a:t>
            </a:r>
          </a:p>
        </p:txBody>
      </p:sp>
      <p:pic>
        <p:nvPicPr>
          <p:cNvPr id="12" name="Immagine 11"/>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356945" y="6250087"/>
            <a:ext cx="1292746" cy="399185"/>
          </a:xfrm>
          <a:prstGeom prst="rect">
            <a:avLst/>
          </a:prstGeom>
        </p:spPr>
      </p:pic>
      <p:sp>
        <p:nvSpPr>
          <p:cNvPr id="13" name="CasellaDiTesto 12"/>
          <p:cNvSpPr txBox="1"/>
          <p:nvPr userDrawn="1"/>
        </p:nvSpPr>
        <p:spPr>
          <a:xfrm>
            <a:off x="7315460" y="6463576"/>
            <a:ext cx="1688283" cy="276999"/>
          </a:xfrm>
          <a:prstGeom prst="rect">
            <a:avLst/>
          </a:prstGeom>
          <a:noFill/>
        </p:spPr>
        <p:txBody>
          <a:bodyPr wrap="none" rtlCol="0">
            <a:spAutoFit/>
          </a:bodyPr>
          <a:lstStyle/>
          <a:p>
            <a:pPr defTabSz="457200"/>
            <a:r>
              <a:rPr lang="en-US" sz="1200" dirty="0">
                <a:solidFill>
                  <a:prstClr val="white"/>
                </a:solidFill>
              </a:rPr>
              <a:t>stefano.nativi@cnr.it</a:t>
            </a:r>
          </a:p>
        </p:txBody>
      </p:sp>
    </p:spTree>
    <p:extLst>
      <p:ext uri="{BB962C8B-B14F-4D97-AF65-F5344CB8AC3E}">
        <p14:creationId xmlns="" xmlns:p14="http://schemas.microsoft.com/office/powerpoint/2010/main" val="3193628454"/>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6" name="Shape 26"/>
          <p:cNvSpPr>
            <a:spLocks noGrp="1"/>
          </p:cNvSpPr>
          <p:nvPr>
            <p:ph type="sldNum" sz="quarter" idx="2"/>
          </p:nvPr>
        </p:nvSpPr>
        <p:spPr>
          <a:xfrm>
            <a:off x="5867400" y="6478587"/>
            <a:ext cx="1152525" cy="264253"/>
          </a:xfrm>
          <a:prstGeom prst="rect">
            <a:avLst/>
          </a:prstGeom>
        </p:spPr>
        <p:txBody>
          <a:bodyPr/>
          <a:lstStyle/>
          <a:p>
            <a:fld id="{86CB4B4D-7CA3-9044-876B-883B54F8677D}" type="slidenum">
              <a:rPr/>
              <a:pPr/>
              <a:t>‹N›</a:t>
            </a:fld>
            <a:endParaRPr/>
          </a:p>
        </p:txBody>
      </p:sp>
    </p:spTree>
    <p:extLst>
      <p:ext uri="{BB962C8B-B14F-4D97-AF65-F5344CB8AC3E}">
        <p14:creationId xmlns="" xmlns:p14="http://schemas.microsoft.com/office/powerpoint/2010/main" val="126711921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4.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6" name="Picture 3" descr="wmo_ppt_2012.jpg"/>
          <p:cNvPicPr>
            <a:picLocks noChangeAspect="1"/>
          </p:cNvPicPr>
          <p:nvPr/>
        </p:nvPicPr>
        <p:blipFill>
          <a:blip r:embed="rId15" cstate="print"/>
          <a:srcRect/>
          <a:stretch>
            <a:fillRect/>
          </a:stretch>
        </p:blipFill>
        <p:spPr bwMode="auto">
          <a:xfrm>
            <a:off x="0" y="0"/>
            <a:ext cx="9144000" cy="6858000"/>
          </a:xfrm>
          <a:prstGeom prst="rect">
            <a:avLst/>
          </a:prstGeom>
          <a:noFill/>
          <a:ln w="9525">
            <a:noFill/>
            <a:miter lim="800000"/>
            <a:headEnd/>
            <a:tailEnd/>
          </a:ln>
        </p:spPr>
      </p:pic>
      <p:sp>
        <p:nvSpPr>
          <p:cNvPr id="2051" name="Rectangle 3"/>
          <p:cNvSpPr>
            <a:spLocks noGrp="1" noChangeArrowheads="1"/>
          </p:cNvSpPr>
          <p:nvPr>
            <p:ph type="title"/>
          </p:nvPr>
        </p:nvSpPr>
        <p:spPr bwMode="auto">
          <a:xfrm>
            <a:off x="250825" y="188913"/>
            <a:ext cx="8713788"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2" name="Rectangle 4"/>
          <p:cNvSpPr>
            <a:spLocks noGrp="1" noChangeArrowheads="1"/>
          </p:cNvSpPr>
          <p:nvPr>
            <p:ph type="body" idx="1"/>
          </p:nvPr>
        </p:nvSpPr>
        <p:spPr bwMode="auto">
          <a:xfrm>
            <a:off x="250825" y="1052513"/>
            <a:ext cx="8713788" cy="4897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wmologo.jpeg"/>
          <p:cNvPicPr>
            <a:picLocks noChangeAspect="1"/>
          </p:cNvPicPr>
          <p:nvPr userDrawn="1"/>
        </p:nvPicPr>
        <p:blipFill>
          <a:blip r:embed="rId16" cstate="print"/>
          <a:stretch>
            <a:fillRect/>
          </a:stretch>
        </p:blipFill>
        <p:spPr>
          <a:xfrm>
            <a:off x="179512" y="188640"/>
            <a:ext cx="1201567" cy="1256184"/>
          </a:xfrm>
          <a:prstGeom prst="rect">
            <a:avLst/>
          </a:prstGeom>
        </p:spPr>
      </p:pic>
      <p:sp>
        <p:nvSpPr>
          <p:cNvPr id="8" name="Title 9"/>
          <p:cNvSpPr txBox="1">
            <a:spLocks/>
          </p:cNvSpPr>
          <p:nvPr userDrawn="1"/>
        </p:nvSpPr>
        <p:spPr>
          <a:xfrm>
            <a:off x="755576" y="6453336"/>
            <a:ext cx="2582317" cy="288925"/>
          </a:xfrm>
          <a:prstGeom prst="rect">
            <a:avLst/>
          </a:prstGeom>
        </p:spPr>
        <p:txBody>
          <a:bodyPr anchor="ctr">
            <a:normAutofit/>
          </a:bodyPr>
          <a:lstStyle/>
          <a:p>
            <a:pPr defTabSz="457200" eaLnBrk="1" fontAlgn="auto" hangingPunct="1">
              <a:spcBef>
                <a:spcPct val="0"/>
              </a:spcBef>
              <a:spcAft>
                <a:spcPts val="0"/>
              </a:spcAft>
              <a:buClrTx/>
              <a:buFontTx/>
              <a:buNone/>
              <a:defRPr/>
            </a:pPr>
            <a:r>
              <a:rPr lang="en-US" sz="1200" dirty="0" smtClean="0">
                <a:latin typeface="Arial"/>
                <a:ea typeface="+mj-ea"/>
                <a:cs typeface="Arial"/>
              </a:rPr>
              <a:t>WMO</a:t>
            </a:r>
            <a:r>
              <a:rPr lang="en-US" sz="1200" dirty="0">
                <a:latin typeface="Arial"/>
                <a:ea typeface="+mj-ea"/>
                <a:cs typeface="Arial"/>
              </a:rPr>
              <a:t> </a:t>
            </a:r>
            <a:r>
              <a:rPr lang="en-US" sz="1200" dirty="0" smtClean="0">
                <a:latin typeface="Arial"/>
                <a:ea typeface="+mj-ea"/>
                <a:cs typeface="Arial"/>
              </a:rPr>
              <a:t>Commission for Hydrology</a:t>
            </a:r>
            <a:endParaRPr lang="en-US" sz="1200" dirty="0">
              <a:latin typeface="Arial"/>
              <a:ea typeface="+mj-ea"/>
              <a:cs typeface="Arial"/>
            </a:endParaRPr>
          </a:p>
        </p:txBody>
      </p:sp>
    </p:spTree>
  </p:cSld>
  <p:clrMap bg1="lt1" tx1="dk1" bg2="lt2" tx2="dk2" accent1="accent1" accent2="accent2" accent3="accent3" accent4="accent4" accent5="accent5" accent6="accent6" hlink="hlink" folHlink="folHlink"/>
  <p:sldLayoutIdLst>
    <p:sldLayoutId id="2147483675" r:id="rId1"/>
    <p:sldLayoutId id="2147483698"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97" r:id="rId13"/>
  </p:sldLayoutIdLst>
  <p:timing>
    <p:tnLst>
      <p:par>
        <p:cTn id="1" dur="indefinite" restart="never" nodeType="tmRoot"/>
      </p:par>
    </p:tnLst>
  </p:timing>
  <p:hf hdr="0" dt="0"/>
  <p:txStyles>
    <p:titleStyle>
      <a:lvl1pPr algn="l" rtl="0" eaLnBrk="0" fontAlgn="base" hangingPunct="0">
        <a:spcBef>
          <a:spcPct val="0"/>
        </a:spcBef>
        <a:spcAft>
          <a:spcPct val="0"/>
        </a:spcAft>
        <a:defRPr sz="3000">
          <a:solidFill>
            <a:schemeClr val="tx2"/>
          </a:solidFill>
          <a:latin typeface="Arial" charset="0"/>
          <a:ea typeface="+mj-ea"/>
          <a:cs typeface="+mj-cs"/>
        </a:defRPr>
      </a:lvl1pPr>
      <a:lvl2pPr algn="l" rtl="0" eaLnBrk="0" fontAlgn="base" hangingPunct="0">
        <a:spcBef>
          <a:spcPct val="0"/>
        </a:spcBef>
        <a:spcAft>
          <a:spcPct val="0"/>
        </a:spcAft>
        <a:defRPr sz="3000">
          <a:solidFill>
            <a:schemeClr val="tx2"/>
          </a:solidFill>
          <a:latin typeface="Arial" charset="0"/>
        </a:defRPr>
      </a:lvl2pPr>
      <a:lvl3pPr algn="l" rtl="0" eaLnBrk="0" fontAlgn="base" hangingPunct="0">
        <a:spcBef>
          <a:spcPct val="0"/>
        </a:spcBef>
        <a:spcAft>
          <a:spcPct val="0"/>
        </a:spcAft>
        <a:defRPr sz="3000">
          <a:solidFill>
            <a:schemeClr val="tx2"/>
          </a:solidFill>
          <a:latin typeface="Arial" charset="0"/>
        </a:defRPr>
      </a:lvl3pPr>
      <a:lvl4pPr algn="l" rtl="0" eaLnBrk="0" fontAlgn="base" hangingPunct="0">
        <a:spcBef>
          <a:spcPct val="0"/>
        </a:spcBef>
        <a:spcAft>
          <a:spcPct val="0"/>
        </a:spcAft>
        <a:defRPr sz="3000">
          <a:solidFill>
            <a:schemeClr val="tx2"/>
          </a:solidFill>
          <a:latin typeface="Arial" charset="0"/>
        </a:defRPr>
      </a:lvl4pPr>
      <a:lvl5pPr algn="l" rtl="0" eaLnBrk="0" fontAlgn="base" hangingPunct="0">
        <a:spcBef>
          <a:spcPct val="0"/>
        </a:spcBef>
        <a:spcAft>
          <a:spcPct val="0"/>
        </a:spcAft>
        <a:defRPr sz="3000">
          <a:solidFill>
            <a:schemeClr val="tx2"/>
          </a:solidFill>
          <a:latin typeface="Arial" charset="0"/>
        </a:defRPr>
      </a:lvl5pPr>
      <a:lvl6pPr marL="457200" algn="l" rtl="0" eaLnBrk="0" fontAlgn="base" hangingPunct="0">
        <a:spcBef>
          <a:spcPct val="0"/>
        </a:spcBef>
        <a:spcAft>
          <a:spcPct val="0"/>
        </a:spcAft>
        <a:defRPr sz="3200">
          <a:solidFill>
            <a:schemeClr val="tx2"/>
          </a:solidFill>
          <a:latin typeface="Arial Narrow" pitchFamily="34" charset="0"/>
        </a:defRPr>
      </a:lvl6pPr>
      <a:lvl7pPr marL="914400" algn="l" rtl="0" eaLnBrk="0" fontAlgn="base" hangingPunct="0">
        <a:spcBef>
          <a:spcPct val="0"/>
        </a:spcBef>
        <a:spcAft>
          <a:spcPct val="0"/>
        </a:spcAft>
        <a:defRPr sz="3200">
          <a:solidFill>
            <a:schemeClr val="tx2"/>
          </a:solidFill>
          <a:latin typeface="Arial Narrow" pitchFamily="34" charset="0"/>
        </a:defRPr>
      </a:lvl7pPr>
      <a:lvl8pPr marL="1371600" algn="l" rtl="0" eaLnBrk="0" fontAlgn="base" hangingPunct="0">
        <a:spcBef>
          <a:spcPct val="0"/>
        </a:spcBef>
        <a:spcAft>
          <a:spcPct val="0"/>
        </a:spcAft>
        <a:defRPr sz="3200">
          <a:solidFill>
            <a:schemeClr val="tx2"/>
          </a:solidFill>
          <a:latin typeface="Arial Narrow" pitchFamily="34" charset="0"/>
        </a:defRPr>
      </a:lvl8pPr>
      <a:lvl9pPr marL="1828800" algn="l" rtl="0" eaLnBrk="0" fontAlgn="base" hangingPunct="0">
        <a:spcBef>
          <a:spcPct val="0"/>
        </a:spcBef>
        <a:spcAft>
          <a:spcPct val="0"/>
        </a:spcAft>
        <a:defRPr sz="3200">
          <a:solidFill>
            <a:schemeClr val="tx2"/>
          </a:solidFill>
          <a:latin typeface="Arial Narrow" pitchFamily="34" charset="0"/>
        </a:defRPr>
      </a:lvl9pPr>
    </p:titleStyle>
    <p:bodyStyle>
      <a:lvl1pPr marL="533400" indent="-533400" algn="l" rtl="0" eaLnBrk="0" fontAlgn="base" hangingPunct="0">
        <a:spcBef>
          <a:spcPct val="20000"/>
        </a:spcBef>
        <a:spcAft>
          <a:spcPct val="0"/>
        </a:spcAft>
        <a:buClr>
          <a:srgbClr val="FF9900"/>
        </a:buClr>
        <a:buFont typeface="Wingdings" charset="2"/>
        <a:buChar char="§"/>
        <a:defRPr sz="2800">
          <a:solidFill>
            <a:schemeClr val="tx1"/>
          </a:solidFill>
          <a:latin typeface="Arial" charset="0"/>
          <a:ea typeface="+mn-ea"/>
          <a:cs typeface="+mn-cs"/>
        </a:defRPr>
      </a:lvl1pPr>
      <a:lvl2pPr marL="990600" indent="-533400" algn="l" rtl="0" eaLnBrk="0" fontAlgn="base" hangingPunct="0">
        <a:spcBef>
          <a:spcPct val="20000"/>
        </a:spcBef>
        <a:spcAft>
          <a:spcPct val="0"/>
        </a:spcAft>
        <a:buClr>
          <a:srgbClr val="FF9900"/>
        </a:buClr>
        <a:buFont typeface="Wingdings" charset="2"/>
        <a:buChar char="§"/>
        <a:defRPr sz="2800">
          <a:solidFill>
            <a:schemeClr val="tx1"/>
          </a:solidFill>
          <a:latin typeface="Arial" charset="0"/>
          <a:ea typeface="ＭＳ Ｐゴシック" charset="-128"/>
        </a:defRPr>
      </a:lvl2pPr>
      <a:lvl3pPr marL="1371600" indent="-457200" algn="l" rtl="0" eaLnBrk="0" fontAlgn="base" hangingPunct="0">
        <a:spcBef>
          <a:spcPct val="20000"/>
        </a:spcBef>
        <a:spcAft>
          <a:spcPct val="0"/>
        </a:spcAft>
        <a:buClr>
          <a:srgbClr val="FF9900"/>
        </a:buClr>
        <a:buFont typeface="Wingdings" charset="2"/>
        <a:buChar char="§"/>
        <a:defRPr sz="2400">
          <a:solidFill>
            <a:schemeClr val="tx1"/>
          </a:solidFill>
          <a:latin typeface="Arial" charset="0"/>
          <a:ea typeface="ＭＳ Ｐゴシック" charset="-128"/>
        </a:defRPr>
      </a:lvl3pPr>
      <a:lvl4pPr marL="1752600" indent="-381000" algn="l" rtl="0" eaLnBrk="0" fontAlgn="base" hangingPunct="0">
        <a:spcBef>
          <a:spcPct val="20000"/>
        </a:spcBef>
        <a:spcAft>
          <a:spcPct val="0"/>
        </a:spcAft>
        <a:buClr>
          <a:srgbClr val="FF9900"/>
        </a:buClr>
        <a:buFont typeface="Wingdings" charset="2"/>
        <a:buChar char="§"/>
        <a:defRPr sz="2000">
          <a:solidFill>
            <a:schemeClr val="tx1"/>
          </a:solidFill>
          <a:latin typeface="Arial" charset="0"/>
          <a:ea typeface="ＭＳ Ｐゴシック" charset="-128"/>
        </a:defRPr>
      </a:lvl4pPr>
      <a:lvl5pPr marL="2209800" indent="-381000" algn="l" rtl="0" eaLnBrk="0" fontAlgn="base" hangingPunct="0">
        <a:spcBef>
          <a:spcPct val="20000"/>
        </a:spcBef>
        <a:spcAft>
          <a:spcPct val="0"/>
        </a:spcAft>
        <a:buClr>
          <a:srgbClr val="FF9900"/>
        </a:buClr>
        <a:buFont typeface="Wingdings" charset="2"/>
        <a:buChar char="§"/>
        <a:defRPr sz="2000">
          <a:solidFill>
            <a:schemeClr val="tx1"/>
          </a:solidFill>
          <a:latin typeface="Arial" charset="0"/>
          <a:ea typeface="ＭＳ Ｐゴシック" charset="-128"/>
        </a:defRPr>
      </a:lvl5pPr>
      <a:lvl6pPr marL="26670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6pPr>
      <a:lvl7pPr marL="31242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7pPr>
      <a:lvl8pPr marL="35814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8pPr>
      <a:lvl9pPr marL="40386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32" name="Picture 3" descr="wmo_ppt_2012_last.jpg"/>
          <p:cNvPicPr>
            <a:picLocks noChangeAspect="1"/>
          </p:cNvPicPr>
          <p:nvPr/>
        </p:nvPicPr>
        <p:blipFill>
          <a:blip r:embed="rId13" cstate="print"/>
          <a:srcRect/>
          <a:stretch>
            <a:fillRect/>
          </a:stretch>
        </p:blipFill>
        <p:spPr bwMode="auto">
          <a:xfrm>
            <a:off x="0" y="0"/>
            <a:ext cx="9144000" cy="6858000"/>
          </a:xfrm>
          <a:prstGeom prst="rect">
            <a:avLst/>
          </a:prstGeom>
          <a:noFill/>
          <a:ln w="9525">
            <a:noFill/>
            <a:miter lim="800000"/>
            <a:headEnd/>
            <a:tailEnd/>
          </a:ln>
        </p:spPr>
      </p:pic>
      <p:sp>
        <p:nvSpPr>
          <p:cNvPr id="1027" name="Rectangle 8"/>
          <p:cNvSpPr>
            <a:spLocks noGrp="1" noChangeArrowheads="1"/>
          </p:cNvSpPr>
          <p:nvPr>
            <p:ph type="body" idx="1"/>
          </p:nvPr>
        </p:nvSpPr>
        <p:spPr bwMode="auto">
          <a:xfrm>
            <a:off x="179388" y="4365625"/>
            <a:ext cx="8785225" cy="172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This space can be used for contact information</a:t>
            </a:r>
          </a:p>
          <a:p>
            <a:pPr lvl="1"/>
            <a:r>
              <a:rPr lang="en-US"/>
              <a:t>Second level</a:t>
            </a:r>
          </a:p>
          <a:p>
            <a:pPr lvl="2"/>
            <a:r>
              <a:rPr lang="en-US"/>
              <a:t>Third level</a:t>
            </a:r>
          </a:p>
          <a:p>
            <a:pPr lvl="3"/>
            <a:r>
              <a:rPr lang="en-US"/>
              <a:t>Fourth level</a:t>
            </a:r>
          </a:p>
          <a:p>
            <a:pPr lvl="4"/>
            <a:r>
              <a:rPr lang="en-US"/>
              <a:t>Fifth level</a:t>
            </a:r>
          </a:p>
        </p:txBody>
      </p:sp>
      <p:sp>
        <p:nvSpPr>
          <p:cNvPr id="9226" name="Rectangle 10"/>
          <p:cNvSpPr>
            <a:spLocks noGrp="1" noChangeArrowheads="1"/>
          </p:cNvSpPr>
          <p:nvPr>
            <p:ph type="ftr" sz="quarter" idx="3"/>
          </p:nvPr>
        </p:nvSpPr>
        <p:spPr bwMode="auto">
          <a:xfrm>
            <a:off x="2484438" y="6462713"/>
            <a:ext cx="2447925" cy="3127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r>
              <a:rPr lang="en-US"/>
              <a:t>test footer</a:t>
            </a:r>
          </a:p>
        </p:txBody>
      </p:sp>
      <p:sp>
        <p:nvSpPr>
          <p:cNvPr id="9227" name="Rectangle 11"/>
          <p:cNvSpPr>
            <a:spLocks noGrp="1" noChangeArrowheads="1"/>
          </p:cNvSpPr>
          <p:nvPr>
            <p:ph type="sldNum" sz="quarter" idx="4"/>
          </p:nvPr>
        </p:nvSpPr>
        <p:spPr bwMode="auto">
          <a:xfrm>
            <a:off x="5148263" y="6462713"/>
            <a:ext cx="1905000" cy="3127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fld id="{D6E563C1-FFF9-1042-B8D2-EFB0C8CC2728}" type="slidenum">
              <a:rPr lang="en-US"/>
              <a:pPr/>
              <a:t>‹N›</a:t>
            </a:fld>
            <a:endParaRPr lang="en-US"/>
          </a:p>
        </p:txBody>
      </p:sp>
      <p:sp>
        <p:nvSpPr>
          <p:cNvPr id="1030" name="Rectangle 13"/>
          <p:cNvSpPr>
            <a:spLocks noGrp="1" noChangeArrowheads="1"/>
          </p:cNvSpPr>
          <p:nvPr>
            <p:ph type="title"/>
          </p:nvPr>
        </p:nvSpPr>
        <p:spPr bwMode="auto">
          <a:xfrm>
            <a:off x="250825" y="3573463"/>
            <a:ext cx="8713788" cy="7191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Thank you for your attention</a:t>
            </a:r>
          </a:p>
        </p:txBody>
      </p:sp>
      <p:sp>
        <p:nvSpPr>
          <p:cNvPr id="6" name="Title 9"/>
          <p:cNvSpPr txBox="1">
            <a:spLocks/>
          </p:cNvSpPr>
          <p:nvPr/>
        </p:nvSpPr>
        <p:spPr>
          <a:xfrm>
            <a:off x="117475" y="6380163"/>
            <a:ext cx="1141413" cy="477837"/>
          </a:xfrm>
          <a:prstGeom prst="rect">
            <a:avLst/>
          </a:prstGeom>
        </p:spPr>
        <p:txBody>
          <a:bodyPr anchor="ctr">
            <a:normAutofit/>
          </a:bodyPr>
          <a:lstStyle/>
          <a:p>
            <a:pPr defTabSz="457200" eaLnBrk="1" fontAlgn="auto" hangingPunct="1">
              <a:spcBef>
                <a:spcPct val="0"/>
              </a:spcBef>
              <a:spcAft>
                <a:spcPts val="0"/>
              </a:spcAft>
              <a:buClrTx/>
              <a:buFontTx/>
              <a:buNone/>
              <a:defRPr/>
            </a:pPr>
            <a:r>
              <a:rPr lang="en-US" sz="1200" dirty="0" err="1">
                <a:latin typeface="Arial"/>
                <a:ea typeface="+mj-ea"/>
                <a:cs typeface="Arial"/>
              </a:rPr>
              <a:t>www.wmo.int</a:t>
            </a:r>
            <a:endParaRPr lang="en-US" sz="1200" dirty="0">
              <a:latin typeface="Arial"/>
              <a:ea typeface="+mj-ea"/>
              <a:cs typeface="Arial"/>
            </a:endParaRP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dt="0"/>
  <p:txStyles>
    <p:titleStyle>
      <a:lvl1pPr algn="ctr" rtl="0" eaLnBrk="0" fontAlgn="base" hangingPunct="0">
        <a:spcBef>
          <a:spcPct val="0"/>
        </a:spcBef>
        <a:spcAft>
          <a:spcPct val="0"/>
        </a:spcAft>
        <a:defRPr sz="4000">
          <a:solidFill>
            <a:schemeClr val="bg1"/>
          </a:solidFill>
          <a:latin typeface="+mj-lt"/>
          <a:ea typeface="+mj-ea"/>
          <a:cs typeface="+mj-cs"/>
        </a:defRPr>
      </a:lvl1pPr>
      <a:lvl2pPr algn="ctr" rtl="0" eaLnBrk="0" fontAlgn="base" hangingPunct="0">
        <a:spcBef>
          <a:spcPct val="0"/>
        </a:spcBef>
        <a:spcAft>
          <a:spcPct val="0"/>
        </a:spcAft>
        <a:defRPr sz="4000">
          <a:solidFill>
            <a:schemeClr val="bg1"/>
          </a:solidFill>
          <a:latin typeface="Arial Narrow" pitchFamily="34" charset="0"/>
        </a:defRPr>
      </a:lvl2pPr>
      <a:lvl3pPr algn="ctr" rtl="0" eaLnBrk="0" fontAlgn="base" hangingPunct="0">
        <a:spcBef>
          <a:spcPct val="0"/>
        </a:spcBef>
        <a:spcAft>
          <a:spcPct val="0"/>
        </a:spcAft>
        <a:defRPr sz="4000">
          <a:solidFill>
            <a:schemeClr val="bg1"/>
          </a:solidFill>
          <a:latin typeface="Arial Narrow" pitchFamily="34" charset="0"/>
        </a:defRPr>
      </a:lvl3pPr>
      <a:lvl4pPr algn="ctr" rtl="0" eaLnBrk="0" fontAlgn="base" hangingPunct="0">
        <a:spcBef>
          <a:spcPct val="0"/>
        </a:spcBef>
        <a:spcAft>
          <a:spcPct val="0"/>
        </a:spcAft>
        <a:defRPr sz="4000">
          <a:solidFill>
            <a:schemeClr val="bg1"/>
          </a:solidFill>
          <a:latin typeface="Arial Narrow" pitchFamily="34" charset="0"/>
        </a:defRPr>
      </a:lvl4pPr>
      <a:lvl5pPr algn="ctr" rtl="0" eaLnBrk="0" fontAlgn="base" hangingPunct="0">
        <a:spcBef>
          <a:spcPct val="0"/>
        </a:spcBef>
        <a:spcAft>
          <a:spcPct val="0"/>
        </a:spcAft>
        <a:defRPr sz="4000">
          <a:solidFill>
            <a:schemeClr val="bg1"/>
          </a:solidFill>
          <a:latin typeface="Arial Narrow" pitchFamily="34" charset="0"/>
        </a:defRPr>
      </a:lvl5pPr>
      <a:lvl6pPr marL="457200" algn="l" rtl="0" fontAlgn="base">
        <a:spcBef>
          <a:spcPct val="0"/>
        </a:spcBef>
        <a:spcAft>
          <a:spcPct val="0"/>
        </a:spcAft>
        <a:defRPr sz="3200">
          <a:solidFill>
            <a:schemeClr val="tx2"/>
          </a:solidFill>
          <a:latin typeface="Arial Narrow" pitchFamily="34" charset="0"/>
        </a:defRPr>
      </a:lvl6pPr>
      <a:lvl7pPr marL="914400" algn="l" rtl="0" fontAlgn="base">
        <a:spcBef>
          <a:spcPct val="0"/>
        </a:spcBef>
        <a:spcAft>
          <a:spcPct val="0"/>
        </a:spcAft>
        <a:defRPr sz="3200">
          <a:solidFill>
            <a:schemeClr val="tx2"/>
          </a:solidFill>
          <a:latin typeface="Arial Narrow" pitchFamily="34" charset="0"/>
        </a:defRPr>
      </a:lvl7pPr>
      <a:lvl8pPr marL="1371600" algn="l" rtl="0" fontAlgn="base">
        <a:spcBef>
          <a:spcPct val="0"/>
        </a:spcBef>
        <a:spcAft>
          <a:spcPct val="0"/>
        </a:spcAft>
        <a:defRPr sz="3200">
          <a:solidFill>
            <a:schemeClr val="tx2"/>
          </a:solidFill>
          <a:latin typeface="Arial Narrow" pitchFamily="34" charset="0"/>
        </a:defRPr>
      </a:lvl8pPr>
      <a:lvl9pPr marL="1828800" algn="l" rtl="0" fontAlgn="base">
        <a:spcBef>
          <a:spcPct val="0"/>
        </a:spcBef>
        <a:spcAft>
          <a:spcPct val="0"/>
        </a:spcAft>
        <a:defRPr sz="3200">
          <a:solidFill>
            <a:schemeClr val="tx2"/>
          </a:solidFill>
          <a:latin typeface="Arial Narrow" pitchFamily="34" charset="0"/>
        </a:defRPr>
      </a:lvl9pPr>
    </p:titleStyle>
    <p:bodyStyle>
      <a:lvl1pPr marL="342900" indent="-342900" algn="ctr" rtl="0" eaLnBrk="0" fontAlgn="base" hangingPunct="0">
        <a:spcBef>
          <a:spcPct val="20000"/>
        </a:spcBef>
        <a:spcAft>
          <a:spcPct val="0"/>
        </a:spcAft>
        <a:defRPr sz="2000">
          <a:solidFill>
            <a:schemeClr val="bg1"/>
          </a:solidFill>
          <a:latin typeface="Arial" charset="0"/>
          <a:ea typeface="+mn-ea"/>
          <a:cs typeface="+mn-cs"/>
        </a:defRPr>
      </a:lvl1pPr>
      <a:lvl2pPr marL="742950" indent="-285750" algn="ctr" rtl="0" eaLnBrk="0" fontAlgn="base" hangingPunct="0">
        <a:spcBef>
          <a:spcPct val="20000"/>
        </a:spcBef>
        <a:spcAft>
          <a:spcPct val="0"/>
        </a:spcAft>
        <a:buClr>
          <a:srgbClr val="FF9900"/>
        </a:buClr>
        <a:buFont typeface="Wingdings" charset="2"/>
        <a:buChar char="§"/>
        <a:defRPr sz="2800">
          <a:solidFill>
            <a:schemeClr val="bg1"/>
          </a:solidFill>
          <a:latin typeface="Arial" charset="0"/>
          <a:ea typeface="ＭＳ Ｐゴシック" charset="-128"/>
        </a:defRPr>
      </a:lvl2pPr>
      <a:lvl3pPr marL="1143000" indent="-228600" algn="ctr" rtl="0" eaLnBrk="0" fontAlgn="base" hangingPunct="0">
        <a:spcBef>
          <a:spcPct val="20000"/>
        </a:spcBef>
        <a:spcAft>
          <a:spcPct val="0"/>
        </a:spcAft>
        <a:buClr>
          <a:srgbClr val="FF9900"/>
        </a:buClr>
        <a:buFont typeface="Wingdings" charset="2"/>
        <a:buChar char="§"/>
        <a:defRPr sz="2400">
          <a:solidFill>
            <a:schemeClr val="bg1"/>
          </a:solidFill>
          <a:latin typeface="Arial" charset="0"/>
          <a:ea typeface="ＭＳ Ｐゴシック" charset="-128"/>
        </a:defRPr>
      </a:lvl3pPr>
      <a:lvl4pPr marL="1600200" indent="-228600" algn="ctr" rtl="0" eaLnBrk="0" fontAlgn="base" hangingPunct="0">
        <a:spcBef>
          <a:spcPct val="20000"/>
        </a:spcBef>
        <a:spcAft>
          <a:spcPct val="0"/>
        </a:spcAft>
        <a:buClr>
          <a:srgbClr val="FF9900"/>
        </a:buClr>
        <a:buFont typeface="Wingdings" charset="2"/>
        <a:buChar char="§"/>
        <a:defRPr sz="2000">
          <a:solidFill>
            <a:schemeClr val="bg1"/>
          </a:solidFill>
          <a:latin typeface="Arial" charset="0"/>
          <a:ea typeface="ＭＳ Ｐゴシック" charset="-128"/>
        </a:defRPr>
      </a:lvl4pPr>
      <a:lvl5pPr marL="2057400" indent="-228600" algn="ctr" rtl="0" eaLnBrk="0" fontAlgn="base" hangingPunct="0">
        <a:spcBef>
          <a:spcPct val="20000"/>
        </a:spcBef>
        <a:spcAft>
          <a:spcPct val="0"/>
        </a:spcAft>
        <a:buClr>
          <a:srgbClr val="FF9900"/>
        </a:buClr>
        <a:buFont typeface="Wingdings" charset="2"/>
        <a:buChar char="§"/>
        <a:defRPr sz="2000">
          <a:solidFill>
            <a:schemeClr val="bg1"/>
          </a:solidFill>
          <a:latin typeface="Arial" charset="0"/>
          <a:ea typeface="ＭＳ Ｐゴシック"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00"/>
            <a:ext cx="7315200" cy="484631"/>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85800" y="1602421"/>
            <a:ext cx="5486400" cy="2743200"/>
          </a:xfrm>
          <a:prstGeom prst="rect">
            <a:avLst/>
          </a:prstGeom>
        </p:spPr>
        <p:txBody>
          <a:bodyPr vert="horz" lIns="0" tIns="0" rIns="0" bIns="0" rtlCol="0">
            <a:noAutofit/>
          </a:bodyPr>
          <a:lstStyle/>
          <a:p>
            <a:pPr marL="173736" marR="0" lvl="0" indent="-173736" algn="l" defTabSz="457200" rtl="0" eaLnBrk="1" fontAlgn="auto" latinLnBrk="0" hangingPunct="1">
              <a:lnSpc>
                <a:spcPct val="100000"/>
              </a:lnSpc>
              <a:spcBef>
                <a:spcPts val="300"/>
              </a:spcBef>
              <a:spcAft>
                <a:spcPts val="1200"/>
              </a:spcAft>
              <a:buClrTx/>
              <a:buSzPct val="80000"/>
              <a:buFont typeface="Arial"/>
              <a:buChar char="•"/>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master text styles</a:t>
            </a:r>
          </a:p>
          <a:p>
            <a:pPr lvl="2"/>
            <a:r>
              <a:rPr lang="en-US" dirty="0"/>
              <a:t>Second level</a:t>
            </a:r>
          </a:p>
        </p:txBody>
      </p:sp>
      <p:sp>
        <p:nvSpPr>
          <p:cNvPr id="4" name="Segnaposto numero diapositiva 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FF0000"/>
                </a:solidFill>
              </a:defRPr>
            </a:lvl1pPr>
          </a:lstStyle>
          <a:p>
            <a:pPr eaLnBrk="1" fontAlgn="auto" hangingPunct="1">
              <a:spcBef>
                <a:spcPts val="0"/>
              </a:spcBef>
              <a:spcAft>
                <a:spcPts val="0"/>
              </a:spcAft>
              <a:buClrTx/>
              <a:buFontTx/>
              <a:buNone/>
            </a:pPr>
            <a:fld id="{947CD9D8-4C11-4D56-84AC-F9003AC5D8FC}" type="slidenum">
              <a:rPr lang="en-US" smtClean="0">
                <a:latin typeface="Arial"/>
                <a:ea typeface="ＭＳ Ｐゴシック"/>
                <a:cs typeface="ＭＳ Ｐゴシック"/>
              </a:rPr>
              <a:pPr eaLnBrk="1" fontAlgn="auto" hangingPunct="1">
                <a:spcBef>
                  <a:spcPts val="0"/>
                </a:spcBef>
                <a:spcAft>
                  <a:spcPts val="0"/>
                </a:spcAft>
                <a:buClrTx/>
                <a:buFontTx/>
                <a:buNone/>
              </a:pPr>
              <a:t>‹N›</a:t>
            </a:fld>
            <a:endParaRPr lang="en-US">
              <a:latin typeface="Arial"/>
              <a:ea typeface="ＭＳ Ｐゴシック"/>
              <a:cs typeface="ＭＳ Ｐゴシック"/>
            </a:endParaRPr>
          </a:p>
        </p:txBody>
      </p:sp>
    </p:spTree>
    <p:extLst>
      <p:ext uri="{BB962C8B-B14F-4D97-AF65-F5344CB8AC3E}">
        <p14:creationId xmlns:p14="http://schemas.microsoft.com/office/powerpoint/2010/main" xmlns="" val="144743934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Lst>
  <p:transition spd="med">
    <p:fade/>
  </p:transition>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1" i="0" kern="1200">
          <a:solidFill>
            <a:schemeClr val="tx1"/>
          </a:solidFill>
          <a:latin typeface="+mj-lt"/>
          <a:ea typeface="+mj-ea"/>
          <a:cs typeface="Avenir LT Std 55 Roman" pitchFamily="34" charset="0"/>
        </a:defRPr>
      </a:lvl1pPr>
    </p:titleStyle>
    <p:body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xml"/><Relationship Id="rId1" Type="http://schemas.openxmlformats.org/officeDocument/2006/relationships/slideLayout" Target="../slideLayouts/slideLayout26.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6.xml"/><Relationship Id="rId1" Type="http://schemas.openxmlformats.org/officeDocument/2006/relationships/slideLayout" Target="../slideLayouts/slideLayout38.xml"/><Relationship Id="rId5" Type="http://schemas.openxmlformats.org/officeDocument/2006/relationships/image" Target="../media/image46.jpeg"/><Relationship Id="rId4" Type="http://schemas.openxmlformats.org/officeDocument/2006/relationships/image" Target="../media/image45.jpeg"/></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32.xml"/><Relationship Id="rId6" Type="http://schemas.openxmlformats.org/officeDocument/2006/relationships/image" Target="../media/image51.emf"/><Relationship Id="rId5" Type="http://schemas.openxmlformats.org/officeDocument/2006/relationships/image" Target="../media/image50.gif"/><Relationship Id="rId4" Type="http://schemas.openxmlformats.org/officeDocument/2006/relationships/image" Target="../media/image49.png"/></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30.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32.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5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70.png"/><Relationship Id="rId1" Type="http://schemas.openxmlformats.org/officeDocument/2006/relationships/slideLayout" Target="../slideLayouts/slideLayout32.xml"/><Relationship Id="rId6" Type="http://schemas.openxmlformats.org/officeDocument/2006/relationships/image" Target="../media/image66.png"/><Relationship Id="rId11" Type="http://schemas.openxmlformats.org/officeDocument/2006/relationships/image" Target="../media/image74.png"/><Relationship Id="rId5" Type="http://schemas.openxmlformats.org/officeDocument/2006/relationships/image" Target="../media/image65.png"/><Relationship Id="rId10" Type="http://schemas.openxmlformats.org/officeDocument/2006/relationships/image" Target="../media/image73.png"/><Relationship Id="rId4" Type="http://schemas.openxmlformats.org/officeDocument/2006/relationships/image" Target="../media/image64.png"/><Relationship Id="rId9" Type="http://schemas.openxmlformats.org/officeDocument/2006/relationships/image" Target="../media/image72.jpeg"/></Relationships>
</file>

<file path=ppt/slides/_rels/slide5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32.xml"/></Relationships>
</file>

<file path=ppt/slides/_rels/slide6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2.xml"/></Relationships>
</file>

<file path=ppt/slides/_rels/slide6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3.xml"/><Relationship Id="rId1" Type="http://schemas.openxmlformats.org/officeDocument/2006/relationships/slideLayout" Target="../slideLayouts/slideLayout32.xml"/><Relationship Id="rId5" Type="http://schemas.openxmlformats.org/officeDocument/2006/relationships/image" Target="../media/image80.png"/><Relationship Id="rId4" Type="http://schemas.openxmlformats.org/officeDocument/2006/relationships/image" Target="../media/image79.png"/></Relationships>
</file>

<file path=ppt/slides/_rels/slide6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2.xml"/></Relationships>
</file>

<file path=ppt/slides/_rels/slide6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4.xml"/><Relationship Id="rId1" Type="http://schemas.openxmlformats.org/officeDocument/2006/relationships/slideLayout" Target="../slideLayouts/slideLayout32.xml"/><Relationship Id="rId4" Type="http://schemas.openxmlformats.org/officeDocument/2006/relationships/image" Target="../media/image83.png"/></Relationships>
</file>

<file path=ppt/slides/_rels/slide6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6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6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7.xml"/><Relationship Id="rId1" Type="http://schemas.openxmlformats.org/officeDocument/2006/relationships/slideLayout" Target="../slideLayouts/slideLayout32.xml"/></Relationships>
</file>

<file path=ppt/slides/_rels/slide6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8.xml"/><Relationship Id="rId1" Type="http://schemas.openxmlformats.org/officeDocument/2006/relationships/slideLayout" Target="../slideLayouts/slideLayout32.xml"/></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214282" y="2346697"/>
            <a:ext cx="8715436" cy="1730375"/>
          </a:xfrm>
        </p:spPr>
        <p:txBody>
          <a:bodyPr/>
          <a:lstStyle/>
          <a:p>
            <a:r>
              <a:rPr lang="en-US" sz="4800" b="1" dirty="0" smtClean="0">
                <a:latin typeface="Times New Roman"/>
                <a:cs typeface="Times New Roman"/>
              </a:rPr>
              <a:t>Global initiatives </a:t>
            </a:r>
            <a:r>
              <a:rPr lang="en-US" sz="4800" b="1" dirty="0" smtClean="0">
                <a:latin typeface="Times New Roman"/>
                <a:cs typeface="Times New Roman"/>
              </a:rPr>
              <a:t>of WMO </a:t>
            </a:r>
            <a:r>
              <a:rPr lang="en-US" sz="4800" b="1" dirty="0" err="1" smtClean="0">
                <a:latin typeface="Times New Roman"/>
                <a:cs typeface="Times New Roman"/>
              </a:rPr>
              <a:t>CHy</a:t>
            </a:r>
            <a:r>
              <a:rPr lang="en-US" sz="4800" b="1" dirty="0" smtClean="0">
                <a:latin typeface="Times New Roman"/>
                <a:cs typeface="Times New Roman"/>
              </a:rPr>
              <a:t> in </a:t>
            </a:r>
            <a:r>
              <a:rPr lang="en-US" sz="4800" b="1" dirty="0" smtClean="0">
                <a:latin typeface="Times New Roman"/>
                <a:cs typeface="Times New Roman"/>
              </a:rPr>
              <a:t>hydrological data </a:t>
            </a:r>
            <a:r>
              <a:rPr lang="en-US" sz="4800" b="1" dirty="0" smtClean="0">
                <a:latin typeface="Times New Roman"/>
                <a:cs typeface="Times New Roman"/>
              </a:rPr>
              <a:t>sharing</a:t>
            </a:r>
            <a:endParaRPr lang="en-US" sz="4800" b="1" dirty="0">
              <a:latin typeface="Times New Roman"/>
              <a:cs typeface="Times New Roman"/>
            </a:endParaRPr>
          </a:p>
        </p:txBody>
      </p:sp>
      <p:sp>
        <p:nvSpPr>
          <p:cNvPr id="6150" name="Rectangle 6"/>
          <p:cNvSpPr>
            <a:spLocks noGrp="1" noChangeArrowheads="1"/>
          </p:cNvSpPr>
          <p:nvPr>
            <p:ph type="subTitle" idx="1"/>
          </p:nvPr>
        </p:nvSpPr>
        <p:spPr>
          <a:xfrm>
            <a:off x="214282" y="4214818"/>
            <a:ext cx="4286280" cy="1061864"/>
          </a:xfrm>
        </p:spPr>
        <p:txBody>
          <a:bodyPr/>
          <a:lstStyle/>
          <a:p>
            <a:pPr>
              <a:spcAft>
                <a:spcPts val="600"/>
              </a:spcAft>
            </a:pPr>
            <a:r>
              <a:rPr lang="it-IT" sz="2000" b="1" dirty="0" smtClean="0"/>
              <a:t>Tony Boston</a:t>
            </a:r>
          </a:p>
          <a:p>
            <a:pPr>
              <a:spcAft>
                <a:spcPts val="600"/>
              </a:spcAft>
            </a:pPr>
            <a:r>
              <a:rPr lang="it-IT" sz="2000" b="1" dirty="0" smtClean="0"/>
              <a:t>BOM, Australia</a:t>
            </a:r>
            <a:endParaRPr lang="en-US" sz="2000" dirty="0">
              <a:latin typeface="Times New Roman"/>
              <a:cs typeface="Times New Roman"/>
            </a:endParaRPr>
          </a:p>
        </p:txBody>
      </p:sp>
      <p:sp>
        <p:nvSpPr>
          <p:cNvPr id="15" name="Title 9"/>
          <p:cNvSpPr txBox="1">
            <a:spLocks/>
          </p:cNvSpPr>
          <p:nvPr/>
        </p:nvSpPr>
        <p:spPr>
          <a:xfrm>
            <a:off x="117474" y="6453188"/>
            <a:ext cx="2582317" cy="288925"/>
          </a:xfrm>
          <a:prstGeom prst="rect">
            <a:avLst/>
          </a:prstGeom>
        </p:spPr>
        <p:txBody>
          <a:bodyPr anchor="ctr">
            <a:normAutofit/>
          </a:bodyPr>
          <a:lstStyle/>
          <a:p>
            <a:pPr defTabSz="457200" eaLnBrk="1" fontAlgn="auto" hangingPunct="1">
              <a:spcBef>
                <a:spcPct val="0"/>
              </a:spcBef>
              <a:spcAft>
                <a:spcPts val="0"/>
              </a:spcAft>
              <a:buClrTx/>
              <a:buFontTx/>
              <a:buNone/>
              <a:defRPr/>
            </a:pPr>
            <a:r>
              <a:rPr lang="en-US" sz="1200" dirty="0" smtClean="0">
                <a:latin typeface="Arial"/>
                <a:ea typeface="+mj-ea"/>
                <a:cs typeface="Arial"/>
              </a:rPr>
              <a:t>WMO</a:t>
            </a:r>
            <a:r>
              <a:rPr lang="en-US" sz="1200" dirty="0">
                <a:latin typeface="Arial"/>
                <a:ea typeface="+mj-ea"/>
                <a:cs typeface="Arial"/>
              </a:rPr>
              <a:t> </a:t>
            </a:r>
            <a:r>
              <a:rPr lang="en-US" sz="1200" dirty="0" smtClean="0">
                <a:latin typeface="Arial"/>
                <a:ea typeface="+mj-ea"/>
                <a:cs typeface="Arial"/>
              </a:rPr>
              <a:t>Commission for Hydrology</a:t>
            </a:r>
            <a:endParaRPr lang="en-US" sz="1200" dirty="0">
              <a:latin typeface="Arial"/>
              <a:ea typeface="+mj-ea"/>
              <a:cs typeface="Arial"/>
            </a:endParaRPr>
          </a:p>
        </p:txBody>
      </p:sp>
      <p:sp>
        <p:nvSpPr>
          <p:cNvPr id="5" name="Rectangle 6"/>
          <p:cNvSpPr txBox="1">
            <a:spLocks noChangeArrowheads="1"/>
          </p:cNvSpPr>
          <p:nvPr/>
        </p:nvSpPr>
        <p:spPr bwMode="auto">
          <a:xfrm>
            <a:off x="4857720" y="4214818"/>
            <a:ext cx="4286280" cy="10618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20000"/>
              </a:spcBef>
              <a:spcAft>
                <a:spcPts val="600"/>
              </a:spcAft>
              <a:buClr>
                <a:srgbClr val="FF9900"/>
              </a:buClr>
              <a:buSzTx/>
              <a:buFont typeface="Wingdings" charset="2"/>
              <a:buNone/>
              <a:tabLst/>
              <a:defRPr/>
            </a:pPr>
            <a:r>
              <a:rPr kumimoji="0" lang="en-US" sz="2000" b="1" i="0" u="none" strike="noStrike" kern="0" cap="none" spc="0" normalizeH="0" baseline="0" noProof="0" dirty="0" err="1" smtClean="0">
                <a:ln>
                  <a:noFill/>
                </a:ln>
                <a:solidFill>
                  <a:schemeClr val="bg1"/>
                </a:solidFill>
                <a:effectLst/>
                <a:uLnTx/>
                <a:uFillTx/>
                <a:latin typeface="Arial" charset="0"/>
                <a:ea typeface="+mn-ea"/>
                <a:cs typeface="+mn-cs"/>
              </a:rPr>
              <a:t>Silvano</a:t>
            </a:r>
            <a:r>
              <a:rPr kumimoji="0" lang="en-US" sz="2000" b="1" i="0" u="none" strike="noStrike" kern="0" cap="none" spc="0" normalizeH="0" baseline="0" noProof="0" dirty="0" smtClean="0">
                <a:ln>
                  <a:noFill/>
                </a:ln>
                <a:solidFill>
                  <a:schemeClr val="bg1"/>
                </a:solidFill>
                <a:effectLst/>
                <a:uLnTx/>
                <a:uFillTx/>
                <a:latin typeface="Arial" charset="0"/>
                <a:ea typeface="+mn-ea"/>
                <a:cs typeface="+mn-cs"/>
              </a:rPr>
              <a:t> </a:t>
            </a:r>
            <a:r>
              <a:rPr kumimoji="0" lang="en-US" sz="2000" b="1" i="0" u="none" strike="noStrike" kern="0" cap="none" spc="0" normalizeH="0" baseline="0" noProof="0" dirty="0" err="1" smtClean="0">
                <a:ln>
                  <a:noFill/>
                </a:ln>
                <a:solidFill>
                  <a:schemeClr val="bg1"/>
                </a:solidFill>
                <a:effectLst/>
                <a:uLnTx/>
                <a:uFillTx/>
                <a:latin typeface="Arial" charset="0"/>
                <a:ea typeface="+mn-ea"/>
                <a:cs typeface="+mn-cs"/>
              </a:rPr>
              <a:t>Pecora</a:t>
            </a:r>
            <a:endParaRPr kumimoji="0" lang="en-US" sz="2000" b="1" i="0" u="none" strike="noStrike" kern="0" cap="none" spc="0" normalizeH="0" baseline="0" noProof="0" dirty="0" smtClean="0">
              <a:ln>
                <a:noFill/>
              </a:ln>
              <a:solidFill>
                <a:schemeClr val="bg1"/>
              </a:solidFill>
              <a:effectLst/>
              <a:uLnTx/>
              <a:uFillTx/>
              <a:latin typeface="Arial" charset="0"/>
              <a:ea typeface="+mn-ea"/>
              <a:cs typeface="+mn-cs"/>
            </a:endParaRPr>
          </a:p>
          <a:p>
            <a:pPr marL="0" marR="0" lvl="0" indent="0" algn="ctr" defTabSz="914400" rtl="0" eaLnBrk="0" fontAlgn="base" latinLnBrk="0" hangingPunct="0">
              <a:lnSpc>
                <a:spcPct val="100000"/>
              </a:lnSpc>
              <a:spcBef>
                <a:spcPct val="20000"/>
              </a:spcBef>
              <a:spcAft>
                <a:spcPts val="600"/>
              </a:spcAft>
              <a:buClr>
                <a:srgbClr val="FF9900"/>
              </a:buClr>
              <a:buSzTx/>
              <a:buFont typeface="Wingdings" charset="2"/>
              <a:buNone/>
              <a:tabLst/>
              <a:defRPr/>
            </a:pPr>
            <a:r>
              <a:rPr kumimoji="0" lang="en-US" sz="2000" b="1" i="0" u="none" strike="noStrike" kern="0" cap="none" spc="0" normalizeH="0" baseline="0" noProof="0" dirty="0" smtClean="0">
                <a:ln>
                  <a:noFill/>
                </a:ln>
                <a:solidFill>
                  <a:schemeClr val="bg1"/>
                </a:solidFill>
                <a:effectLst/>
                <a:uLnTx/>
                <a:uFillTx/>
                <a:latin typeface="Arial" charset="0"/>
                <a:ea typeface="+mn-ea"/>
                <a:cs typeface="+mn-cs"/>
              </a:rPr>
              <a:t>ARPA, Italy</a:t>
            </a:r>
            <a:endParaRPr kumimoji="0" lang="en-US" sz="2000" b="0" i="0" u="none" strike="noStrike" kern="0" cap="none" spc="0" normalizeH="0" baseline="0" noProof="0" dirty="0">
              <a:ln>
                <a:noFill/>
              </a:ln>
              <a:solidFill>
                <a:schemeClr val="bg1"/>
              </a:solidFill>
              <a:effectLst/>
              <a:uLnTx/>
              <a:uFillTx/>
              <a:latin typeface="Times New Roman"/>
              <a:ea typeface="+mn-ea"/>
              <a:cs typeface="Times New Roman"/>
            </a:endParaRPr>
          </a:p>
        </p:txBody>
      </p:sp>
      <p:sp>
        <p:nvSpPr>
          <p:cNvPr id="6" name="Rectangle 6"/>
          <p:cNvSpPr txBox="1">
            <a:spLocks noChangeArrowheads="1"/>
          </p:cNvSpPr>
          <p:nvPr/>
        </p:nvSpPr>
        <p:spPr bwMode="auto">
          <a:xfrm>
            <a:off x="2643174" y="5364850"/>
            <a:ext cx="4286280" cy="7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20000"/>
              </a:spcBef>
              <a:spcAft>
                <a:spcPts val="600"/>
              </a:spcAft>
              <a:buClr>
                <a:srgbClr val="FF9900"/>
              </a:buClr>
              <a:buSzTx/>
              <a:buFont typeface="Wingdings" charset="2"/>
              <a:buNone/>
              <a:tabLst/>
              <a:defRPr/>
            </a:pPr>
            <a:r>
              <a:rPr kumimoji="0" lang="en-US" sz="1800" b="1" i="0" u="none" strike="noStrike" kern="0" cap="none" spc="0" normalizeH="0" baseline="0" noProof="0" dirty="0" smtClean="0">
                <a:ln>
                  <a:noFill/>
                </a:ln>
                <a:solidFill>
                  <a:schemeClr val="bg1"/>
                </a:solidFill>
                <a:effectLst/>
                <a:uLnTx/>
                <a:uFillTx/>
                <a:latin typeface="Arial" charset="0"/>
                <a:ea typeface="+mn-ea"/>
                <a:cs typeface="+mn-cs"/>
              </a:rPr>
              <a:t>6th Hydrology DWG Workshop</a:t>
            </a:r>
            <a:endParaRPr kumimoji="0" lang="es-ES" sz="1800" b="1" i="0" u="none" strike="noStrike" kern="0" cap="none" spc="0" normalizeH="0" baseline="0" noProof="0" dirty="0" smtClean="0">
              <a:ln>
                <a:noFill/>
              </a:ln>
              <a:solidFill>
                <a:schemeClr val="bg1"/>
              </a:solidFill>
              <a:effectLst/>
              <a:uLnTx/>
              <a:uFillTx/>
              <a:latin typeface="Arial" charset="0"/>
              <a:ea typeface="+mn-ea"/>
              <a:cs typeface="+mn-cs"/>
            </a:endParaRPr>
          </a:p>
          <a:p>
            <a:pPr marL="0" marR="0" lvl="0" indent="0" algn="ctr" defTabSz="914400" rtl="0" eaLnBrk="0" fontAlgn="base" latinLnBrk="0" hangingPunct="0">
              <a:lnSpc>
                <a:spcPct val="100000"/>
              </a:lnSpc>
              <a:spcBef>
                <a:spcPct val="20000"/>
              </a:spcBef>
              <a:spcAft>
                <a:spcPts val="600"/>
              </a:spcAft>
              <a:buClr>
                <a:srgbClr val="FF9900"/>
              </a:buClr>
              <a:buSzTx/>
              <a:buFont typeface="Wingdings" charset="2"/>
              <a:buNone/>
              <a:tabLst/>
              <a:defRPr/>
            </a:pPr>
            <a:r>
              <a:rPr kumimoji="0" lang="en-US" sz="1800" b="1" i="0" u="none" strike="noStrike" kern="0" cap="none" spc="0" normalizeH="0" baseline="0" noProof="0" dirty="0" smtClean="0">
                <a:ln>
                  <a:noFill/>
                </a:ln>
                <a:solidFill>
                  <a:schemeClr val="bg1"/>
                </a:solidFill>
                <a:effectLst/>
                <a:uLnTx/>
                <a:uFillTx/>
                <a:latin typeface="Arial" charset="0"/>
                <a:ea typeface="+mn-ea"/>
                <a:cs typeface="+mn-cs"/>
              </a:rPr>
              <a:t>Orleans, September 21-25 2015</a:t>
            </a:r>
          </a:p>
          <a:p>
            <a:pPr marL="0" marR="0" lvl="0" indent="0" algn="ctr" defTabSz="914400" rtl="0" eaLnBrk="0" fontAlgn="base" latinLnBrk="0" hangingPunct="0">
              <a:lnSpc>
                <a:spcPct val="100000"/>
              </a:lnSpc>
              <a:spcBef>
                <a:spcPct val="20000"/>
              </a:spcBef>
              <a:spcAft>
                <a:spcPts val="600"/>
              </a:spcAft>
              <a:buClr>
                <a:srgbClr val="FF9900"/>
              </a:buClr>
              <a:buSzTx/>
              <a:buFont typeface="Wingdings" charset="2"/>
              <a:buNone/>
              <a:tabLst/>
              <a:defRPr/>
            </a:pPr>
            <a:endParaRPr kumimoji="0" lang="en-US" sz="2000" b="0" i="0" u="none" strike="noStrike" kern="0" cap="none" spc="0" normalizeH="0" baseline="0" noProof="0" dirty="0">
              <a:ln>
                <a:noFill/>
              </a:ln>
              <a:solidFill>
                <a:schemeClr val="bg1"/>
              </a:solidFill>
              <a:effectLst/>
              <a:uLnTx/>
              <a:uFillTx/>
              <a:latin typeface="Times New Roman"/>
              <a:ea typeface="+mn-ea"/>
              <a:cs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pPr>
            <a:r>
              <a:rPr lang="en-US" sz="2800" b="1" dirty="0" smtClean="0">
                <a:solidFill>
                  <a:srgbClr val="007AC2"/>
                </a:solidFill>
                <a:latin typeface="+mj-lt"/>
                <a:ea typeface="+mj-ea"/>
                <a:cs typeface="Avenir LT Std 85 Heavy"/>
              </a:rPr>
              <a:t>WMO COMMISSION FOR HYDROLOGY</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Text Box 6"/>
          <p:cNvSpPr txBox="1">
            <a:spLocks noChangeArrowheads="1"/>
          </p:cNvSpPr>
          <p:nvPr/>
        </p:nvSpPr>
        <p:spPr bwMode="auto">
          <a:xfrm>
            <a:off x="1619250" y="2420938"/>
            <a:ext cx="3960813" cy="457200"/>
          </a:xfrm>
          <a:prstGeom prst="rect">
            <a:avLst/>
          </a:prstGeom>
          <a:noFill/>
          <a:ln w="9525">
            <a:noFill/>
            <a:miter lim="800000"/>
            <a:headEnd/>
            <a:tailEnd/>
          </a:ln>
          <a:effectLst/>
        </p:spPr>
        <p:txBody>
          <a:bodyPr>
            <a:prstTxWarp prst="textNoShape">
              <a:avLst/>
            </a:prstTxWarp>
            <a:spAutoFit/>
          </a:bodyPr>
          <a:lstStyle/>
          <a:p>
            <a:pPr>
              <a:buFont typeface="Wingdings" charset="2"/>
              <a:buChar char="§"/>
            </a:pPr>
            <a:endParaRPr lang="en-US"/>
          </a:p>
        </p:txBody>
      </p:sp>
      <p:pic>
        <p:nvPicPr>
          <p:cNvPr id="19" name="Picture 18" descr="structure_WMO_en.gif"/>
          <p:cNvPicPr>
            <a:picLocks noChangeAspect="1"/>
          </p:cNvPicPr>
          <p:nvPr/>
        </p:nvPicPr>
        <p:blipFill>
          <a:blip r:embed="rId2" cstate="print"/>
          <a:stretch>
            <a:fillRect/>
          </a:stretch>
        </p:blipFill>
        <p:spPr>
          <a:xfrm>
            <a:off x="1405672" y="0"/>
            <a:ext cx="7270784" cy="6858000"/>
          </a:xfrm>
          <a:prstGeom prst="rect">
            <a:avLst/>
          </a:prstGeom>
        </p:spPr>
      </p:pic>
      <p:sp>
        <p:nvSpPr>
          <p:cNvPr id="20" name="Left Arrow 19"/>
          <p:cNvSpPr/>
          <p:nvPr/>
        </p:nvSpPr>
        <p:spPr>
          <a:xfrm>
            <a:off x="8244408" y="2085038"/>
            <a:ext cx="759336" cy="388075"/>
          </a:xfrm>
          <a:prstGeom prst="leftArrow">
            <a:avLst>
              <a:gd name="adj1" fmla="val 50000"/>
              <a:gd name="adj2" fmla="val 51378"/>
            </a:avLst>
          </a:prstGeom>
          <a:solidFill>
            <a:srgbClr val="FFFF00"/>
          </a:solidFill>
          <a:ln/>
          <a:effectLst>
            <a:outerShdw blurRad="40000" dist="23000" dir="5400000" rotWithShape="0">
              <a:schemeClr val="tx1">
                <a:alpha val="35000"/>
              </a:schemeClr>
            </a:outerShdw>
          </a:effectLst>
        </p:spPr>
        <p:style>
          <a:lnRef idx="1">
            <a:schemeClr val="accent1"/>
          </a:lnRef>
          <a:fillRef idx="3">
            <a:schemeClr val="accent1"/>
          </a:fillRef>
          <a:effectRef idx="2">
            <a:schemeClr val="accent1"/>
          </a:effectRef>
          <a:fontRef idx="minor">
            <a:schemeClr val="lt1"/>
          </a:fontRef>
        </p:style>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accel="50000" decel="5000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4"/>
          <p:cNvGrpSpPr/>
          <p:nvPr/>
        </p:nvGrpSpPr>
        <p:grpSpPr>
          <a:xfrm>
            <a:off x="50800" y="250891"/>
            <a:ext cx="8915400" cy="6607109"/>
            <a:chOff x="-72864" y="250891"/>
            <a:chExt cx="9021463" cy="6607109"/>
          </a:xfrm>
        </p:grpSpPr>
        <p:grpSp>
          <p:nvGrpSpPr>
            <p:cNvPr id="4" name="Group 13"/>
            <p:cNvGrpSpPr/>
            <p:nvPr/>
          </p:nvGrpSpPr>
          <p:grpSpPr>
            <a:xfrm>
              <a:off x="381000" y="250891"/>
              <a:ext cx="8362757" cy="6607109"/>
              <a:chOff x="914400" y="250891"/>
              <a:chExt cx="8362757" cy="6607109"/>
            </a:xfrm>
          </p:grpSpPr>
          <p:pic>
            <p:nvPicPr>
              <p:cNvPr id="9" name="Picture 8" descr="Screen Shot 2014-02-17 at 2.38.06 PM.png"/>
              <p:cNvPicPr>
                <a:picLocks noChangeAspect="1"/>
              </p:cNvPicPr>
              <p:nvPr/>
            </p:nvPicPr>
            <p:blipFill>
              <a:blip r:embed="rId2" cstate="print"/>
              <a:stretch>
                <a:fillRect/>
              </a:stretch>
            </p:blipFill>
            <p:spPr>
              <a:xfrm>
                <a:off x="1813391" y="250891"/>
                <a:ext cx="7463766" cy="6455588"/>
              </a:xfrm>
              <a:prstGeom prst="rect">
                <a:avLst/>
              </a:prstGeom>
            </p:spPr>
          </p:pic>
          <p:sp>
            <p:nvSpPr>
              <p:cNvPr id="11" name="Rectangle 10"/>
              <p:cNvSpPr/>
              <p:nvPr/>
            </p:nvSpPr>
            <p:spPr>
              <a:xfrm>
                <a:off x="8382000" y="6028588"/>
                <a:ext cx="747623" cy="7532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914400" y="6104788"/>
                <a:ext cx="747623" cy="7532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Rectangle 9"/>
            <p:cNvSpPr/>
            <p:nvPr/>
          </p:nvSpPr>
          <p:spPr>
            <a:xfrm>
              <a:off x="-72864" y="5805264"/>
              <a:ext cx="1493211" cy="9765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8229600" y="6019800"/>
              <a:ext cx="718999" cy="838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6" name="TextBox 15"/>
          <p:cNvSpPr txBox="1"/>
          <p:nvPr/>
        </p:nvSpPr>
        <p:spPr>
          <a:xfrm>
            <a:off x="6194813" y="762000"/>
            <a:ext cx="2771387" cy="553998"/>
          </a:xfrm>
          <a:prstGeom prst="rect">
            <a:avLst/>
          </a:prstGeom>
          <a:noFill/>
        </p:spPr>
        <p:txBody>
          <a:bodyPr wrap="none" rtlCol="0">
            <a:spAutoFit/>
          </a:bodyPr>
          <a:lstStyle/>
          <a:p>
            <a:r>
              <a:rPr lang="en-US" sz="3000" b="1" dirty="0" err="1" smtClean="0">
                <a:effectLst>
                  <a:outerShdw blurRad="50800" dist="38100" dir="2700000" algn="tl" rotWithShape="0">
                    <a:schemeClr val="accent2">
                      <a:alpha val="43000"/>
                    </a:schemeClr>
                  </a:outerShdw>
                </a:effectLst>
              </a:rPr>
              <a:t>CHy</a:t>
            </a:r>
            <a:r>
              <a:rPr lang="en-US" sz="3000" b="1" dirty="0" smtClean="0">
                <a:effectLst>
                  <a:outerShdw blurRad="50800" dist="38100" dir="2700000" algn="tl" rotWithShape="0">
                    <a:schemeClr val="accent2">
                      <a:alpha val="43000"/>
                    </a:schemeClr>
                  </a:outerShdw>
                </a:effectLst>
              </a:rPr>
              <a:t> Structure</a:t>
            </a:r>
            <a:endParaRPr lang="en-US" sz="3000" b="1" dirty="0">
              <a:effectLst>
                <a:outerShdw blurRad="50800" dist="38100" dir="2700000" algn="tl" rotWithShape="0">
                  <a:schemeClr val="accent2">
                    <a:alpha val="43000"/>
                  </a:schemeClr>
                </a:outerShdw>
              </a:effectLst>
            </a:endParaRPr>
          </a:p>
        </p:txBody>
      </p:sp>
      <p:sp>
        <p:nvSpPr>
          <p:cNvPr id="2" name="Oval 1"/>
          <p:cNvSpPr/>
          <p:nvPr/>
        </p:nvSpPr>
        <p:spPr>
          <a:xfrm>
            <a:off x="2656979" y="2708920"/>
            <a:ext cx="1224136" cy="2232248"/>
          </a:xfrm>
          <a:prstGeom prst="ellipse">
            <a:avLst/>
          </a:prstGeom>
          <a:noFill/>
          <a:ln w="28575"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lvl="0" algn="ctr" defTabSz="457200" eaLnBrk="1" fontAlgn="auto" hangingPunct="1">
              <a:spcBef>
                <a:spcPct val="0"/>
              </a:spcBef>
              <a:spcAft>
                <a:spcPts val="0"/>
              </a:spcAft>
              <a:buClrTx/>
              <a:defRPr/>
            </a:pPr>
            <a:r>
              <a:rPr lang="en-US" sz="2800" b="1" dirty="0" smtClean="0">
                <a:solidFill>
                  <a:srgbClr val="007AC2"/>
                </a:solidFill>
                <a:latin typeface="+mj-lt"/>
                <a:ea typeface="+mj-ea"/>
                <a:cs typeface="Avenir LT Std 85 Heavy"/>
              </a:rPr>
              <a:t>WMO STRATEGIC PLAN </a:t>
            </a:r>
            <a:r>
              <a:rPr lang="en-US" sz="2800" b="1" dirty="0" smtClean="0">
                <a:solidFill>
                  <a:srgbClr val="007AC2"/>
                </a:solidFill>
                <a:latin typeface="+mj-lt"/>
                <a:ea typeface="+mj-ea"/>
                <a:cs typeface="Avenir LT Std 85 Heavy"/>
              </a:rPr>
              <a:t>2016-2019</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spTree>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946" name="Picture 2"/>
          <p:cNvPicPr>
            <a:picLocks noChangeAspect="1" noChangeArrowheads="1"/>
          </p:cNvPicPr>
          <p:nvPr/>
        </p:nvPicPr>
        <p:blipFill>
          <a:blip r:embed="rId2" cstate="print"/>
          <a:srcRect t="5806"/>
          <a:stretch>
            <a:fillRect/>
          </a:stretch>
        </p:blipFill>
        <p:spPr bwMode="auto">
          <a:xfrm>
            <a:off x="1285852" y="1595568"/>
            <a:ext cx="6792361" cy="3714776"/>
          </a:xfrm>
          <a:prstGeom prst="rect">
            <a:avLst/>
          </a:prstGeom>
          <a:noFill/>
          <a:ln w="9525">
            <a:noFill/>
            <a:miter lim="800000"/>
            <a:headEnd/>
            <a:tailEnd/>
          </a:ln>
        </p:spPr>
      </p:pic>
      <p:sp>
        <p:nvSpPr>
          <p:cNvPr id="4" name="Rectangle 3"/>
          <p:cNvSpPr txBox="1">
            <a:spLocks noChangeArrowheads="1"/>
          </p:cNvSpPr>
          <p:nvPr/>
        </p:nvSpPr>
        <p:spPr bwMode="auto">
          <a:xfrm>
            <a:off x="323528" y="476672"/>
            <a:ext cx="8569325" cy="612775"/>
          </a:xfrm>
          <a:prstGeom prst="rect">
            <a:avLst/>
          </a:prstGeom>
          <a:noFill/>
          <a:ln w="9525">
            <a:noFill/>
            <a:miter lim="800000"/>
            <a:headEnd/>
            <a:tailEnd/>
          </a:ln>
        </p:spPr>
        <p:txBody>
          <a:bodyPr/>
          <a:lstStyle/>
          <a:p>
            <a:pPr marL="342900" indent="-342900" eaLnBrk="0" hangingPunct="0">
              <a:spcBef>
                <a:spcPct val="20000"/>
              </a:spcBef>
              <a:defRPr/>
            </a:pPr>
            <a:r>
              <a:rPr lang="en-US" sz="2000" b="1" dirty="0" smtClean="0">
                <a:solidFill>
                  <a:srgbClr val="007AC2"/>
                </a:solidFill>
              </a:rPr>
              <a:t>Statistics of disasters associated with weather-, water- and climate-related hazards for the period 1970 to 2009 </a:t>
            </a:r>
            <a:endParaRPr lang="it-IT" sz="2000" b="1" dirty="0">
              <a:solidFill>
                <a:srgbClr val="007AC2"/>
              </a:solidFill>
            </a:endParaRPr>
          </a:p>
        </p:txBody>
      </p:sp>
      <p:sp>
        <p:nvSpPr>
          <p:cNvPr id="5" name="Rettangolo 4"/>
          <p:cNvSpPr/>
          <p:nvPr/>
        </p:nvSpPr>
        <p:spPr>
          <a:xfrm>
            <a:off x="191724" y="5238906"/>
            <a:ext cx="8786842" cy="369332"/>
          </a:xfrm>
          <a:prstGeom prst="rect">
            <a:avLst/>
          </a:prstGeom>
        </p:spPr>
        <p:txBody>
          <a:bodyPr wrap="square">
            <a:spAutoFit/>
          </a:bodyPr>
          <a:lstStyle/>
          <a:p>
            <a:r>
              <a:rPr lang="en-GB" i="1" dirty="0" smtClean="0">
                <a:solidFill>
                  <a:srgbClr val="007AC2"/>
                </a:solidFill>
              </a:rPr>
              <a:t>The global total number of disasters by decade and hazard type:  </a:t>
            </a:r>
            <a:r>
              <a:rPr lang="en-GB" dirty="0" smtClean="0">
                <a:solidFill>
                  <a:srgbClr val="007AC2"/>
                </a:solidFill>
              </a:rPr>
              <a:t>significant increase</a:t>
            </a:r>
            <a:endParaRPr lang="en-US" dirty="0">
              <a:solidFill>
                <a:srgbClr val="007AC2"/>
              </a:solidFill>
            </a:endParaRPr>
          </a:p>
        </p:txBody>
      </p:sp>
      <p:sp>
        <p:nvSpPr>
          <p:cNvPr id="338948" name="Rectangle 4"/>
          <p:cNvSpPr>
            <a:spLocks noChangeArrowheads="1"/>
          </p:cNvSpPr>
          <p:nvPr/>
        </p:nvSpPr>
        <p:spPr bwMode="auto">
          <a:xfrm>
            <a:off x="5929322" y="6286520"/>
            <a:ext cx="2900153" cy="24622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8313" algn="l"/>
                <a:tab pos="5905500" algn="r"/>
              </a:tabLst>
            </a:pPr>
            <a:r>
              <a:rPr kumimoji="0" lang="en-GB" sz="1000" b="1" i="0" u="none" strike="noStrike" cap="none" normalizeH="0" baseline="0" dirty="0" smtClean="0">
                <a:ln>
                  <a:noFill/>
                </a:ln>
                <a:solidFill>
                  <a:schemeClr val="tx1"/>
                </a:solidFill>
                <a:effectLst/>
                <a:latin typeface="Arial" pitchFamily="34" charset="0"/>
                <a:ea typeface="MS Mincho" pitchFamily="49" charset="-128"/>
                <a:cs typeface="Arial" pitchFamily="34" charset="0"/>
              </a:rPr>
              <a:t>from the WMO STRATEGIC PLAN 2016-2019</a:t>
            </a:r>
            <a:r>
              <a:rPr kumimoji="0" lang="en-US" sz="10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323528" y="476672"/>
            <a:ext cx="8569325" cy="612775"/>
          </a:xfrm>
          <a:prstGeom prst="rect">
            <a:avLst/>
          </a:prstGeom>
          <a:noFill/>
          <a:ln w="9525">
            <a:noFill/>
            <a:miter lim="800000"/>
            <a:headEnd/>
            <a:tailEnd/>
          </a:ln>
        </p:spPr>
        <p:txBody>
          <a:bodyPr/>
          <a:lstStyle/>
          <a:p>
            <a:pPr marL="342900" indent="-342900" eaLnBrk="0" hangingPunct="0">
              <a:spcBef>
                <a:spcPct val="20000"/>
              </a:spcBef>
              <a:defRPr/>
            </a:pPr>
            <a:r>
              <a:rPr lang="en-US" sz="2000" b="1" dirty="0" smtClean="0">
                <a:solidFill>
                  <a:srgbClr val="007AC2"/>
                </a:solidFill>
              </a:rPr>
              <a:t>Statistics of disasters associated with weather-, water- and climate-related hazards for the period 1970 to 2009 </a:t>
            </a:r>
            <a:endParaRPr lang="it-IT" sz="2000" b="1" dirty="0">
              <a:solidFill>
                <a:srgbClr val="007AC2"/>
              </a:solidFill>
            </a:endParaRPr>
          </a:p>
        </p:txBody>
      </p:sp>
      <p:sp>
        <p:nvSpPr>
          <p:cNvPr id="5" name="Rettangolo 4"/>
          <p:cNvSpPr/>
          <p:nvPr/>
        </p:nvSpPr>
        <p:spPr>
          <a:xfrm>
            <a:off x="250716" y="5283150"/>
            <a:ext cx="8858280" cy="369332"/>
          </a:xfrm>
          <a:prstGeom prst="rect">
            <a:avLst/>
          </a:prstGeom>
        </p:spPr>
        <p:txBody>
          <a:bodyPr wrap="square">
            <a:spAutoFit/>
          </a:bodyPr>
          <a:lstStyle/>
          <a:p>
            <a:r>
              <a:rPr lang="en-GB" i="1" dirty="0" smtClean="0">
                <a:solidFill>
                  <a:srgbClr val="007AC2"/>
                </a:solidFill>
              </a:rPr>
              <a:t>The global total </a:t>
            </a:r>
            <a:r>
              <a:rPr lang="en-US" i="1" dirty="0" smtClean="0">
                <a:solidFill>
                  <a:srgbClr val="007AC2"/>
                </a:solidFill>
              </a:rPr>
              <a:t>number of deaths </a:t>
            </a:r>
            <a:r>
              <a:rPr lang="en-GB" i="1" dirty="0" smtClean="0">
                <a:solidFill>
                  <a:srgbClr val="007AC2"/>
                </a:solidFill>
              </a:rPr>
              <a:t>by decade and hazard type: </a:t>
            </a:r>
            <a:r>
              <a:rPr lang="en-GB" dirty="0" smtClean="0">
                <a:solidFill>
                  <a:srgbClr val="007AC2"/>
                </a:solidFill>
              </a:rPr>
              <a:t>significant decrease</a:t>
            </a:r>
            <a:r>
              <a:rPr lang="en-GB" i="1" dirty="0" smtClean="0">
                <a:solidFill>
                  <a:srgbClr val="007AC2"/>
                </a:solidFill>
              </a:rPr>
              <a:t> </a:t>
            </a:r>
            <a:endParaRPr lang="en-US" dirty="0">
              <a:solidFill>
                <a:srgbClr val="007AC2"/>
              </a:solidFill>
            </a:endParaRPr>
          </a:p>
        </p:txBody>
      </p:sp>
      <p:sp>
        <p:nvSpPr>
          <p:cNvPr id="338948" name="Rectangle 4"/>
          <p:cNvSpPr>
            <a:spLocks noChangeArrowheads="1"/>
          </p:cNvSpPr>
          <p:nvPr/>
        </p:nvSpPr>
        <p:spPr bwMode="auto">
          <a:xfrm>
            <a:off x="5929322" y="6286520"/>
            <a:ext cx="2900153" cy="24622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8313" algn="l"/>
                <a:tab pos="5905500" algn="r"/>
              </a:tabLst>
            </a:pPr>
            <a:r>
              <a:rPr kumimoji="0" lang="en-GB" sz="1000" b="1" i="0" u="none" strike="noStrike" cap="none" normalizeH="0" baseline="0" dirty="0" smtClean="0">
                <a:ln>
                  <a:noFill/>
                </a:ln>
                <a:solidFill>
                  <a:schemeClr val="tx1"/>
                </a:solidFill>
                <a:effectLst/>
                <a:latin typeface="Arial" pitchFamily="34" charset="0"/>
                <a:ea typeface="MS Mincho" pitchFamily="49" charset="-128"/>
                <a:cs typeface="Arial" pitchFamily="34" charset="0"/>
              </a:rPr>
              <a:t>from the WMO STRATEGIC PLAN 2016-2019</a:t>
            </a:r>
            <a:r>
              <a:rPr kumimoji="0" lang="en-US" sz="1000" b="0" i="0" u="none" strike="noStrike" cap="none" normalizeH="0" baseline="0" dirty="0" smtClean="0">
                <a:ln>
                  <a:noFill/>
                </a:ln>
                <a:solidFill>
                  <a:schemeClr val="tx1"/>
                </a:solidFill>
                <a:effectLst/>
                <a:latin typeface="Arial" pitchFamily="34" charset="0"/>
                <a:cs typeface="Arial" pitchFamily="34" charset="0"/>
              </a:rPr>
              <a:t> </a:t>
            </a:r>
          </a:p>
        </p:txBody>
      </p:sp>
      <p:pic>
        <p:nvPicPr>
          <p:cNvPr id="7" name="Picture 3"/>
          <p:cNvPicPr>
            <a:picLocks noChangeAspect="1" noChangeArrowheads="1"/>
          </p:cNvPicPr>
          <p:nvPr/>
        </p:nvPicPr>
        <p:blipFill>
          <a:blip r:embed="rId2" cstate="print"/>
          <a:srcRect t="5411"/>
          <a:stretch>
            <a:fillRect/>
          </a:stretch>
        </p:blipFill>
        <p:spPr bwMode="auto">
          <a:xfrm>
            <a:off x="1571604" y="1639812"/>
            <a:ext cx="6286544" cy="3651743"/>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9969" name="Picture 1"/>
          <p:cNvPicPr>
            <a:picLocks noChangeAspect="1" noChangeArrowheads="1"/>
          </p:cNvPicPr>
          <p:nvPr/>
        </p:nvPicPr>
        <p:blipFill>
          <a:blip r:embed="rId2" cstate="print"/>
          <a:srcRect/>
          <a:stretch>
            <a:fillRect/>
          </a:stretch>
        </p:blipFill>
        <p:spPr bwMode="auto">
          <a:xfrm>
            <a:off x="857224" y="1285860"/>
            <a:ext cx="7195970" cy="4429156"/>
          </a:xfrm>
          <a:prstGeom prst="rect">
            <a:avLst/>
          </a:prstGeom>
          <a:noFill/>
          <a:ln w="9525">
            <a:noFill/>
            <a:miter lim="800000"/>
            <a:headEnd/>
            <a:tailEnd/>
          </a:ln>
        </p:spPr>
      </p:pic>
      <p:sp>
        <p:nvSpPr>
          <p:cNvPr id="4" name="Rettangolo 3"/>
          <p:cNvSpPr/>
          <p:nvPr/>
        </p:nvSpPr>
        <p:spPr>
          <a:xfrm>
            <a:off x="285720" y="5857892"/>
            <a:ext cx="8858280" cy="369332"/>
          </a:xfrm>
          <a:prstGeom prst="rect">
            <a:avLst/>
          </a:prstGeom>
        </p:spPr>
        <p:txBody>
          <a:bodyPr wrap="square">
            <a:spAutoFit/>
          </a:bodyPr>
          <a:lstStyle/>
          <a:p>
            <a:r>
              <a:rPr lang="en-GB" i="1" dirty="0" smtClean="0">
                <a:solidFill>
                  <a:srgbClr val="007AC2"/>
                </a:solidFill>
              </a:rPr>
              <a:t>Processes to achieve expected results and realize the intended societal benefits</a:t>
            </a:r>
            <a:endParaRPr lang="en-US" dirty="0">
              <a:solidFill>
                <a:srgbClr val="007AC2"/>
              </a:solidFill>
            </a:endParaRPr>
          </a:p>
        </p:txBody>
      </p:sp>
      <p:sp>
        <p:nvSpPr>
          <p:cNvPr id="5" name="Rectangle 4"/>
          <p:cNvSpPr>
            <a:spLocks noChangeArrowheads="1"/>
          </p:cNvSpPr>
          <p:nvPr/>
        </p:nvSpPr>
        <p:spPr bwMode="auto">
          <a:xfrm>
            <a:off x="5929322" y="6286520"/>
            <a:ext cx="2900153" cy="24622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68313" algn="l"/>
                <a:tab pos="5905500" algn="r"/>
              </a:tabLst>
            </a:pPr>
            <a:r>
              <a:rPr kumimoji="0" lang="en-GB" sz="1000" b="1" i="0" u="none" strike="noStrike" cap="none" normalizeH="0" baseline="0" dirty="0" smtClean="0">
                <a:ln>
                  <a:noFill/>
                </a:ln>
                <a:solidFill>
                  <a:schemeClr val="tx1"/>
                </a:solidFill>
                <a:effectLst/>
                <a:latin typeface="Arial" pitchFamily="34" charset="0"/>
                <a:ea typeface="MS Mincho" pitchFamily="49" charset="-128"/>
                <a:cs typeface="Arial" pitchFamily="34" charset="0"/>
              </a:rPr>
              <a:t>from the WMO STRATEGIC PLAN 2016-2019</a:t>
            </a:r>
            <a:r>
              <a:rPr kumimoji="0" lang="en-US" sz="1000" b="0" i="0" u="none" strike="noStrike" cap="none" normalizeH="0" baseline="0" dirty="0" smtClean="0">
                <a:ln>
                  <a:noFill/>
                </a:ln>
                <a:solidFill>
                  <a:schemeClr val="tx1"/>
                </a:solidFill>
                <a:effectLst/>
                <a:latin typeface="Arial" pitchFamily="34" charset="0"/>
                <a:cs typeface="Arial" pitchFamily="34" charset="0"/>
              </a:rPr>
              <a:t> </a:t>
            </a:r>
          </a:p>
        </p:txBody>
      </p:sp>
      <p:sp>
        <p:nvSpPr>
          <p:cNvPr id="6" name="Rectangle 3"/>
          <p:cNvSpPr txBox="1">
            <a:spLocks noChangeArrowheads="1"/>
          </p:cNvSpPr>
          <p:nvPr/>
        </p:nvSpPr>
        <p:spPr bwMode="auto">
          <a:xfrm>
            <a:off x="323528" y="476672"/>
            <a:ext cx="8569325" cy="612775"/>
          </a:xfrm>
          <a:prstGeom prst="rect">
            <a:avLst/>
          </a:prstGeom>
          <a:noFill/>
          <a:ln w="9525">
            <a:noFill/>
            <a:miter lim="800000"/>
            <a:headEnd/>
            <a:tailEnd/>
          </a:ln>
        </p:spPr>
        <p:txBody>
          <a:bodyPr/>
          <a:lstStyle/>
          <a:p>
            <a:pPr marL="342900" indent="-342900" eaLnBrk="0" hangingPunct="0">
              <a:spcBef>
                <a:spcPct val="20000"/>
              </a:spcBef>
              <a:defRPr/>
            </a:pPr>
            <a:r>
              <a:rPr lang="en-US" sz="2400" b="1" dirty="0" smtClean="0">
                <a:solidFill>
                  <a:srgbClr val="007AC2"/>
                </a:solidFill>
              </a:rPr>
              <a:t>Schematic representation of the WMO Strategic Plan</a:t>
            </a:r>
            <a:endParaRPr lang="it-IT" sz="2400" b="1" dirty="0">
              <a:solidFill>
                <a:srgbClr val="007AC2"/>
              </a:solidFill>
            </a:endParaRPr>
          </a:p>
        </p:txBody>
      </p:sp>
    </p:spTree>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rgbClr val="007AC2"/>
                </a:solidFill>
                <a:effectLst/>
                <a:uLnTx/>
                <a:uFillTx/>
                <a:latin typeface="+mj-lt"/>
                <a:ea typeface="+mj-ea"/>
                <a:cs typeface="Avenir LT Std 85 Heavy"/>
              </a:rPr>
              <a:t>DEMONSTRATIONS ON</a:t>
            </a:r>
            <a:endParaRPr lang="en-US" sz="2800" b="1" dirty="0" smtClean="0">
              <a:solidFill>
                <a:srgbClr val="007AC2"/>
              </a:solidFill>
              <a:latin typeface="+mj-lt"/>
              <a:ea typeface="+mj-ea"/>
              <a:cs typeface="Avenir LT Std 85 Heavy"/>
            </a:endParaRP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noProof="0" dirty="0" smtClean="0">
                <a:ln>
                  <a:noFill/>
                </a:ln>
                <a:solidFill>
                  <a:srgbClr val="007AC2"/>
                </a:solidFill>
                <a:effectLst/>
                <a:uLnTx/>
                <a:uFillTx/>
                <a:latin typeface="+mj-lt"/>
                <a:ea typeface="+mj-ea"/>
                <a:cs typeface="Avenir LT Std 85 Heavy"/>
              </a:rPr>
              <a:t>HYDROLOGIC DATA EXCHANGE</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spTree>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Road Further Ahead</a:t>
            </a:r>
            <a:endParaRPr lang="en-US" dirty="0"/>
          </a:p>
        </p:txBody>
      </p:sp>
      <p:sp>
        <p:nvSpPr>
          <p:cNvPr id="5" name="Rectangle 4"/>
          <p:cNvSpPr/>
          <p:nvPr/>
        </p:nvSpPr>
        <p:spPr>
          <a:xfrm>
            <a:off x="3316288" y="1981200"/>
            <a:ext cx="2311400" cy="790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600" dirty="0" err="1" smtClean="0"/>
              <a:t>HydroCatalog</a:t>
            </a:r>
            <a:endParaRPr lang="en-US" sz="2600" dirty="0"/>
          </a:p>
        </p:txBody>
      </p:sp>
      <p:sp>
        <p:nvSpPr>
          <p:cNvPr id="6" name="Rectangle 5"/>
          <p:cNvSpPr/>
          <p:nvPr/>
        </p:nvSpPr>
        <p:spPr>
          <a:xfrm>
            <a:off x="1195388" y="4572000"/>
            <a:ext cx="2311400" cy="790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600" dirty="0" smtClean="0"/>
              <a:t>HydroServer</a:t>
            </a:r>
            <a:endParaRPr lang="en-US" sz="2600" dirty="0"/>
          </a:p>
        </p:txBody>
      </p:sp>
      <p:sp>
        <p:nvSpPr>
          <p:cNvPr id="7" name="Rectangle 6"/>
          <p:cNvSpPr/>
          <p:nvPr/>
        </p:nvSpPr>
        <p:spPr>
          <a:xfrm>
            <a:off x="5538788" y="4572000"/>
            <a:ext cx="2309812" cy="790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600" dirty="0" smtClean="0"/>
              <a:t>HydroDesktop</a:t>
            </a:r>
            <a:endParaRPr lang="en-US" sz="2600" dirty="0"/>
          </a:p>
        </p:txBody>
      </p:sp>
      <p:grpSp>
        <p:nvGrpSpPr>
          <p:cNvPr id="3" name="Group 7"/>
          <p:cNvGrpSpPr/>
          <p:nvPr/>
        </p:nvGrpSpPr>
        <p:grpSpPr>
          <a:xfrm>
            <a:off x="3429235" y="4495800"/>
            <a:ext cx="2109553" cy="1384995"/>
            <a:chOff x="3429235" y="4495800"/>
            <a:chExt cx="2109553" cy="1384995"/>
          </a:xfrm>
        </p:grpSpPr>
        <p:cxnSp>
          <p:nvCxnSpPr>
            <p:cNvPr id="9" name="Straight Arrow Connector 8"/>
            <p:cNvCxnSpPr>
              <a:stCxn id="6" idx="3"/>
              <a:endCxn id="7" idx="1"/>
            </p:cNvCxnSpPr>
            <p:nvPr/>
          </p:nvCxnSpPr>
          <p:spPr>
            <a:xfrm>
              <a:off x="3506788" y="4967288"/>
              <a:ext cx="2032000" cy="1588"/>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0" name="TextBox 15"/>
            <p:cNvSpPr txBox="1">
              <a:spLocks noChangeArrowheads="1"/>
            </p:cNvSpPr>
            <p:nvPr/>
          </p:nvSpPr>
          <p:spPr bwMode="auto">
            <a:xfrm>
              <a:off x="3429235" y="4495800"/>
              <a:ext cx="2057165" cy="1384995"/>
            </a:xfrm>
            <a:prstGeom prst="rect">
              <a:avLst/>
            </a:prstGeom>
            <a:noFill/>
            <a:ln w="9525">
              <a:noFill/>
              <a:miter lim="800000"/>
              <a:headEnd/>
              <a:tailEnd/>
            </a:ln>
          </p:spPr>
          <p:txBody>
            <a:bodyPr wrap="none">
              <a:spAutoFit/>
            </a:bodyPr>
            <a:lstStyle/>
            <a:p>
              <a:pPr algn="ctr"/>
              <a:r>
                <a:rPr lang="en-US" sz="2800" b="1" dirty="0" smtClean="0"/>
                <a:t>WFS</a:t>
              </a:r>
            </a:p>
            <a:p>
              <a:pPr algn="ctr"/>
              <a:r>
                <a:rPr lang="en-US" sz="2800" b="1" dirty="0" smtClean="0"/>
                <a:t>SOS</a:t>
              </a:r>
            </a:p>
            <a:p>
              <a:pPr algn="ctr"/>
              <a:r>
                <a:rPr lang="en-US" sz="2800" b="1" dirty="0" smtClean="0"/>
                <a:t>(WaterML 2)</a:t>
              </a:r>
              <a:endParaRPr lang="en-US" sz="2800" b="1" dirty="0"/>
            </a:p>
          </p:txBody>
        </p:sp>
      </p:grpSp>
      <p:grpSp>
        <p:nvGrpSpPr>
          <p:cNvPr id="4" name="Group 10"/>
          <p:cNvGrpSpPr/>
          <p:nvPr/>
        </p:nvGrpSpPr>
        <p:grpSpPr>
          <a:xfrm>
            <a:off x="4471988" y="2771775"/>
            <a:ext cx="2221706" cy="1800225"/>
            <a:chOff x="4471988" y="2771775"/>
            <a:chExt cx="2221706" cy="1800225"/>
          </a:xfrm>
        </p:grpSpPr>
        <p:cxnSp>
          <p:nvCxnSpPr>
            <p:cNvPr id="12" name="Straight Arrow Connector 11"/>
            <p:cNvCxnSpPr>
              <a:endCxn id="7" idx="0"/>
            </p:cNvCxnSpPr>
            <p:nvPr/>
          </p:nvCxnSpPr>
          <p:spPr>
            <a:xfrm>
              <a:off x="4471988" y="2771775"/>
              <a:ext cx="2221706" cy="180022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3" name="TextBox 17"/>
            <p:cNvSpPr txBox="1">
              <a:spLocks noChangeArrowheads="1"/>
            </p:cNvSpPr>
            <p:nvPr/>
          </p:nvSpPr>
          <p:spPr bwMode="auto">
            <a:xfrm rot="2301016">
              <a:off x="5353035" y="3381677"/>
              <a:ext cx="868123" cy="523220"/>
            </a:xfrm>
            <a:prstGeom prst="rect">
              <a:avLst/>
            </a:prstGeom>
            <a:noFill/>
            <a:ln w="9525">
              <a:noFill/>
              <a:miter lim="800000"/>
              <a:headEnd/>
              <a:tailEnd/>
            </a:ln>
          </p:spPr>
          <p:txBody>
            <a:bodyPr wrap="none">
              <a:spAutoFit/>
            </a:bodyPr>
            <a:lstStyle/>
            <a:p>
              <a:r>
                <a:rPr lang="en-US" sz="2800" b="1" dirty="0" smtClean="0"/>
                <a:t>CSW</a:t>
              </a:r>
              <a:endParaRPr lang="en-US" sz="2800" b="1" dirty="0"/>
            </a:p>
          </p:txBody>
        </p:sp>
      </p:grpSp>
      <p:grpSp>
        <p:nvGrpSpPr>
          <p:cNvPr id="8" name="Group 13"/>
          <p:cNvGrpSpPr/>
          <p:nvPr/>
        </p:nvGrpSpPr>
        <p:grpSpPr>
          <a:xfrm>
            <a:off x="2351089" y="2771775"/>
            <a:ext cx="2120900" cy="1800225"/>
            <a:chOff x="2351089" y="2771775"/>
            <a:chExt cx="2120900" cy="1800225"/>
          </a:xfrm>
        </p:grpSpPr>
        <p:cxnSp>
          <p:nvCxnSpPr>
            <p:cNvPr id="15" name="Straight Arrow Connector 14"/>
            <p:cNvCxnSpPr>
              <a:stCxn id="6" idx="0"/>
              <a:endCxn id="5" idx="2"/>
            </p:cNvCxnSpPr>
            <p:nvPr/>
          </p:nvCxnSpPr>
          <p:spPr>
            <a:xfrm rot="5400000" flipH="1" flipV="1">
              <a:off x="2511426" y="2611438"/>
              <a:ext cx="1800225" cy="21209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6" name="TextBox 16"/>
            <p:cNvSpPr txBox="1">
              <a:spLocks noChangeArrowheads="1"/>
            </p:cNvSpPr>
            <p:nvPr/>
          </p:nvSpPr>
          <p:spPr bwMode="auto">
            <a:xfrm rot="19189103">
              <a:off x="2358073" y="3384721"/>
              <a:ext cx="1541191" cy="523220"/>
            </a:xfrm>
            <a:prstGeom prst="rect">
              <a:avLst/>
            </a:prstGeom>
            <a:noFill/>
            <a:ln w="9525">
              <a:noFill/>
              <a:miter lim="800000"/>
              <a:headEnd/>
              <a:tailEnd/>
            </a:ln>
          </p:spPr>
          <p:txBody>
            <a:bodyPr wrap="none">
              <a:spAutoFit/>
            </a:bodyPr>
            <a:lstStyle/>
            <a:p>
              <a:r>
                <a:rPr lang="en-US" sz="2800" b="1" dirty="0" smtClean="0"/>
                <a:t>(register)</a:t>
              </a:r>
              <a:endParaRPr lang="en-US" sz="2800" b="1" dirty="0"/>
            </a:p>
          </p:txBody>
        </p:sp>
      </p:grpSp>
      <p:sp>
        <p:nvSpPr>
          <p:cNvPr id="17" name="Rectangle 16"/>
          <p:cNvSpPr/>
          <p:nvPr/>
        </p:nvSpPr>
        <p:spPr>
          <a:xfrm>
            <a:off x="3048000" y="1219200"/>
            <a:ext cx="2821606" cy="461665"/>
          </a:xfrm>
          <a:prstGeom prst="rect">
            <a:avLst/>
          </a:prstGeom>
        </p:spPr>
        <p:txBody>
          <a:bodyPr wrap="none">
            <a:spAutoFit/>
          </a:bodyPr>
          <a:lstStyle/>
          <a:p>
            <a:r>
              <a:rPr lang="en-US" sz="2400" dirty="0" smtClean="0"/>
              <a:t>Using OGC Standards</a:t>
            </a:r>
            <a:endParaRPr lang="en-US" sz="2400" dirty="0"/>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 System Overview</a:t>
            </a:r>
            <a:endParaRPr lang="en-US" dirty="0"/>
          </a:p>
        </p:txBody>
      </p:sp>
      <p:grpSp>
        <p:nvGrpSpPr>
          <p:cNvPr id="3" name="Group 52"/>
          <p:cNvGrpSpPr/>
          <p:nvPr/>
        </p:nvGrpSpPr>
        <p:grpSpPr>
          <a:xfrm>
            <a:off x="3950516" y="4995186"/>
            <a:ext cx="2819400" cy="1455501"/>
            <a:chOff x="4724400" y="5528586"/>
            <a:chExt cx="2819400" cy="1455501"/>
          </a:xfrm>
        </p:grpSpPr>
        <p:pic>
          <p:nvPicPr>
            <p:cNvPr id="54" name="Picture 5" descr="C:\Program Files\Microsoft Office\MEDIA\CAGCAT10\j0195384.wmf"/>
            <p:cNvPicPr>
              <a:picLocks noChangeAspect="1" noChangeArrowheads="1"/>
            </p:cNvPicPr>
            <p:nvPr/>
          </p:nvPicPr>
          <p:blipFill>
            <a:blip r:embed="rId3" cstate="print"/>
            <a:srcRect/>
            <a:stretch>
              <a:fillRect/>
            </a:stretch>
          </p:blipFill>
          <p:spPr bwMode="auto">
            <a:xfrm>
              <a:off x="4724400" y="5528586"/>
              <a:ext cx="555624" cy="567414"/>
            </a:xfrm>
            <a:prstGeom prst="rect">
              <a:avLst/>
            </a:prstGeom>
            <a:noFill/>
          </p:spPr>
        </p:pic>
        <p:pic>
          <p:nvPicPr>
            <p:cNvPr id="55" name="Picture 5" descr="C:\Program Files\Microsoft Office\MEDIA\CAGCAT10\j0195384.wmf"/>
            <p:cNvPicPr>
              <a:picLocks noChangeAspect="1" noChangeArrowheads="1"/>
            </p:cNvPicPr>
            <p:nvPr/>
          </p:nvPicPr>
          <p:blipFill>
            <a:blip r:embed="rId3" cstate="print"/>
            <a:srcRect/>
            <a:stretch>
              <a:fillRect/>
            </a:stretch>
          </p:blipFill>
          <p:spPr bwMode="auto">
            <a:xfrm>
              <a:off x="5813424" y="5528586"/>
              <a:ext cx="555624" cy="567414"/>
            </a:xfrm>
            <a:prstGeom prst="rect">
              <a:avLst/>
            </a:prstGeom>
            <a:noFill/>
          </p:spPr>
        </p:pic>
        <p:pic>
          <p:nvPicPr>
            <p:cNvPr id="56" name="Picture 5" descr="C:\Program Files\Microsoft Office\MEDIA\CAGCAT10\j0195384.wmf"/>
            <p:cNvPicPr>
              <a:picLocks noChangeAspect="1" noChangeArrowheads="1"/>
            </p:cNvPicPr>
            <p:nvPr/>
          </p:nvPicPr>
          <p:blipFill>
            <a:blip r:embed="rId3" cstate="print"/>
            <a:srcRect/>
            <a:stretch>
              <a:fillRect/>
            </a:stretch>
          </p:blipFill>
          <p:spPr bwMode="auto">
            <a:xfrm>
              <a:off x="6988176" y="5528586"/>
              <a:ext cx="555624" cy="567414"/>
            </a:xfrm>
            <a:prstGeom prst="rect">
              <a:avLst/>
            </a:prstGeom>
            <a:noFill/>
          </p:spPr>
        </p:pic>
        <p:sp>
          <p:nvSpPr>
            <p:cNvPr id="57" name="TextBox 56"/>
            <p:cNvSpPr txBox="1"/>
            <p:nvPr/>
          </p:nvSpPr>
          <p:spPr>
            <a:xfrm>
              <a:off x="4888684" y="6029980"/>
              <a:ext cx="2479333" cy="954107"/>
            </a:xfrm>
            <a:prstGeom prst="rect">
              <a:avLst/>
            </a:prstGeom>
            <a:noFill/>
          </p:spPr>
          <p:txBody>
            <a:bodyPr wrap="none" rtlCol="0">
              <a:spAutoFit/>
            </a:bodyPr>
            <a:lstStyle/>
            <a:p>
              <a:pPr algn="ctr"/>
              <a:r>
                <a:rPr lang="en-US" sz="2800" dirty="0" smtClean="0"/>
                <a:t>Users</a:t>
              </a:r>
              <a:br>
                <a:rPr lang="en-US" sz="2800" dirty="0" smtClean="0"/>
              </a:br>
              <a:r>
                <a:rPr lang="en-US" sz="2800" dirty="0" smtClean="0"/>
                <a:t>(HydroDesktop)</a:t>
              </a:r>
              <a:endParaRPr lang="en-US" sz="2800" dirty="0"/>
            </a:p>
          </p:txBody>
        </p:sp>
      </p:grpSp>
      <p:cxnSp>
        <p:nvCxnSpPr>
          <p:cNvPr id="58" name="Straight Arrow Connector 57"/>
          <p:cNvCxnSpPr/>
          <p:nvPr/>
        </p:nvCxnSpPr>
        <p:spPr>
          <a:xfrm rot="5400000">
            <a:off x="5677297" y="4304903"/>
            <a:ext cx="1143000" cy="794"/>
          </a:xfrm>
          <a:prstGeom prst="straightConnector1">
            <a:avLst/>
          </a:prstGeom>
          <a:ln w="76200">
            <a:solidFill>
              <a:schemeClr val="accent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3264716" y="2819400"/>
            <a:ext cx="1828800" cy="1588"/>
          </a:xfrm>
          <a:prstGeom prst="straightConnector1">
            <a:avLst/>
          </a:prstGeom>
          <a:ln w="76200">
            <a:solidFill>
              <a:schemeClr val="accent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 name="Rectangle 59"/>
          <p:cNvSpPr/>
          <p:nvPr/>
        </p:nvSpPr>
        <p:spPr>
          <a:xfrm>
            <a:off x="1364478" y="1524000"/>
            <a:ext cx="1371600" cy="1066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1428153" y="1600200"/>
            <a:ext cx="838691" cy="369332"/>
          </a:xfrm>
          <a:prstGeom prst="rect">
            <a:avLst/>
          </a:prstGeom>
        </p:spPr>
        <p:txBody>
          <a:bodyPr wrap="none">
            <a:spAutoFit/>
          </a:bodyPr>
          <a:lstStyle/>
          <a:p>
            <a:r>
              <a:rPr lang="en-US" sz="1800" dirty="0" smtClean="0"/>
              <a:t>USGS</a:t>
            </a:r>
            <a:endParaRPr lang="en-US" sz="1800" dirty="0"/>
          </a:p>
        </p:txBody>
      </p:sp>
      <p:grpSp>
        <p:nvGrpSpPr>
          <p:cNvPr id="4" name="Group 73"/>
          <p:cNvGrpSpPr/>
          <p:nvPr/>
        </p:nvGrpSpPr>
        <p:grpSpPr>
          <a:xfrm>
            <a:off x="1359716" y="2971800"/>
            <a:ext cx="1519242" cy="1066800"/>
            <a:chOff x="995362" y="1371600"/>
            <a:chExt cx="1519242" cy="1066800"/>
          </a:xfrm>
        </p:grpSpPr>
        <p:sp>
          <p:nvSpPr>
            <p:cNvPr id="75" name="Rectangle 74"/>
            <p:cNvSpPr/>
            <p:nvPr/>
          </p:nvSpPr>
          <p:spPr>
            <a:xfrm>
              <a:off x="995362" y="1371600"/>
              <a:ext cx="1371600" cy="1066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29"/>
            <p:cNvGrpSpPr/>
            <p:nvPr/>
          </p:nvGrpSpPr>
          <p:grpSpPr>
            <a:xfrm flipH="1">
              <a:off x="1681168" y="1905000"/>
              <a:ext cx="833436" cy="357827"/>
              <a:chOff x="5491162" y="4419600"/>
              <a:chExt cx="2662238" cy="1143000"/>
            </a:xfrm>
          </p:grpSpPr>
          <p:sp>
            <p:nvSpPr>
              <p:cNvPr id="79" name="Rectangle 8"/>
              <p:cNvSpPr>
                <a:spLocks noChangeArrowheads="1"/>
              </p:cNvSpPr>
              <p:nvPr/>
            </p:nvSpPr>
            <p:spPr bwMode="auto">
              <a:xfrm>
                <a:off x="5867400" y="4419600"/>
                <a:ext cx="2286000" cy="1143000"/>
              </a:xfrm>
              <a:prstGeom prst="rect">
                <a:avLst/>
              </a:prstGeom>
              <a:solidFill>
                <a:srgbClr val="FFFFFF"/>
              </a:solidFill>
              <a:ln w="9525">
                <a:solidFill>
                  <a:schemeClr val="tx1"/>
                </a:solidFill>
                <a:miter lim="800000"/>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sp>
            <p:nvSpPr>
              <p:cNvPr id="80" name="Line 9"/>
              <p:cNvSpPr>
                <a:spLocks noChangeShapeType="1"/>
              </p:cNvSpPr>
              <p:nvPr/>
            </p:nvSpPr>
            <p:spPr bwMode="auto">
              <a:xfrm>
                <a:off x="5562600" y="4572000"/>
                <a:ext cx="685800" cy="0"/>
              </a:xfrm>
              <a:prstGeom prst="line">
                <a:avLst/>
              </a:prstGeom>
              <a:noFill/>
              <a:ln w="9525">
                <a:solidFill>
                  <a:schemeClr val="tx1"/>
                </a:solidFill>
                <a:round/>
                <a:headEnd/>
                <a:tailEnd/>
              </a:ln>
            </p:spPr>
            <p:txBody>
              <a:bodyPr/>
              <a:lstStyle/>
              <a:p>
                <a:pPr>
                  <a:defRPr/>
                </a:pPr>
                <a:endParaRPr lang="en-US">
                  <a:effectLst>
                    <a:outerShdw blurRad="38100" dist="38100" dir="2700000" algn="tl">
                      <a:srgbClr val="000000">
                        <a:alpha val="43137"/>
                      </a:srgbClr>
                    </a:outerShdw>
                  </a:effectLst>
                  <a:latin typeface="Arial" charset="0"/>
                </a:endParaRPr>
              </a:p>
            </p:txBody>
          </p:sp>
          <p:sp>
            <p:nvSpPr>
              <p:cNvPr id="81" name="Line 10"/>
              <p:cNvSpPr>
                <a:spLocks noChangeShapeType="1"/>
              </p:cNvSpPr>
              <p:nvPr/>
            </p:nvSpPr>
            <p:spPr bwMode="auto">
              <a:xfrm>
                <a:off x="5562600" y="4830763"/>
                <a:ext cx="685800" cy="0"/>
              </a:xfrm>
              <a:prstGeom prst="line">
                <a:avLst/>
              </a:prstGeom>
              <a:noFill/>
              <a:ln w="9525">
                <a:solidFill>
                  <a:schemeClr val="tx1"/>
                </a:solidFill>
                <a:round/>
                <a:headEnd/>
                <a:tailEnd/>
              </a:ln>
            </p:spPr>
            <p:txBody>
              <a:bodyPr/>
              <a:lstStyle/>
              <a:p>
                <a:pPr>
                  <a:defRPr/>
                </a:pPr>
                <a:endParaRPr lang="en-US">
                  <a:effectLst>
                    <a:outerShdw blurRad="38100" dist="38100" dir="2700000" algn="tl">
                      <a:srgbClr val="000000">
                        <a:alpha val="43137"/>
                      </a:srgbClr>
                    </a:outerShdw>
                  </a:effectLst>
                  <a:latin typeface="Arial" charset="0"/>
                </a:endParaRPr>
              </a:p>
            </p:txBody>
          </p:sp>
          <p:sp>
            <p:nvSpPr>
              <p:cNvPr id="82" name="Line 11"/>
              <p:cNvSpPr>
                <a:spLocks noChangeShapeType="1"/>
              </p:cNvSpPr>
              <p:nvPr/>
            </p:nvSpPr>
            <p:spPr bwMode="auto">
              <a:xfrm>
                <a:off x="5572125" y="5089525"/>
                <a:ext cx="685800" cy="0"/>
              </a:xfrm>
              <a:prstGeom prst="line">
                <a:avLst/>
              </a:prstGeom>
              <a:noFill/>
              <a:ln w="9525">
                <a:solidFill>
                  <a:schemeClr val="tx1"/>
                </a:solidFill>
                <a:round/>
                <a:headEnd/>
                <a:tailEnd/>
              </a:ln>
            </p:spPr>
            <p:txBody>
              <a:bodyPr/>
              <a:lstStyle/>
              <a:p>
                <a:pPr>
                  <a:defRPr/>
                </a:pPr>
                <a:endParaRPr lang="en-US">
                  <a:effectLst>
                    <a:outerShdw blurRad="38100" dist="38100" dir="2700000" algn="tl">
                      <a:srgbClr val="000000">
                        <a:alpha val="43137"/>
                      </a:srgbClr>
                    </a:outerShdw>
                  </a:effectLst>
                  <a:latin typeface="Arial" charset="0"/>
                </a:endParaRPr>
              </a:p>
            </p:txBody>
          </p:sp>
          <p:sp>
            <p:nvSpPr>
              <p:cNvPr id="83" name="Oval 13"/>
              <p:cNvSpPr>
                <a:spLocks noChangeArrowheads="1"/>
              </p:cNvSpPr>
              <p:nvPr/>
            </p:nvSpPr>
            <p:spPr bwMode="auto">
              <a:xfrm>
                <a:off x="5491162" y="4495800"/>
                <a:ext cx="152400" cy="152400"/>
              </a:xfrm>
              <a:prstGeom prst="ellipse">
                <a:avLst/>
              </a:prstGeom>
              <a:solidFill>
                <a:srgbClr val="FF0000"/>
              </a:solidFill>
              <a:ln w="9525">
                <a:solidFill>
                  <a:schemeClr val="tx1"/>
                </a:solidFill>
                <a:round/>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sp>
            <p:nvSpPr>
              <p:cNvPr id="84" name="Oval 14"/>
              <p:cNvSpPr>
                <a:spLocks noChangeArrowheads="1"/>
              </p:cNvSpPr>
              <p:nvPr/>
            </p:nvSpPr>
            <p:spPr bwMode="auto">
              <a:xfrm>
                <a:off x="5491162" y="4754563"/>
                <a:ext cx="152400" cy="152400"/>
              </a:xfrm>
              <a:prstGeom prst="ellipse">
                <a:avLst/>
              </a:prstGeom>
              <a:solidFill>
                <a:srgbClr val="FF0000"/>
              </a:solidFill>
              <a:ln w="9525">
                <a:solidFill>
                  <a:schemeClr val="tx1"/>
                </a:solidFill>
                <a:round/>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sp>
            <p:nvSpPr>
              <p:cNvPr id="85" name="Oval 15"/>
              <p:cNvSpPr>
                <a:spLocks noChangeArrowheads="1"/>
              </p:cNvSpPr>
              <p:nvPr/>
            </p:nvSpPr>
            <p:spPr bwMode="auto">
              <a:xfrm>
                <a:off x="5491162" y="5013325"/>
                <a:ext cx="152400" cy="152400"/>
              </a:xfrm>
              <a:prstGeom prst="ellipse">
                <a:avLst/>
              </a:prstGeom>
              <a:solidFill>
                <a:srgbClr val="FF0000"/>
              </a:solidFill>
              <a:ln w="9525">
                <a:solidFill>
                  <a:schemeClr val="tx1"/>
                </a:solidFill>
                <a:round/>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sp>
            <p:nvSpPr>
              <p:cNvPr id="86" name="AutoShape 30"/>
              <p:cNvSpPr>
                <a:spLocks noChangeArrowheads="1"/>
              </p:cNvSpPr>
              <p:nvPr/>
            </p:nvSpPr>
            <p:spPr bwMode="auto">
              <a:xfrm>
                <a:off x="6400800" y="4572000"/>
                <a:ext cx="1219200" cy="838200"/>
              </a:xfrm>
              <a:prstGeom prst="foldedCorner">
                <a:avLst>
                  <a:gd name="adj" fmla="val 12500"/>
                </a:avLst>
              </a:prstGeom>
              <a:solidFill>
                <a:srgbClr val="00CC00"/>
              </a:solidFill>
              <a:ln w="9525">
                <a:solidFill>
                  <a:schemeClr val="tx1"/>
                </a:solidFill>
                <a:round/>
                <a:headEnd/>
                <a:tailEnd/>
              </a:ln>
            </p:spPr>
            <p:txBody>
              <a:bodyPr wrap="none" anchor="ctr"/>
              <a:lstStyle/>
              <a:p>
                <a:pPr>
                  <a:defRPr/>
                </a:pPr>
                <a:endParaRPr lang="en-US" dirty="0">
                  <a:solidFill>
                    <a:schemeClr val="bg2"/>
                  </a:solidFill>
                  <a:effectLst>
                    <a:outerShdw blurRad="38100" dist="38100" dir="2700000" algn="tl">
                      <a:srgbClr val="000000">
                        <a:alpha val="43137"/>
                      </a:srgbClr>
                    </a:outerShdw>
                  </a:effectLst>
                  <a:latin typeface="Calibri" pitchFamily="34" charset="0"/>
                </a:endParaRPr>
              </a:p>
            </p:txBody>
          </p:sp>
          <p:sp>
            <p:nvSpPr>
              <p:cNvPr id="87" name="Oval 31"/>
              <p:cNvSpPr>
                <a:spLocks noChangeArrowheads="1"/>
              </p:cNvSpPr>
              <p:nvPr/>
            </p:nvSpPr>
            <p:spPr bwMode="auto">
              <a:xfrm>
                <a:off x="7772400" y="4800600"/>
                <a:ext cx="304800" cy="304800"/>
              </a:xfrm>
              <a:prstGeom prst="ellipse">
                <a:avLst/>
              </a:prstGeom>
              <a:solidFill>
                <a:srgbClr val="FFFF00"/>
              </a:solidFill>
              <a:ln w="9525">
                <a:solidFill>
                  <a:schemeClr val="tx1"/>
                </a:solidFill>
                <a:round/>
                <a:headEnd/>
                <a:tailEnd/>
              </a:ln>
            </p:spPr>
            <p:txBody>
              <a:bodyPr wrap="none" anchor="ctr"/>
              <a:lstStyle/>
              <a:p>
                <a:pPr>
                  <a:defRPr/>
                </a:pPr>
                <a:endParaRPr lang="en-US" dirty="0">
                  <a:solidFill>
                    <a:srgbClr val="FFFF00"/>
                  </a:solidFill>
                  <a:effectLst>
                    <a:outerShdw blurRad="38100" dist="38100" dir="2700000" algn="tl">
                      <a:srgbClr val="000000">
                        <a:alpha val="43137"/>
                      </a:srgbClr>
                    </a:outerShdw>
                  </a:effectLst>
                  <a:latin typeface="Calibri" pitchFamily="34" charset="0"/>
                </a:endParaRPr>
              </a:p>
            </p:txBody>
          </p:sp>
          <p:sp>
            <p:nvSpPr>
              <p:cNvPr id="88" name="Line 11"/>
              <p:cNvSpPr>
                <a:spLocks noChangeShapeType="1"/>
              </p:cNvSpPr>
              <p:nvPr/>
            </p:nvSpPr>
            <p:spPr bwMode="auto">
              <a:xfrm>
                <a:off x="5562600" y="5334000"/>
                <a:ext cx="685800" cy="0"/>
              </a:xfrm>
              <a:prstGeom prst="line">
                <a:avLst/>
              </a:prstGeom>
              <a:noFill/>
              <a:ln w="9525">
                <a:solidFill>
                  <a:schemeClr val="tx1"/>
                </a:solidFill>
                <a:round/>
                <a:headEnd/>
                <a:tailEnd/>
              </a:ln>
            </p:spPr>
            <p:txBody>
              <a:bodyPr/>
              <a:lstStyle/>
              <a:p>
                <a:pPr>
                  <a:defRPr/>
                </a:pPr>
                <a:endParaRPr lang="en-US">
                  <a:effectLst>
                    <a:outerShdw blurRad="38100" dist="38100" dir="2700000" algn="tl">
                      <a:srgbClr val="000000">
                        <a:alpha val="43137"/>
                      </a:srgbClr>
                    </a:outerShdw>
                  </a:effectLst>
                  <a:latin typeface="Arial" charset="0"/>
                </a:endParaRPr>
              </a:p>
            </p:txBody>
          </p:sp>
          <p:sp>
            <p:nvSpPr>
              <p:cNvPr id="89" name="Oval 15"/>
              <p:cNvSpPr>
                <a:spLocks noChangeArrowheads="1"/>
              </p:cNvSpPr>
              <p:nvPr/>
            </p:nvSpPr>
            <p:spPr bwMode="auto">
              <a:xfrm>
                <a:off x="5491162" y="5257800"/>
                <a:ext cx="152400" cy="152400"/>
              </a:xfrm>
              <a:prstGeom prst="ellipse">
                <a:avLst/>
              </a:prstGeom>
              <a:solidFill>
                <a:srgbClr val="FF0000"/>
              </a:solidFill>
              <a:ln w="9525">
                <a:solidFill>
                  <a:schemeClr val="tx1"/>
                </a:solidFill>
                <a:round/>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grpSp>
        <p:sp>
          <p:nvSpPr>
            <p:cNvPr id="77" name="Rectangle 76"/>
            <p:cNvSpPr/>
            <p:nvPr/>
          </p:nvSpPr>
          <p:spPr>
            <a:xfrm>
              <a:off x="1077689" y="1447800"/>
              <a:ext cx="1197764" cy="369332"/>
            </a:xfrm>
            <a:prstGeom prst="rect">
              <a:avLst/>
            </a:prstGeom>
          </p:spPr>
          <p:txBody>
            <a:bodyPr wrap="none">
              <a:spAutoFit/>
            </a:bodyPr>
            <a:lstStyle/>
            <a:p>
              <a:r>
                <a:rPr lang="en-US" sz="1800" dirty="0" smtClean="0"/>
                <a:t>University</a:t>
              </a:r>
              <a:endParaRPr lang="en-US" sz="1800" dirty="0"/>
            </a:p>
          </p:txBody>
        </p:sp>
        <p:sp>
          <p:nvSpPr>
            <p:cNvPr id="78" name="Flowchart: Magnetic Disk 77"/>
            <p:cNvSpPr/>
            <p:nvPr/>
          </p:nvSpPr>
          <p:spPr>
            <a:xfrm>
              <a:off x="1071562" y="1828800"/>
              <a:ext cx="533400" cy="533400"/>
            </a:xfrm>
            <a:prstGeom prst="flowChartMagneticDisk">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Data</a:t>
              </a:r>
              <a:endParaRPr lang="en-US" sz="1400" dirty="0"/>
            </a:p>
          </p:txBody>
        </p:sp>
      </p:grpSp>
      <p:sp>
        <p:nvSpPr>
          <p:cNvPr id="90" name="TextBox 89"/>
          <p:cNvSpPr txBox="1"/>
          <p:nvPr/>
        </p:nvSpPr>
        <p:spPr>
          <a:xfrm>
            <a:off x="905480" y="4114800"/>
            <a:ext cx="2383987" cy="523220"/>
          </a:xfrm>
          <a:prstGeom prst="rect">
            <a:avLst/>
          </a:prstGeom>
          <a:noFill/>
        </p:spPr>
        <p:txBody>
          <a:bodyPr wrap="none" rtlCol="0">
            <a:spAutoFit/>
          </a:bodyPr>
          <a:lstStyle/>
          <a:p>
            <a:pPr algn="ctr"/>
            <a:r>
              <a:rPr lang="en-US" sz="2800" dirty="0" err="1" smtClean="0"/>
              <a:t>HydroServers</a:t>
            </a:r>
            <a:endParaRPr lang="en-US" sz="2800" dirty="0"/>
          </a:p>
        </p:txBody>
      </p:sp>
      <p:cxnSp>
        <p:nvCxnSpPr>
          <p:cNvPr id="99" name="Straight Arrow Connector 98"/>
          <p:cNvCxnSpPr/>
          <p:nvPr/>
        </p:nvCxnSpPr>
        <p:spPr>
          <a:xfrm rot="16200000" flipH="1">
            <a:off x="3264716" y="3429000"/>
            <a:ext cx="1447800" cy="1295400"/>
          </a:xfrm>
          <a:prstGeom prst="straightConnector1">
            <a:avLst/>
          </a:prstGeom>
          <a:ln w="76200">
            <a:solidFill>
              <a:schemeClr val="accent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6185884" y="3962400"/>
            <a:ext cx="1813317" cy="369332"/>
          </a:xfrm>
          <a:prstGeom prst="rect">
            <a:avLst/>
          </a:prstGeom>
          <a:noFill/>
        </p:spPr>
        <p:txBody>
          <a:bodyPr wrap="none" rtlCol="0">
            <a:spAutoFit/>
          </a:bodyPr>
          <a:lstStyle/>
          <a:p>
            <a:pPr algn="ctr"/>
            <a:r>
              <a:rPr lang="en-US" sz="1800" dirty="0" smtClean="0"/>
              <a:t>Data Discovery </a:t>
            </a:r>
          </a:p>
        </p:txBody>
      </p:sp>
      <p:sp>
        <p:nvSpPr>
          <p:cNvPr id="101" name="TextBox 100"/>
          <p:cNvSpPr txBox="1"/>
          <p:nvPr/>
        </p:nvSpPr>
        <p:spPr>
          <a:xfrm>
            <a:off x="3950516" y="3810000"/>
            <a:ext cx="1467133" cy="369332"/>
          </a:xfrm>
          <a:prstGeom prst="rect">
            <a:avLst/>
          </a:prstGeom>
          <a:noFill/>
        </p:spPr>
        <p:txBody>
          <a:bodyPr wrap="none" rtlCol="0">
            <a:spAutoFit/>
          </a:bodyPr>
          <a:lstStyle/>
          <a:p>
            <a:r>
              <a:rPr lang="en-US" sz="1800" dirty="0" smtClean="0"/>
              <a:t>Data Access</a:t>
            </a:r>
            <a:endParaRPr lang="en-US" sz="1800" dirty="0"/>
          </a:p>
        </p:txBody>
      </p:sp>
      <p:sp>
        <p:nvSpPr>
          <p:cNvPr id="103" name="Flowchart: Magnetic Disk 102"/>
          <p:cNvSpPr/>
          <p:nvPr/>
        </p:nvSpPr>
        <p:spPr>
          <a:xfrm>
            <a:off x="1435916" y="1981200"/>
            <a:ext cx="533400" cy="533400"/>
          </a:xfrm>
          <a:prstGeom prst="flowChartMagneticDisk">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4" name="Flowchart: Magnetic Disk 103"/>
          <p:cNvSpPr/>
          <p:nvPr/>
        </p:nvSpPr>
        <p:spPr>
          <a:xfrm>
            <a:off x="1440678" y="1981200"/>
            <a:ext cx="533400" cy="5334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Data</a:t>
            </a:r>
            <a:endParaRPr lang="en-US" sz="1400" dirty="0"/>
          </a:p>
        </p:txBody>
      </p:sp>
      <p:sp>
        <p:nvSpPr>
          <p:cNvPr id="107" name="TextBox 106"/>
          <p:cNvSpPr txBox="1"/>
          <p:nvPr/>
        </p:nvSpPr>
        <p:spPr>
          <a:xfrm>
            <a:off x="2785977" y="1944469"/>
            <a:ext cx="954108" cy="784830"/>
          </a:xfrm>
          <a:prstGeom prst="rect">
            <a:avLst/>
          </a:prstGeom>
          <a:noFill/>
        </p:spPr>
        <p:txBody>
          <a:bodyPr wrap="none" rtlCol="0">
            <a:spAutoFit/>
          </a:bodyPr>
          <a:lstStyle/>
          <a:p>
            <a:pPr algn="ctr"/>
            <a:r>
              <a:rPr lang="en-US" sz="1800" dirty="0" smtClean="0"/>
              <a:t>Web</a:t>
            </a:r>
          </a:p>
          <a:p>
            <a:pPr algn="ctr"/>
            <a:r>
              <a:rPr lang="en-US" sz="1800" dirty="0" smtClean="0"/>
              <a:t>Service</a:t>
            </a:r>
            <a:endParaRPr lang="en-US" sz="1800" dirty="0"/>
          </a:p>
        </p:txBody>
      </p:sp>
      <p:grpSp>
        <p:nvGrpSpPr>
          <p:cNvPr id="6" name="Group 29"/>
          <p:cNvGrpSpPr/>
          <p:nvPr/>
        </p:nvGrpSpPr>
        <p:grpSpPr>
          <a:xfrm flipH="1">
            <a:off x="2050278" y="2057400"/>
            <a:ext cx="833438" cy="357827"/>
            <a:chOff x="5491162" y="4419600"/>
            <a:chExt cx="2662238" cy="1143000"/>
          </a:xfrm>
        </p:grpSpPr>
        <p:sp>
          <p:nvSpPr>
            <p:cNvPr id="62" name="Rectangle 8"/>
            <p:cNvSpPr>
              <a:spLocks noChangeArrowheads="1"/>
            </p:cNvSpPr>
            <p:nvPr/>
          </p:nvSpPr>
          <p:spPr bwMode="auto">
            <a:xfrm>
              <a:off x="5867400" y="4419600"/>
              <a:ext cx="2286000" cy="1143000"/>
            </a:xfrm>
            <a:prstGeom prst="rect">
              <a:avLst/>
            </a:prstGeom>
            <a:solidFill>
              <a:srgbClr val="FFFFFF"/>
            </a:solidFill>
            <a:ln w="9525">
              <a:solidFill>
                <a:schemeClr val="tx1"/>
              </a:solidFill>
              <a:miter lim="800000"/>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sp>
          <p:nvSpPr>
            <p:cNvPr id="63" name="Line 9"/>
            <p:cNvSpPr>
              <a:spLocks noChangeShapeType="1"/>
            </p:cNvSpPr>
            <p:nvPr/>
          </p:nvSpPr>
          <p:spPr bwMode="auto">
            <a:xfrm>
              <a:off x="5562600" y="4572000"/>
              <a:ext cx="685800" cy="0"/>
            </a:xfrm>
            <a:prstGeom prst="line">
              <a:avLst/>
            </a:prstGeom>
            <a:noFill/>
            <a:ln w="9525">
              <a:solidFill>
                <a:schemeClr val="tx1"/>
              </a:solidFill>
              <a:round/>
              <a:headEnd/>
              <a:tailEnd/>
            </a:ln>
          </p:spPr>
          <p:txBody>
            <a:bodyPr/>
            <a:lstStyle/>
            <a:p>
              <a:pPr>
                <a:defRPr/>
              </a:pPr>
              <a:endParaRPr lang="en-US">
                <a:effectLst>
                  <a:outerShdw blurRad="38100" dist="38100" dir="2700000" algn="tl">
                    <a:srgbClr val="000000">
                      <a:alpha val="43137"/>
                    </a:srgbClr>
                  </a:outerShdw>
                </a:effectLst>
                <a:latin typeface="Arial" charset="0"/>
              </a:endParaRPr>
            </a:p>
          </p:txBody>
        </p:sp>
        <p:sp>
          <p:nvSpPr>
            <p:cNvPr id="64" name="Line 10"/>
            <p:cNvSpPr>
              <a:spLocks noChangeShapeType="1"/>
            </p:cNvSpPr>
            <p:nvPr/>
          </p:nvSpPr>
          <p:spPr bwMode="auto">
            <a:xfrm>
              <a:off x="5562600" y="4830763"/>
              <a:ext cx="685800" cy="0"/>
            </a:xfrm>
            <a:prstGeom prst="line">
              <a:avLst/>
            </a:prstGeom>
            <a:noFill/>
            <a:ln w="9525">
              <a:solidFill>
                <a:schemeClr val="tx1"/>
              </a:solidFill>
              <a:round/>
              <a:headEnd/>
              <a:tailEnd/>
            </a:ln>
          </p:spPr>
          <p:txBody>
            <a:bodyPr/>
            <a:lstStyle/>
            <a:p>
              <a:pPr>
                <a:defRPr/>
              </a:pPr>
              <a:endParaRPr lang="en-US">
                <a:effectLst>
                  <a:outerShdw blurRad="38100" dist="38100" dir="2700000" algn="tl">
                    <a:srgbClr val="000000">
                      <a:alpha val="43137"/>
                    </a:srgbClr>
                  </a:outerShdw>
                </a:effectLst>
                <a:latin typeface="Arial" charset="0"/>
              </a:endParaRPr>
            </a:p>
          </p:txBody>
        </p:sp>
        <p:sp>
          <p:nvSpPr>
            <p:cNvPr id="65" name="Line 11"/>
            <p:cNvSpPr>
              <a:spLocks noChangeShapeType="1"/>
            </p:cNvSpPr>
            <p:nvPr/>
          </p:nvSpPr>
          <p:spPr bwMode="auto">
            <a:xfrm>
              <a:off x="5572125" y="5089525"/>
              <a:ext cx="685800" cy="0"/>
            </a:xfrm>
            <a:prstGeom prst="line">
              <a:avLst/>
            </a:prstGeom>
            <a:noFill/>
            <a:ln w="9525">
              <a:solidFill>
                <a:schemeClr val="tx1"/>
              </a:solidFill>
              <a:round/>
              <a:headEnd/>
              <a:tailEnd/>
            </a:ln>
          </p:spPr>
          <p:txBody>
            <a:bodyPr/>
            <a:lstStyle/>
            <a:p>
              <a:pPr>
                <a:defRPr/>
              </a:pPr>
              <a:endParaRPr lang="en-US">
                <a:effectLst>
                  <a:outerShdw blurRad="38100" dist="38100" dir="2700000" algn="tl">
                    <a:srgbClr val="000000">
                      <a:alpha val="43137"/>
                    </a:srgbClr>
                  </a:outerShdw>
                </a:effectLst>
                <a:latin typeface="Arial" charset="0"/>
              </a:endParaRPr>
            </a:p>
          </p:txBody>
        </p:sp>
        <p:sp>
          <p:nvSpPr>
            <p:cNvPr id="66" name="Oval 13"/>
            <p:cNvSpPr>
              <a:spLocks noChangeArrowheads="1"/>
            </p:cNvSpPr>
            <p:nvPr/>
          </p:nvSpPr>
          <p:spPr bwMode="auto">
            <a:xfrm>
              <a:off x="5491162" y="4495800"/>
              <a:ext cx="152400" cy="152400"/>
            </a:xfrm>
            <a:prstGeom prst="ellipse">
              <a:avLst/>
            </a:prstGeom>
            <a:solidFill>
              <a:srgbClr val="FF0000"/>
            </a:solidFill>
            <a:ln w="9525">
              <a:solidFill>
                <a:schemeClr val="tx1"/>
              </a:solidFill>
              <a:round/>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sp>
          <p:nvSpPr>
            <p:cNvPr id="67" name="Oval 14"/>
            <p:cNvSpPr>
              <a:spLocks noChangeArrowheads="1"/>
            </p:cNvSpPr>
            <p:nvPr/>
          </p:nvSpPr>
          <p:spPr bwMode="auto">
            <a:xfrm>
              <a:off x="5491162" y="4754563"/>
              <a:ext cx="152400" cy="152400"/>
            </a:xfrm>
            <a:prstGeom prst="ellipse">
              <a:avLst/>
            </a:prstGeom>
            <a:solidFill>
              <a:srgbClr val="FF0000"/>
            </a:solidFill>
            <a:ln w="9525">
              <a:solidFill>
                <a:schemeClr val="tx1"/>
              </a:solidFill>
              <a:round/>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sp>
          <p:nvSpPr>
            <p:cNvPr id="68" name="Oval 15"/>
            <p:cNvSpPr>
              <a:spLocks noChangeArrowheads="1"/>
            </p:cNvSpPr>
            <p:nvPr/>
          </p:nvSpPr>
          <p:spPr bwMode="auto">
            <a:xfrm>
              <a:off x="5491162" y="5013325"/>
              <a:ext cx="152400" cy="152400"/>
            </a:xfrm>
            <a:prstGeom prst="ellipse">
              <a:avLst/>
            </a:prstGeom>
            <a:solidFill>
              <a:srgbClr val="FF0000"/>
            </a:solidFill>
            <a:ln w="9525">
              <a:solidFill>
                <a:schemeClr val="tx1"/>
              </a:solidFill>
              <a:round/>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sp>
          <p:nvSpPr>
            <p:cNvPr id="69" name="AutoShape 30"/>
            <p:cNvSpPr>
              <a:spLocks noChangeArrowheads="1"/>
            </p:cNvSpPr>
            <p:nvPr/>
          </p:nvSpPr>
          <p:spPr bwMode="auto">
            <a:xfrm>
              <a:off x="6400800" y="4572000"/>
              <a:ext cx="1219200" cy="838200"/>
            </a:xfrm>
            <a:prstGeom prst="foldedCorner">
              <a:avLst>
                <a:gd name="adj" fmla="val 12500"/>
              </a:avLst>
            </a:prstGeom>
            <a:solidFill>
              <a:srgbClr val="00CC00"/>
            </a:solidFill>
            <a:ln w="9525">
              <a:solidFill>
                <a:schemeClr val="tx1"/>
              </a:solidFill>
              <a:round/>
              <a:headEnd/>
              <a:tailEnd/>
            </a:ln>
          </p:spPr>
          <p:txBody>
            <a:bodyPr wrap="none" anchor="ctr"/>
            <a:lstStyle/>
            <a:p>
              <a:pPr>
                <a:defRPr/>
              </a:pPr>
              <a:endParaRPr lang="en-US" dirty="0">
                <a:solidFill>
                  <a:schemeClr val="bg2"/>
                </a:solidFill>
                <a:effectLst>
                  <a:outerShdw blurRad="38100" dist="38100" dir="2700000" algn="tl">
                    <a:srgbClr val="000000">
                      <a:alpha val="43137"/>
                    </a:srgbClr>
                  </a:outerShdw>
                </a:effectLst>
                <a:latin typeface="Calibri" pitchFamily="34" charset="0"/>
              </a:endParaRPr>
            </a:p>
          </p:txBody>
        </p:sp>
        <p:sp>
          <p:nvSpPr>
            <p:cNvPr id="70" name="Oval 31"/>
            <p:cNvSpPr>
              <a:spLocks noChangeArrowheads="1"/>
            </p:cNvSpPr>
            <p:nvPr/>
          </p:nvSpPr>
          <p:spPr bwMode="auto">
            <a:xfrm>
              <a:off x="7772400" y="4800600"/>
              <a:ext cx="304800" cy="304800"/>
            </a:xfrm>
            <a:prstGeom prst="ellipse">
              <a:avLst/>
            </a:prstGeom>
            <a:solidFill>
              <a:srgbClr val="FFFF00"/>
            </a:solidFill>
            <a:ln w="9525">
              <a:solidFill>
                <a:schemeClr val="tx1"/>
              </a:solidFill>
              <a:round/>
              <a:headEnd/>
              <a:tailEnd/>
            </a:ln>
          </p:spPr>
          <p:txBody>
            <a:bodyPr wrap="none" anchor="ctr"/>
            <a:lstStyle/>
            <a:p>
              <a:pPr>
                <a:defRPr/>
              </a:pPr>
              <a:endParaRPr lang="en-US" dirty="0">
                <a:solidFill>
                  <a:srgbClr val="FFFF00"/>
                </a:solidFill>
                <a:effectLst>
                  <a:outerShdw blurRad="38100" dist="38100" dir="2700000" algn="tl">
                    <a:srgbClr val="000000">
                      <a:alpha val="43137"/>
                    </a:srgbClr>
                  </a:outerShdw>
                </a:effectLst>
                <a:latin typeface="Calibri" pitchFamily="34" charset="0"/>
              </a:endParaRPr>
            </a:p>
          </p:txBody>
        </p:sp>
        <p:sp>
          <p:nvSpPr>
            <p:cNvPr id="71" name="Line 11"/>
            <p:cNvSpPr>
              <a:spLocks noChangeShapeType="1"/>
            </p:cNvSpPr>
            <p:nvPr/>
          </p:nvSpPr>
          <p:spPr bwMode="auto">
            <a:xfrm>
              <a:off x="5562600" y="5334000"/>
              <a:ext cx="685800" cy="0"/>
            </a:xfrm>
            <a:prstGeom prst="line">
              <a:avLst/>
            </a:prstGeom>
            <a:noFill/>
            <a:ln w="9525">
              <a:solidFill>
                <a:schemeClr val="tx1"/>
              </a:solidFill>
              <a:round/>
              <a:headEnd/>
              <a:tailEnd/>
            </a:ln>
          </p:spPr>
          <p:txBody>
            <a:bodyPr/>
            <a:lstStyle/>
            <a:p>
              <a:pPr>
                <a:defRPr/>
              </a:pPr>
              <a:endParaRPr lang="en-US">
                <a:effectLst>
                  <a:outerShdw blurRad="38100" dist="38100" dir="2700000" algn="tl">
                    <a:srgbClr val="000000">
                      <a:alpha val="43137"/>
                    </a:srgbClr>
                  </a:outerShdw>
                </a:effectLst>
                <a:latin typeface="Arial" charset="0"/>
              </a:endParaRPr>
            </a:p>
          </p:txBody>
        </p:sp>
        <p:sp>
          <p:nvSpPr>
            <p:cNvPr id="72" name="Oval 15"/>
            <p:cNvSpPr>
              <a:spLocks noChangeArrowheads="1"/>
            </p:cNvSpPr>
            <p:nvPr/>
          </p:nvSpPr>
          <p:spPr bwMode="auto">
            <a:xfrm>
              <a:off x="5491162" y="5257800"/>
              <a:ext cx="152400" cy="152400"/>
            </a:xfrm>
            <a:prstGeom prst="ellipse">
              <a:avLst/>
            </a:prstGeom>
            <a:solidFill>
              <a:srgbClr val="FF0000"/>
            </a:solidFill>
            <a:ln w="9525">
              <a:solidFill>
                <a:schemeClr val="tx1"/>
              </a:solidFill>
              <a:round/>
              <a:headEnd/>
              <a:tailEnd/>
            </a:ln>
          </p:spPr>
          <p:txBody>
            <a:bodyPr wrap="none" anchor="ctr"/>
            <a:lstStyle/>
            <a:p>
              <a:pPr>
                <a:defRPr/>
              </a:pPr>
              <a:endParaRPr lang="en-US">
                <a:effectLst>
                  <a:outerShdw blurRad="38100" dist="38100" dir="2700000" algn="tl">
                    <a:srgbClr val="000000">
                      <a:alpha val="43137"/>
                    </a:srgbClr>
                  </a:outerShdw>
                </a:effectLst>
                <a:latin typeface="Calibri" pitchFamily="34" charset="0"/>
              </a:endParaRPr>
            </a:p>
          </p:txBody>
        </p:sp>
      </p:grpSp>
      <p:grpSp>
        <p:nvGrpSpPr>
          <p:cNvPr id="7" name="Group 75"/>
          <p:cNvGrpSpPr/>
          <p:nvPr/>
        </p:nvGrpSpPr>
        <p:grpSpPr>
          <a:xfrm>
            <a:off x="5181600" y="1600200"/>
            <a:ext cx="3200400" cy="2057400"/>
            <a:chOff x="5181600" y="1600200"/>
            <a:chExt cx="3200400" cy="2057400"/>
          </a:xfrm>
        </p:grpSpPr>
        <p:sp>
          <p:nvSpPr>
            <p:cNvPr id="91" name="Rectangle 90"/>
            <p:cNvSpPr/>
            <p:nvPr/>
          </p:nvSpPr>
          <p:spPr>
            <a:xfrm>
              <a:off x="5181600" y="1600200"/>
              <a:ext cx="3200400" cy="2057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4" name="Picture 2"/>
            <p:cNvPicPr>
              <a:picLocks noChangeAspect="1" noChangeArrowheads="1"/>
            </p:cNvPicPr>
            <p:nvPr/>
          </p:nvPicPr>
          <p:blipFill>
            <a:blip r:embed="rId4" cstate="print"/>
            <a:srcRect/>
            <a:stretch>
              <a:fillRect/>
            </a:stretch>
          </p:blipFill>
          <p:spPr bwMode="auto">
            <a:xfrm>
              <a:off x="6967538" y="2819400"/>
              <a:ext cx="1262062" cy="588226"/>
            </a:xfrm>
            <a:prstGeom prst="rect">
              <a:avLst/>
            </a:prstGeom>
            <a:noFill/>
            <a:ln w="3175">
              <a:solidFill>
                <a:schemeClr val="tx1"/>
              </a:solidFill>
              <a:miter lim="800000"/>
              <a:headEnd/>
              <a:tailEnd/>
            </a:ln>
          </p:spPr>
        </p:pic>
        <p:sp>
          <p:nvSpPr>
            <p:cNvPr id="95" name="Flowchart: Magnetic Disk 94"/>
            <p:cNvSpPr/>
            <p:nvPr/>
          </p:nvSpPr>
          <p:spPr>
            <a:xfrm>
              <a:off x="7162800" y="1676400"/>
              <a:ext cx="1066800" cy="6096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effectLst>
                    <a:outerShdw blurRad="38100" dist="38100" dir="2700000" algn="tl">
                      <a:srgbClr val="000000">
                        <a:alpha val="43137"/>
                      </a:srgbClr>
                    </a:outerShdw>
                  </a:effectLst>
                </a:rPr>
                <a:t>Metadata</a:t>
              </a:r>
            </a:p>
            <a:p>
              <a:pPr algn="ctr"/>
              <a:r>
                <a:rPr lang="en-US" sz="1400" b="1" dirty="0" smtClean="0">
                  <a:effectLst>
                    <a:outerShdw blurRad="38100" dist="38100" dir="2700000" algn="tl">
                      <a:srgbClr val="000000">
                        <a:alpha val="43137"/>
                      </a:srgbClr>
                    </a:outerShdw>
                  </a:effectLst>
                </a:rPr>
                <a:t>Catalog</a:t>
              </a:r>
              <a:endParaRPr lang="en-US" sz="1400" b="1" dirty="0">
                <a:effectLst>
                  <a:outerShdw blurRad="38100" dist="38100" dir="2700000" algn="tl">
                    <a:srgbClr val="000000">
                      <a:alpha val="43137"/>
                    </a:srgbClr>
                  </a:outerShdw>
                </a:effectLst>
              </a:endParaRPr>
            </a:p>
          </p:txBody>
        </p:sp>
        <p:pic>
          <p:nvPicPr>
            <p:cNvPr id="96" name="Picture 5"/>
            <p:cNvPicPr>
              <a:picLocks noChangeAspect="1" noChangeArrowheads="1"/>
            </p:cNvPicPr>
            <p:nvPr/>
          </p:nvPicPr>
          <p:blipFill>
            <a:blip r:embed="rId5" cstate="print"/>
            <a:srcRect/>
            <a:stretch>
              <a:fillRect/>
            </a:stretch>
          </p:blipFill>
          <p:spPr bwMode="auto">
            <a:xfrm>
              <a:off x="5290751" y="2438400"/>
              <a:ext cx="1414849" cy="990600"/>
            </a:xfrm>
            <a:prstGeom prst="rect">
              <a:avLst/>
            </a:prstGeom>
            <a:noFill/>
            <a:ln w="9525">
              <a:noFill/>
              <a:miter lim="800000"/>
              <a:headEnd/>
              <a:tailEnd/>
            </a:ln>
            <a:effectLst/>
          </p:spPr>
        </p:pic>
        <p:sp>
          <p:nvSpPr>
            <p:cNvPr id="97" name="Rounded Rectangle 96"/>
            <p:cNvSpPr/>
            <p:nvPr/>
          </p:nvSpPr>
          <p:spPr>
            <a:xfrm>
              <a:off x="5366951" y="2286000"/>
              <a:ext cx="1295400" cy="609600"/>
            </a:xfrm>
            <a:prstGeom prst="roundRect">
              <a:avLst/>
            </a:prstGeom>
            <a:solidFill>
              <a:srgbClr val="92D050">
                <a:alpha val="6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effectLst>
                    <a:outerShdw blurRad="38100" dist="38100" dir="2700000" algn="tl">
                      <a:srgbClr val="000000">
                        <a:alpha val="43137"/>
                      </a:srgbClr>
                    </a:outerShdw>
                  </a:effectLst>
                </a:rPr>
                <a:t>HIS Central</a:t>
              </a:r>
              <a:endParaRPr lang="en-US" sz="1400" b="1" dirty="0">
                <a:effectLst>
                  <a:outerShdw blurRad="38100" dist="38100" dir="2700000" algn="tl">
                    <a:srgbClr val="000000">
                      <a:alpha val="43137"/>
                    </a:srgbClr>
                  </a:outerShdw>
                </a:effectLst>
              </a:endParaRPr>
            </a:p>
          </p:txBody>
        </p:sp>
        <p:sp>
          <p:nvSpPr>
            <p:cNvPr id="98" name="TextBox 97"/>
            <p:cNvSpPr txBox="1"/>
            <p:nvPr/>
          </p:nvSpPr>
          <p:spPr>
            <a:xfrm>
              <a:off x="5196453" y="1676400"/>
              <a:ext cx="2042547" cy="523220"/>
            </a:xfrm>
            <a:prstGeom prst="rect">
              <a:avLst/>
            </a:prstGeom>
            <a:noFill/>
          </p:spPr>
          <p:txBody>
            <a:bodyPr wrap="none" rtlCol="0">
              <a:spAutoFit/>
            </a:bodyPr>
            <a:lstStyle/>
            <a:p>
              <a:r>
                <a:rPr lang="en-US" sz="2800" dirty="0" smtClean="0"/>
                <a:t>HIS Central</a:t>
              </a:r>
              <a:endParaRPr lang="en-US" sz="2800" dirty="0"/>
            </a:p>
          </p:txBody>
        </p:sp>
        <p:sp>
          <p:nvSpPr>
            <p:cNvPr id="105" name="Rounded Rectangle 104"/>
            <p:cNvSpPr/>
            <p:nvPr/>
          </p:nvSpPr>
          <p:spPr>
            <a:xfrm>
              <a:off x="6934200" y="2361156"/>
              <a:ext cx="1295400" cy="609600"/>
            </a:xfrm>
            <a:prstGeom prst="roundRect">
              <a:avLst/>
            </a:prstGeom>
            <a:solidFill>
              <a:schemeClr val="accent1">
                <a:alpha val="6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effectLst>
                    <a:outerShdw blurRad="38100" dist="38100" dir="2700000" algn="tl">
                      <a:srgbClr val="000000">
                        <a:alpha val="43137"/>
                      </a:srgbClr>
                    </a:outerShdw>
                  </a:effectLst>
                </a:rPr>
                <a:t>Hydrologic Ontology</a:t>
              </a:r>
              <a:endParaRPr lang="en-US" sz="1400" b="1" dirty="0">
                <a:effectLst>
                  <a:outerShdw blurRad="38100" dist="38100" dir="2700000" algn="tl">
                    <a:srgbClr val="000000">
                      <a:alpha val="43137"/>
                    </a:srgbClr>
                  </a:outerShdw>
                </a:effectLst>
              </a:endParaRPr>
            </a:p>
          </p:txBody>
        </p:sp>
      </p:grpSp>
      <p:sp>
        <p:nvSpPr>
          <p:cNvPr id="102" name="TextBox 101"/>
          <p:cNvSpPr txBox="1"/>
          <p:nvPr/>
        </p:nvSpPr>
        <p:spPr>
          <a:xfrm>
            <a:off x="3493316" y="2477869"/>
            <a:ext cx="1415772" cy="784830"/>
          </a:xfrm>
          <a:prstGeom prst="rect">
            <a:avLst/>
          </a:prstGeom>
          <a:noFill/>
        </p:spPr>
        <p:txBody>
          <a:bodyPr wrap="none" rtlCol="0">
            <a:spAutoFit/>
          </a:bodyPr>
          <a:lstStyle/>
          <a:p>
            <a:pPr algn="ctr"/>
            <a:r>
              <a:rPr lang="en-US" sz="1800" dirty="0" smtClean="0"/>
              <a:t>Data </a:t>
            </a:r>
          </a:p>
          <a:p>
            <a:pPr algn="ctr"/>
            <a:r>
              <a:rPr lang="en-US" sz="1800" dirty="0" smtClean="0"/>
              <a:t>Registration</a:t>
            </a:r>
            <a:endParaRPr lang="en-US" sz="1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ipe(down)">
                                      <p:cBhvr>
                                        <p:cTn id="7" dur="500"/>
                                        <p:tgtEl>
                                          <p:spTgt spid="10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07"/>
                                        </p:tgtEl>
                                        <p:attrNameLst>
                                          <p:attrName>style.visibility</p:attrName>
                                        </p:attrNameLst>
                                      </p:cBhvr>
                                      <p:to>
                                        <p:strVal val="visible"/>
                                      </p:to>
                                    </p:set>
                                    <p:animEffect transition="in" filter="fade">
                                      <p:cBhvr>
                                        <p:cTn id="17" dur="500"/>
                                        <p:tgtEl>
                                          <p:spTgt spid="10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0-#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fade">
                                      <p:cBhvr>
                                        <p:cTn id="27" dur="500"/>
                                        <p:tgtEl>
                                          <p:spTgt spid="9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1+#ppt_w/2"/>
                                          </p:val>
                                        </p:tav>
                                        <p:tav tm="100000">
                                          <p:val>
                                            <p:strVal val="#ppt_x"/>
                                          </p:val>
                                        </p:tav>
                                      </p:tavLst>
                                    </p:anim>
                                    <p:anim calcmode="lin" valueType="num">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wipe(left)">
                                      <p:cBhvr>
                                        <p:cTn id="37" dur="500"/>
                                        <p:tgtEl>
                                          <p:spTgt spid="59"/>
                                        </p:tgtEl>
                                      </p:cBhvr>
                                    </p:animEffect>
                                  </p:childTnLst>
                                </p:cTn>
                              </p:par>
                            </p:childTnLst>
                          </p:cTn>
                        </p:par>
                        <p:par>
                          <p:cTn id="38" fill="hold">
                            <p:stCondLst>
                              <p:cond delay="1000"/>
                            </p:stCondLst>
                            <p:childTnLst>
                              <p:par>
                                <p:cTn id="39" presetID="23" presetClass="entr" presetSubtype="32" fill="hold" grpId="0" nodeType="afterEffect">
                                  <p:stCondLst>
                                    <p:cond delay="0"/>
                                  </p:stCondLst>
                                  <p:childTnLst>
                                    <p:set>
                                      <p:cBhvr>
                                        <p:cTn id="40" dur="1" fill="hold">
                                          <p:stCondLst>
                                            <p:cond delay="0"/>
                                          </p:stCondLst>
                                        </p:cTn>
                                        <p:tgtEl>
                                          <p:spTgt spid="102"/>
                                        </p:tgtEl>
                                        <p:attrNameLst>
                                          <p:attrName>style.visibility</p:attrName>
                                        </p:attrNameLst>
                                      </p:cBhvr>
                                      <p:to>
                                        <p:strVal val="visible"/>
                                      </p:to>
                                    </p:set>
                                    <p:anim calcmode="lin" valueType="num">
                                      <p:cBhvr>
                                        <p:cTn id="41" dur="500" fill="hold"/>
                                        <p:tgtEl>
                                          <p:spTgt spid="102"/>
                                        </p:tgtEl>
                                        <p:attrNameLst>
                                          <p:attrName>ppt_w</p:attrName>
                                        </p:attrNameLst>
                                      </p:cBhvr>
                                      <p:tavLst>
                                        <p:tav tm="0">
                                          <p:val>
                                            <p:strVal val="4*#ppt_w"/>
                                          </p:val>
                                        </p:tav>
                                        <p:tav tm="100000">
                                          <p:val>
                                            <p:strVal val="#ppt_w"/>
                                          </p:val>
                                        </p:tav>
                                      </p:tavLst>
                                    </p:anim>
                                    <p:anim calcmode="lin" valueType="num">
                                      <p:cBhvr>
                                        <p:cTn id="42" dur="500" fill="hold"/>
                                        <p:tgtEl>
                                          <p:spTgt spid="102"/>
                                        </p:tgtEl>
                                        <p:attrNameLst>
                                          <p:attrName>ppt_h</p:attrName>
                                        </p:attrNameLst>
                                      </p:cBhvr>
                                      <p:tavLst>
                                        <p:tav tm="0">
                                          <p:val>
                                            <p:strVal val="4*#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cTn>
                              </p:par>
                            </p:childTnLst>
                          </p:cTn>
                        </p:par>
                        <p:par>
                          <p:cTn id="49" fill="hold">
                            <p:stCondLst>
                              <p:cond delay="500"/>
                            </p:stCondLst>
                            <p:childTnLst>
                              <p:par>
                                <p:cTn id="50" presetID="22" presetClass="entr" presetSubtype="4" fill="hold" nodeType="after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wipe(down)">
                                      <p:cBhvr>
                                        <p:cTn id="52" dur="500"/>
                                        <p:tgtEl>
                                          <p:spTgt spid="58"/>
                                        </p:tgtEl>
                                      </p:cBhvr>
                                    </p:animEffect>
                                  </p:childTnLst>
                                </p:cTn>
                              </p:par>
                            </p:childTnLst>
                          </p:cTn>
                        </p:par>
                        <p:par>
                          <p:cTn id="53" fill="hold">
                            <p:stCondLst>
                              <p:cond delay="1000"/>
                            </p:stCondLst>
                            <p:childTnLst>
                              <p:par>
                                <p:cTn id="54" presetID="23" presetClass="entr" presetSubtype="32" fill="hold" grpId="0" nodeType="afterEffect">
                                  <p:stCondLst>
                                    <p:cond delay="0"/>
                                  </p:stCondLst>
                                  <p:childTnLst>
                                    <p:set>
                                      <p:cBhvr>
                                        <p:cTn id="55" dur="1" fill="hold">
                                          <p:stCondLst>
                                            <p:cond delay="0"/>
                                          </p:stCondLst>
                                        </p:cTn>
                                        <p:tgtEl>
                                          <p:spTgt spid="100"/>
                                        </p:tgtEl>
                                        <p:attrNameLst>
                                          <p:attrName>style.visibility</p:attrName>
                                        </p:attrNameLst>
                                      </p:cBhvr>
                                      <p:to>
                                        <p:strVal val="visible"/>
                                      </p:to>
                                    </p:set>
                                    <p:anim calcmode="lin" valueType="num">
                                      <p:cBhvr>
                                        <p:cTn id="56" dur="500" fill="hold"/>
                                        <p:tgtEl>
                                          <p:spTgt spid="100"/>
                                        </p:tgtEl>
                                        <p:attrNameLst>
                                          <p:attrName>ppt_w</p:attrName>
                                        </p:attrNameLst>
                                      </p:cBhvr>
                                      <p:tavLst>
                                        <p:tav tm="0">
                                          <p:val>
                                            <p:strVal val="4*#ppt_w"/>
                                          </p:val>
                                        </p:tav>
                                        <p:tav tm="100000">
                                          <p:val>
                                            <p:strVal val="#ppt_w"/>
                                          </p:val>
                                        </p:tav>
                                      </p:tavLst>
                                    </p:anim>
                                    <p:anim calcmode="lin" valueType="num">
                                      <p:cBhvr>
                                        <p:cTn id="57" dur="500" fill="hold"/>
                                        <p:tgtEl>
                                          <p:spTgt spid="100"/>
                                        </p:tgtEl>
                                        <p:attrNameLst>
                                          <p:attrName>ppt_h</p:attrName>
                                        </p:attrNameLst>
                                      </p:cBhvr>
                                      <p:tavLst>
                                        <p:tav tm="0">
                                          <p:val>
                                            <p:strVal val="4*#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99"/>
                                        </p:tgtEl>
                                        <p:attrNameLst>
                                          <p:attrName>style.visibility</p:attrName>
                                        </p:attrNameLst>
                                      </p:cBhvr>
                                      <p:to>
                                        <p:strVal val="visible"/>
                                      </p:to>
                                    </p:set>
                                    <p:animEffect transition="in" filter="wipe(down)">
                                      <p:cBhvr>
                                        <p:cTn id="62" dur="500"/>
                                        <p:tgtEl>
                                          <p:spTgt spid="99"/>
                                        </p:tgtEl>
                                      </p:cBhvr>
                                    </p:animEffect>
                                  </p:childTnLst>
                                </p:cTn>
                              </p:par>
                            </p:childTnLst>
                          </p:cTn>
                        </p:par>
                        <p:par>
                          <p:cTn id="63" fill="hold">
                            <p:stCondLst>
                              <p:cond delay="500"/>
                            </p:stCondLst>
                            <p:childTnLst>
                              <p:par>
                                <p:cTn id="64" presetID="23" presetClass="entr" presetSubtype="32" fill="hold" grpId="0" nodeType="afterEffect">
                                  <p:stCondLst>
                                    <p:cond delay="0"/>
                                  </p:stCondLst>
                                  <p:childTnLst>
                                    <p:set>
                                      <p:cBhvr>
                                        <p:cTn id="65" dur="1" fill="hold">
                                          <p:stCondLst>
                                            <p:cond delay="0"/>
                                          </p:stCondLst>
                                        </p:cTn>
                                        <p:tgtEl>
                                          <p:spTgt spid="101"/>
                                        </p:tgtEl>
                                        <p:attrNameLst>
                                          <p:attrName>style.visibility</p:attrName>
                                        </p:attrNameLst>
                                      </p:cBhvr>
                                      <p:to>
                                        <p:strVal val="visible"/>
                                      </p:to>
                                    </p:set>
                                    <p:anim calcmode="lin" valueType="num">
                                      <p:cBhvr>
                                        <p:cTn id="66" dur="500" fill="hold"/>
                                        <p:tgtEl>
                                          <p:spTgt spid="101"/>
                                        </p:tgtEl>
                                        <p:attrNameLst>
                                          <p:attrName>ppt_w</p:attrName>
                                        </p:attrNameLst>
                                      </p:cBhvr>
                                      <p:tavLst>
                                        <p:tav tm="0">
                                          <p:val>
                                            <p:strVal val="4*#ppt_w"/>
                                          </p:val>
                                        </p:tav>
                                        <p:tav tm="100000">
                                          <p:val>
                                            <p:strVal val="#ppt_w"/>
                                          </p:val>
                                        </p:tav>
                                      </p:tavLst>
                                    </p:anim>
                                    <p:anim calcmode="lin" valueType="num">
                                      <p:cBhvr>
                                        <p:cTn id="67" dur="500" fill="hold"/>
                                        <p:tgtEl>
                                          <p:spTgt spid="101"/>
                                        </p:tgtEl>
                                        <p:attrNameLst>
                                          <p:attrName>ppt_h</p:attrName>
                                        </p:attrNameLst>
                                      </p:cBhvr>
                                      <p:tavLst>
                                        <p:tav tm="0">
                                          <p:val>
                                            <p:strVal val="4*#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6" presetClass="emph" presetSubtype="0" fill="hold" nodeType="clickEffect">
                                  <p:stCondLst>
                                    <p:cond delay="0"/>
                                  </p:stCondLst>
                                  <p:childTnLst>
                                    <p:animScale>
                                      <p:cBhvr>
                                        <p:cTn id="71"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100" grpId="0"/>
      <p:bldP spid="101" grpId="0"/>
      <p:bldP spid="104" grpId="0" animBg="1"/>
      <p:bldP spid="107" grpId="0"/>
      <p:bldP spid="10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1524000"/>
            <a:ext cx="2568575" cy="2008188"/>
            <a:chOff x="1351" y="912"/>
            <a:chExt cx="1618" cy="1265"/>
          </a:xfrm>
        </p:grpSpPr>
        <p:sp>
          <p:nvSpPr>
            <p:cNvPr id="449539" name="Freeform 3"/>
            <p:cNvSpPr>
              <a:spLocks/>
            </p:cNvSpPr>
            <p:nvPr/>
          </p:nvSpPr>
          <p:spPr bwMode="auto">
            <a:xfrm>
              <a:off x="1351" y="912"/>
              <a:ext cx="1618" cy="1265"/>
            </a:xfrm>
            <a:custGeom>
              <a:avLst/>
              <a:gdLst/>
              <a:ahLst/>
              <a:cxnLst>
                <a:cxn ang="0">
                  <a:pos x="16" y="702"/>
                </a:cxn>
                <a:cxn ang="0">
                  <a:pos x="29" y="474"/>
                </a:cxn>
                <a:cxn ang="0">
                  <a:pos x="301" y="367"/>
                </a:cxn>
                <a:cxn ang="0">
                  <a:pos x="377" y="303"/>
                </a:cxn>
                <a:cxn ang="0">
                  <a:pos x="447" y="208"/>
                </a:cxn>
                <a:cxn ang="0">
                  <a:pos x="529" y="164"/>
                </a:cxn>
                <a:cxn ang="0">
                  <a:pos x="693" y="183"/>
                </a:cxn>
                <a:cxn ang="0">
                  <a:pos x="738" y="177"/>
                </a:cxn>
                <a:cxn ang="0">
                  <a:pos x="814" y="82"/>
                </a:cxn>
                <a:cxn ang="0">
                  <a:pos x="959" y="6"/>
                </a:cxn>
                <a:cxn ang="0">
                  <a:pos x="1143" y="25"/>
                </a:cxn>
                <a:cxn ang="0">
                  <a:pos x="1156" y="69"/>
                </a:cxn>
                <a:cxn ang="0">
                  <a:pos x="1244" y="120"/>
                </a:cxn>
                <a:cxn ang="0">
                  <a:pos x="1314" y="151"/>
                </a:cxn>
                <a:cxn ang="0">
                  <a:pos x="1409" y="177"/>
                </a:cxn>
                <a:cxn ang="0">
                  <a:pos x="1472" y="208"/>
                </a:cxn>
                <a:cxn ang="0">
                  <a:pos x="1542" y="240"/>
                </a:cxn>
                <a:cxn ang="0">
                  <a:pos x="1535" y="405"/>
                </a:cxn>
                <a:cxn ang="0">
                  <a:pos x="1586" y="525"/>
                </a:cxn>
                <a:cxn ang="0">
                  <a:pos x="1618" y="582"/>
                </a:cxn>
                <a:cxn ang="0">
                  <a:pos x="1580" y="651"/>
                </a:cxn>
                <a:cxn ang="0">
                  <a:pos x="1573" y="670"/>
                </a:cxn>
                <a:cxn ang="0">
                  <a:pos x="1554" y="683"/>
                </a:cxn>
                <a:cxn ang="0">
                  <a:pos x="1542" y="721"/>
                </a:cxn>
                <a:cxn ang="0">
                  <a:pos x="1580" y="886"/>
                </a:cxn>
                <a:cxn ang="0">
                  <a:pos x="1573" y="993"/>
                </a:cxn>
                <a:cxn ang="0">
                  <a:pos x="1504" y="1076"/>
                </a:cxn>
                <a:cxn ang="0">
                  <a:pos x="1409" y="1151"/>
                </a:cxn>
                <a:cxn ang="0">
                  <a:pos x="1333" y="1177"/>
                </a:cxn>
                <a:cxn ang="0">
                  <a:pos x="1200" y="1177"/>
                </a:cxn>
                <a:cxn ang="0">
                  <a:pos x="1149" y="1227"/>
                </a:cxn>
                <a:cxn ang="0">
                  <a:pos x="1111" y="1253"/>
                </a:cxn>
                <a:cxn ang="0">
                  <a:pos x="1073" y="1265"/>
                </a:cxn>
                <a:cxn ang="0">
                  <a:pos x="940" y="1246"/>
                </a:cxn>
                <a:cxn ang="0">
                  <a:pos x="845" y="1189"/>
                </a:cxn>
                <a:cxn ang="0">
                  <a:pos x="535" y="1183"/>
                </a:cxn>
                <a:cxn ang="0">
                  <a:pos x="402" y="1088"/>
                </a:cxn>
                <a:cxn ang="0">
                  <a:pos x="231" y="1069"/>
                </a:cxn>
                <a:cxn ang="0">
                  <a:pos x="174" y="1038"/>
                </a:cxn>
                <a:cxn ang="0">
                  <a:pos x="136" y="1012"/>
                </a:cxn>
                <a:cxn ang="0">
                  <a:pos x="130" y="974"/>
                </a:cxn>
                <a:cxn ang="0">
                  <a:pos x="111" y="962"/>
                </a:cxn>
                <a:cxn ang="0">
                  <a:pos x="98" y="943"/>
                </a:cxn>
                <a:cxn ang="0">
                  <a:pos x="61" y="924"/>
                </a:cxn>
                <a:cxn ang="0">
                  <a:pos x="23" y="784"/>
                </a:cxn>
                <a:cxn ang="0">
                  <a:pos x="16" y="702"/>
                </a:cxn>
              </a:cxnLst>
              <a:rect l="0" t="0" r="r" b="b"/>
              <a:pathLst>
                <a:path w="1618" h="1265">
                  <a:moveTo>
                    <a:pt x="16" y="702"/>
                  </a:moveTo>
                  <a:cubicBezTo>
                    <a:pt x="38" y="601"/>
                    <a:pt x="16" y="713"/>
                    <a:pt x="29" y="474"/>
                  </a:cubicBezTo>
                  <a:cubicBezTo>
                    <a:pt x="36" y="350"/>
                    <a:pt x="238" y="370"/>
                    <a:pt x="301" y="367"/>
                  </a:cubicBezTo>
                  <a:cubicBezTo>
                    <a:pt x="328" y="349"/>
                    <a:pt x="359" y="331"/>
                    <a:pt x="377" y="303"/>
                  </a:cubicBezTo>
                  <a:cubicBezTo>
                    <a:pt x="398" y="272"/>
                    <a:pt x="420" y="234"/>
                    <a:pt x="447" y="208"/>
                  </a:cubicBezTo>
                  <a:cubicBezTo>
                    <a:pt x="468" y="188"/>
                    <a:pt x="504" y="181"/>
                    <a:pt x="529" y="164"/>
                  </a:cubicBezTo>
                  <a:cubicBezTo>
                    <a:pt x="614" y="168"/>
                    <a:pt x="628" y="170"/>
                    <a:pt x="693" y="183"/>
                  </a:cubicBezTo>
                  <a:cubicBezTo>
                    <a:pt x="708" y="181"/>
                    <a:pt x="723" y="181"/>
                    <a:pt x="738" y="177"/>
                  </a:cubicBezTo>
                  <a:cubicBezTo>
                    <a:pt x="770" y="167"/>
                    <a:pt x="794" y="108"/>
                    <a:pt x="814" y="82"/>
                  </a:cubicBezTo>
                  <a:cubicBezTo>
                    <a:pt x="847" y="38"/>
                    <a:pt x="916" y="33"/>
                    <a:pt x="959" y="6"/>
                  </a:cubicBezTo>
                  <a:cubicBezTo>
                    <a:pt x="1060" y="10"/>
                    <a:pt x="1076" y="0"/>
                    <a:pt x="1143" y="25"/>
                  </a:cubicBezTo>
                  <a:cubicBezTo>
                    <a:pt x="1148" y="40"/>
                    <a:pt x="1148" y="56"/>
                    <a:pt x="1156" y="69"/>
                  </a:cubicBezTo>
                  <a:cubicBezTo>
                    <a:pt x="1173" y="99"/>
                    <a:pt x="1214" y="111"/>
                    <a:pt x="1244" y="120"/>
                  </a:cubicBezTo>
                  <a:cubicBezTo>
                    <a:pt x="1269" y="127"/>
                    <a:pt x="1290" y="141"/>
                    <a:pt x="1314" y="151"/>
                  </a:cubicBezTo>
                  <a:cubicBezTo>
                    <a:pt x="1344" y="164"/>
                    <a:pt x="1379" y="166"/>
                    <a:pt x="1409" y="177"/>
                  </a:cubicBezTo>
                  <a:cubicBezTo>
                    <a:pt x="1432" y="186"/>
                    <a:pt x="1449" y="201"/>
                    <a:pt x="1472" y="208"/>
                  </a:cubicBezTo>
                  <a:cubicBezTo>
                    <a:pt x="1494" y="223"/>
                    <a:pt x="1518" y="228"/>
                    <a:pt x="1542" y="240"/>
                  </a:cubicBezTo>
                  <a:cubicBezTo>
                    <a:pt x="1573" y="288"/>
                    <a:pt x="1554" y="354"/>
                    <a:pt x="1535" y="405"/>
                  </a:cubicBezTo>
                  <a:cubicBezTo>
                    <a:pt x="1541" y="455"/>
                    <a:pt x="1543" y="496"/>
                    <a:pt x="1586" y="525"/>
                  </a:cubicBezTo>
                  <a:cubicBezTo>
                    <a:pt x="1599" y="544"/>
                    <a:pt x="1605" y="563"/>
                    <a:pt x="1618" y="582"/>
                  </a:cubicBezTo>
                  <a:cubicBezTo>
                    <a:pt x="1610" y="616"/>
                    <a:pt x="1604" y="627"/>
                    <a:pt x="1580" y="651"/>
                  </a:cubicBezTo>
                  <a:cubicBezTo>
                    <a:pt x="1578" y="657"/>
                    <a:pt x="1577" y="665"/>
                    <a:pt x="1573" y="670"/>
                  </a:cubicBezTo>
                  <a:cubicBezTo>
                    <a:pt x="1568" y="676"/>
                    <a:pt x="1558" y="676"/>
                    <a:pt x="1554" y="683"/>
                  </a:cubicBezTo>
                  <a:cubicBezTo>
                    <a:pt x="1547" y="694"/>
                    <a:pt x="1542" y="721"/>
                    <a:pt x="1542" y="721"/>
                  </a:cubicBezTo>
                  <a:cubicBezTo>
                    <a:pt x="1547" y="779"/>
                    <a:pt x="1560" y="832"/>
                    <a:pt x="1580" y="886"/>
                  </a:cubicBezTo>
                  <a:cubicBezTo>
                    <a:pt x="1578" y="922"/>
                    <a:pt x="1578" y="958"/>
                    <a:pt x="1573" y="993"/>
                  </a:cubicBezTo>
                  <a:cubicBezTo>
                    <a:pt x="1568" y="1028"/>
                    <a:pt x="1528" y="1055"/>
                    <a:pt x="1504" y="1076"/>
                  </a:cubicBezTo>
                  <a:cubicBezTo>
                    <a:pt x="1477" y="1099"/>
                    <a:pt x="1442" y="1135"/>
                    <a:pt x="1409" y="1151"/>
                  </a:cubicBezTo>
                  <a:cubicBezTo>
                    <a:pt x="1385" y="1163"/>
                    <a:pt x="1358" y="1168"/>
                    <a:pt x="1333" y="1177"/>
                  </a:cubicBezTo>
                  <a:cubicBezTo>
                    <a:pt x="1275" y="1170"/>
                    <a:pt x="1263" y="1164"/>
                    <a:pt x="1200" y="1177"/>
                  </a:cubicBezTo>
                  <a:cubicBezTo>
                    <a:pt x="1175" y="1182"/>
                    <a:pt x="1166" y="1212"/>
                    <a:pt x="1149" y="1227"/>
                  </a:cubicBezTo>
                  <a:cubicBezTo>
                    <a:pt x="1137" y="1237"/>
                    <a:pt x="1126" y="1248"/>
                    <a:pt x="1111" y="1253"/>
                  </a:cubicBezTo>
                  <a:cubicBezTo>
                    <a:pt x="1098" y="1257"/>
                    <a:pt x="1073" y="1265"/>
                    <a:pt x="1073" y="1265"/>
                  </a:cubicBezTo>
                  <a:cubicBezTo>
                    <a:pt x="1007" y="1261"/>
                    <a:pt x="989" y="1264"/>
                    <a:pt x="940" y="1246"/>
                  </a:cubicBezTo>
                  <a:cubicBezTo>
                    <a:pt x="916" y="1208"/>
                    <a:pt x="885" y="1200"/>
                    <a:pt x="845" y="1189"/>
                  </a:cubicBezTo>
                  <a:cubicBezTo>
                    <a:pt x="743" y="1196"/>
                    <a:pt x="635" y="1210"/>
                    <a:pt x="535" y="1183"/>
                  </a:cubicBezTo>
                  <a:cubicBezTo>
                    <a:pt x="477" y="1168"/>
                    <a:pt x="449" y="1119"/>
                    <a:pt x="402" y="1088"/>
                  </a:cubicBezTo>
                  <a:cubicBezTo>
                    <a:pt x="354" y="1056"/>
                    <a:pt x="288" y="1072"/>
                    <a:pt x="231" y="1069"/>
                  </a:cubicBezTo>
                  <a:cubicBezTo>
                    <a:pt x="166" y="1048"/>
                    <a:pt x="215" y="1070"/>
                    <a:pt x="174" y="1038"/>
                  </a:cubicBezTo>
                  <a:cubicBezTo>
                    <a:pt x="162" y="1028"/>
                    <a:pt x="136" y="1012"/>
                    <a:pt x="136" y="1012"/>
                  </a:cubicBezTo>
                  <a:cubicBezTo>
                    <a:pt x="134" y="999"/>
                    <a:pt x="136" y="985"/>
                    <a:pt x="130" y="974"/>
                  </a:cubicBezTo>
                  <a:cubicBezTo>
                    <a:pt x="127" y="967"/>
                    <a:pt x="116" y="967"/>
                    <a:pt x="111" y="962"/>
                  </a:cubicBezTo>
                  <a:cubicBezTo>
                    <a:pt x="105" y="957"/>
                    <a:pt x="104" y="948"/>
                    <a:pt x="98" y="943"/>
                  </a:cubicBezTo>
                  <a:cubicBezTo>
                    <a:pt x="87" y="934"/>
                    <a:pt x="73" y="931"/>
                    <a:pt x="61" y="924"/>
                  </a:cubicBezTo>
                  <a:cubicBezTo>
                    <a:pt x="42" y="873"/>
                    <a:pt x="66" y="814"/>
                    <a:pt x="23" y="784"/>
                  </a:cubicBezTo>
                  <a:cubicBezTo>
                    <a:pt x="3" y="754"/>
                    <a:pt x="0" y="736"/>
                    <a:pt x="16" y="702"/>
                  </a:cubicBezTo>
                  <a:close/>
                </a:path>
              </a:pathLst>
            </a:custGeom>
            <a:noFill/>
            <a:ln w="9525">
              <a:solidFill>
                <a:schemeClr val="tx1"/>
              </a:solidFill>
              <a:round/>
              <a:headEnd/>
              <a:tailEnd/>
            </a:ln>
            <a:effectLst/>
          </p:spPr>
          <p:txBody>
            <a:bodyPr/>
            <a:lstStyle/>
            <a:p>
              <a:endParaRPr lang="en-US" sz="1800"/>
            </a:p>
          </p:txBody>
        </p:sp>
        <p:sp>
          <p:nvSpPr>
            <p:cNvPr id="449540" name="Text Box 4"/>
            <p:cNvSpPr txBox="1">
              <a:spLocks noChangeArrowheads="1"/>
            </p:cNvSpPr>
            <p:nvPr/>
          </p:nvSpPr>
          <p:spPr bwMode="auto">
            <a:xfrm>
              <a:off x="1920" y="1152"/>
              <a:ext cx="738" cy="233"/>
            </a:xfrm>
            <a:prstGeom prst="rect">
              <a:avLst/>
            </a:prstGeom>
            <a:noFill/>
            <a:ln w="9525">
              <a:noFill/>
              <a:miter lim="800000"/>
              <a:headEnd/>
              <a:tailEnd/>
            </a:ln>
            <a:effectLst/>
          </p:spPr>
          <p:txBody>
            <a:bodyPr wrap="none">
              <a:spAutoFit/>
            </a:bodyPr>
            <a:lstStyle/>
            <a:p>
              <a:pPr algn="l"/>
              <a:r>
                <a:rPr lang="en-US" sz="1800" dirty="0" smtClean="0"/>
                <a:t>Locations</a:t>
              </a:r>
              <a:endParaRPr lang="en-US" sz="1800" dirty="0"/>
            </a:p>
          </p:txBody>
        </p:sp>
        <p:sp>
          <p:nvSpPr>
            <p:cNvPr id="449541" name="Text Box 5"/>
            <p:cNvSpPr txBox="1">
              <a:spLocks noChangeArrowheads="1"/>
            </p:cNvSpPr>
            <p:nvPr/>
          </p:nvSpPr>
          <p:spPr bwMode="auto">
            <a:xfrm>
              <a:off x="1609" y="1440"/>
              <a:ext cx="711" cy="233"/>
            </a:xfrm>
            <a:prstGeom prst="rect">
              <a:avLst/>
            </a:prstGeom>
            <a:noFill/>
            <a:ln w="9525">
              <a:noFill/>
              <a:miter lim="800000"/>
              <a:headEnd/>
              <a:tailEnd/>
            </a:ln>
            <a:effectLst/>
          </p:spPr>
          <p:txBody>
            <a:bodyPr wrap="none">
              <a:spAutoFit/>
            </a:bodyPr>
            <a:lstStyle/>
            <a:p>
              <a:pPr algn="l"/>
              <a:r>
                <a:rPr lang="en-US" sz="1800" dirty="0" smtClean="0"/>
                <a:t>Variables</a:t>
              </a:r>
              <a:endParaRPr lang="en-US" sz="1800" dirty="0"/>
            </a:p>
          </p:txBody>
        </p:sp>
        <p:sp>
          <p:nvSpPr>
            <p:cNvPr id="449542" name="Text Box 6"/>
            <p:cNvSpPr txBox="1">
              <a:spLocks noChangeArrowheads="1"/>
            </p:cNvSpPr>
            <p:nvPr/>
          </p:nvSpPr>
          <p:spPr bwMode="auto">
            <a:xfrm>
              <a:off x="1835" y="1737"/>
              <a:ext cx="956" cy="231"/>
            </a:xfrm>
            <a:prstGeom prst="rect">
              <a:avLst/>
            </a:prstGeom>
            <a:noFill/>
            <a:ln w="9525">
              <a:noFill/>
              <a:miter lim="800000"/>
              <a:headEnd/>
              <a:tailEnd/>
            </a:ln>
            <a:effectLst/>
          </p:spPr>
          <p:txBody>
            <a:bodyPr wrap="none">
              <a:spAutoFit/>
            </a:bodyPr>
            <a:lstStyle/>
            <a:p>
              <a:pPr algn="l"/>
              <a:r>
                <a:rPr lang="en-US" sz="1800" dirty="0"/>
                <a:t>Date Ranges</a:t>
              </a:r>
            </a:p>
          </p:txBody>
        </p:sp>
      </p:grpSp>
      <p:sp>
        <p:nvSpPr>
          <p:cNvPr id="449543" name="Rectangle 7"/>
          <p:cNvSpPr>
            <a:spLocks noGrp="1" noChangeArrowheads="1"/>
          </p:cNvSpPr>
          <p:nvPr>
            <p:ph type="title"/>
          </p:nvPr>
        </p:nvSpPr>
        <p:spPr/>
        <p:txBody>
          <a:bodyPr/>
          <a:lstStyle/>
          <a:p>
            <a:r>
              <a:rPr lang="en-US" dirty="0"/>
              <a:t>WaterML and WaterOneFlow</a:t>
            </a:r>
          </a:p>
        </p:txBody>
      </p:sp>
      <p:sp>
        <p:nvSpPr>
          <p:cNvPr id="449544" name="Rectangle 8"/>
          <p:cNvSpPr>
            <a:spLocks noChangeArrowheads="1"/>
          </p:cNvSpPr>
          <p:nvPr/>
        </p:nvSpPr>
        <p:spPr bwMode="auto">
          <a:xfrm>
            <a:off x="4191000" y="1828800"/>
            <a:ext cx="2286000" cy="2895600"/>
          </a:xfrm>
          <a:prstGeom prst="rect">
            <a:avLst/>
          </a:prstGeom>
          <a:solidFill>
            <a:srgbClr val="DEFEE3"/>
          </a:solidFill>
          <a:ln w="9525">
            <a:solidFill>
              <a:schemeClr val="tx1"/>
            </a:solidFill>
            <a:miter lim="800000"/>
            <a:headEnd/>
            <a:tailEnd/>
          </a:ln>
          <a:effectLst/>
        </p:spPr>
        <p:txBody>
          <a:bodyPr wrap="none" anchor="ctr"/>
          <a:lstStyle/>
          <a:p>
            <a:endParaRPr lang="en-US"/>
          </a:p>
        </p:txBody>
      </p:sp>
      <p:sp>
        <p:nvSpPr>
          <p:cNvPr id="449545" name="Line 9"/>
          <p:cNvSpPr>
            <a:spLocks noChangeShapeType="1"/>
          </p:cNvSpPr>
          <p:nvPr/>
        </p:nvSpPr>
        <p:spPr bwMode="auto">
          <a:xfrm>
            <a:off x="3886200" y="2118610"/>
            <a:ext cx="685800" cy="0"/>
          </a:xfrm>
          <a:prstGeom prst="line">
            <a:avLst/>
          </a:prstGeom>
          <a:noFill/>
          <a:ln w="9525">
            <a:solidFill>
              <a:schemeClr val="tx1"/>
            </a:solidFill>
            <a:round/>
            <a:headEnd/>
            <a:tailEnd/>
          </a:ln>
          <a:effectLst/>
        </p:spPr>
        <p:txBody>
          <a:bodyPr/>
          <a:lstStyle/>
          <a:p>
            <a:endParaRPr lang="en-US"/>
          </a:p>
        </p:txBody>
      </p:sp>
      <p:sp>
        <p:nvSpPr>
          <p:cNvPr id="449546" name="Line 10"/>
          <p:cNvSpPr>
            <a:spLocks noChangeShapeType="1"/>
          </p:cNvSpPr>
          <p:nvPr/>
        </p:nvSpPr>
        <p:spPr bwMode="auto">
          <a:xfrm>
            <a:off x="3886200" y="2390098"/>
            <a:ext cx="685800" cy="0"/>
          </a:xfrm>
          <a:prstGeom prst="line">
            <a:avLst/>
          </a:prstGeom>
          <a:noFill/>
          <a:ln w="9525">
            <a:solidFill>
              <a:schemeClr val="tx1"/>
            </a:solidFill>
            <a:round/>
            <a:headEnd/>
            <a:tailEnd/>
          </a:ln>
          <a:effectLst/>
        </p:spPr>
        <p:txBody>
          <a:bodyPr/>
          <a:lstStyle/>
          <a:p>
            <a:endParaRPr lang="en-US"/>
          </a:p>
        </p:txBody>
      </p:sp>
      <p:sp>
        <p:nvSpPr>
          <p:cNvPr id="449547" name="Line 11"/>
          <p:cNvSpPr>
            <a:spLocks noChangeShapeType="1"/>
          </p:cNvSpPr>
          <p:nvPr/>
        </p:nvSpPr>
        <p:spPr bwMode="auto">
          <a:xfrm>
            <a:off x="3886200" y="2661586"/>
            <a:ext cx="685800" cy="0"/>
          </a:xfrm>
          <a:prstGeom prst="line">
            <a:avLst/>
          </a:prstGeom>
          <a:noFill/>
          <a:ln w="9525">
            <a:solidFill>
              <a:schemeClr val="tx1"/>
            </a:solidFill>
            <a:round/>
            <a:headEnd/>
            <a:tailEnd/>
          </a:ln>
          <a:effectLst/>
        </p:spPr>
        <p:txBody>
          <a:bodyPr/>
          <a:lstStyle/>
          <a:p>
            <a:endParaRPr lang="en-US"/>
          </a:p>
        </p:txBody>
      </p:sp>
      <p:sp>
        <p:nvSpPr>
          <p:cNvPr id="449548" name="Text Box 12"/>
          <p:cNvSpPr txBox="1">
            <a:spLocks noChangeArrowheads="1"/>
          </p:cNvSpPr>
          <p:nvPr/>
        </p:nvSpPr>
        <p:spPr bwMode="auto">
          <a:xfrm>
            <a:off x="4552950" y="1923871"/>
            <a:ext cx="1770549" cy="1200329"/>
          </a:xfrm>
          <a:prstGeom prst="rect">
            <a:avLst/>
          </a:prstGeom>
          <a:noFill/>
          <a:ln w="9525">
            <a:noFill/>
            <a:miter lim="800000"/>
            <a:headEnd/>
            <a:tailEnd/>
          </a:ln>
          <a:effectLst/>
        </p:spPr>
        <p:txBody>
          <a:bodyPr wrap="none">
            <a:spAutoFit/>
          </a:bodyPr>
          <a:lstStyle/>
          <a:p>
            <a:pPr algn="l">
              <a:spcBef>
                <a:spcPts val="0"/>
              </a:spcBef>
            </a:pPr>
            <a:r>
              <a:rPr lang="en-US" sz="1800" dirty="0" smtClean="0">
                <a:solidFill>
                  <a:srgbClr val="0066FF"/>
                </a:solidFill>
              </a:rPr>
              <a:t>GetSites</a:t>
            </a:r>
          </a:p>
          <a:p>
            <a:pPr algn="l">
              <a:spcBef>
                <a:spcPts val="0"/>
              </a:spcBef>
            </a:pPr>
            <a:r>
              <a:rPr lang="en-US" sz="1800" dirty="0" err="1" smtClean="0">
                <a:solidFill>
                  <a:srgbClr val="0066FF"/>
                </a:solidFill>
              </a:rPr>
              <a:t>GetSiteInfo</a:t>
            </a:r>
            <a:endParaRPr lang="en-US" sz="1800" dirty="0">
              <a:solidFill>
                <a:srgbClr val="0066FF"/>
              </a:solidFill>
            </a:endParaRPr>
          </a:p>
          <a:p>
            <a:pPr algn="l">
              <a:spcBef>
                <a:spcPts val="0"/>
              </a:spcBef>
            </a:pPr>
            <a:r>
              <a:rPr lang="en-US" sz="1800" dirty="0" err="1">
                <a:solidFill>
                  <a:srgbClr val="0066FF"/>
                </a:solidFill>
              </a:rPr>
              <a:t>GetVariableInfo</a:t>
            </a:r>
            <a:endParaRPr lang="en-US" sz="1800" dirty="0">
              <a:solidFill>
                <a:srgbClr val="0066FF"/>
              </a:solidFill>
            </a:endParaRPr>
          </a:p>
          <a:p>
            <a:pPr algn="l">
              <a:spcBef>
                <a:spcPts val="0"/>
              </a:spcBef>
            </a:pPr>
            <a:r>
              <a:rPr lang="en-US" sz="1800" dirty="0">
                <a:solidFill>
                  <a:srgbClr val="0066FF"/>
                </a:solidFill>
              </a:rPr>
              <a:t>GetValues</a:t>
            </a:r>
          </a:p>
        </p:txBody>
      </p:sp>
      <p:sp>
        <p:nvSpPr>
          <p:cNvPr id="449549" name="Oval 13"/>
          <p:cNvSpPr>
            <a:spLocks noChangeArrowheads="1"/>
          </p:cNvSpPr>
          <p:nvPr/>
        </p:nvSpPr>
        <p:spPr bwMode="auto">
          <a:xfrm>
            <a:off x="3810000" y="2042410"/>
            <a:ext cx="152400" cy="152400"/>
          </a:xfrm>
          <a:prstGeom prst="ellipse">
            <a:avLst/>
          </a:prstGeom>
          <a:solidFill>
            <a:srgbClr val="DEFEE3"/>
          </a:solidFill>
          <a:ln w="9525">
            <a:solidFill>
              <a:schemeClr val="tx1"/>
            </a:solidFill>
            <a:round/>
            <a:headEnd/>
            <a:tailEnd/>
          </a:ln>
          <a:effectLst/>
        </p:spPr>
        <p:txBody>
          <a:bodyPr wrap="none" anchor="ctr"/>
          <a:lstStyle/>
          <a:p>
            <a:endParaRPr lang="en-US"/>
          </a:p>
        </p:txBody>
      </p:sp>
      <p:sp>
        <p:nvSpPr>
          <p:cNvPr id="449550" name="Oval 14"/>
          <p:cNvSpPr>
            <a:spLocks noChangeArrowheads="1"/>
          </p:cNvSpPr>
          <p:nvPr/>
        </p:nvSpPr>
        <p:spPr bwMode="auto">
          <a:xfrm>
            <a:off x="3810000" y="2313898"/>
            <a:ext cx="152400" cy="152400"/>
          </a:xfrm>
          <a:prstGeom prst="ellipse">
            <a:avLst/>
          </a:prstGeom>
          <a:solidFill>
            <a:srgbClr val="DEFEE3"/>
          </a:solidFill>
          <a:ln w="9525">
            <a:solidFill>
              <a:schemeClr val="tx1"/>
            </a:solidFill>
            <a:round/>
            <a:headEnd/>
            <a:tailEnd/>
          </a:ln>
          <a:effectLst/>
        </p:spPr>
        <p:txBody>
          <a:bodyPr wrap="none" anchor="ctr"/>
          <a:lstStyle/>
          <a:p>
            <a:endParaRPr lang="en-US"/>
          </a:p>
        </p:txBody>
      </p:sp>
      <p:sp>
        <p:nvSpPr>
          <p:cNvPr id="449551" name="Oval 15"/>
          <p:cNvSpPr>
            <a:spLocks noChangeArrowheads="1"/>
          </p:cNvSpPr>
          <p:nvPr/>
        </p:nvSpPr>
        <p:spPr bwMode="auto">
          <a:xfrm>
            <a:off x="3810000" y="2585386"/>
            <a:ext cx="152400" cy="152400"/>
          </a:xfrm>
          <a:prstGeom prst="ellipse">
            <a:avLst/>
          </a:prstGeom>
          <a:solidFill>
            <a:srgbClr val="DEFEE3"/>
          </a:solidFill>
          <a:ln w="9525">
            <a:solidFill>
              <a:schemeClr val="tx1"/>
            </a:solidFill>
            <a:round/>
            <a:headEnd/>
            <a:tailEnd/>
          </a:ln>
          <a:effectLst/>
        </p:spPr>
        <p:txBody>
          <a:bodyPr wrap="none" anchor="ctr"/>
          <a:lstStyle/>
          <a:p>
            <a:endParaRPr lang="en-US"/>
          </a:p>
        </p:txBody>
      </p:sp>
      <p:sp>
        <p:nvSpPr>
          <p:cNvPr id="449552" name="Text Box 16"/>
          <p:cNvSpPr txBox="1">
            <a:spLocks noChangeArrowheads="1"/>
          </p:cNvSpPr>
          <p:nvPr/>
        </p:nvSpPr>
        <p:spPr bwMode="auto">
          <a:xfrm>
            <a:off x="4427731" y="4022725"/>
            <a:ext cx="1791901" cy="677108"/>
          </a:xfrm>
          <a:prstGeom prst="rect">
            <a:avLst/>
          </a:prstGeom>
          <a:noFill/>
          <a:ln w="9525">
            <a:noFill/>
            <a:miter lim="800000"/>
            <a:headEnd/>
            <a:tailEnd/>
          </a:ln>
          <a:effectLst/>
        </p:spPr>
        <p:txBody>
          <a:bodyPr wrap="none">
            <a:spAutoFit/>
          </a:bodyPr>
          <a:lstStyle/>
          <a:p>
            <a:pPr algn="ctr">
              <a:spcBef>
                <a:spcPts val="0"/>
              </a:spcBef>
            </a:pPr>
            <a:r>
              <a:rPr lang="en-US" sz="1800" b="1" dirty="0"/>
              <a:t>WaterOneFlow</a:t>
            </a:r>
          </a:p>
          <a:p>
            <a:pPr algn="ctr">
              <a:spcBef>
                <a:spcPts val="0"/>
              </a:spcBef>
            </a:pPr>
            <a:r>
              <a:rPr lang="en-US" sz="2000" b="1" dirty="0"/>
              <a:t>Web Service</a:t>
            </a:r>
          </a:p>
        </p:txBody>
      </p:sp>
      <p:pic>
        <p:nvPicPr>
          <p:cNvPr id="449553" name="Picture 17" descr="j0285750"/>
          <p:cNvPicPr>
            <a:picLocks noChangeAspect="1" noChangeArrowheads="1"/>
          </p:cNvPicPr>
          <p:nvPr/>
        </p:nvPicPr>
        <p:blipFill>
          <a:blip r:embed="rId3" cstate="print"/>
          <a:srcRect/>
          <a:stretch>
            <a:fillRect/>
          </a:stretch>
        </p:blipFill>
        <p:spPr bwMode="auto">
          <a:xfrm>
            <a:off x="228600" y="3254375"/>
            <a:ext cx="1824038" cy="1120775"/>
          </a:xfrm>
          <a:prstGeom prst="rect">
            <a:avLst/>
          </a:prstGeom>
          <a:noFill/>
        </p:spPr>
      </p:pic>
      <p:sp>
        <p:nvSpPr>
          <p:cNvPr id="449554" name="Text Box 18"/>
          <p:cNvSpPr txBox="1">
            <a:spLocks noChangeArrowheads="1"/>
          </p:cNvSpPr>
          <p:nvPr/>
        </p:nvSpPr>
        <p:spPr bwMode="auto">
          <a:xfrm>
            <a:off x="669925" y="4332288"/>
            <a:ext cx="889000" cy="396875"/>
          </a:xfrm>
          <a:prstGeom prst="rect">
            <a:avLst/>
          </a:prstGeom>
          <a:noFill/>
          <a:ln w="9525">
            <a:noFill/>
            <a:miter lim="800000"/>
            <a:headEnd/>
            <a:tailEnd/>
          </a:ln>
          <a:effectLst/>
        </p:spPr>
        <p:txBody>
          <a:bodyPr wrap="none">
            <a:spAutoFit/>
          </a:bodyPr>
          <a:lstStyle/>
          <a:p>
            <a:pPr algn="l"/>
            <a:r>
              <a:rPr lang="en-US" sz="2000" b="1" dirty="0"/>
              <a:t>Client</a:t>
            </a:r>
          </a:p>
        </p:txBody>
      </p:sp>
      <p:sp>
        <p:nvSpPr>
          <p:cNvPr id="449555" name="AutoShape 19"/>
          <p:cNvSpPr>
            <a:spLocks noChangeArrowheads="1"/>
          </p:cNvSpPr>
          <p:nvPr/>
        </p:nvSpPr>
        <p:spPr bwMode="auto">
          <a:xfrm>
            <a:off x="7696200" y="1752600"/>
            <a:ext cx="533400" cy="685800"/>
          </a:xfrm>
          <a:prstGeom prst="can">
            <a:avLst>
              <a:gd name="adj" fmla="val 32143"/>
            </a:avLst>
          </a:prstGeom>
          <a:solidFill>
            <a:srgbClr val="FFFFCC"/>
          </a:solidFill>
          <a:ln w="9525">
            <a:solidFill>
              <a:schemeClr val="tx1"/>
            </a:solidFill>
            <a:round/>
            <a:headEnd/>
            <a:tailEnd/>
          </a:ln>
          <a:effectLst/>
        </p:spPr>
        <p:txBody>
          <a:bodyPr wrap="none" anchor="ctr"/>
          <a:lstStyle/>
          <a:p>
            <a:pPr algn="ctr"/>
            <a:r>
              <a:rPr lang="en-US" sz="1800" dirty="0" smtClean="0"/>
              <a:t>EPA</a:t>
            </a:r>
            <a:endParaRPr lang="en-US" sz="1800" dirty="0"/>
          </a:p>
        </p:txBody>
      </p:sp>
      <p:sp>
        <p:nvSpPr>
          <p:cNvPr id="449556" name="AutoShape 20"/>
          <p:cNvSpPr>
            <a:spLocks noChangeArrowheads="1"/>
          </p:cNvSpPr>
          <p:nvPr/>
        </p:nvSpPr>
        <p:spPr bwMode="auto">
          <a:xfrm>
            <a:off x="7924800" y="2667000"/>
            <a:ext cx="533400" cy="685800"/>
          </a:xfrm>
          <a:prstGeom prst="can">
            <a:avLst>
              <a:gd name="adj" fmla="val 32143"/>
            </a:avLst>
          </a:prstGeom>
          <a:solidFill>
            <a:srgbClr val="F06F2C"/>
          </a:solidFill>
          <a:ln w="9525">
            <a:solidFill>
              <a:schemeClr val="tx1"/>
            </a:solidFill>
            <a:round/>
            <a:headEnd/>
            <a:tailEnd/>
          </a:ln>
          <a:effectLst/>
        </p:spPr>
        <p:txBody>
          <a:bodyPr wrap="none" anchor="ctr"/>
          <a:lstStyle/>
          <a:p>
            <a:pPr algn="ctr"/>
            <a:r>
              <a:rPr lang="en-US" sz="1800" dirty="0" smtClean="0"/>
              <a:t>UT</a:t>
            </a:r>
            <a:endParaRPr lang="en-US" sz="1800" dirty="0"/>
          </a:p>
        </p:txBody>
      </p:sp>
      <p:sp>
        <p:nvSpPr>
          <p:cNvPr id="449557" name="AutoShape 21"/>
          <p:cNvSpPr>
            <a:spLocks noChangeArrowheads="1"/>
          </p:cNvSpPr>
          <p:nvPr/>
        </p:nvSpPr>
        <p:spPr bwMode="auto">
          <a:xfrm>
            <a:off x="7162800" y="2819400"/>
            <a:ext cx="533400" cy="685800"/>
          </a:xfrm>
          <a:prstGeom prst="can">
            <a:avLst>
              <a:gd name="adj" fmla="val 32143"/>
            </a:avLst>
          </a:prstGeom>
          <a:solidFill>
            <a:schemeClr val="accent3">
              <a:lumMod val="60000"/>
              <a:lumOff val="40000"/>
            </a:schemeClr>
          </a:solidFill>
          <a:ln w="9525">
            <a:solidFill>
              <a:schemeClr val="tx1"/>
            </a:solidFill>
            <a:round/>
            <a:headEnd/>
            <a:tailEnd/>
          </a:ln>
          <a:effectLst/>
        </p:spPr>
        <p:txBody>
          <a:bodyPr wrap="none" anchor="ctr"/>
          <a:lstStyle/>
          <a:p>
            <a:pPr algn="ctr"/>
            <a:r>
              <a:rPr lang="en-US" sz="1800" dirty="0" smtClean="0"/>
              <a:t>USGS</a:t>
            </a:r>
            <a:endParaRPr lang="en-US" sz="1800" dirty="0"/>
          </a:p>
        </p:txBody>
      </p:sp>
      <p:sp>
        <p:nvSpPr>
          <p:cNvPr id="449558" name="Text Box 22"/>
          <p:cNvSpPr txBox="1">
            <a:spLocks noChangeArrowheads="1"/>
          </p:cNvSpPr>
          <p:nvPr/>
        </p:nvSpPr>
        <p:spPr bwMode="auto">
          <a:xfrm>
            <a:off x="6934200" y="3733800"/>
            <a:ext cx="1722438" cy="701675"/>
          </a:xfrm>
          <a:prstGeom prst="rect">
            <a:avLst/>
          </a:prstGeom>
          <a:noFill/>
          <a:ln w="9525">
            <a:noFill/>
            <a:miter lim="800000"/>
            <a:headEnd/>
            <a:tailEnd/>
          </a:ln>
          <a:effectLst/>
        </p:spPr>
        <p:txBody>
          <a:bodyPr wrap="none">
            <a:spAutoFit/>
          </a:bodyPr>
          <a:lstStyle/>
          <a:p>
            <a:pPr>
              <a:spcBef>
                <a:spcPts val="0"/>
              </a:spcBef>
            </a:pPr>
            <a:r>
              <a:rPr lang="en-US" sz="2000" b="1" dirty="0"/>
              <a:t>Data</a:t>
            </a:r>
          </a:p>
          <a:p>
            <a:pPr>
              <a:spcBef>
                <a:spcPts val="0"/>
              </a:spcBef>
            </a:pPr>
            <a:r>
              <a:rPr lang="en-US" sz="2000" b="1" dirty="0"/>
              <a:t>Repositories</a:t>
            </a:r>
          </a:p>
        </p:txBody>
      </p:sp>
      <p:sp>
        <p:nvSpPr>
          <p:cNvPr id="449559" name="Line 23"/>
          <p:cNvSpPr>
            <a:spLocks noChangeShapeType="1"/>
          </p:cNvSpPr>
          <p:nvPr/>
        </p:nvSpPr>
        <p:spPr bwMode="auto">
          <a:xfrm>
            <a:off x="2286000" y="2514600"/>
            <a:ext cx="533400" cy="0"/>
          </a:xfrm>
          <a:prstGeom prst="line">
            <a:avLst/>
          </a:prstGeom>
          <a:noFill/>
          <a:ln w="76200">
            <a:solidFill>
              <a:schemeClr val="tx1"/>
            </a:solidFill>
            <a:round/>
            <a:headEnd/>
            <a:tailEnd type="triangle" w="med" len="med"/>
          </a:ln>
          <a:effectLst/>
        </p:spPr>
        <p:txBody>
          <a:bodyPr/>
          <a:lstStyle/>
          <a:p>
            <a:endParaRPr lang="en-US"/>
          </a:p>
        </p:txBody>
      </p:sp>
      <p:sp>
        <p:nvSpPr>
          <p:cNvPr id="449560" name="AutoShape 24"/>
          <p:cNvSpPr>
            <a:spLocks noChangeArrowheads="1"/>
          </p:cNvSpPr>
          <p:nvPr/>
        </p:nvSpPr>
        <p:spPr bwMode="auto">
          <a:xfrm>
            <a:off x="7391400" y="1828800"/>
            <a:ext cx="609600" cy="533400"/>
          </a:xfrm>
          <a:prstGeom prst="foldedCorner">
            <a:avLst>
              <a:gd name="adj" fmla="val 12500"/>
            </a:avLst>
          </a:prstGeom>
          <a:solidFill>
            <a:srgbClr val="FFFFCC"/>
          </a:solidFill>
          <a:ln w="9525">
            <a:solidFill>
              <a:schemeClr val="tx1"/>
            </a:solidFill>
            <a:round/>
            <a:headEnd/>
            <a:tailEnd/>
          </a:ln>
          <a:effectLst/>
        </p:spPr>
        <p:txBody>
          <a:bodyPr wrap="none" anchor="ctr"/>
          <a:lstStyle/>
          <a:p>
            <a:pPr algn="ctr"/>
            <a:r>
              <a:rPr lang="en-US" sz="1800" dirty="0"/>
              <a:t>Data</a:t>
            </a:r>
          </a:p>
        </p:txBody>
      </p:sp>
      <p:sp>
        <p:nvSpPr>
          <p:cNvPr id="449561" name="AutoShape 25"/>
          <p:cNvSpPr>
            <a:spLocks noChangeArrowheads="1"/>
          </p:cNvSpPr>
          <p:nvPr/>
        </p:nvSpPr>
        <p:spPr bwMode="auto">
          <a:xfrm>
            <a:off x="8001000" y="2743200"/>
            <a:ext cx="609600" cy="533400"/>
          </a:xfrm>
          <a:prstGeom prst="foldedCorner">
            <a:avLst>
              <a:gd name="adj" fmla="val 12500"/>
            </a:avLst>
          </a:prstGeom>
          <a:solidFill>
            <a:srgbClr val="F06F2C"/>
          </a:solidFill>
          <a:ln w="9525">
            <a:solidFill>
              <a:schemeClr val="tx1"/>
            </a:solidFill>
            <a:round/>
            <a:headEnd/>
            <a:tailEnd/>
          </a:ln>
          <a:effectLst/>
        </p:spPr>
        <p:txBody>
          <a:bodyPr wrap="none" anchor="ctr"/>
          <a:lstStyle/>
          <a:p>
            <a:pPr algn="ctr"/>
            <a:r>
              <a:rPr lang="en-US" sz="1800" dirty="0">
                <a:latin typeface="Algerian" pitchFamily="82" charset="0"/>
              </a:rPr>
              <a:t>Data</a:t>
            </a:r>
          </a:p>
        </p:txBody>
      </p:sp>
      <p:sp>
        <p:nvSpPr>
          <p:cNvPr id="449562" name="AutoShape 26"/>
          <p:cNvSpPr>
            <a:spLocks noChangeArrowheads="1"/>
          </p:cNvSpPr>
          <p:nvPr/>
        </p:nvSpPr>
        <p:spPr bwMode="auto">
          <a:xfrm>
            <a:off x="7086600" y="2895600"/>
            <a:ext cx="609600" cy="533400"/>
          </a:xfrm>
          <a:prstGeom prst="foldedCorner">
            <a:avLst>
              <a:gd name="adj" fmla="val 12500"/>
            </a:avLst>
          </a:prstGeom>
          <a:solidFill>
            <a:schemeClr val="accent3">
              <a:lumMod val="60000"/>
              <a:lumOff val="40000"/>
            </a:schemeClr>
          </a:solidFill>
          <a:ln w="9525">
            <a:solidFill>
              <a:schemeClr val="tx1"/>
            </a:solidFill>
            <a:round/>
            <a:headEnd/>
            <a:tailEnd/>
          </a:ln>
          <a:effectLst/>
        </p:spPr>
        <p:txBody>
          <a:bodyPr wrap="none" anchor="ctr"/>
          <a:lstStyle/>
          <a:p>
            <a:pPr algn="ctr"/>
            <a:r>
              <a:rPr lang="en-US" sz="1800" i="1" dirty="0">
                <a:latin typeface="Comic Sans MS" pitchFamily="66" charset="0"/>
              </a:rPr>
              <a:t>Data</a:t>
            </a:r>
          </a:p>
        </p:txBody>
      </p:sp>
      <p:sp>
        <p:nvSpPr>
          <p:cNvPr id="449563" name="Text Box 27"/>
          <p:cNvSpPr txBox="1">
            <a:spLocks noChangeArrowheads="1"/>
          </p:cNvSpPr>
          <p:nvPr/>
        </p:nvSpPr>
        <p:spPr bwMode="auto">
          <a:xfrm>
            <a:off x="6918325" y="4684713"/>
            <a:ext cx="1263650" cy="366712"/>
          </a:xfrm>
          <a:prstGeom prst="rect">
            <a:avLst/>
          </a:prstGeom>
          <a:noFill/>
          <a:ln w="9525">
            <a:noFill/>
            <a:miter lim="800000"/>
            <a:headEnd/>
            <a:tailEnd/>
          </a:ln>
          <a:effectLst/>
        </p:spPr>
        <p:txBody>
          <a:bodyPr wrap="none">
            <a:spAutoFit/>
          </a:bodyPr>
          <a:lstStyle/>
          <a:p>
            <a:pPr algn="l"/>
            <a:r>
              <a:rPr lang="en-US" sz="1800" b="1">
                <a:solidFill>
                  <a:schemeClr val="accent2"/>
                </a:solidFill>
              </a:rPr>
              <a:t>EXTRACT</a:t>
            </a:r>
          </a:p>
        </p:txBody>
      </p:sp>
      <p:sp>
        <p:nvSpPr>
          <p:cNvPr id="449564" name="Text Box 28"/>
          <p:cNvSpPr txBox="1">
            <a:spLocks noChangeArrowheads="1"/>
          </p:cNvSpPr>
          <p:nvPr/>
        </p:nvSpPr>
        <p:spPr bwMode="auto">
          <a:xfrm>
            <a:off x="4527550" y="4724400"/>
            <a:ext cx="1644650" cy="366713"/>
          </a:xfrm>
          <a:prstGeom prst="rect">
            <a:avLst/>
          </a:prstGeom>
          <a:noFill/>
          <a:ln w="9525">
            <a:noFill/>
            <a:miter lim="800000"/>
            <a:headEnd/>
            <a:tailEnd/>
          </a:ln>
          <a:effectLst/>
        </p:spPr>
        <p:txBody>
          <a:bodyPr wrap="none">
            <a:spAutoFit/>
          </a:bodyPr>
          <a:lstStyle/>
          <a:p>
            <a:pPr algn="l"/>
            <a:r>
              <a:rPr lang="en-US" sz="1800" b="1" dirty="0">
                <a:solidFill>
                  <a:schemeClr val="accent2"/>
                </a:solidFill>
              </a:rPr>
              <a:t>TRANSFORM</a:t>
            </a:r>
          </a:p>
        </p:txBody>
      </p:sp>
      <p:sp>
        <p:nvSpPr>
          <p:cNvPr id="449565" name="Text Box 29"/>
          <p:cNvSpPr txBox="1">
            <a:spLocks noChangeArrowheads="1"/>
          </p:cNvSpPr>
          <p:nvPr/>
        </p:nvSpPr>
        <p:spPr bwMode="auto">
          <a:xfrm>
            <a:off x="762000" y="4876800"/>
            <a:ext cx="831850" cy="366713"/>
          </a:xfrm>
          <a:prstGeom prst="rect">
            <a:avLst/>
          </a:prstGeom>
          <a:noFill/>
          <a:ln w="9525">
            <a:noFill/>
            <a:miter lim="800000"/>
            <a:headEnd/>
            <a:tailEnd/>
          </a:ln>
          <a:effectLst/>
        </p:spPr>
        <p:txBody>
          <a:bodyPr wrap="none">
            <a:spAutoFit/>
          </a:bodyPr>
          <a:lstStyle/>
          <a:p>
            <a:pPr algn="l"/>
            <a:r>
              <a:rPr lang="en-US" sz="1800" b="1" dirty="0">
                <a:solidFill>
                  <a:schemeClr val="accent2"/>
                </a:solidFill>
              </a:rPr>
              <a:t>LOAD</a:t>
            </a:r>
          </a:p>
        </p:txBody>
      </p:sp>
      <p:sp>
        <p:nvSpPr>
          <p:cNvPr id="449566" name="AutoShape 30"/>
          <p:cNvSpPr>
            <a:spLocks noChangeArrowheads="1"/>
          </p:cNvSpPr>
          <p:nvPr/>
        </p:nvSpPr>
        <p:spPr bwMode="auto">
          <a:xfrm>
            <a:off x="4724400" y="3200400"/>
            <a:ext cx="1219200" cy="838200"/>
          </a:xfrm>
          <a:prstGeom prst="foldedCorner">
            <a:avLst>
              <a:gd name="adj" fmla="val 12500"/>
            </a:avLst>
          </a:prstGeom>
          <a:solidFill>
            <a:schemeClr val="accent1"/>
          </a:solidFill>
          <a:ln w="9525">
            <a:solidFill>
              <a:schemeClr val="tx1"/>
            </a:solidFill>
            <a:round/>
            <a:headEnd/>
            <a:tailEnd/>
          </a:ln>
          <a:effectLst/>
        </p:spPr>
        <p:txBody>
          <a:bodyPr wrap="none" anchor="ctr"/>
          <a:lstStyle/>
          <a:p>
            <a:r>
              <a:rPr lang="en-US" sz="1800" dirty="0">
                <a:solidFill>
                  <a:schemeClr val="bg1"/>
                </a:solidFill>
              </a:rPr>
              <a:t>WaterML</a:t>
            </a:r>
          </a:p>
        </p:txBody>
      </p:sp>
      <p:sp>
        <p:nvSpPr>
          <p:cNvPr id="449567" name="Oval 31"/>
          <p:cNvSpPr>
            <a:spLocks noChangeArrowheads="1"/>
          </p:cNvSpPr>
          <p:nvPr/>
        </p:nvSpPr>
        <p:spPr bwMode="auto">
          <a:xfrm>
            <a:off x="6096000" y="3429000"/>
            <a:ext cx="304800" cy="304800"/>
          </a:xfrm>
          <a:prstGeom prst="ellipse">
            <a:avLst/>
          </a:prstGeom>
          <a:solidFill>
            <a:schemeClr val="hlink"/>
          </a:solidFill>
          <a:ln w="9525">
            <a:solidFill>
              <a:schemeClr val="tx1"/>
            </a:solidFill>
            <a:round/>
            <a:headEnd/>
            <a:tailEnd/>
          </a:ln>
          <a:effectLst/>
        </p:spPr>
        <p:txBody>
          <a:bodyPr wrap="none" anchor="ctr"/>
          <a:lstStyle/>
          <a:p>
            <a:endParaRPr lang="en-US"/>
          </a:p>
        </p:txBody>
      </p:sp>
      <p:sp>
        <p:nvSpPr>
          <p:cNvPr id="449568" name="Rectangle 32"/>
          <p:cNvSpPr>
            <a:spLocks noChangeArrowheads="1"/>
          </p:cNvSpPr>
          <p:nvPr/>
        </p:nvSpPr>
        <p:spPr bwMode="auto">
          <a:xfrm>
            <a:off x="152400" y="1295400"/>
            <a:ext cx="4191000" cy="4038600"/>
          </a:xfrm>
          <a:prstGeom prst="rect">
            <a:avLst/>
          </a:prstGeom>
          <a:noFill/>
          <a:ln w="76200">
            <a:solidFill>
              <a:srgbClr val="990033"/>
            </a:solidFill>
            <a:miter lim="800000"/>
            <a:headEnd/>
            <a:tailEnd/>
          </a:ln>
          <a:effectLst/>
        </p:spPr>
        <p:txBody>
          <a:bodyPr wrap="none" anchor="ctr"/>
          <a:lstStyle/>
          <a:p>
            <a:endParaRPr lang="en-US"/>
          </a:p>
        </p:txBody>
      </p:sp>
      <p:sp>
        <p:nvSpPr>
          <p:cNvPr id="34" name="Line 11"/>
          <p:cNvSpPr>
            <a:spLocks noChangeShapeType="1"/>
          </p:cNvSpPr>
          <p:nvPr/>
        </p:nvSpPr>
        <p:spPr bwMode="auto">
          <a:xfrm>
            <a:off x="3886200" y="2933075"/>
            <a:ext cx="685800" cy="0"/>
          </a:xfrm>
          <a:prstGeom prst="line">
            <a:avLst/>
          </a:prstGeom>
          <a:noFill/>
          <a:ln w="9525">
            <a:solidFill>
              <a:schemeClr val="tx1"/>
            </a:solidFill>
            <a:round/>
            <a:headEnd/>
            <a:tailEnd/>
          </a:ln>
          <a:effectLst/>
        </p:spPr>
        <p:txBody>
          <a:bodyPr/>
          <a:lstStyle/>
          <a:p>
            <a:endParaRPr lang="en-US"/>
          </a:p>
        </p:txBody>
      </p:sp>
      <p:sp>
        <p:nvSpPr>
          <p:cNvPr id="35" name="Oval 15"/>
          <p:cNvSpPr>
            <a:spLocks noChangeArrowheads="1"/>
          </p:cNvSpPr>
          <p:nvPr/>
        </p:nvSpPr>
        <p:spPr bwMode="auto">
          <a:xfrm>
            <a:off x="3810000" y="2856875"/>
            <a:ext cx="152400" cy="152400"/>
          </a:xfrm>
          <a:prstGeom prst="ellipse">
            <a:avLst/>
          </a:prstGeom>
          <a:solidFill>
            <a:srgbClr val="DEFEE3"/>
          </a:solidFill>
          <a:ln w="9525">
            <a:solidFill>
              <a:schemeClr val="tx1"/>
            </a:solidFill>
            <a:round/>
            <a:headEnd/>
            <a:tailEnd/>
          </a:ln>
          <a:effectLst/>
        </p:spPr>
        <p:txBody>
          <a:bodyPr wrap="none" anchor="ctr"/>
          <a:lstStyle/>
          <a:p>
            <a:endParaRPr lang="en-US"/>
          </a:p>
        </p:txBody>
      </p:sp>
      <p:sp>
        <p:nvSpPr>
          <p:cNvPr id="36" name="Text Box 33"/>
          <p:cNvSpPr txBox="1">
            <a:spLocks noChangeArrowheads="1"/>
          </p:cNvSpPr>
          <p:nvPr/>
        </p:nvSpPr>
        <p:spPr bwMode="auto">
          <a:xfrm>
            <a:off x="1774225" y="5417403"/>
            <a:ext cx="6056274" cy="830997"/>
          </a:xfrm>
          <a:prstGeom prst="rect">
            <a:avLst/>
          </a:prstGeom>
          <a:noFill/>
          <a:ln w="9525" algn="ctr">
            <a:noFill/>
            <a:miter lim="800000"/>
            <a:headEnd/>
            <a:tailEnd/>
          </a:ln>
          <a:effectLst/>
        </p:spPr>
        <p:txBody>
          <a:bodyPr wrap="none">
            <a:spAutoFit/>
          </a:bodyPr>
          <a:lstStyle/>
          <a:p>
            <a:pPr algn="ctr">
              <a:spcBef>
                <a:spcPts val="0"/>
              </a:spcBef>
            </a:pPr>
            <a:r>
              <a:rPr lang="en-US" sz="2400" b="1" dirty="0" smtClean="0">
                <a:solidFill>
                  <a:schemeClr val="tx2"/>
                </a:solidFill>
              </a:rPr>
              <a:t>WaterOneFlow</a:t>
            </a:r>
            <a:r>
              <a:rPr lang="en-US" sz="2400" dirty="0" smtClean="0"/>
              <a:t> </a:t>
            </a:r>
            <a:r>
              <a:rPr lang="en-US" sz="2400" dirty="0"/>
              <a:t>is </a:t>
            </a:r>
            <a:r>
              <a:rPr lang="en-US" sz="2400" dirty="0" smtClean="0"/>
              <a:t>how you ask for data</a:t>
            </a:r>
          </a:p>
          <a:p>
            <a:pPr algn="ctr">
              <a:spcBef>
                <a:spcPts val="0"/>
              </a:spcBef>
            </a:pPr>
            <a:r>
              <a:rPr lang="en-US" sz="2400" b="1" dirty="0">
                <a:solidFill>
                  <a:schemeClr val="tx2"/>
                </a:solidFill>
              </a:rPr>
              <a:t>WaterML</a:t>
            </a:r>
            <a:r>
              <a:rPr lang="en-US" sz="2400" dirty="0"/>
              <a:t> is </a:t>
            </a:r>
            <a:r>
              <a:rPr lang="en-US" sz="2400" dirty="0" smtClean="0"/>
              <a:t>the format of what comes back</a:t>
            </a:r>
            <a:endParaRPr lang="en-US"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9559"/>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1" nodeType="afterEffect">
                                  <p:stCondLst>
                                    <p:cond delay="0"/>
                                  </p:stCondLst>
                                  <p:childTnLst>
                                    <p:animMotion origin="layout" path="M 3.33333E-6 3.33333E-6 L 0.1125 3.33333E-6 " pathEditMode="relative" rAng="0" ptsTypes="AA">
                                      <p:cBhvr>
                                        <p:cTn id="9" dur="2000" fill="hold"/>
                                        <p:tgtEl>
                                          <p:spTgt spid="449559"/>
                                        </p:tgtEl>
                                        <p:attrNameLst>
                                          <p:attrName>ppt_x</p:attrName>
                                          <p:attrName>ppt_y</p:attrName>
                                        </p:attrNameLst>
                                      </p:cBhvr>
                                      <p:rCtr x="56" y="0"/>
                                    </p:animMotion>
                                  </p:childTnLst>
                                </p:cTn>
                              </p:par>
                            </p:childTnLst>
                          </p:cTn>
                        </p:par>
                        <p:par>
                          <p:cTn id="10" fill="hold">
                            <p:stCondLst>
                              <p:cond delay="2000"/>
                            </p:stCondLst>
                            <p:childTnLst>
                              <p:par>
                                <p:cTn id="11" presetID="19" presetClass="emph" presetSubtype="0" fill="hold" grpId="0" nodeType="afterEffect">
                                  <p:stCondLst>
                                    <p:cond delay="0"/>
                                  </p:stCondLst>
                                  <p:childTnLst>
                                    <p:animClr clrSpc="rgb" dir="cw">
                                      <p:cBhvr override="childStyle">
                                        <p:cTn id="12" dur="500" fill="hold"/>
                                        <p:tgtEl>
                                          <p:spTgt spid="449549"/>
                                        </p:tgtEl>
                                        <p:attrNameLst>
                                          <p:attrName>style.color</p:attrName>
                                        </p:attrNameLst>
                                      </p:cBhvr>
                                      <p:to>
                                        <a:schemeClr val="accent2"/>
                                      </p:to>
                                    </p:animClr>
                                    <p:animClr clrSpc="rgb" dir="cw">
                                      <p:cBhvr>
                                        <p:cTn id="13" dur="500" fill="hold"/>
                                        <p:tgtEl>
                                          <p:spTgt spid="449549"/>
                                        </p:tgtEl>
                                        <p:attrNameLst>
                                          <p:attrName>fillcolor</p:attrName>
                                        </p:attrNameLst>
                                      </p:cBhvr>
                                      <p:to>
                                        <a:schemeClr val="accent2"/>
                                      </p:to>
                                    </p:animClr>
                                    <p:set>
                                      <p:cBhvr>
                                        <p:cTn id="14" dur="500" fill="hold"/>
                                        <p:tgtEl>
                                          <p:spTgt spid="449549"/>
                                        </p:tgtEl>
                                        <p:attrNameLst>
                                          <p:attrName>fill.type</p:attrName>
                                        </p:attrNameLst>
                                      </p:cBhvr>
                                      <p:to>
                                        <p:strVal val="solid"/>
                                      </p:to>
                                    </p:set>
                                    <p:set>
                                      <p:cBhvr>
                                        <p:cTn id="15" dur="500" fill="hold"/>
                                        <p:tgtEl>
                                          <p:spTgt spid="449549"/>
                                        </p:tgtEl>
                                        <p:attrNameLst>
                                          <p:attrName>fill.on</p:attrName>
                                        </p:attrNameLst>
                                      </p:cBhvr>
                                      <p:to>
                                        <p:strVal val="true"/>
                                      </p:to>
                                    </p:set>
                                  </p:childTnLst>
                                </p:cTn>
                              </p:par>
                              <p:par>
                                <p:cTn id="16" presetID="19" presetClass="emph" presetSubtype="0" fill="hold" grpId="0" nodeType="withEffect">
                                  <p:stCondLst>
                                    <p:cond delay="300"/>
                                  </p:stCondLst>
                                  <p:childTnLst>
                                    <p:animClr clrSpc="rgb" dir="cw">
                                      <p:cBhvr override="childStyle">
                                        <p:cTn id="17" dur="500" fill="hold"/>
                                        <p:tgtEl>
                                          <p:spTgt spid="449550"/>
                                        </p:tgtEl>
                                        <p:attrNameLst>
                                          <p:attrName>style.color</p:attrName>
                                        </p:attrNameLst>
                                      </p:cBhvr>
                                      <p:to>
                                        <a:schemeClr val="accent2"/>
                                      </p:to>
                                    </p:animClr>
                                    <p:animClr clrSpc="rgb" dir="cw">
                                      <p:cBhvr>
                                        <p:cTn id="18" dur="500" fill="hold"/>
                                        <p:tgtEl>
                                          <p:spTgt spid="449550"/>
                                        </p:tgtEl>
                                        <p:attrNameLst>
                                          <p:attrName>fillcolor</p:attrName>
                                        </p:attrNameLst>
                                      </p:cBhvr>
                                      <p:to>
                                        <a:schemeClr val="accent2"/>
                                      </p:to>
                                    </p:animClr>
                                    <p:set>
                                      <p:cBhvr>
                                        <p:cTn id="19" dur="500" fill="hold"/>
                                        <p:tgtEl>
                                          <p:spTgt spid="449550"/>
                                        </p:tgtEl>
                                        <p:attrNameLst>
                                          <p:attrName>fill.type</p:attrName>
                                        </p:attrNameLst>
                                      </p:cBhvr>
                                      <p:to>
                                        <p:strVal val="solid"/>
                                      </p:to>
                                    </p:set>
                                    <p:set>
                                      <p:cBhvr>
                                        <p:cTn id="20" dur="500" fill="hold"/>
                                        <p:tgtEl>
                                          <p:spTgt spid="449550"/>
                                        </p:tgtEl>
                                        <p:attrNameLst>
                                          <p:attrName>fill.on</p:attrName>
                                        </p:attrNameLst>
                                      </p:cBhvr>
                                      <p:to>
                                        <p:strVal val="true"/>
                                      </p:to>
                                    </p:set>
                                  </p:childTnLst>
                                </p:cTn>
                              </p:par>
                              <p:par>
                                <p:cTn id="21" presetID="19" presetClass="emph" presetSubtype="0" fill="hold" grpId="0" nodeType="withEffect">
                                  <p:stCondLst>
                                    <p:cond delay="600"/>
                                  </p:stCondLst>
                                  <p:childTnLst>
                                    <p:animClr clrSpc="rgb" dir="cw">
                                      <p:cBhvr override="childStyle">
                                        <p:cTn id="22" dur="500" fill="hold"/>
                                        <p:tgtEl>
                                          <p:spTgt spid="449551"/>
                                        </p:tgtEl>
                                        <p:attrNameLst>
                                          <p:attrName>style.color</p:attrName>
                                        </p:attrNameLst>
                                      </p:cBhvr>
                                      <p:to>
                                        <a:schemeClr val="accent2"/>
                                      </p:to>
                                    </p:animClr>
                                    <p:animClr clrSpc="rgb" dir="cw">
                                      <p:cBhvr>
                                        <p:cTn id="23" dur="500" fill="hold"/>
                                        <p:tgtEl>
                                          <p:spTgt spid="449551"/>
                                        </p:tgtEl>
                                        <p:attrNameLst>
                                          <p:attrName>fillcolor</p:attrName>
                                        </p:attrNameLst>
                                      </p:cBhvr>
                                      <p:to>
                                        <a:schemeClr val="accent2"/>
                                      </p:to>
                                    </p:animClr>
                                    <p:set>
                                      <p:cBhvr>
                                        <p:cTn id="24" dur="500" fill="hold"/>
                                        <p:tgtEl>
                                          <p:spTgt spid="449551"/>
                                        </p:tgtEl>
                                        <p:attrNameLst>
                                          <p:attrName>fill.type</p:attrName>
                                        </p:attrNameLst>
                                      </p:cBhvr>
                                      <p:to>
                                        <p:strVal val="solid"/>
                                      </p:to>
                                    </p:set>
                                    <p:set>
                                      <p:cBhvr>
                                        <p:cTn id="25" dur="500" fill="hold"/>
                                        <p:tgtEl>
                                          <p:spTgt spid="449551"/>
                                        </p:tgtEl>
                                        <p:attrNameLst>
                                          <p:attrName>fill.on</p:attrName>
                                        </p:attrNameLst>
                                      </p:cBhvr>
                                      <p:to>
                                        <p:strVal val="true"/>
                                      </p:to>
                                    </p:set>
                                  </p:childTnLst>
                                </p:cTn>
                              </p:par>
                              <p:par>
                                <p:cTn id="26" presetID="19" presetClass="emph" presetSubtype="0" fill="hold" grpId="0" nodeType="withEffect">
                                  <p:stCondLst>
                                    <p:cond delay="900"/>
                                  </p:stCondLst>
                                  <p:childTnLst>
                                    <p:animClr clrSpc="rgb" dir="cw">
                                      <p:cBhvr override="childStyle">
                                        <p:cTn id="27" dur="500" fill="hold"/>
                                        <p:tgtEl>
                                          <p:spTgt spid="35"/>
                                        </p:tgtEl>
                                        <p:attrNameLst>
                                          <p:attrName>style.color</p:attrName>
                                        </p:attrNameLst>
                                      </p:cBhvr>
                                      <p:to>
                                        <a:schemeClr val="accent2"/>
                                      </p:to>
                                    </p:animClr>
                                    <p:animClr clrSpc="rgb" dir="cw">
                                      <p:cBhvr>
                                        <p:cTn id="28" dur="500" fill="hold"/>
                                        <p:tgtEl>
                                          <p:spTgt spid="35"/>
                                        </p:tgtEl>
                                        <p:attrNameLst>
                                          <p:attrName>fillcolor</p:attrName>
                                        </p:attrNameLst>
                                      </p:cBhvr>
                                      <p:to>
                                        <a:schemeClr val="accent2"/>
                                      </p:to>
                                    </p:animClr>
                                    <p:set>
                                      <p:cBhvr>
                                        <p:cTn id="29" dur="500" fill="hold"/>
                                        <p:tgtEl>
                                          <p:spTgt spid="35"/>
                                        </p:tgtEl>
                                        <p:attrNameLst>
                                          <p:attrName>fill.type</p:attrName>
                                        </p:attrNameLst>
                                      </p:cBhvr>
                                      <p:to>
                                        <p:strVal val="solid"/>
                                      </p:to>
                                    </p:set>
                                    <p:set>
                                      <p:cBhvr>
                                        <p:cTn id="30" dur="500" fill="hold"/>
                                        <p:tgtEl>
                                          <p:spTgt spid="35"/>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9567"/>
                                        </p:tgtEl>
                                        <p:attrNameLst>
                                          <p:attrName>style.visibility</p:attrName>
                                        </p:attrNameLst>
                                      </p:cBhvr>
                                      <p:to>
                                        <p:strVal val="visible"/>
                                      </p:to>
                                    </p:set>
                                  </p:childTnLst>
                                </p:cTn>
                              </p:par>
                            </p:childTnLst>
                          </p:cTn>
                        </p:par>
                        <p:par>
                          <p:cTn id="35" fill="hold">
                            <p:stCondLst>
                              <p:cond delay="0"/>
                            </p:stCondLst>
                            <p:childTnLst>
                              <p:par>
                                <p:cTn id="36" presetID="0" presetClass="path" presetSubtype="0" accel="50000" decel="50000" fill="hold" grpId="1" nodeType="afterEffect">
                                  <p:stCondLst>
                                    <p:cond delay="0"/>
                                  </p:stCondLst>
                                  <p:childTnLst>
                                    <p:animMotion origin="layout" path="M -0.00556 -0.00579 C 0.03819 -0.04329 0.08212 -0.08056 0.11094 -0.1169 C 0.13976 -0.15347 0.15312 -0.23449 0.16701 -0.22431 C 0.1809 -0.21366 0.20208 -0.09144 0.19444 -0.0537 C 0.1868 -0.01574 0.1533 -0.00509 0.12083 0.00393 C 0.08837 0.01319 0.02014 0.00069 1.11111E-6 3.7037E-7 " pathEditMode="relative" rAng="0" ptsTypes="aaaaaA">
                                      <p:cBhvr>
                                        <p:cTn id="37" dur="5000" fill="hold"/>
                                        <p:tgtEl>
                                          <p:spTgt spid="449567"/>
                                        </p:tgtEl>
                                        <p:attrNameLst>
                                          <p:attrName>ppt_x</p:attrName>
                                          <p:attrName>ppt_y</p:attrName>
                                        </p:attrNameLst>
                                      </p:cBhvr>
                                      <p:rCtr x="104" y="-105"/>
                                    </p:animMotion>
                                  </p:childTnLst>
                                </p:cTn>
                              </p:par>
                              <p:par>
                                <p:cTn id="38" presetID="10" presetClass="entr" presetSubtype="0" fill="hold" grpId="0" nodeType="withEffect">
                                  <p:stCondLst>
                                    <p:cond delay="1500"/>
                                  </p:stCondLst>
                                  <p:childTnLst>
                                    <p:set>
                                      <p:cBhvr>
                                        <p:cTn id="39" dur="1" fill="hold">
                                          <p:stCondLst>
                                            <p:cond delay="0"/>
                                          </p:stCondLst>
                                        </p:cTn>
                                        <p:tgtEl>
                                          <p:spTgt spid="449563"/>
                                        </p:tgtEl>
                                        <p:attrNameLst>
                                          <p:attrName>style.visibility</p:attrName>
                                        </p:attrNameLst>
                                      </p:cBhvr>
                                      <p:to>
                                        <p:strVal val="visible"/>
                                      </p:to>
                                    </p:set>
                                    <p:animEffect transition="in" filter="fade">
                                      <p:cBhvr>
                                        <p:cTn id="40" dur="500"/>
                                        <p:tgtEl>
                                          <p:spTgt spid="449563"/>
                                        </p:tgtEl>
                                      </p:cBhvr>
                                    </p:animEffect>
                                  </p:childTnLst>
                                </p:cTn>
                              </p:par>
                              <p:par>
                                <p:cTn id="41" presetID="1" presetClass="entr" presetSubtype="0" fill="hold" grpId="0" nodeType="withEffect">
                                  <p:stCondLst>
                                    <p:cond delay="2200"/>
                                  </p:stCondLst>
                                  <p:childTnLst>
                                    <p:set>
                                      <p:cBhvr>
                                        <p:cTn id="42" dur="1" fill="hold">
                                          <p:stCondLst>
                                            <p:cond delay="0"/>
                                          </p:stCondLst>
                                        </p:cTn>
                                        <p:tgtEl>
                                          <p:spTgt spid="449560"/>
                                        </p:tgtEl>
                                        <p:attrNameLst>
                                          <p:attrName>style.visibility</p:attrName>
                                        </p:attrNameLst>
                                      </p:cBhvr>
                                      <p:to>
                                        <p:strVal val="visible"/>
                                      </p:to>
                                    </p:set>
                                  </p:childTnLst>
                                </p:cTn>
                              </p:par>
                              <p:par>
                                <p:cTn id="43" presetID="49" presetClass="path" presetSubtype="0" accel="50000" decel="50000" fill="hold" grpId="1" nodeType="withEffect">
                                  <p:stCondLst>
                                    <p:cond delay="2200"/>
                                  </p:stCondLst>
                                  <p:childTnLst>
                                    <p:animMotion origin="layout" path="M 1.11022E-16 -1.11111E-6 L -0.29757 0.19838 " pathEditMode="relative" rAng="0" ptsTypes="AA">
                                      <p:cBhvr>
                                        <p:cTn id="44" dur="1000" fill="hold"/>
                                        <p:tgtEl>
                                          <p:spTgt spid="449560"/>
                                        </p:tgtEl>
                                        <p:attrNameLst>
                                          <p:attrName>ppt_x</p:attrName>
                                          <p:attrName>ppt_y</p:attrName>
                                        </p:attrNameLst>
                                      </p:cBhvr>
                                      <p:rCtr x="-149" y="99"/>
                                    </p:animMotion>
                                  </p:childTnLst>
                                </p:cTn>
                              </p:par>
                              <p:par>
                                <p:cTn id="45" presetID="1" presetClass="entr" presetSubtype="0" fill="hold" grpId="0" nodeType="withEffect">
                                  <p:stCondLst>
                                    <p:cond delay="2800"/>
                                  </p:stCondLst>
                                  <p:childTnLst>
                                    <p:set>
                                      <p:cBhvr>
                                        <p:cTn id="46" dur="1" fill="hold">
                                          <p:stCondLst>
                                            <p:cond delay="0"/>
                                          </p:stCondLst>
                                        </p:cTn>
                                        <p:tgtEl>
                                          <p:spTgt spid="449561"/>
                                        </p:tgtEl>
                                        <p:attrNameLst>
                                          <p:attrName>style.visibility</p:attrName>
                                        </p:attrNameLst>
                                      </p:cBhvr>
                                      <p:to>
                                        <p:strVal val="visible"/>
                                      </p:to>
                                    </p:set>
                                  </p:childTnLst>
                                </p:cTn>
                              </p:par>
                              <p:par>
                                <p:cTn id="47" presetID="49" presetClass="path" presetSubtype="0" accel="50000" decel="50000" fill="hold" grpId="1" nodeType="withEffect">
                                  <p:stCondLst>
                                    <p:cond delay="2800"/>
                                  </p:stCondLst>
                                  <p:childTnLst>
                                    <p:animMotion origin="layout" path="M -3.33333E-6 -0.00555 L -0.325 0.08889 " pathEditMode="relative" rAng="0" ptsTypes="AA">
                                      <p:cBhvr>
                                        <p:cTn id="48" dur="1000" fill="hold"/>
                                        <p:tgtEl>
                                          <p:spTgt spid="449561"/>
                                        </p:tgtEl>
                                        <p:attrNameLst>
                                          <p:attrName>ppt_x</p:attrName>
                                          <p:attrName>ppt_y</p:attrName>
                                        </p:attrNameLst>
                                      </p:cBhvr>
                                      <p:rCtr x="-162" y="47"/>
                                    </p:animMotion>
                                  </p:childTnLst>
                                </p:cTn>
                              </p:par>
                              <p:par>
                                <p:cTn id="49" presetID="1" presetClass="entr" presetSubtype="0" fill="hold" grpId="0" nodeType="withEffect">
                                  <p:stCondLst>
                                    <p:cond delay="3200"/>
                                  </p:stCondLst>
                                  <p:childTnLst>
                                    <p:set>
                                      <p:cBhvr>
                                        <p:cTn id="50" dur="1" fill="hold">
                                          <p:stCondLst>
                                            <p:cond delay="0"/>
                                          </p:stCondLst>
                                        </p:cTn>
                                        <p:tgtEl>
                                          <p:spTgt spid="449562"/>
                                        </p:tgtEl>
                                        <p:attrNameLst>
                                          <p:attrName>style.visibility</p:attrName>
                                        </p:attrNameLst>
                                      </p:cBhvr>
                                      <p:to>
                                        <p:strVal val="visible"/>
                                      </p:to>
                                    </p:set>
                                  </p:childTnLst>
                                </p:cTn>
                              </p:par>
                              <p:par>
                                <p:cTn id="51" presetID="49" presetClass="path" presetSubtype="0" accel="50000" decel="50000" fill="hold" grpId="1" nodeType="withEffect">
                                  <p:stCondLst>
                                    <p:cond delay="3200"/>
                                  </p:stCondLst>
                                  <p:childTnLst>
                                    <p:animMotion origin="layout" path="M -3.33333E-6 -1.11111E-6 L -0.196 0.10185 " pathEditMode="relative" rAng="0" ptsTypes="AA">
                                      <p:cBhvr>
                                        <p:cTn id="52" dur="1000" fill="hold"/>
                                        <p:tgtEl>
                                          <p:spTgt spid="449562"/>
                                        </p:tgtEl>
                                        <p:attrNameLst>
                                          <p:attrName>ppt_x</p:attrName>
                                          <p:attrName>ppt_y</p:attrName>
                                        </p:attrNameLst>
                                      </p:cBhvr>
                                      <p:rCtr x="-98" y="51"/>
                                    </p:animMotion>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49564"/>
                                        </p:tgtEl>
                                        <p:attrNameLst>
                                          <p:attrName>style.visibility</p:attrName>
                                        </p:attrNameLst>
                                      </p:cBhvr>
                                      <p:to>
                                        <p:strVal val="visible"/>
                                      </p:to>
                                    </p:set>
                                    <p:animEffect transition="in" filter="fade">
                                      <p:cBhvr>
                                        <p:cTn id="57" dur="500"/>
                                        <p:tgtEl>
                                          <p:spTgt spid="449564"/>
                                        </p:tgtEl>
                                      </p:cBhvr>
                                    </p:animEffect>
                                  </p:childTnLst>
                                </p:cTn>
                              </p:par>
                            </p:childTnLst>
                          </p:cTn>
                        </p:par>
                        <p:par>
                          <p:cTn id="58" fill="hold">
                            <p:stCondLst>
                              <p:cond delay="500"/>
                            </p:stCondLst>
                            <p:childTnLst>
                              <p:par>
                                <p:cTn id="59" presetID="10" presetClass="exit" presetSubtype="0" fill="hold" grpId="2" nodeType="afterEffect">
                                  <p:stCondLst>
                                    <p:cond delay="0"/>
                                  </p:stCondLst>
                                  <p:childTnLst>
                                    <p:animEffect transition="out" filter="fade">
                                      <p:cBhvr>
                                        <p:cTn id="60" dur="500"/>
                                        <p:tgtEl>
                                          <p:spTgt spid="449567"/>
                                        </p:tgtEl>
                                      </p:cBhvr>
                                    </p:animEffect>
                                    <p:set>
                                      <p:cBhvr>
                                        <p:cTn id="61" dur="1" fill="hold">
                                          <p:stCondLst>
                                            <p:cond delay="499"/>
                                          </p:stCondLst>
                                        </p:cTn>
                                        <p:tgtEl>
                                          <p:spTgt spid="449567"/>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500"/>
                                        <p:tgtEl>
                                          <p:spTgt spid="449563"/>
                                        </p:tgtEl>
                                      </p:cBhvr>
                                    </p:animEffect>
                                    <p:set>
                                      <p:cBhvr>
                                        <p:cTn id="64" dur="1" fill="hold">
                                          <p:stCondLst>
                                            <p:cond delay="499"/>
                                          </p:stCondLst>
                                        </p:cTn>
                                        <p:tgtEl>
                                          <p:spTgt spid="449563"/>
                                        </p:tgtEl>
                                        <p:attrNameLst>
                                          <p:attrName>style.visibility</p:attrName>
                                        </p:attrNameLst>
                                      </p:cBhvr>
                                      <p:to>
                                        <p:strVal val="hidden"/>
                                      </p:to>
                                    </p:set>
                                  </p:childTnLst>
                                </p:cTn>
                              </p:par>
                              <p:par>
                                <p:cTn id="65" presetID="5" presetClass="exit" presetSubtype="10" fill="hold" grpId="2" nodeType="withEffect">
                                  <p:stCondLst>
                                    <p:cond delay="200"/>
                                  </p:stCondLst>
                                  <p:childTnLst>
                                    <p:animEffect transition="out" filter="checkerboard(across)">
                                      <p:cBhvr>
                                        <p:cTn id="66" dur="500"/>
                                        <p:tgtEl>
                                          <p:spTgt spid="449560"/>
                                        </p:tgtEl>
                                      </p:cBhvr>
                                    </p:animEffect>
                                    <p:set>
                                      <p:cBhvr>
                                        <p:cTn id="67" dur="1" fill="hold">
                                          <p:stCondLst>
                                            <p:cond delay="499"/>
                                          </p:stCondLst>
                                        </p:cTn>
                                        <p:tgtEl>
                                          <p:spTgt spid="449560"/>
                                        </p:tgtEl>
                                        <p:attrNameLst>
                                          <p:attrName>style.visibility</p:attrName>
                                        </p:attrNameLst>
                                      </p:cBhvr>
                                      <p:to>
                                        <p:strVal val="hidden"/>
                                      </p:to>
                                    </p:set>
                                  </p:childTnLst>
                                </p:cTn>
                              </p:par>
                              <p:par>
                                <p:cTn id="68" presetID="5" presetClass="exit" presetSubtype="10" fill="hold" grpId="2" nodeType="withEffect">
                                  <p:stCondLst>
                                    <p:cond delay="200"/>
                                  </p:stCondLst>
                                  <p:childTnLst>
                                    <p:animEffect transition="out" filter="checkerboard(across)">
                                      <p:cBhvr>
                                        <p:cTn id="69" dur="500"/>
                                        <p:tgtEl>
                                          <p:spTgt spid="449561"/>
                                        </p:tgtEl>
                                      </p:cBhvr>
                                    </p:animEffect>
                                    <p:set>
                                      <p:cBhvr>
                                        <p:cTn id="70" dur="1" fill="hold">
                                          <p:stCondLst>
                                            <p:cond delay="499"/>
                                          </p:stCondLst>
                                        </p:cTn>
                                        <p:tgtEl>
                                          <p:spTgt spid="449561"/>
                                        </p:tgtEl>
                                        <p:attrNameLst>
                                          <p:attrName>style.visibility</p:attrName>
                                        </p:attrNameLst>
                                      </p:cBhvr>
                                      <p:to>
                                        <p:strVal val="hidden"/>
                                      </p:to>
                                    </p:set>
                                  </p:childTnLst>
                                </p:cTn>
                              </p:par>
                              <p:par>
                                <p:cTn id="71" presetID="5" presetClass="exit" presetSubtype="10" fill="hold" grpId="2" nodeType="withEffect">
                                  <p:stCondLst>
                                    <p:cond delay="200"/>
                                  </p:stCondLst>
                                  <p:childTnLst>
                                    <p:animEffect transition="out" filter="checkerboard(across)">
                                      <p:cBhvr>
                                        <p:cTn id="72" dur="500"/>
                                        <p:tgtEl>
                                          <p:spTgt spid="449562"/>
                                        </p:tgtEl>
                                      </p:cBhvr>
                                    </p:animEffect>
                                    <p:set>
                                      <p:cBhvr>
                                        <p:cTn id="73" dur="1" fill="hold">
                                          <p:stCondLst>
                                            <p:cond delay="499"/>
                                          </p:stCondLst>
                                        </p:cTn>
                                        <p:tgtEl>
                                          <p:spTgt spid="449562"/>
                                        </p:tgtEl>
                                        <p:attrNameLst>
                                          <p:attrName>style.visibility</p:attrName>
                                        </p:attrNameLst>
                                      </p:cBhvr>
                                      <p:to>
                                        <p:strVal val="hidden"/>
                                      </p:to>
                                    </p:set>
                                  </p:childTnLst>
                                </p:cTn>
                              </p:par>
                              <p:par>
                                <p:cTn id="74" presetID="5" presetClass="entr" presetSubtype="10" fill="hold" grpId="0" nodeType="withEffect">
                                  <p:stCondLst>
                                    <p:cond delay="500"/>
                                  </p:stCondLst>
                                  <p:childTnLst>
                                    <p:set>
                                      <p:cBhvr>
                                        <p:cTn id="75" dur="1" fill="hold">
                                          <p:stCondLst>
                                            <p:cond delay="0"/>
                                          </p:stCondLst>
                                        </p:cTn>
                                        <p:tgtEl>
                                          <p:spTgt spid="449566"/>
                                        </p:tgtEl>
                                        <p:attrNameLst>
                                          <p:attrName>style.visibility</p:attrName>
                                        </p:attrNameLst>
                                      </p:cBhvr>
                                      <p:to>
                                        <p:strVal val="visible"/>
                                      </p:to>
                                    </p:set>
                                    <p:animEffect transition="in" filter="checkerboard(across)">
                                      <p:cBhvr>
                                        <p:cTn id="76" dur="500"/>
                                        <p:tgtEl>
                                          <p:spTgt spid="44956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449564"/>
                                        </p:tgtEl>
                                      </p:cBhvr>
                                    </p:animEffect>
                                    <p:set>
                                      <p:cBhvr>
                                        <p:cTn id="81" dur="1" fill="hold">
                                          <p:stCondLst>
                                            <p:cond delay="499"/>
                                          </p:stCondLst>
                                        </p:cTn>
                                        <p:tgtEl>
                                          <p:spTgt spid="449564"/>
                                        </p:tgtEl>
                                        <p:attrNameLst>
                                          <p:attrName>style.visibility</p:attrName>
                                        </p:attrNameLst>
                                      </p:cBhvr>
                                      <p:to>
                                        <p:strVal val="hidden"/>
                                      </p:to>
                                    </p:set>
                                  </p:childTnLst>
                                </p:cTn>
                              </p:par>
                              <p:par>
                                <p:cTn id="82" presetID="49" presetClass="path" presetSubtype="0" accel="50000" decel="50000" fill="hold" grpId="1" nodeType="withEffect">
                                  <p:stCondLst>
                                    <p:cond delay="0"/>
                                  </p:stCondLst>
                                  <p:childTnLst>
                                    <p:animMotion origin="layout" path="M -3.33333E-6 -3.33333E-6 L -0.30833 0.04445 " pathEditMode="relative" rAng="0" ptsTypes="AA">
                                      <p:cBhvr>
                                        <p:cTn id="83" dur="2000" fill="hold"/>
                                        <p:tgtEl>
                                          <p:spTgt spid="449566"/>
                                        </p:tgtEl>
                                        <p:attrNameLst>
                                          <p:attrName>ppt_x</p:attrName>
                                          <p:attrName>ppt_y</p:attrName>
                                        </p:attrNameLst>
                                      </p:cBhvr>
                                      <p:rCtr x="-154" y="22"/>
                                    </p:animMotion>
                                  </p:childTnLst>
                                </p:cTn>
                              </p:par>
                              <p:par>
                                <p:cTn id="84" presetID="10" presetClass="entr" presetSubtype="0" fill="hold" grpId="0" nodeType="withEffect">
                                  <p:stCondLst>
                                    <p:cond delay="2000"/>
                                  </p:stCondLst>
                                  <p:childTnLst>
                                    <p:set>
                                      <p:cBhvr>
                                        <p:cTn id="85" dur="1" fill="hold">
                                          <p:stCondLst>
                                            <p:cond delay="0"/>
                                          </p:stCondLst>
                                        </p:cTn>
                                        <p:tgtEl>
                                          <p:spTgt spid="449565"/>
                                        </p:tgtEl>
                                        <p:attrNameLst>
                                          <p:attrName>style.visibility</p:attrName>
                                        </p:attrNameLst>
                                      </p:cBhvr>
                                      <p:to>
                                        <p:strVal val="visible"/>
                                      </p:to>
                                    </p:set>
                                    <p:animEffect transition="in" filter="fade">
                                      <p:cBhvr>
                                        <p:cTn id="86" dur="500"/>
                                        <p:tgtEl>
                                          <p:spTgt spid="449565"/>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49568"/>
                                        </p:tgtEl>
                                        <p:attrNameLst>
                                          <p:attrName>style.visibility</p:attrName>
                                        </p:attrNameLst>
                                      </p:cBhvr>
                                      <p:to>
                                        <p:strVal val="visible"/>
                                      </p:to>
                                    </p:set>
                                    <p:animEffect transition="in" filter="fade">
                                      <p:cBhvr>
                                        <p:cTn id="91" dur="500"/>
                                        <p:tgtEl>
                                          <p:spTgt spid="449568"/>
                                        </p:tgtEl>
                                      </p:cBhvr>
                                    </p:animEffect>
                                  </p:childTnLst>
                                </p:cTn>
                              </p:par>
                              <p:par>
                                <p:cTn id="92" presetID="10" presetClass="exit" presetSubtype="0" fill="hold" grpId="1" nodeType="withEffect">
                                  <p:stCondLst>
                                    <p:cond delay="0"/>
                                  </p:stCondLst>
                                  <p:childTnLst>
                                    <p:animEffect transition="out" filter="fade">
                                      <p:cBhvr>
                                        <p:cTn id="93" dur="500"/>
                                        <p:tgtEl>
                                          <p:spTgt spid="449565"/>
                                        </p:tgtEl>
                                      </p:cBhvr>
                                    </p:animEffect>
                                    <p:set>
                                      <p:cBhvr>
                                        <p:cTn id="94" dur="1" fill="hold">
                                          <p:stCondLst>
                                            <p:cond delay="499"/>
                                          </p:stCondLst>
                                        </p:cTn>
                                        <p:tgtEl>
                                          <p:spTgt spid="4495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9" grpId="0" animBg="1"/>
      <p:bldP spid="449550" grpId="0" animBg="1"/>
      <p:bldP spid="449551" grpId="0" animBg="1"/>
      <p:bldP spid="449559" grpId="0" animBg="1"/>
      <p:bldP spid="449559" grpId="1" animBg="1"/>
      <p:bldP spid="449560" grpId="0" animBg="1"/>
      <p:bldP spid="449560" grpId="1" animBg="1"/>
      <p:bldP spid="449560" grpId="2" animBg="1"/>
      <p:bldP spid="449561" grpId="0" animBg="1"/>
      <p:bldP spid="449561" grpId="1" animBg="1"/>
      <p:bldP spid="449561" grpId="2" animBg="1"/>
      <p:bldP spid="449562" grpId="0" animBg="1"/>
      <p:bldP spid="449562" grpId="1" animBg="1"/>
      <p:bldP spid="449562" grpId="2" animBg="1"/>
      <p:bldP spid="449563" grpId="0"/>
      <p:bldP spid="449563" grpId="1"/>
      <p:bldP spid="449564" grpId="0"/>
      <p:bldP spid="449564" grpId="1"/>
      <p:bldP spid="449565" grpId="0"/>
      <p:bldP spid="449565" grpId="1"/>
      <p:bldP spid="449566" grpId="0" animBg="1"/>
      <p:bldP spid="449566" grpId="1" animBg="1"/>
      <p:bldP spid="449567" grpId="0" animBg="1"/>
      <p:bldP spid="449567" grpId="1" animBg="1"/>
      <p:bldP spid="449567" grpId="2" animBg="1"/>
      <p:bldP spid="449568" grpId="0" animBg="1"/>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714348" y="357166"/>
            <a:ext cx="7312991" cy="484632"/>
          </a:xfrm>
        </p:spPr>
        <p:txBody>
          <a:bodyPr/>
          <a:lstStyle/>
          <a:p>
            <a:r>
              <a:rPr lang="it-IT" sz="2400" dirty="0"/>
              <a:t>HIS in the SAVA River </a:t>
            </a:r>
            <a:r>
              <a:rPr lang="it-IT" sz="2400" dirty="0" err="1"/>
              <a:t>Basin</a:t>
            </a:r>
            <a:endParaRPr lang="en-US" sz="2400" dirty="0"/>
          </a:p>
        </p:txBody>
      </p:sp>
      <p:pic>
        <p:nvPicPr>
          <p:cNvPr id="25602" name="Picture 2"/>
          <p:cNvPicPr>
            <a:picLocks noChangeAspect="1" noChangeArrowheads="1"/>
          </p:cNvPicPr>
          <p:nvPr/>
        </p:nvPicPr>
        <p:blipFill>
          <a:blip r:embed="rId2" cstate="print"/>
          <a:srcRect r="1558"/>
          <a:stretch>
            <a:fillRect/>
          </a:stretch>
        </p:blipFill>
        <p:spPr bwMode="auto">
          <a:xfrm>
            <a:off x="685800" y="941832"/>
            <a:ext cx="7486600" cy="5703818"/>
          </a:xfrm>
          <a:prstGeom prst="rect">
            <a:avLst/>
          </a:prstGeom>
          <a:noFill/>
          <a:ln w="9525">
            <a:noFill/>
            <a:miter lim="800000"/>
            <a:headEnd/>
            <a:tailEnd/>
          </a:ln>
          <a:effectLst/>
        </p:spPr>
      </p:pic>
    </p:spTree>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cstate="print"/>
          <a:srcRect/>
          <a:stretch>
            <a:fillRect/>
          </a:stretch>
        </p:blipFill>
        <p:spPr bwMode="auto">
          <a:xfrm>
            <a:off x="901700" y="864616"/>
            <a:ext cx="7592391" cy="5694293"/>
          </a:xfrm>
          <a:prstGeom prst="rect">
            <a:avLst/>
          </a:prstGeom>
          <a:noFill/>
          <a:ln w="9525">
            <a:noFill/>
            <a:miter lim="800000"/>
            <a:headEnd/>
            <a:tailEnd/>
          </a:ln>
          <a:effectLst/>
        </p:spPr>
      </p:pic>
      <p:sp>
        <p:nvSpPr>
          <p:cNvPr id="5" name="Titolo 1"/>
          <p:cNvSpPr>
            <a:spLocks noGrp="1"/>
          </p:cNvSpPr>
          <p:nvPr>
            <p:ph type="title"/>
          </p:nvPr>
        </p:nvSpPr>
        <p:spPr>
          <a:xfrm>
            <a:off x="714348" y="357166"/>
            <a:ext cx="7312991" cy="484632"/>
          </a:xfrm>
        </p:spPr>
        <p:txBody>
          <a:bodyPr/>
          <a:lstStyle/>
          <a:p>
            <a:r>
              <a:rPr lang="it-IT" sz="2400" dirty="0"/>
              <a:t>HIS in the SAVA River </a:t>
            </a:r>
            <a:r>
              <a:rPr lang="it-IT" sz="2400" dirty="0" err="1"/>
              <a:t>Basin</a:t>
            </a:r>
            <a:endParaRPr lang="en-US" sz="2400" dirty="0"/>
          </a:p>
        </p:txBody>
      </p:sp>
    </p:spTree>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a:spLocks noGrp="1"/>
          </p:cNvSpPr>
          <p:nvPr>
            <p:ph type="title"/>
          </p:nvPr>
        </p:nvSpPr>
        <p:spPr>
          <a:xfrm>
            <a:off x="714348" y="114850"/>
            <a:ext cx="7312991" cy="484632"/>
          </a:xfrm>
        </p:spPr>
        <p:txBody>
          <a:bodyPr/>
          <a:lstStyle/>
          <a:p>
            <a:r>
              <a:rPr lang="it-IT" sz="2400" dirty="0"/>
              <a:t>HIS in </a:t>
            </a:r>
            <a:r>
              <a:rPr lang="it-IT" sz="2400" dirty="0" smtClean="0"/>
              <a:t>China</a:t>
            </a:r>
            <a:endParaRPr lang="en-US" sz="2400" dirty="0"/>
          </a:p>
        </p:txBody>
      </p:sp>
      <p:pic>
        <p:nvPicPr>
          <p:cNvPr id="4" name="Immagine 3" descr="China1HIS.jpg"/>
          <p:cNvPicPr>
            <a:picLocks noChangeAspect="1"/>
          </p:cNvPicPr>
          <p:nvPr/>
        </p:nvPicPr>
        <p:blipFill>
          <a:blip r:embed="rId2" cstate="print"/>
          <a:stretch>
            <a:fillRect/>
          </a:stretch>
        </p:blipFill>
        <p:spPr>
          <a:xfrm>
            <a:off x="545004" y="500042"/>
            <a:ext cx="8215338" cy="6161504"/>
          </a:xfrm>
          <a:prstGeom prst="rect">
            <a:avLst/>
          </a:prstGeom>
        </p:spPr>
      </p:pic>
    </p:spTree>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China4Map.jpg"/>
          <p:cNvPicPr>
            <a:picLocks noChangeAspect="1"/>
          </p:cNvPicPr>
          <p:nvPr/>
        </p:nvPicPr>
        <p:blipFill>
          <a:blip r:embed="rId2" cstate="print"/>
          <a:srcRect r="2343"/>
          <a:stretch>
            <a:fillRect/>
          </a:stretch>
        </p:blipFill>
        <p:spPr>
          <a:xfrm>
            <a:off x="104930" y="0"/>
            <a:ext cx="8929718" cy="6858000"/>
          </a:xfrm>
          <a:prstGeom prst="rect">
            <a:avLst/>
          </a:prstGeom>
        </p:spPr>
      </p:pic>
    </p:spTree>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a:spLocks noGrp="1"/>
          </p:cNvSpPr>
          <p:nvPr>
            <p:ph type="title"/>
          </p:nvPr>
        </p:nvSpPr>
        <p:spPr>
          <a:xfrm>
            <a:off x="714348" y="114850"/>
            <a:ext cx="7312991" cy="484632"/>
          </a:xfrm>
        </p:spPr>
        <p:txBody>
          <a:bodyPr/>
          <a:lstStyle/>
          <a:p>
            <a:r>
              <a:rPr lang="it-IT" sz="2400" dirty="0"/>
              <a:t>HIS in </a:t>
            </a:r>
            <a:r>
              <a:rPr lang="it-IT" sz="2400" dirty="0" smtClean="0"/>
              <a:t> Niger River </a:t>
            </a:r>
            <a:r>
              <a:rPr lang="it-IT" sz="2400" dirty="0" err="1" smtClean="0"/>
              <a:t>Basin</a:t>
            </a:r>
            <a:endParaRPr lang="en-US" sz="2400" dirty="0"/>
          </a:p>
        </p:txBody>
      </p:sp>
      <p:pic>
        <p:nvPicPr>
          <p:cNvPr id="4" name="Immagine 3" descr="Niger1HIS.jpg"/>
          <p:cNvPicPr>
            <a:picLocks noChangeAspect="1"/>
          </p:cNvPicPr>
          <p:nvPr/>
        </p:nvPicPr>
        <p:blipFill>
          <a:blip r:embed="rId2" cstate="print"/>
          <a:srcRect r="1786"/>
          <a:stretch>
            <a:fillRect/>
          </a:stretch>
        </p:blipFill>
        <p:spPr>
          <a:xfrm>
            <a:off x="642910" y="571480"/>
            <a:ext cx="7858180" cy="6000792"/>
          </a:xfrm>
          <a:prstGeom prst="rect">
            <a:avLst/>
          </a:prstGeom>
        </p:spPr>
      </p:pic>
    </p:spTree>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Niger4Map.jpg"/>
          <p:cNvPicPr>
            <a:picLocks noChangeAspect="1"/>
          </p:cNvPicPr>
          <p:nvPr/>
        </p:nvPicPr>
        <p:blipFill>
          <a:blip r:embed="rId2" cstate="print"/>
          <a:srcRect r="2343"/>
          <a:stretch>
            <a:fillRect/>
          </a:stretch>
        </p:blipFill>
        <p:spPr>
          <a:xfrm>
            <a:off x="89940" y="0"/>
            <a:ext cx="8929718" cy="6858000"/>
          </a:xfrm>
          <a:prstGeom prst="rect">
            <a:avLst/>
          </a:prstGeom>
        </p:spPr>
      </p:pic>
    </p:spTree>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a:spLocks noGrp="1"/>
          </p:cNvSpPr>
          <p:nvPr>
            <p:ph type="title"/>
          </p:nvPr>
        </p:nvSpPr>
        <p:spPr>
          <a:xfrm>
            <a:off x="714348" y="114850"/>
            <a:ext cx="7312991" cy="484632"/>
          </a:xfrm>
        </p:spPr>
        <p:txBody>
          <a:bodyPr/>
          <a:lstStyle/>
          <a:p>
            <a:r>
              <a:rPr lang="it-IT" sz="2400" dirty="0"/>
              <a:t>HIS in </a:t>
            </a:r>
            <a:r>
              <a:rPr lang="it-IT" sz="2400" dirty="0" smtClean="0"/>
              <a:t>New </a:t>
            </a:r>
            <a:r>
              <a:rPr lang="it-IT" sz="2400" dirty="0" err="1" smtClean="0"/>
              <a:t>Zealand</a:t>
            </a:r>
            <a:endParaRPr lang="en-US" sz="2400" dirty="0"/>
          </a:p>
        </p:txBody>
      </p:sp>
      <p:pic>
        <p:nvPicPr>
          <p:cNvPr id="4" name="Immagine 3" descr="NZ1His.jpg"/>
          <p:cNvPicPr>
            <a:picLocks noChangeAspect="1"/>
          </p:cNvPicPr>
          <p:nvPr/>
        </p:nvPicPr>
        <p:blipFill>
          <a:blip r:embed="rId2" cstate="print"/>
          <a:stretch>
            <a:fillRect/>
          </a:stretch>
        </p:blipFill>
        <p:spPr>
          <a:xfrm>
            <a:off x="515024" y="508008"/>
            <a:ext cx="8286776" cy="6215082"/>
          </a:xfrm>
          <a:prstGeom prst="rect">
            <a:avLst/>
          </a:prstGeom>
        </p:spPr>
      </p:pic>
    </p:spTree>
  </p:cSld>
  <p:clrMapOvr>
    <a:masterClrMapping/>
  </p:clrMapOvr>
  <p:transition spd="med">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NZ4Map.jpg"/>
          <p:cNvPicPr>
            <a:picLocks noChangeAspect="1"/>
          </p:cNvPicPr>
          <p:nvPr/>
        </p:nvPicPr>
        <p:blipFill>
          <a:blip r:embed="rId2" cstate="print"/>
          <a:srcRect r="2343"/>
          <a:stretch>
            <a:fillRect/>
          </a:stretch>
        </p:blipFill>
        <p:spPr>
          <a:xfrm>
            <a:off x="119920" y="0"/>
            <a:ext cx="8929718" cy="6858000"/>
          </a:xfrm>
          <a:prstGeom prst="rect">
            <a:avLst/>
          </a:prstGeom>
        </p:spPr>
      </p:pic>
    </p:spTree>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a:spLocks noGrp="1"/>
          </p:cNvSpPr>
          <p:nvPr>
            <p:ph type="title"/>
          </p:nvPr>
        </p:nvSpPr>
        <p:spPr>
          <a:xfrm>
            <a:off x="714348" y="114850"/>
            <a:ext cx="7312991" cy="484632"/>
          </a:xfrm>
        </p:spPr>
        <p:txBody>
          <a:bodyPr/>
          <a:lstStyle/>
          <a:p>
            <a:r>
              <a:rPr lang="it-IT" sz="2400" dirty="0"/>
              <a:t>HIS in the </a:t>
            </a:r>
            <a:r>
              <a:rPr lang="it-IT" sz="2400" dirty="0" smtClean="0"/>
              <a:t>SADC</a:t>
            </a:r>
            <a:endParaRPr lang="en-US" sz="2400" dirty="0"/>
          </a:p>
        </p:txBody>
      </p:sp>
      <p:pic>
        <p:nvPicPr>
          <p:cNvPr id="4" name="Immagine 3" descr="Sadc1HIS.jpg"/>
          <p:cNvPicPr>
            <a:picLocks noChangeAspect="1"/>
          </p:cNvPicPr>
          <p:nvPr/>
        </p:nvPicPr>
        <p:blipFill>
          <a:blip r:embed="rId2" cstate="print"/>
          <a:srcRect r="2344"/>
          <a:stretch>
            <a:fillRect/>
          </a:stretch>
        </p:blipFill>
        <p:spPr>
          <a:xfrm>
            <a:off x="559994" y="508008"/>
            <a:ext cx="8092583" cy="6215082"/>
          </a:xfrm>
          <a:prstGeom prst="rect">
            <a:avLst/>
          </a:prstGeom>
        </p:spPr>
      </p:pic>
    </p:spTree>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Sadc4Map.jpg"/>
          <p:cNvPicPr>
            <a:picLocks noChangeAspect="1"/>
          </p:cNvPicPr>
          <p:nvPr/>
        </p:nvPicPr>
        <p:blipFill>
          <a:blip r:embed="rId2" cstate="print"/>
          <a:srcRect r="2343"/>
          <a:stretch>
            <a:fillRect/>
          </a:stretch>
        </p:blipFill>
        <p:spPr>
          <a:xfrm>
            <a:off x="104930" y="0"/>
            <a:ext cx="8929718" cy="6858000"/>
          </a:xfrm>
          <a:prstGeom prst="rect">
            <a:avLst/>
          </a:prstGeom>
        </p:spPr>
      </p:pic>
    </p:spTree>
  </p:cSld>
  <p:clrMapOvr>
    <a:masterClrMapping/>
  </p:clrMapOvr>
  <p:transition spd="med">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2910" y="357166"/>
            <a:ext cx="7312991" cy="484632"/>
          </a:xfrm>
        </p:spPr>
        <p:txBody>
          <a:bodyPr/>
          <a:lstStyle/>
          <a:p>
            <a:r>
              <a:rPr lang="it-IT" sz="2400" dirty="0"/>
              <a:t>HIS in the Ibero-American </a:t>
            </a:r>
            <a:r>
              <a:rPr lang="it-IT" sz="2400" dirty="0" err="1"/>
              <a:t>Countries</a:t>
            </a:r>
            <a:endParaRPr lang="en-US" sz="2400" dirty="0"/>
          </a:p>
        </p:txBody>
      </p:sp>
      <p:pic>
        <p:nvPicPr>
          <p:cNvPr id="191489" name="Picture 1"/>
          <p:cNvPicPr>
            <a:picLocks noChangeAspect="1" noChangeArrowheads="1"/>
          </p:cNvPicPr>
          <p:nvPr/>
        </p:nvPicPr>
        <p:blipFill>
          <a:blip r:embed="rId2" cstate="print"/>
          <a:srcRect r="1353"/>
          <a:stretch>
            <a:fillRect/>
          </a:stretch>
        </p:blipFill>
        <p:spPr bwMode="auto">
          <a:xfrm>
            <a:off x="755576" y="793280"/>
            <a:ext cx="7704856" cy="5857875"/>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a:spLocks noGrp="1"/>
          </p:cNvSpPr>
          <p:nvPr>
            <p:ph type="title"/>
          </p:nvPr>
        </p:nvSpPr>
        <p:spPr>
          <a:xfrm>
            <a:off x="642910" y="357166"/>
            <a:ext cx="7312991" cy="484632"/>
          </a:xfrm>
        </p:spPr>
        <p:txBody>
          <a:bodyPr/>
          <a:lstStyle/>
          <a:p>
            <a:r>
              <a:rPr lang="it-IT" sz="2400" dirty="0"/>
              <a:t>HIS in the Ibero-American </a:t>
            </a:r>
            <a:r>
              <a:rPr lang="it-IT" sz="2400" dirty="0" err="1"/>
              <a:t>Countries</a:t>
            </a:r>
            <a:endParaRPr lang="en-US" sz="2400" dirty="0"/>
          </a:p>
        </p:txBody>
      </p:sp>
      <p:pic>
        <p:nvPicPr>
          <p:cNvPr id="190465" name="Picture 1"/>
          <p:cNvPicPr>
            <a:picLocks noChangeAspect="1" noChangeArrowheads="1"/>
          </p:cNvPicPr>
          <p:nvPr/>
        </p:nvPicPr>
        <p:blipFill>
          <a:blip r:embed="rId2" cstate="print"/>
          <a:srcRect/>
          <a:stretch>
            <a:fillRect/>
          </a:stretch>
        </p:blipFill>
        <p:spPr bwMode="auto">
          <a:xfrm>
            <a:off x="784152" y="879008"/>
            <a:ext cx="7677150" cy="577215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a:spLocks noGrp="1"/>
          </p:cNvSpPr>
          <p:nvPr>
            <p:ph type="title"/>
          </p:nvPr>
        </p:nvSpPr>
        <p:spPr>
          <a:xfrm>
            <a:off x="714348" y="357166"/>
            <a:ext cx="7312991" cy="484632"/>
          </a:xfrm>
        </p:spPr>
        <p:txBody>
          <a:bodyPr/>
          <a:lstStyle/>
          <a:p>
            <a:r>
              <a:rPr lang="it-IT" sz="2400" dirty="0"/>
              <a:t>HIS in the </a:t>
            </a:r>
            <a:r>
              <a:rPr lang="it-IT" sz="2400" dirty="0" smtClean="0"/>
              <a:t>WMO RAIV</a:t>
            </a:r>
            <a:endParaRPr lang="en-US" sz="2400" dirty="0"/>
          </a:p>
        </p:txBody>
      </p:sp>
      <p:pic>
        <p:nvPicPr>
          <p:cNvPr id="4" name="Immagine 3" descr="01_RAIV_HIS.jpg"/>
          <p:cNvPicPr>
            <a:picLocks noChangeAspect="1"/>
          </p:cNvPicPr>
          <p:nvPr/>
        </p:nvPicPr>
        <p:blipFill>
          <a:blip r:embed="rId2" cstate="print"/>
          <a:srcRect r="1562"/>
          <a:stretch>
            <a:fillRect/>
          </a:stretch>
        </p:blipFill>
        <p:spPr>
          <a:xfrm>
            <a:off x="928662" y="857232"/>
            <a:ext cx="7500990" cy="5715016"/>
          </a:xfrm>
          <a:prstGeom prst="rect">
            <a:avLst/>
          </a:prstGeom>
        </p:spPr>
      </p:pic>
    </p:spTree>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05_RAIV_Obs_Map.jpg"/>
          <p:cNvPicPr>
            <a:picLocks noChangeAspect="1"/>
          </p:cNvPicPr>
          <p:nvPr/>
        </p:nvPicPr>
        <p:blipFill>
          <a:blip r:embed="rId2" cstate="print"/>
          <a:srcRect r="2343"/>
          <a:stretch>
            <a:fillRect/>
          </a:stretch>
        </p:blipFill>
        <p:spPr>
          <a:xfrm>
            <a:off x="149900" y="0"/>
            <a:ext cx="8929718" cy="6858000"/>
          </a:xfrm>
          <a:prstGeom prst="rect">
            <a:avLst/>
          </a:prstGeom>
        </p:spPr>
      </p:pic>
    </p:spTree>
  </p:cSld>
  <p:clrMapOvr>
    <a:masterClrMapping/>
  </p:clrMapOvr>
  <p:transition spd="med">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42844" y="357166"/>
            <a:ext cx="9001156" cy="828660"/>
          </a:xfrm>
          <a:prstGeom prst="rect">
            <a:avLst/>
          </a:prstGeom>
        </p:spPr>
        <p:txBody>
          <a:bodyPr/>
          <a:lstStyle/>
          <a:p>
            <a:pPr lvl="0" eaLnBrk="0" hangingPunct="0"/>
            <a:r>
              <a:rPr lang="en-US" altLang="en-US" b="1" dirty="0" smtClean="0">
                <a:solidFill>
                  <a:srgbClr val="007AC2"/>
                </a:solidFill>
              </a:rPr>
              <a:t>HIS in WMO Arctic-HYCOS</a:t>
            </a:r>
            <a:endParaRPr lang="en-US" altLang="en-US" b="1" dirty="0">
              <a:solidFill>
                <a:srgbClr val="007AC2"/>
              </a:solidFill>
            </a:endParaRPr>
          </a:p>
        </p:txBody>
      </p:sp>
      <p:pic>
        <p:nvPicPr>
          <p:cNvPr id="237571" name="Picture 3"/>
          <p:cNvPicPr>
            <a:picLocks noChangeAspect="1" noChangeArrowheads="1"/>
          </p:cNvPicPr>
          <p:nvPr/>
        </p:nvPicPr>
        <p:blipFill>
          <a:blip r:embed="rId3" cstate="print"/>
          <a:srcRect/>
          <a:stretch>
            <a:fillRect/>
          </a:stretch>
        </p:blipFill>
        <p:spPr bwMode="auto">
          <a:xfrm>
            <a:off x="827584" y="908720"/>
            <a:ext cx="7524750" cy="57531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4" name="Picture 2"/>
          <p:cNvPicPr>
            <a:picLocks noChangeAspect="1" noChangeArrowheads="1"/>
          </p:cNvPicPr>
          <p:nvPr/>
        </p:nvPicPr>
        <p:blipFill>
          <a:blip r:embed="rId3" cstate="print"/>
          <a:srcRect r="1855"/>
          <a:stretch>
            <a:fillRect/>
          </a:stretch>
        </p:blipFill>
        <p:spPr bwMode="auto">
          <a:xfrm>
            <a:off x="0" y="0"/>
            <a:ext cx="9144000" cy="6987628"/>
          </a:xfrm>
          <a:prstGeom prst="rect">
            <a:avLst/>
          </a:prstGeom>
          <a:noFill/>
          <a:ln w="9525">
            <a:noFill/>
            <a:miter lim="800000"/>
            <a:headEnd/>
            <a:tailEnd/>
          </a:ln>
          <a:effectLst/>
        </p:spPr>
      </p:pic>
    </p:spTree>
  </p:cSld>
  <p:clrMapOvr>
    <a:masterClrMapping/>
  </p:clrMapOvr>
  <p:transition spd="med">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18" name="Picture 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ransition spd="med">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642" name="Picture 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ransition spd="med">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Arctic4Map.jpg"/>
          <p:cNvPicPr>
            <a:picLocks noChangeAspect="1"/>
          </p:cNvPicPr>
          <p:nvPr/>
        </p:nvPicPr>
        <p:blipFill>
          <a:blip r:embed="rId3" cstate="print"/>
          <a:srcRect r="2343"/>
          <a:stretch>
            <a:fillRect/>
          </a:stretch>
        </p:blipFill>
        <p:spPr>
          <a:xfrm>
            <a:off x="104930" y="0"/>
            <a:ext cx="8929718" cy="6858000"/>
          </a:xfrm>
          <a:prstGeom prst="rect">
            <a:avLst/>
          </a:prstGeom>
        </p:spPr>
      </p:pic>
    </p:spTree>
  </p:cSld>
  <p:clrMapOvr>
    <a:masterClrMapping/>
  </p:clrMapOvr>
  <p:transition spd="med">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2690" name="Picture 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ransition spd="med">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714" name="Picture 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08_RAIV_Mod_Services.jpg"/>
          <p:cNvPicPr>
            <a:picLocks noChangeAspect="1"/>
          </p:cNvPicPr>
          <p:nvPr/>
        </p:nvPicPr>
        <p:blipFill>
          <a:blip r:embed="rId3" cstate="print"/>
          <a:stretch>
            <a:fillRect/>
          </a:stretch>
        </p:blipFill>
        <p:spPr>
          <a:xfrm>
            <a:off x="0" y="0"/>
            <a:ext cx="9144000" cy="6858000"/>
          </a:xfrm>
          <a:prstGeom prst="rect">
            <a:avLst/>
          </a:prstGeom>
        </p:spPr>
      </p:pic>
    </p:spTree>
  </p:cSld>
  <p:clrMapOvr>
    <a:masterClrMapping/>
  </p:clrMapOvr>
  <p:transition spd="med">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738" name="Picture 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ransition spd="med">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62" name="Picture 2"/>
          <p:cNvPicPr>
            <a:picLocks noChangeAspect="1" noChangeArrowheads="1"/>
          </p:cNvPicPr>
          <p:nvPr/>
        </p:nvPicPr>
        <p:blipFill>
          <a:blip r:embed="rId3" cstate="print"/>
          <a:srcRect r="1963"/>
          <a:stretch>
            <a:fillRect/>
          </a:stretch>
        </p:blipFill>
        <p:spPr bwMode="auto">
          <a:xfrm>
            <a:off x="0" y="0"/>
            <a:ext cx="9144000" cy="6995330"/>
          </a:xfrm>
          <a:prstGeom prst="rect">
            <a:avLst/>
          </a:prstGeom>
          <a:noFill/>
          <a:ln w="9525">
            <a:noFill/>
            <a:miter lim="800000"/>
            <a:headEnd/>
            <a:tailEnd/>
          </a:ln>
          <a:effectLst/>
        </p:spPr>
      </p:pic>
    </p:spTree>
  </p:cSld>
  <p:clrMapOvr>
    <a:masterClrMapping/>
  </p:clrMapOvr>
  <p:transition spd="med">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11_RAIV_WaterWatch.jpg"/>
          <p:cNvPicPr>
            <a:picLocks noChangeAspect="1"/>
          </p:cNvPicPr>
          <p:nvPr/>
        </p:nvPicPr>
        <p:blipFill>
          <a:blip r:embed="rId3" cstate="print"/>
          <a:srcRect r="2343"/>
          <a:stretch>
            <a:fillRect/>
          </a:stretch>
        </p:blipFill>
        <p:spPr>
          <a:xfrm>
            <a:off x="119920" y="0"/>
            <a:ext cx="8929718" cy="6858000"/>
          </a:xfrm>
          <a:prstGeom prst="rect">
            <a:avLst/>
          </a:prstGeom>
        </p:spPr>
      </p:pic>
    </p:spTree>
  </p:cSld>
  <p:clrMapOvr>
    <a:masterClrMapping/>
  </p:clrMapOvr>
  <p:transition spd="med">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766568"/>
            <a:ext cx="9144000" cy="484632"/>
          </a:xfrm>
        </p:spPr>
        <p:txBody>
          <a:bodyPr/>
          <a:lstStyle/>
          <a:p>
            <a:pPr algn="ctr"/>
            <a:r>
              <a:rPr lang="it-IT" dirty="0" smtClean="0"/>
              <a:t>HYDROLOGIC DATA SHARING IN WHOS</a:t>
            </a:r>
            <a:endParaRPr lang="en-US" dirty="0"/>
          </a:p>
        </p:txBody>
      </p:sp>
    </p:spTree>
  </p:cSld>
  <p:clrMapOvr>
    <a:masterClrMapping/>
  </p:clrMapOvr>
  <p:transition spd="med">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685800"/>
            <a:ext cx="8686800" cy="553998"/>
          </a:xfrm>
          <a:prstGeom prst="rect">
            <a:avLst/>
          </a:prstGeom>
        </p:spPr>
        <p:txBody>
          <a:bodyPr wrap="square">
            <a:spAutoFit/>
          </a:bodyPr>
          <a:lstStyle/>
          <a:p>
            <a:pPr algn="ctr">
              <a:spcBef>
                <a:spcPts val="800"/>
              </a:spcBef>
              <a:defRPr/>
            </a:pPr>
            <a:r>
              <a:rPr lang="en-CA" sz="3000" b="1" dirty="0" smtClean="0">
                <a:solidFill>
                  <a:srgbClr val="0000FF"/>
                </a:solidFill>
                <a:effectLst>
                  <a:outerShdw blurRad="38100" dist="25400" dir="2700000" algn="tl" rotWithShape="0">
                    <a:srgbClr val="000000">
                      <a:alpha val="60000"/>
                    </a:srgbClr>
                  </a:outerShdw>
                </a:effectLst>
              </a:rPr>
              <a:t>WMO Hydrological Observing System (WHOS)</a:t>
            </a:r>
          </a:p>
        </p:txBody>
      </p:sp>
      <p:sp>
        <p:nvSpPr>
          <p:cNvPr id="3" name="TextBox 2"/>
          <p:cNvSpPr txBox="1"/>
          <p:nvPr/>
        </p:nvSpPr>
        <p:spPr>
          <a:xfrm>
            <a:off x="457200" y="2057400"/>
            <a:ext cx="8326869" cy="492443"/>
          </a:xfrm>
          <a:prstGeom prst="rect">
            <a:avLst/>
          </a:prstGeom>
          <a:noFill/>
        </p:spPr>
        <p:txBody>
          <a:bodyPr wrap="none" rtlCol="0">
            <a:spAutoFit/>
          </a:bodyPr>
          <a:lstStyle/>
          <a:p>
            <a:r>
              <a:rPr lang="en-US" sz="2600" dirty="0" smtClean="0"/>
              <a:t>No analogue to World Weather Watch within hydrology.</a:t>
            </a:r>
            <a:endParaRPr lang="en-US" sz="2600" dirty="0"/>
          </a:p>
        </p:txBody>
      </p:sp>
      <p:sp>
        <p:nvSpPr>
          <p:cNvPr id="5" name="TextBox 4"/>
          <p:cNvSpPr txBox="1"/>
          <p:nvPr/>
        </p:nvSpPr>
        <p:spPr>
          <a:xfrm>
            <a:off x="457200" y="2669989"/>
            <a:ext cx="8458200" cy="892552"/>
          </a:xfrm>
          <a:prstGeom prst="rect">
            <a:avLst/>
          </a:prstGeom>
          <a:noFill/>
        </p:spPr>
        <p:txBody>
          <a:bodyPr wrap="square" rtlCol="0">
            <a:spAutoFit/>
          </a:bodyPr>
          <a:lstStyle/>
          <a:p>
            <a:r>
              <a:rPr lang="en-US" sz="2600" dirty="0" smtClean="0"/>
              <a:t>No portal to real-time hydrological data of </a:t>
            </a:r>
            <a:r>
              <a:rPr lang="en-US" sz="2600" dirty="0" err="1" smtClean="0"/>
              <a:t>NHSs</a:t>
            </a:r>
            <a:r>
              <a:rPr lang="en-US" sz="2600" dirty="0" smtClean="0"/>
              <a:t>, or direct online access to NHS historical data.</a:t>
            </a:r>
          </a:p>
        </p:txBody>
      </p:sp>
      <p:sp>
        <p:nvSpPr>
          <p:cNvPr id="6" name="TextBox 5"/>
          <p:cNvSpPr txBox="1"/>
          <p:nvPr/>
        </p:nvSpPr>
        <p:spPr>
          <a:xfrm>
            <a:off x="457200" y="3689878"/>
            <a:ext cx="7276126" cy="492443"/>
          </a:xfrm>
          <a:prstGeom prst="rect">
            <a:avLst/>
          </a:prstGeom>
          <a:noFill/>
        </p:spPr>
        <p:txBody>
          <a:bodyPr wrap="none" rtlCol="0">
            <a:spAutoFit/>
          </a:bodyPr>
          <a:lstStyle/>
          <a:p>
            <a:r>
              <a:rPr lang="en-US" sz="2600" dirty="0" smtClean="0">
                <a:latin typeface="Arial"/>
                <a:cs typeface="Arial"/>
              </a:rPr>
              <a:t>WHYCOS is capacity building, not data delivery.</a:t>
            </a:r>
            <a:endParaRPr lang="en-US" sz="2600" dirty="0">
              <a:latin typeface="Arial"/>
              <a:cs typeface="Arial"/>
            </a:endParaRPr>
          </a:p>
        </p:txBody>
      </p:sp>
      <p:sp>
        <p:nvSpPr>
          <p:cNvPr id="7" name="TextBox 6"/>
          <p:cNvSpPr txBox="1"/>
          <p:nvPr/>
        </p:nvSpPr>
        <p:spPr>
          <a:xfrm>
            <a:off x="457200" y="4295013"/>
            <a:ext cx="8458200" cy="1692771"/>
          </a:xfrm>
          <a:prstGeom prst="rect">
            <a:avLst/>
          </a:prstGeom>
          <a:noFill/>
        </p:spPr>
        <p:txBody>
          <a:bodyPr wrap="square" rtlCol="0">
            <a:spAutoFit/>
          </a:bodyPr>
          <a:lstStyle/>
          <a:p>
            <a:pPr>
              <a:spcBef>
                <a:spcPts val="0"/>
              </a:spcBef>
            </a:pPr>
            <a:r>
              <a:rPr lang="en-US" sz="2600" dirty="0" smtClean="0">
                <a:latin typeface="Arial"/>
                <a:cs typeface="Arial"/>
              </a:rPr>
              <a:t>Given increasing number of </a:t>
            </a:r>
            <a:r>
              <a:rPr lang="en-US" sz="2600" dirty="0" err="1" smtClean="0">
                <a:latin typeface="Arial"/>
                <a:cs typeface="Arial"/>
              </a:rPr>
              <a:t>NHSs</a:t>
            </a:r>
            <a:r>
              <a:rPr lang="en-US" sz="2600" dirty="0" smtClean="0">
                <a:latin typeface="Arial"/>
                <a:cs typeface="Arial"/>
              </a:rPr>
              <a:t> with real-time and</a:t>
            </a:r>
          </a:p>
          <a:p>
            <a:pPr>
              <a:spcBef>
                <a:spcPts val="0"/>
              </a:spcBef>
            </a:pPr>
            <a:r>
              <a:rPr lang="en-US" sz="2600" dirty="0" smtClean="0">
                <a:latin typeface="Arial"/>
                <a:cs typeface="Arial"/>
              </a:rPr>
              <a:t>historical data available online, as well as systems that facilitate data exchange and interoperability (e.g., </a:t>
            </a:r>
            <a:r>
              <a:rPr lang="en-US" sz="2600" dirty="0" err="1" smtClean="0">
                <a:latin typeface="Arial"/>
                <a:cs typeface="Arial"/>
              </a:rPr>
              <a:t>WaterML</a:t>
            </a:r>
            <a:r>
              <a:rPr lang="en-US" sz="2600" dirty="0" smtClean="0">
                <a:latin typeface="Arial"/>
                <a:cs typeface="Arial"/>
              </a:rPr>
              <a:t> 2.0), improved accessibility is achievable goal.</a:t>
            </a:r>
            <a:endParaRPr lang="en-US" sz="2600" dirty="0">
              <a:latin typeface="Arial"/>
              <a:cs typeface="Arial"/>
            </a:endParaRPr>
          </a:p>
        </p:txBody>
      </p:sp>
      <p:sp>
        <p:nvSpPr>
          <p:cNvPr id="8" name="TextBox 7"/>
          <p:cNvSpPr txBox="1"/>
          <p:nvPr/>
        </p:nvSpPr>
        <p:spPr>
          <a:xfrm>
            <a:off x="427947" y="1447800"/>
            <a:ext cx="2240893" cy="492443"/>
          </a:xfrm>
          <a:prstGeom prst="rect">
            <a:avLst/>
          </a:prstGeom>
          <a:noFill/>
        </p:spPr>
        <p:txBody>
          <a:bodyPr wrap="none" rtlCol="0">
            <a:spAutoFit/>
          </a:bodyPr>
          <a:lstStyle/>
          <a:p>
            <a:r>
              <a:rPr lang="en-US" sz="2600" b="1" dirty="0" smtClean="0">
                <a:solidFill>
                  <a:srgbClr val="0000CC"/>
                </a:solidFill>
              </a:rPr>
              <a:t>Background:</a:t>
            </a:r>
            <a:endParaRPr lang="en-US" sz="2600" b="1" dirty="0">
              <a:solidFill>
                <a:srgbClr val="0000CC"/>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685800"/>
            <a:ext cx="8686800" cy="553998"/>
          </a:xfrm>
          <a:prstGeom prst="rect">
            <a:avLst/>
          </a:prstGeom>
        </p:spPr>
        <p:txBody>
          <a:bodyPr wrap="square">
            <a:spAutoFit/>
          </a:bodyPr>
          <a:lstStyle/>
          <a:p>
            <a:pPr algn="ctr">
              <a:spcBef>
                <a:spcPts val="800"/>
              </a:spcBef>
              <a:defRPr/>
            </a:pPr>
            <a:r>
              <a:rPr lang="en-CA" sz="3000" b="1" dirty="0" smtClean="0">
                <a:solidFill>
                  <a:srgbClr val="0000FF"/>
                </a:solidFill>
                <a:effectLst>
                  <a:outerShdw blurRad="38100" dist="25400" dir="2700000" algn="tl" rotWithShape="0">
                    <a:srgbClr val="000000">
                      <a:alpha val="60000"/>
                    </a:srgbClr>
                  </a:outerShdw>
                </a:effectLst>
              </a:rPr>
              <a:t>WMO Hydrological Observing System (WHOS)</a:t>
            </a:r>
          </a:p>
        </p:txBody>
      </p:sp>
      <p:sp>
        <p:nvSpPr>
          <p:cNvPr id="8" name="TextBox 7"/>
          <p:cNvSpPr txBox="1"/>
          <p:nvPr/>
        </p:nvSpPr>
        <p:spPr>
          <a:xfrm>
            <a:off x="395103" y="1676400"/>
            <a:ext cx="1722359" cy="492443"/>
          </a:xfrm>
          <a:prstGeom prst="rect">
            <a:avLst/>
          </a:prstGeom>
          <a:noFill/>
        </p:spPr>
        <p:txBody>
          <a:bodyPr wrap="none" rtlCol="0">
            <a:spAutoFit/>
          </a:bodyPr>
          <a:lstStyle/>
          <a:p>
            <a:pPr>
              <a:spcBef>
                <a:spcPts val="0"/>
              </a:spcBef>
              <a:spcAft>
                <a:spcPts val="600"/>
              </a:spcAft>
            </a:pPr>
            <a:r>
              <a:rPr lang="en-US" sz="2600" b="1" dirty="0" smtClean="0">
                <a:solidFill>
                  <a:srgbClr val="0000CC"/>
                </a:solidFill>
              </a:rPr>
              <a:t>Proposal:</a:t>
            </a:r>
            <a:endParaRPr lang="en-US" sz="2600" b="1" dirty="0">
              <a:solidFill>
                <a:srgbClr val="0000CC"/>
              </a:solidFill>
            </a:endParaRPr>
          </a:p>
        </p:txBody>
      </p:sp>
      <p:sp>
        <p:nvSpPr>
          <p:cNvPr id="9" name="TextBox 8"/>
          <p:cNvSpPr txBox="1"/>
          <p:nvPr/>
        </p:nvSpPr>
        <p:spPr>
          <a:xfrm>
            <a:off x="381000" y="2336155"/>
            <a:ext cx="8464276" cy="2693045"/>
          </a:xfrm>
          <a:prstGeom prst="rect">
            <a:avLst/>
          </a:prstGeom>
          <a:noFill/>
        </p:spPr>
        <p:txBody>
          <a:bodyPr wrap="none" rtlCol="0">
            <a:spAutoFit/>
          </a:bodyPr>
          <a:lstStyle/>
          <a:p>
            <a:pPr>
              <a:spcBef>
                <a:spcPts val="0"/>
              </a:spcBef>
              <a:spcAft>
                <a:spcPts val="600"/>
              </a:spcAft>
            </a:pPr>
            <a:r>
              <a:rPr lang="en-US" dirty="0" err="1" smtClean="0"/>
              <a:t>CHy</a:t>
            </a:r>
            <a:r>
              <a:rPr lang="en-US" dirty="0" smtClean="0"/>
              <a:t> Advisory Working Group has proposed the </a:t>
            </a:r>
            <a:r>
              <a:rPr lang="en-US" b="1" dirty="0" smtClean="0"/>
              <a:t>WMO</a:t>
            </a:r>
          </a:p>
          <a:p>
            <a:pPr>
              <a:spcBef>
                <a:spcPts val="0"/>
              </a:spcBef>
              <a:spcAft>
                <a:spcPts val="600"/>
              </a:spcAft>
            </a:pPr>
            <a:r>
              <a:rPr lang="en-US" b="1" dirty="0" smtClean="0"/>
              <a:t>Hydrological Observing System (WHOS)</a:t>
            </a:r>
            <a:r>
              <a:rPr lang="en-US" dirty="0" smtClean="0"/>
              <a:t> as the means to</a:t>
            </a:r>
          </a:p>
          <a:p>
            <a:pPr>
              <a:spcBef>
                <a:spcPts val="0"/>
              </a:spcBef>
              <a:spcAft>
                <a:spcPts val="600"/>
              </a:spcAft>
            </a:pPr>
            <a:r>
              <a:rPr lang="en-US" dirty="0" smtClean="0"/>
              <a:t>provide the most comprehensive hydrological component in</a:t>
            </a:r>
          </a:p>
          <a:p>
            <a:pPr>
              <a:spcBef>
                <a:spcPts val="0"/>
              </a:spcBef>
              <a:spcAft>
                <a:spcPts val="600"/>
              </a:spcAft>
            </a:pPr>
            <a:r>
              <a:rPr lang="en-US" dirty="0" smtClean="0"/>
              <a:t>fulfillment of the WIGOS objective of “an integrated,</a:t>
            </a:r>
          </a:p>
          <a:p>
            <a:pPr>
              <a:spcBef>
                <a:spcPts val="0"/>
              </a:spcBef>
              <a:spcAft>
                <a:spcPts val="600"/>
              </a:spcAft>
            </a:pPr>
            <a:r>
              <a:rPr lang="en-US" dirty="0" smtClean="0"/>
              <a:t>comprehensive, and coordinated system which is comprised</a:t>
            </a:r>
          </a:p>
          <a:p>
            <a:pPr>
              <a:spcBef>
                <a:spcPts val="0"/>
              </a:spcBef>
              <a:spcAft>
                <a:spcPts val="600"/>
              </a:spcAft>
            </a:pPr>
            <a:r>
              <a:rPr lang="en-US" dirty="0" smtClean="0"/>
              <a:t>of the present WMO global observing systems.”</a:t>
            </a:r>
            <a:endParaRPr lang="en-US" dirty="0"/>
          </a:p>
        </p:txBody>
      </p:sp>
    </p:spTree>
  </p:cSld>
  <p:clrMapOvr>
    <a:masterClrMapping/>
  </p:clrMapOvr>
  <p:transition spd="med">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685800"/>
            <a:ext cx="8686800" cy="553998"/>
          </a:xfrm>
          <a:prstGeom prst="rect">
            <a:avLst/>
          </a:prstGeom>
        </p:spPr>
        <p:txBody>
          <a:bodyPr wrap="square">
            <a:spAutoFit/>
          </a:bodyPr>
          <a:lstStyle/>
          <a:p>
            <a:pPr algn="ctr">
              <a:spcBef>
                <a:spcPts val="800"/>
              </a:spcBef>
              <a:defRPr/>
            </a:pPr>
            <a:r>
              <a:rPr lang="en-CA" sz="3000" b="1" dirty="0" smtClean="0">
                <a:solidFill>
                  <a:srgbClr val="0000FF"/>
                </a:solidFill>
                <a:effectLst>
                  <a:outerShdw blurRad="38100" dist="25400" dir="2700000" algn="tl" rotWithShape="0">
                    <a:srgbClr val="000000">
                      <a:alpha val="60000"/>
                    </a:srgbClr>
                  </a:outerShdw>
                </a:effectLst>
              </a:rPr>
              <a:t>WMO Hydrological Observing System (WHOS)</a:t>
            </a:r>
          </a:p>
        </p:txBody>
      </p:sp>
      <p:sp>
        <p:nvSpPr>
          <p:cNvPr id="8" name="TextBox 7"/>
          <p:cNvSpPr txBox="1"/>
          <p:nvPr/>
        </p:nvSpPr>
        <p:spPr>
          <a:xfrm>
            <a:off x="395103" y="1676400"/>
            <a:ext cx="1407331" cy="492443"/>
          </a:xfrm>
          <a:prstGeom prst="rect">
            <a:avLst/>
          </a:prstGeom>
          <a:noFill/>
        </p:spPr>
        <p:txBody>
          <a:bodyPr wrap="none" rtlCol="0">
            <a:spAutoFit/>
          </a:bodyPr>
          <a:lstStyle/>
          <a:p>
            <a:pPr>
              <a:spcBef>
                <a:spcPts val="0"/>
              </a:spcBef>
              <a:spcAft>
                <a:spcPts val="600"/>
              </a:spcAft>
            </a:pPr>
            <a:r>
              <a:rPr lang="en-US" sz="2600" b="1" dirty="0" smtClean="0">
                <a:solidFill>
                  <a:srgbClr val="0000CC"/>
                </a:solidFill>
              </a:rPr>
              <a:t>Design:</a:t>
            </a:r>
            <a:endParaRPr lang="en-US" sz="2600" b="1" dirty="0">
              <a:solidFill>
                <a:srgbClr val="0000CC"/>
              </a:solidFill>
            </a:endParaRPr>
          </a:p>
        </p:txBody>
      </p:sp>
      <p:sp>
        <p:nvSpPr>
          <p:cNvPr id="9" name="TextBox 8"/>
          <p:cNvSpPr txBox="1"/>
          <p:nvPr/>
        </p:nvSpPr>
        <p:spPr>
          <a:xfrm>
            <a:off x="381000" y="2336155"/>
            <a:ext cx="7813708" cy="2246769"/>
          </a:xfrm>
          <a:prstGeom prst="rect">
            <a:avLst/>
          </a:prstGeom>
          <a:noFill/>
        </p:spPr>
        <p:txBody>
          <a:bodyPr wrap="none" rtlCol="0">
            <a:spAutoFit/>
          </a:bodyPr>
          <a:lstStyle/>
          <a:p>
            <a:pPr>
              <a:spcBef>
                <a:spcPts val="0"/>
              </a:spcBef>
              <a:spcAft>
                <a:spcPts val="600"/>
              </a:spcAft>
            </a:pPr>
            <a:r>
              <a:rPr lang="en-US" b="1" dirty="0" smtClean="0"/>
              <a:t>WHOS</a:t>
            </a:r>
            <a:r>
              <a:rPr lang="en-US" dirty="0" smtClean="0"/>
              <a:t> is conceived as a portal to facilitate access to </a:t>
            </a:r>
          </a:p>
          <a:p>
            <a:pPr>
              <a:spcBef>
                <a:spcPts val="0"/>
              </a:spcBef>
              <a:spcAft>
                <a:spcPts val="600"/>
              </a:spcAft>
            </a:pPr>
            <a:r>
              <a:rPr lang="en-US" dirty="0" smtClean="0"/>
              <a:t>already available on-line real-time and historical data, </a:t>
            </a:r>
          </a:p>
          <a:p>
            <a:pPr>
              <a:spcBef>
                <a:spcPts val="0"/>
              </a:spcBef>
              <a:spcAft>
                <a:spcPts val="600"/>
              </a:spcAft>
            </a:pPr>
            <a:r>
              <a:rPr lang="en-US" dirty="0" smtClean="0"/>
              <a:t>drawing from the water information systems of countries </a:t>
            </a:r>
          </a:p>
          <a:p>
            <a:pPr>
              <a:spcBef>
                <a:spcPts val="0"/>
              </a:spcBef>
              <a:spcAft>
                <a:spcPts val="600"/>
              </a:spcAft>
            </a:pPr>
            <a:r>
              <a:rPr lang="en-US" dirty="0" smtClean="0"/>
              <a:t>around the world that make their data freely and openly </a:t>
            </a:r>
          </a:p>
          <a:p>
            <a:pPr>
              <a:spcBef>
                <a:spcPts val="0"/>
              </a:spcBef>
              <a:spcAft>
                <a:spcPts val="600"/>
              </a:spcAft>
            </a:pPr>
            <a:r>
              <a:rPr lang="en-US" dirty="0" smtClean="0"/>
              <a:t>available, including HYCOS projects.</a:t>
            </a:r>
            <a:endParaRPr lang="en-US" kern="0" dirty="0"/>
          </a:p>
        </p:txBody>
      </p:sp>
    </p:spTree>
  </p:cSld>
  <p:clrMapOvr>
    <a:masterClrMapping/>
  </p:clrMapOvr>
  <p:transition spd="med">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81000"/>
            <a:ext cx="8686800" cy="553998"/>
          </a:xfrm>
          <a:prstGeom prst="rect">
            <a:avLst/>
          </a:prstGeom>
        </p:spPr>
        <p:txBody>
          <a:bodyPr wrap="square">
            <a:spAutoFit/>
          </a:bodyPr>
          <a:lstStyle/>
          <a:p>
            <a:pPr algn="ctr">
              <a:spcBef>
                <a:spcPts val="800"/>
              </a:spcBef>
              <a:defRPr/>
            </a:pPr>
            <a:r>
              <a:rPr lang="en-CA" sz="3000" b="1" dirty="0" smtClean="0">
                <a:solidFill>
                  <a:srgbClr val="0000FF"/>
                </a:solidFill>
                <a:effectLst>
                  <a:outerShdw blurRad="38100" dist="25400" dir="2700000" algn="tl" rotWithShape="0">
                    <a:srgbClr val="000000">
                      <a:alpha val="60000"/>
                    </a:srgbClr>
                  </a:outerShdw>
                </a:effectLst>
              </a:rPr>
              <a:t>WMO Hydrological Observing System (WHOS)</a:t>
            </a:r>
          </a:p>
        </p:txBody>
      </p:sp>
      <p:sp>
        <p:nvSpPr>
          <p:cNvPr id="8" name="TextBox 7"/>
          <p:cNvSpPr txBox="1"/>
          <p:nvPr/>
        </p:nvSpPr>
        <p:spPr>
          <a:xfrm>
            <a:off x="304800" y="969256"/>
            <a:ext cx="2759589" cy="492443"/>
          </a:xfrm>
          <a:prstGeom prst="rect">
            <a:avLst/>
          </a:prstGeom>
          <a:noFill/>
        </p:spPr>
        <p:txBody>
          <a:bodyPr wrap="none" rtlCol="0">
            <a:spAutoFit/>
          </a:bodyPr>
          <a:lstStyle/>
          <a:p>
            <a:pPr>
              <a:spcBef>
                <a:spcPts val="0"/>
              </a:spcBef>
              <a:spcAft>
                <a:spcPts val="600"/>
              </a:spcAft>
            </a:pPr>
            <a:r>
              <a:rPr lang="en-US" sz="2600" b="1" dirty="0" smtClean="0">
                <a:solidFill>
                  <a:srgbClr val="0000CC"/>
                </a:solidFill>
              </a:rPr>
              <a:t>Implementation:</a:t>
            </a:r>
            <a:endParaRPr lang="en-US" sz="2600" b="1" dirty="0">
              <a:solidFill>
                <a:srgbClr val="0000CC"/>
              </a:solidFill>
            </a:endParaRPr>
          </a:p>
        </p:txBody>
      </p:sp>
      <p:sp>
        <p:nvSpPr>
          <p:cNvPr id="9" name="TextBox 8"/>
          <p:cNvSpPr txBox="1"/>
          <p:nvPr/>
        </p:nvSpPr>
        <p:spPr>
          <a:xfrm>
            <a:off x="381000" y="1524000"/>
            <a:ext cx="8534400" cy="1646605"/>
          </a:xfrm>
          <a:prstGeom prst="rect">
            <a:avLst/>
          </a:prstGeom>
          <a:noFill/>
        </p:spPr>
        <p:txBody>
          <a:bodyPr wrap="square" rtlCol="0">
            <a:spAutoFit/>
          </a:bodyPr>
          <a:lstStyle/>
          <a:p>
            <a:pPr>
              <a:spcBef>
                <a:spcPts val="0"/>
              </a:spcBef>
              <a:spcAft>
                <a:spcPts val="600"/>
              </a:spcAft>
            </a:pPr>
            <a:r>
              <a:rPr lang="en-US" b="1" dirty="0" smtClean="0"/>
              <a:t>Phase 1:</a:t>
            </a:r>
          </a:p>
          <a:p>
            <a:pPr>
              <a:spcBef>
                <a:spcPts val="0"/>
              </a:spcBef>
              <a:spcAft>
                <a:spcPts val="600"/>
              </a:spcAft>
            </a:pPr>
            <a:r>
              <a:rPr lang="en-US" dirty="0" smtClean="0"/>
              <a:t>Map interface with links to those </a:t>
            </a:r>
            <a:r>
              <a:rPr lang="en-US" dirty="0" err="1" smtClean="0"/>
              <a:t>NHSs</a:t>
            </a:r>
            <a:r>
              <a:rPr lang="en-US" dirty="0" smtClean="0"/>
              <a:t> that make their real-time and historical stage and discharge data available online.  Initial implementation July 2015.</a:t>
            </a:r>
          </a:p>
        </p:txBody>
      </p:sp>
      <p:sp>
        <p:nvSpPr>
          <p:cNvPr id="5" name="TextBox 4"/>
          <p:cNvSpPr txBox="1"/>
          <p:nvPr/>
        </p:nvSpPr>
        <p:spPr>
          <a:xfrm>
            <a:off x="381000" y="3200400"/>
            <a:ext cx="8534400" cy="2908489"/>
          </a:xfrm>
          <a:prstGeom prst="rect">
            <a:avLst/>
          </a:prstGeom>
          <a:noFill/>
        </p:spPr>
        <p:txBody>
          <a:bodyPr wrap="square" rtlCol="0">
            <a:spAutoFit/>
          </a:bodyPr>
          <a:lstStyle/>
          <a:p>
            <a:pPr>
              <a:spcBef>
                <a:spcPts val="0"/>
              </a:spcBef>
              <a:spcAft>
                <a:spcPts val="600"/>
              </a:spcAft>
            </a:pPr>
            <a:r>
              <a:rPr lang="en-US" b="1" dirty="0" smtClean="0"/>
              <a:t>Phase 2:</a:t>
            </a:r>
          </a:p>
          <a:p>
            <a:pPr>
              <a:spcBef>
                <a:spcPts val="0"/>
              </a:spcBef>
              <a:spcAft>
                <a:spcPts val="600"/>
              </a:spcAft>
            </a:pPr>
            <a:r>
              <a:rPr lang="en-US" dirty="0" smtClean="0"/>
              <a:t>A fully WIS/WIGOS compliant services-oriented framework linking hydrologic data providers and users through a hydrologic information system enabling data registration, data discovery, and data access.</a:t>
            </a:r>
          </a:p>
          <a:p>
            <a:pPr>
              <a:spcBef>
                <a:spcPts val="0"/>
              </a:spcBef>
              <a:spcAft>
                <a:spcPts val="0"/>
              </a:spcAft>
            </a:pPr>
            <a:r>
              <a:rPr lang="en-US" dirty="0" smtClean="0"/>
              <a:t>Beta version for CHy-15 review and endorsement (Nov 2016)</a:t>
            </a:r>
          </a:p>
          <a:p>
            <a:pPr>
              <a:spcBef>
                <a:spcPts val="0"/>
              </a:spcBef>
              <a:spcAft>
                <a:spcPts val="0"/>
              </a:spcAft>
            </a:pPr>
            <a:r>
              <a:rPr lang="en-US" dirty="0" smtClean="0"/>
              <a:t>Initial implementation for EC approval (June 2018)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r="1855"/>
          <a:stretch>
            <a:fillRect/>
          </a:stretch>
        </p:blipFill>
        <p:spPr bwMode="auto">
          <a:xfrm>
            <a:off x="642910" y="0"/>
            <a:ext cx="8320015" cy="6357958"/>
          </a:xfrm>
          <a:prstGeom prst="rect">
            <a:avLst/>
          </a:prstGeom>
          <a:noFill/>
          <a:ln w="9525">
            <a:noFill/>
            <a:miter lim="800000"/>
            <a:headEnd/>
            <a:tailEnd/>
          </a:ln>
          <a:effectLst/>
        </p:spPr>
      </p:pic>
      <p:sp>
        <p:nvSpPr>
          <p:cNvPr id="4" name="Rectangle 3"/>
          <p:cNvSpPr/>
          <p:nvPr/>
        </p:nvSpPr>
        <p:spPr>
          <a:xfrm>
            <a:off x="457200" y="6304002"/>
            <a:ext cx="8686800" cy="461665"/>
          </a:xfrm>
          <a:prstGeom prst="rect">
            <a:avLst/>
          </a:prstGeom>
        </p:spPr>
        <p:txBody>
          <a:bodyPr wrap="square">
            <a:spAutoFit/>
          </a:bodyPr>
          <a:lstStyle/>
          <a:p>
            <a:pPr algn="ctr">
              <a:spcBef>
                <a:spcPts val="800"/>
              </a:spcBef>
              <a:defRPr/>
            </a:pPr>
            <a:r>
              <a:rPr lang="en-CA" dirty="0" smtClean="0">
                <a:solidFill>
                  <a:srgbClr val="0000FF"/>
                </a:solidFill>
                <a:effectLst>
                  <a:outerShdw blurRad="38100" dist="25400" dir="2700000" algn="tl" rotWithShape="0">
                    <a:srgbClr val="000000">
                      <a:alpha val="60000"/>
                    </a:srgbClr>
                  </a:outerShdw>
                </a:effectLst>
              </a:rPr>
              <a:t>http://www.wmo.int/pages/prog/hwrp/chy/whos/index.php</a:t>
            </a:r>
            <a:endParaRPr lang="en-CA" dirty="0" smtClean="0">
              <a:solidFill>
                <a:srgbClr val="0000FF"/>
              </a:solidFill>
              <a:effectLst>
                <a:outerShdw blurRad="38100" dist="25400" dir="2700000" algn="tl" rotWithShape="0">
                  <a:srgbClr val="000000">
                    <a:alpha val="60000"/>
                  </a:srgbClr>
                </a:outerShdw>
              </a:effectLst>
            </a:endParaRPr>
          </a:p>
        </p:txBody>
      </p:sp>
      <p:sp>
        <p:nvSpPr>
          <p:cNvPr id="8" name="Right Arrow 7"/>
          <p:cNvSpPr/>
          <p:nvPr/>
        </p:nvSpPr>
        <p:spPr>
          <a:xfrm>
            <a:off x="3643306" y="2357430"/>
            <a:ext cx="838200" cy="315472"/>
          </a:xfrm>
          <a:prstGeom prst="rightArrow">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Screen Shot 2015-05-20 at 2.18.50 PM.png"/>
          <p:cNvPicPr>
            <a:picLocks noChangeAspect="1"/>
          </p:cNvPicPr>
          <p:nvPr/>
        </p:nvPicPr>
        <p:blipFill>
          <a:blip r:embed="rId3" cstate="print"/>
          <a:stretch>
            <a:fillRect/>
          </a:stretch>
        </p:blipFill>
        <p:spPr>
          <a:xfrm>
            <a:off x="2285984" y="1857364"/>
            <a:ext cx="2959100" cy="1355516"/>
          </a:xfrm>
          <a:prstGeom prst="rect">
            <a:avLst/>
          </a:prstGeom>
          <a:ln>
            <a:solidFill>
              <a:schemeClr val="bg1">
                <a:lumMod val="50000"/>
              </a:schemeClr>
            </a:solidFill>
          </a:ln>
          <a:effectLst>
            <a:outerShdw blurRad="50800" dist="38100" dir="2700000" algn="tl" rotWithShape="0">
              <a:srgbClr val="000000">
                <a:alpha val="43000"/>
              </a:srgbClr>
            </a:outerShdw>
          </a:effectLst>
        </p:spPr>
      </p:pic>
      <p:sp>
        <p:nvSpPr>
          <p:cNvPr id="12" name="Right Arrow 11"/>
          <p:cNvSpPr/>
          <p:nvPr/>
        </p:nvSpPr>
        <p:spPr>
          <a:xfrm rot="10800000">
            <a:off x="3428992" y="2857496"/>
            <a:ext cx="838200" cy="315472"/>
          </a:xfrm>
          <a:prstGeom prst="rightArrow">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accel="50000" decel="5000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accel="50000" decel="5000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1+#ppt_w/2"/>
                                          </p:val>
                                        </p:tav>
                                        <p:tav tm="100000">
                                          <p:val>
                                            <p:strVal val="#ppt_x"/>
                                          </p:val>
                                        </p:tav>
                                      </p:tavLst>
                                    </p:anim>
                                    <p:anim calcmode="lin" valueType="num">
                                      <p:cBhvr additive="base">
                                        <p:cTn id="19"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5-20 at 2.33.23 PM.png"/>
          <p:cNvPicPr>
            <a:picLocks noChangeAspect="1"/>
          </p:cNvPicPr>
          <p:nvPr/>
        </p:nvPicPr>
        <p:blipFill>
          <a:blip r:embed="rId2" cstate="print"/>
          <a:stretch>
            <a:fillRect/>
          </a:stretch>
        </p:blipFill>
        <p:spPr>
          <a:xfrm>
            <a:off x="0" y="228600"/>
            <a:ext cx="9144000" cy="5592048"/>
          </a:xfrm>
          <a:prstGeom prst="rect">
            <a:avLst/>
          </a:prstGeom>
        </p:spPr>
      </p:pic>
    </p:spTree>
  </p:cSld>
  <p:clrMapOvr>
    <a:masterClrMapping/>
  </p:clrMapOvr>
  <p:transition spd="med">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95288" y="1052513"/>
            <a:ext cx="2160587" cy="49688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lstStyle/>
          <a:p>
            <a:pPr algn="ctr">
              <a:defRPr/>
            </a:pPr>
            <a:r>
              <a:rPr lang="en-AU" sz="2800" dirty="0"/>
              <a:t>World Weather Watch</a:t>
            </a:r>
          </a:p>
        </p:txBody>
      </p:sp>
      <p:sp>
        <p:nvSpPr>
          <p:cNvPr id="7" name="Rectangle 6"/>
          <p:cNvSpPr/>
          <p:nvPr/>
        </p:nvSpPr>
        <p:spPr>
          <a:xfrm>
            <a:off x="755650" y="2546350"/>
            <a:ext cx="1439863" cy="842963"/>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AU" dirty="0"/>
              <a:t>GOS</a:t>
            </a:r>
          </a:p>
        </p:txBody>
      </p:sp>
      <p:sp>
        <p:nvSpPr>
          <p:cNvPr id="8" name="Rectangle 7"/>
          <p:cNvSpPr/>
          <p:nvPr/>
        </p:nvSpPr>
        <p:spPr>
          <a:xfrm>
            <a:off x="755650" y="3814763"/>
            <a:ext cx="1439863" cy="766762"/>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AU" dirty="0"/>
              <a:t>GDPFS</a:t>
            </a:r>
          </a:p>
        </p:txBody>
      </p:sp>
      <p:sp>
        <p:nvSpPr>
          <p:cNvPr id="9" name="Rectangle 8"/>
          <p:cNvSpPr/>
          <p:nvPr/>
        </p:nvSpPr>
        <p:spPr>
          <a:xfrm>
            <a:off x="755650" y="5006975"/>
            <a:ext cx="1439863" cy="766763"/>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AU" dirty="0"/>
              <a:t>GTS</a:t>
            </a:r>
          </a:p>
        </p:txBody>
      </p:sp>
      <p:sp>
        <p:nvSpPr>
          <p:cNvPr id="11" name="Rectangle 10"/>
          <p:cNvSpPr/>
          <p:nvPr/>
        </p:nvSpPr>
        <p:spPr>
          <a:xfrm>
            <a:off x="3560763" y="1901825"/>
            <a:ext cx="2298700" cy="2157413"/>
          </a:xfrm>
          <a:prstGeom prst="rect">
            <a:avLst/>
          </a:prstGeom>
          <a:solidFill>
            <a:schemeClr val="accent2">
              <a:lumMod val="60000"/>
              <a:lumOff val="40000"/>
            </a:schemeClr>
          </a:solidFill>
          <a:ln w="57150">
            <a:prstDash val="dash"/>
          </a:ln>
        </p:spPr>
        <p:style>
          <a:lnRef idx="3">
            <a:schemeClr val="lt1"/>
          </a:lnRef>
          <a:fillRef idx="1">
            <a:schemeClr val="accent2"/>
          </a:fillRef>
          <a:effectRef idx="1">
            <a:schemeClr val="accent2"/>
          </a:effectRef>
          <a:fontRef idx="minor">
            <a:schemeClr val="lt1"/>
          </a:fontRef>
        </p:style>
        <p:txBody>
          <a:bodyPr anchor="ctr"/>
          <a:lstStyle/>
          <a:p>
            <a:pPr algn="ctr">
              <a:defRPr/>
            </a:pPr>
            <a:r>
              <a:rPr lang="en-AU" sz="3600" b="1" dirty="0"/>
              <a:t>WIGOS</a:t>
            </a:r>
          </a:p>
        </p:txBody>
      </p:sp>
      <p:sp>
        <p:nvSpPr>
          <p:cNvPr id="14" name="Rectangle 13"/>
          <p:cNvSpPr/>
          <p:nvPr/>
        </p:nvSpPr>
        <p:spPr>
          <a:xfrm>
            <a:off x="7380288" y="1955800"/>
            <a:ext cx="1439862" cy="393700"/>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r>
              <a:rPr lang="en-AU" dirty="0"/>
              <a:t>GCW</a:t>
            </a:r>
          </a:p>
        </p:txBody>
      </p:sp>
      <p:sp>
        <p:nvSpPr>
          <p:cNvPr id="15" name="Rectangle 14"/>
          <p:cNvSpPr/>
          <p:nvPr/>
        </p:nvSpPr>
        <p:spPr>
          <a:xfrm>
            <a:off x="7380288" y="1547813"/>
            <a:ext cx="1439862" cy="36671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AU" dirty="0"/>
              <a:t>GAW</a:t>
            </a:r>
          </a:p>
        </p:txBody>
      </p:sp>
      <p:sp>
        <p:nvSpPr>
          <p:cNvPr id="16" name="Rectangle 15"/>
          <p:cNvSpPr/>
          <p:nvPr/>
        </p:nvSpPr>
        <p:spPr>
          <a:xfrm>
            <a:off x="7380288" y="2389188"/>
            <a:ext cx="1439862" cy="360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r>
              <a:rPr lang="en-AU" dirty="0"/>
              <a:t>WHOS</a:t>
            </a:r>
          </a:p>
        </p:txBody>
      </p:sp>
      <p:sp>
        <p:nvSpPr>
          <p:cNvPr id="31" name="Rectangle 30"/>
          <p:cNvSpPr/>
          <p:nvPr/>
        </p:nvSpPr>
        <p:spPr>
          <a:xfrm>
            <a:off x="3589338" y="4860925"/>
            <a:ext cx="5230812" cy="10795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0" scaled="1"/>
            <a:tileRect/>
          </a:gradFill>
          <a:ln>
            <a:prstDash val="solid"/>
          </a:ln>
        </p:spPr>
        <p:style>
          <a:lnRef idx="3">
            <a:schemeClr val="lt1"/>
          </a:lnRef>
          <a:fillRef idx="1">
            <a:schemeClr val="accent2"/>
          </a:fillRef>
          <a:effectRef idx="1">
            <a:schemeClr val="accent2"/>
          </a:effectRef>
          <a:fontRef idx="minor">
            <a:schemeClr val="lt1"/>
          </a:fontRef>
        </p:style>
        <p:txBody>
          <a:bodyPr anchor="ctr"/>
          <a:lstStyle/>
          <a:p>
            <a:pPr algn="ctr">
              <a:defRPr/>
            </a:pPr>
            <a:r>
              <a:rPr lang="en-AU" sz="3200" b="1" dirty="0"/>
              <a:t>WIS</a:t>
            </a:r>
          </a:p>
        </p:txBody>
      </p:sp>
      <p:sp>
        <p:nvSpPr>
          <p:cNvPr id="34" name="Trapezoid 33"/>
          <p:cNvSpPr/>
          <p:nvPr/>
        </p:nvSpPr>
        <p:spPr>
          <a:xfrm rot="16200000">
            <a:off x="1807369" y="2274094"/>
            <a:ext cx="2112963" cy="1368425"/>
          </a:xfrm>
          <a:prstGeom prst="trapezoid">
            <a:avLst>
              <a:gd name="adj" fmla="val 46910"/>
            </a:avLst>
          </a:prstGeom>
          <a:blipFill dpi="0" rotWithShape="1">
            <a:blip r:embed="rId3" cstate="print">
              <a:extLst/>
            </a:blip>
            <a:srcRect/>
            <a:stretch>
              <a:fillRect/>
            </a:stretch>
          </a:blipFill>
          <a:ln/>
        </p:spPr>
        <p:style>
          <a:lnRef idx="1">
            <a:schemeClr val="accent3"/>
          </a:lnRef>
          <a:fillRef idx="3">
            <a:schemeClr val="accent3"/>
          </a:fillRef>
          <a:effectRef idx="2">
            <a:schemeClr val="accent3"/>
          </a:effectRef>
          <a:fontRef idx="minor">
            <a:schemeClr val="lt1"/>
          </a:fontRef>
        </p:style>
        <p:txBody>
          <a:bodyPr anchor="ctr"/>
          <a:lstStyle/>
          <a:p>
            <a:pPr algn="ctr">
              <a:defRPr/>
            </a:pPr>
            <a:endParaRPr lang="en-AU"/>
          </a:p>
        </p:txBody>
      </p:sp>
      <p:sp>
        <p:nvSpPr>
          <p:cNvPr id="40" name="Trapezoid 39"/>
          <p:cNvSpPr/>
          <p:nvPr/>
        </p:nvSpPr>
        <p:spPr>
          <a:xfrm rot="16200000">
            <a:off x="5198270" y="2199481"/>
            <a:ext cx="2843212" cy="1520825"/>
          </a:xfrm>
          <a:prstGeom prst="trapezoid">
            <a:avLst>
              <a:gd name="adj" fmla="val 23746"/>
            </a:avLst>
          </a:prstGeom>
          <a:blipFill dpi="0" rotWithShape="1">
            <a:blip r:embed="rId4" cstate="print">
              <a:extLst/>
            </a:blip>
            <a:srcRect/>
            <a:stretch>
              <a:fillRect/>
            </a:stretch>
          </a:blipFill>
          <a:ln>
            <a:solidFill>
              <a:schemeClr val="bg1">
                <a:lumMod val="65000"/>
              </a:schemeClr>
            </a:solidFill>
          </a:ln>
        </p:spPr>
        <p:style>
          <a:lnRef idx="1">
            <a:schemeClr val="accent3"/>
          </a:lnRef>
          <a:fillRef idx="3">
            <a:schemeClr val="accent3"/>
          </a:fillRef>
          <a:effectRef idx="2">
            <a:schemeClr val="accent3"/>
          </a:effectRef>
          <a:fontRef idx="minor">
            <a:schemeClr val="lt1"/>
          </a:fontRef>
        </p:style>
        <p:txBody>
          <a:bodyPr anchor="ctr"/>
          <a:lstStyle/>
          <a:p>
            <a:pPr algn="ctr">
              <a:defRPr/>
            </a:pPr>
            <a:endParaRPr lang="en-AU"/>
          </a:p>
        </p:txBody>
      </p:sp>
      <p:sp>
        <p:nvSpPr>
          <p:cNvPr id="41" name="Rectangle 40"/>
          <p:cNvSpPr/>
          <p:nvPr/>
        </p:nvSpPr>
        <p:spPr>
          <a:xfrm>
            <a:off x="7380312" y="3206268"/>
            <a:ext cx="1440160" cy="360040"/>
          </a:xfrm>
          <a:prstGeom prst="rect">
            <a:avLst/>
          </a:prstGeom>
          <a:solidFill>
            <a:schemeClr val="bg1">
              <a:lumMod val="50000"/>
            </a:schemeClr>
          </a:solidFill>
        </p:spPr>
        <p:style>
          <a:lnRef idx="0">
            <a:schemeClr val="accent1"/>
          </a:lnRef>
          <a:fillRef idx="1002">
            <a:schemeClr val="dk2"/>
          </a:fillRef>
          <a:effectRef idx="3">
            <a:schemeClr val="accent1"/>
          </a:effectRef>
          <a:fontRef idx="minor">
            <a:schemeClr val="lt1"/>
          </a:fontRef>
        </p:style>
        <p:txBody>
          <a:bodyPr anchor="ctr"/>
          <a:lstStyle/>
          <a:p>
            <a:pPr algn="ctr">
              <a:defRPr/>
            </a:pPr>
            <a:r>
              <a:rPr lang="en-AU" dirty="0"/>
              <a:t>GCOS</a:t>
            </a:r>
          </a:p>
        </p:txBody>
      </p:sp>
      <p:sp>
        <p:nvSpPr>
          <p:cNvPr id="42" name="Rectangle 41"/>
          <p:cNvSpPr/>
          <p:nvPr/>
        </p:nvSpPr>
        <p:spPr>
          <a:xfrm>
            <a:off x="7380312" y="3622550"/>
            <a:ext cx="1440160" cy="360040"/>
          </a:xfrm>
          <a:prstGeom prst="rect">
            <a:avLst/>
          </a:prstGeom>
          <a:solidFill>
            <a:schemeClr val="bg1">
              <a:lumMod val="50000"/>
            </a:schemeClr>
          </a:solidFill>
        </p:spPr>
        <p:style>
          <a:lnRef idx="0">
            <a:schemeClr val="accent1"/>
          </a:lnRef>
          <a:fillRef idx="1002">
            <a:schemeClr val="dk2"/>
          </a:fillRef>
          <a:effectRef idx="3">
            <a:schemeClr val="accent1"/>
          </a:effectRef>
          <a:fontRef idx="minor">
            <a:schemeClr val="lt1"/>
          </a:fontRef>
        </p:style>
        <p:txBody>
          <a:bodyPr anchor="ctr"/>
          <a:lstStyle/>
          <a:p>
            <a:pPr algn="ctr"/>
            <a:r>
              <a:rPr lang="en-AU" dirty="0"/>
              <a:t>Partners</a:t>
            </a:r>
          </a:p>
        </p:txBody>
      </p:sp>
      <p:sp>
        <p:nvSpPr>
          <p:cNvPr id="43" name="Rectangle 42"/>
          <p:cNvSpPr/>
          <p:nvPr/>
        </p:nvSpPr>
        <p:spPr>
          <a:xfrm>
            <a:off x="7380312" y="4029774"/>
            <a:ext cx="1440160" cy="360040"/>
          </a:xfrm>
          <a:prstGeom prst="rect">
            <a:avLst/>
          </a:prstGeom>
          <a:solidFill>
            <a:schemeClr val="bg1">
              <a:lumMod val="50000"/>
            </a:schemeClr>
          </a:solidFill>
        </p:spPr>
        <p:style>
          <a:lnRef idx="0">
            <a:schemeClr val="accent1"/>
          </a:lnRef>
          <a:fillRef idx="1002">
            <a:schemeClr val="dk2"/>
          </a:fillRef>
          <a:effectRef idx="3">
            <a:schemeClr val="accent1"/>
          </a:effectRef>
          <a:fontRef idx="minor">
            <a:schemeClr val="lt1"/>
          </a:fontRef>
        </p:style>
        <p:txBody>
          <a:bodyPr anchor="ctr"/>
          <a:lstStyle/>
          <a:p>
            <a:pPr algn="ctr"/>
            <a:r>
              <a:rPr lang="en-AU" sz="1600" dirty="0"/>
              <a:t>Co-sponsors</a:t>
            </a:r>
          </a:p>
        </p:txBody>
      </p:sp>
      <p:sp>
        <p:nvSpPr>
          <p:cNvPr id="44" name="Trapezoid 43"/>
          <p:cNvSpPr/>
          <p:nvPr/>
        </p:nvSpPr>
        <p:spPr>
          <a:xfrm rot="16200000">
            <a:off x="2360613" y="4687888"/>
            <a:ext cx="1047750" cy="1409700"/>
          </a:xfrm>
          <a:prstGeom prst="trapezoid">
            <a:avLst>
              <a:gd name="adj" fmla="val 13502"/>
            </a:avLst>
          </a:prstGeom>
          <a:blipFill dpi="0" rotWithShape="1">
            <a:blip r:embed="rId5" cstate="print">
              <a:extLst>
                <a:ext uri="{28A0092B-C50C-407E-A947-70E740481C1C}">
                  <a14:useLocalDpi xmlns="" xmlns:a14="http://schemas.microsoft.com/office/drawing/2010/main" val="0"/>
                </a:ext>
              </a:extLst>
            </a:blip>
            <a:srcRect/>
            <a:stretch>
              <a:fillRect/>
            </a:stretch>
          </a:blipFill>
          <a:ln/>
        </p:spPr>
        <p:style>
          <a:lnRef idx="1">
            <a:schemeClr val="accent3"/>
          </a:lnRef>
          <a:fillRef idx="3">
            <a:schemeClr val="accent3"/>
          </a:fillRef>
          <a:effectRef idx="2">
            <a:schemeClr val="accent3"/>
          </a:effectRef>
          <a:fontRef idx="minor">
            <a:schemeClr val="lt1"/>
          </a:fontRef>
        </p:style>
        <p:txBody>
          <a:bodyPr anchor="ctr"/>
          <a:lstStyle/>
          <a:p>
            <a:pPr algn="ctr">
              <a:defRPr/>
            </a:pPr>
            <a:endParaRPr lang="en-AU"/>
          </a:p>
        </p:txBody>
      </p:sp>
      <p:sp>
        <p:nvSpPr>
          <p:cNvPr id="46" name="Up Arrow 45"/>
          <p:cNvSpPr/>
          <p:nvPr/>
        </p:nvSpPr>
        <p:spPr>
          <a:xfrm>
            <a:off x="4500563" y="4197350"/>
            <a:ext cx="449262" cy="527050"/>
          </a:xfrm>
          <a:prstGeom prst="up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AU"/>
          </a:p>
        </p:txBody>
      </p:sp>
      <p:sp>
        <p:nvSpPr>
          <p:cNvPr id="47" name="TextBox 46"/>
          <p:cNvSpPr txBox="1"/>
          <p:nvPr/>
        </p:nvSpPr>
        <p:spPr>
          <a:xfrm>
            <a:off x="161100" y="258763"/>
            <a:ext cx="9034525" cy="461665"/>
          </a:xfrm>
          <a:prstGeom prst="rect">
            <a:avLst/>
          </a:prstGeom>
          <a:noFill/>
        </p:spPr>
        <p:txBody>
          <a:bodyPr wrap="none">
            <a:spAutoFit/>
          </a:bodyPr>
          <a:lstStyle/>
          <a:p>
            <a:pPr>
              <a:defRPr/>
            </a:pPr>
            <a:r>
              <a:rPr lang="en-US" sz="2400" b="1" dirty="0" smtClean="0">
                <a:solidFill>
                  <a:srgbClr val="007AC2"/>
                </a:solidFill>
                <a:latin typeface="+mj-lt"/>
                <a:ea typeface="+mj-ea"/>
                <a:cs typeface="Avenir LT Std 55 Roman" pitchFamily="34" charset="0"/>
              </a:rPr>
              <a:t>WMO INTEGRATED GLOBAL OBSERVING SYSTEM (WIGOS)</a:t>
            </a:r>
            <a:endParaRPr lang="en-AU" sz="2400" b="1" dirty="0">
              <a:solidFill>
                <a:srgbClr val="007AC2"/>
              </a:solidFill>
              <a:latin typeface="+mj-lt"/>
              <a:ea typeface="+mj-ea"/>
              <a:cs typeface="Avenir LT Std 55 Roman" pitchFamily="34" charset="0"/>
            </a:endParaRPr>
          </a:p>
        </p:txBody>
      </p:sp>
      <p:sp>
        <p:nvSpPr>
          <p:cNvPr id="48" name="Rectangle 47"/>
          <p:cNvSpPr/>
          <p:nvPr/>
        </p:nvSpPr>
        <p:spPr>
          <a:xfrm>
            <a:off x="7380288" y="2805113"/>
            <a:ext cx="1439862" cy="360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endParaRPr lang="en-AU" dirty="0"/>
          </a:p>
        </p:txBody>
      </p:sp>
      <p:sp>
        <p:nvSpPr>
          <p:cNvPr id="2" name="Right Arrow 1"/>
          <p:cNvSpPr/>
          <p:nvPr/>
        </p:nvSpPr>
        <p:spPr>
          <a:xfrm>
            <a:off x="3348038" y="2805113"/>
            <a:ext cx="452437" cy="360362"/>
          </a:xfrm>
          <a:prstGeom prst="rightArrow">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AU"/>
          </a:p>
        </p:txBody>
      </p:sp>
      <p:sp>
        <p:nvSpPr>
          <p:cNvPr id="24" name="Right Arrow 23"/>
          <p:cNvSpPr/>
          <p:nvPr/>
        </p:nvSpPr>
        <p:spPr>
          <a:xfrm rot="10800000">
            <a:off x="5580063" y="2805113"/>
            <a:ext cx="452437" cy="360362"/>
          </a:xfrm>
          <a:prstGeom prst="rightArrow">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AU"/>
          </a:p>
        </p:txBody>
      </p:sp>
    </p:spTree>
    <p:extLst>
      <p:ext uri="{BB962C8B-B14F-4D97-AF65-F5344CB8AC3E}">
        <p14:creationId xmlns="" xmlns:p14="http://schemas.microsoft.com/office/powerpoint/2010/main" val="2803387068"/>
      </p:ext>
    </p:extLst>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asellaDiTesto 13"/>
          <p:cNvSpPr txBox="1"/>
          <p:nvPr/>
        </p:nvSpPr>
        <p:spPr>
          <a:xfrm>
            <a:off x="457200" y="1663700"/>
            <a:ext cx="8407400" cy="4394200"/>
          </a:xfrm>
          <a:prstGeom prst="rect">
            <a:avLst/>
          </a:prstGeom>
          <a:noFill/>
          <a:effectLst/>
        </p:spPr>
        <p:txBody>
          <a:bodyPr wrap="square" lIns="0" tIns="0" rIns="0" bIns="0" rtlCol="0">
            <a:noAutofit/>
          </a:bodyPr>
          <a:lstStyle/>
          <a:p>
            <a:pPr algn="l" eaLnBrk="0" hangingPunct="0">
              <a:lnSpc>
                <a:spcPts val="1800"/>
              </a:lnSpc>
            </a:pPr>
            <a:endParaRPr lang="en-US" sz="1400" b="1" dirty="0" smtClean="0">
              <a:ea typeface="+mn-ea"/>
              <a:cs typeface="+mn-cs"/>
            </a:endParaRPr>
          </a:p>
        </p:txBody>
      </p:sp>
      <p:sp>
        <p:nvSpPr>
          <p:cNvPr id="3" name="Title 1"/>
          <p:cNvSpPr>
            <a:spLocks noGrp="1"/>
          </p:cNvSpPr>
          <p:nvPr>
            <p:ph type="title"/>
          </p:nvPr>
        </p:nvSpPr>
        <p:spPr>
          <a:xfrm>
            <a:off x="685800" y="232350"/>
            <a:ext cx="8029604" cy="484631"/>
          </a:xfrm>
        </p:spPr>
        <p:txBody>
          <a:bodyPr/>
          <a:lstStyle/>
          <a:p>
            <a:r>
              <a:rPr lang="en-US" dirty="0" smtClean="0"/>
              <a:t>http://www.hiscentral.isprambiente.gov.it</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685800" y="716981"/>
            <a:ext cx="7801004" cy="5850753"/>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766568"/>
            <a:ext cx="9144000" cy="484632"/>
          </a:xfrm>
        </p:spPr>
        <p:txBody>
          <a:bodyPr/>
          <a:lstStyle/>
          <a:p>
            <a:pPr algn="ctr"/>
            <a:r>
              <a:rPr lang="en-US" dirty="0" smtClean="0"/>
              <a:t>WMO STANDARDS IN HYDROLOGY</a:t>
            </a:r>
            <a:r>
              <a:rPr lang="en-US" sz="2400" dirty="0"/>
              <a:t/>
            </a:r>
            <a:br>
              <a:rPr lang="en-US" sz="2400" dirty="0"/>
            </a:br>
            <a:r>
              <a:rPr lang="en-US" sz="2400" dirty="0" smtClean="0"/>
              <a:t>data formats and service types</a:t>
            </a:r>
            <a:endParaRPr lang="en-US" sz="2400" dirty="0"/>
          </a:p>
        </p:txBody>
      </p:sp>
    </p:spTree>
  </p:cSld>
  <p:clrMapOvr>
    <a:masterClrMapping/>
  </p:clrMapOvr>
  <p:transition spd="med">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Curved Left Arrow 62"/>
          <p:cNvSpPr/>
          <p:nvPr/>
        </p:nvSpPr>
        <p:spPr>
          <a:xfrm rot="20047002" flipV="1">
            <a:off x="7048700" y="2001125"/>
            <a:ext cx="1064179" cy="2281958"/>
          </a:xfrm>
          <a:prstGeom prst="curvedLeftArrow">
            <a:avLst/>
          </a:prstGeom>
          <a:gradFill>
            <a:gsLst>
              <a:gs pos="0">
                <a:srgbClr val="4F81BD">
                  <a:lumMod val="75000"/>
                  <a:alpha val="20000"/>
                </a:srgbClr>
              </a:gs>
              <a:gs pos="100000">
                <a:srgbClr val="1F497D">
                  <a:lumMod val="60000"/>
                  <a:lumOff val="40000"/>
                  <a:alpha val="10000"/>
                </a:srgbClr>
              </a:gs>
            </a:gsLst>
            <a:lin ang="16200000" scaled="0"/>
          </a:gradFill>
          <a:ln w="12700" cap="flat" cmpd="sng" algn="ctr">
            <a:gradFill>
              <a:gsLst>
                <a:gs pos="0">
                  <a:sysClr val="window" lastClr="FFFFFF"/>
                </a:gs>
                <a:gs pos="100000">
                  <a:srgbClr val="4F81BD">
                    <a:lumMod val="75000"/>
                  </a:srgbClr>
                </a:gs>
              </a:gsLst>
              <a:lin ang="5400000" scaled="0"/>
            </a:gra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sz="1000" b="1" kern="1200">
                <a:solidFill>
                  <a:schemeClr val="tx1"/>
                </a:solidFill>
                <a:latin typeface="CG Times"/>
                <a:ea typeface="+mn-ea"/>
                <a:cs typeface="+mn-cs"/>
              </a:defRPr>
            </a:lvl1pPr>
            <a:lvl2pPr marL="457200" algn="l" rtl="0" eaLnBrk="0" fontAlgn="base" hangingPunct="0">
              <a:spcBef>
                <a:spcPct val="0"/>
              </a:spcBef>
              <a:spcAft>
                <a:spcPct val="0"/>
              </a:spcAft>
              <a:defRPr sz="1000" b="1" kern="1200">
                <a:solidFill>
                  <a:schemeClr val="tx1"/>
                </a:solidFill>
                <a:latin typeface="CG Times"/>
                <a:ea typeface="+mn-ea"/>
                <a:cs typeface="+mn-cs"/>
              </a:defRPr>
            </a:lvl2pPr>
            <a:lvl3pPr marL="914400" algn="l" rtl="0" eaLnBrk="0" fontAlgn="base" hangingPunct="0">
              <a:spcBef>
                <a:spcPct val="0"/>
              </a:spcBef>
              <a:spcAft>
                <a:spcPct val="0"/>
              </a:spcAft>
              <a:defRPr sz="1000" b="1" kern="1200">
                <a:solidFill>
                  <a:schemeClr val="tx1"/>
                </a:solidFill>
                <a:latin typeface="CG Times"/>
                <a:ea typeface="+mn-ea"/>
                <a:cs typeface="+mn-cs"/>
              </a:defRPr>
            </a:lvl3pPr>
            <a:lvl4pPr marL="1371600" algn="l" rtl="0" eaLnBrk="0" fontAlgn="base" hangingPunct="0">
              <a:spcBef>
                <a:spcPct val="0"/>
              </a:spcBef>
              <a:spcAft>
                <a:spcPct val="0"/>
              </a:spcAft>
              <a:defRPr sz="1000" b="1" kern="1200">
                <a:solidFill>
                  <a:schemeClr val="tx1"/>
                </a:solidFill>
                <a:latin typeface="CG Times"/>
                <a:ea typeface="+mn-ea"/>
                <a:cs typeface="+mn-cs"/>
              </a:defRPr>
            </a:lvl4pPr>
            <a:lvl5pPr marL="1828800" algn="l" rtl="0" eaLnBrk="0" fontAlgn="base" hangingPunct="0">
              <a:spcBef>
                <a:spcPct val="0"/>
              </a:spcBef>
              <a:spcAft>
                <a:spcPct val="0"/>
              </a:spcAft>
              <a:defRPr sz="1000" b="1" kern="1200">
                <a:solidFill>
                  <a:schemeClr val="tx1"/>
                </a:solidFill>
                <a:latin typeface="CG Times"/>
                <a:ea typeface="+mn-ea"/>
                <a:cs typeface="+mn-cs"/>
              </a:defRPr>
            </a:lvl5pPr>
            <a:lvl6pPr marL="2286000" algn="l" defTabSz="914400" rtl="0" eaLnBrk="1" latinLnBrk="0" hangingPunct="1">
              <a:defRPr sz="1000" b="1" kern="1200">
                <a:solidFill>
                  <a:schemeClr val="tx1"/>
                </a:solidFill>
                <a:latin typeface="CG Times"/>
                <a:ea typeface="+mn-ea"/>
                <a:cs typeface="+mn-cs"/>
              </a:defRPr>
            </a:lvl6pPr>
            <a:lvl7pPr marL="2743200" algn="l" defTabSz="914400" rtl="0" eaLnBrk="1" latinLnBrk="0" hangingPunct="1">
              <a:defRPr sz="1000" b="1" kern="1200">
                <a:solidFill>
                  <a:schemeClr val="tx1"/>
                </a:solidFill>
                <a:latin typeface="CG Times"/>
                <a:ea typeface="+mn-ea"/>
                <a:cs typeface="+mn-cs"/>
              </a:defRPr>
            </a:lvl7pPr>
            <a:lvl8pPr marL="3200400" algn="l" defTabSz="914400" rtl="0" eaLnBrk="1" latinLnBrk="0" hangingPunct="1">
              <a:defRPr sz="1000" b="1" kern="1200">
                <a:solidFill>
                  <a:schemeClr val="tx1"/>
                </a:solidFill>
                <a:latin typeface="CG Times"/>
                <a:ea typeface="+mn-ea"/>
                <a:cs typeface="+mn-cs"/>
              </a:defRPr>
            </a:lvl8pPr>
            <a:lvl9pPr marL="3657600" algn="l" defTabSz="914400" rtl="0" eaLnBrk="1" latinLnBrk="0" hangingPunct="1">
              <a:defRPr sz="1000" b="1" kern="1200">
                <a:solidFill>
                  <a:schemeClr val="tx1"/>
                </a:solidFill>
                <a:latin typeface="CG Times"/>
                <a:ea typeface="+mn-ea"/>
                <a:cs typeface="+mn-cs"/>
              </a:defRPr>
            </a:lvl9pPr>
          </a:lstStyle>
          <a:p>
            <a:pPr algn="r" eaLnBrk="1" fontAlgn="auto" hangingPunct="1">
              <a:lnSpc>
                <a:spcPct val="85000"/>
              </a:lnSpc>
              <a:spcBef>
                <a:spcPts val="0"/>
              </a:spcBef>
              <a:spcAft>
                <a:spcPts val="0"/>
              </a:spcAft>
              <a:defRPr/>
            </a:pPr>
            <a:endParaRPr lang="en-GB" sz="5400" b="0" kern="0">
              <a:solidFill>
                <a:srgbClr val="FFFFFF"/>
              </a:solidFill>
              <a:latin typeface="Arial" charset="0"/>
            </a:endParaRPr>
          </a:p>
        </p:txBody>
      </p:sp>
      <p:sp>
        <p:nvSpPr>
          <p:cNvPr id="6146" name="Rectangle 9"/>
          <p:cNvSpPr>
            <a:spLocks noGrp="1" noChangeArrowheads="1"/>
          </p:cNvSpPr>
          <p:nvPr>
            <p:ph type="title" idx="4294967295"/>
          </p:nvPr>
        </p:nvSpPr>
        <p:spPr>
          <a:xfrm>
            <a:off x="0" y="457200"/>
            <a:ext cx="7315200" cy="484188"/>
          </a:xfrm>
        </p:spPr>
        <p:txBody>
          <a:bodyPr/>
          <a:lstStyle/>
          <a:p>
            <a:r>
              <a:rPr lang="en-GB" altLang="en-US" dirty="0" smtClean="0"/>
              <a:t>Specification to data encoding</a:t>
            </a:r>
          </a:p>
        </p:txBody>
      </p:sp>
      <p:grpSp>
        <p:nvGrpSpPr>
          <p:cNvPr id="2" name="Group 4"/>
          <p:cNvGrpSpPr/>
          <p:nvPr/>
        </p:nvGrpSpPr>
        <p:grpSpPr>
          <a:xfrm>
            <a:off x="5243465" y="934886"/>
            <a:ext cx="1703766" cy="2079357"/>
            <a:chOff x="4427984" y="813303"/>
            <a:chExt cx="2234778" cy="2727429"/>
          </a:xfrm>
        </p:grpSpPr>
        <p:grpSp>
          <p:nvGrpSpPr>
            <p:cNvPr id="3" name="Group 3"/>
            <p:cNvGrpSpPr/>
            <p:nvPr/>
          </p:nvGrpSpPr>
          <p:grpSpPr>
            <a:xfrm rot="21410398">
              <a:off x="4427984" y="1196752"/>
              <a:ext cx="1598836" cy="2252673"/>
              <a:chOff x="4427984" y="1196752"/>
              <a:chExt cx="1598836" cy="2252673"/>
            </a:xfrm>
            <a:effectLst>
              <a:outerShdw blurRad="50800" dist="38100" dir="2700000" algn="tl" rotWithShape="0">
                <a:prstClr val="black">
                  <a:alpha val="40000"/>
                </a:prstClr>
              </a:outerShdw>
            </a:effectLst>
          </p:grpSpPr>
          <p:pic>
            <p:nvPicPr>
              <p:cNvPr id="1026"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427984" y="1196752"/>
                <a:ext cx="1598836" cy="22526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 xmlns:a14="http://schemas.microsoft.com/office/drawing/2010/main" val="0"/>
                  </a:ext>
                </a:extLst>
              </a:blip>
              <a:srcRect b="50000"/>
              <a:stretch/>
            </p:blipFill>
            <p:spPr bwMode="auto">
              <a:xfrm>
                <a:off x="4427984" y="1844824"/>
                <a:ext cx="1598836" cy="11263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grpSp>
        <p:pic>
          <p:nvPicPr>
            <p:cNvPr id="1027" name="Picture 3"/>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rot="435157">
              <a:off x="4570511" y="813303"/>
              <a:ext cx="2092251" cy="27274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grpSp>
        <p:nvGrpSpPr>
          <p:cNvPr id="4" name="Group 51"/>
          <p:cNvGrpSpPr/>
          <p:nvPr/>
        </p:nvGrpSpPr>
        <p:grpSpPr>
          <a:xfrm>
            <a:off x="128336" y="2487917"/>
            <a:ext cx="4021443" cy="3719781"/>
            <a:chOff x="128336" y="2487917"/>
            <a:chExt cx="4021443" cy="3719781"/>
          </a:xfrm>
        </p:grpSpPr>
        <p:pic>
          <p:nvPicPr>
            <p:cNvPr id="48" name="Picture 47" descr="UML_logo.gif"/>
            <p:cNvPicPr>
              <a:picLocks noChangeAspect="1"/>
            </p:cNvPicPr>
            <p:nvPr/>
          </p:nvPicPr>
          <p:blipFill rotWithShape="1">
            <a:blip r:embed="rId5" cstate="print">
              <a:extLst>
                <a:ext uri="{28A0092B-C50C-407E-A947-70E740481C1C}">
                  <a14:useLocalDpi xmlns="" xmlns:a14="http://schemas.microsoft.com/office/drawing/2010/main" val="0"/>
                </a:ext>
              </a:extLst>
            </a:blip>
            <a:srcRect l="32922"/>
            <a:stretch/>
          </p:blipFill>
          <p:spPr>
            <a:xfrm>
              <a:off x="180973" y="3405183"/>
              <a:ext cx="672246" cy="712432"/>
            </a:xfrm>
            <a:prstGeom prst="rect">
              <a:avLst/>
            </a:prstGeom>
          </p:spPr>
        </p:pic>
        <p:grpSp>
          <p:nvGrpSpPr>
            <p:cNvPr id="5" name="Group 7"/>
            <p:cNvGrpSpPr/>
            <p:nvPr/>
          </p:nvGrpSpPr>
          <p:grpSpPr>
            <a:xfrm>
              <a:off x="128336" y="2487917"/>
              <a:ext cx="4021443" cy="3719781"/>
              <a:chOff x="128336" y="2487917"/>
              <a:chExt cx="4021443" cy="3719781"/>
            </a:xfrm>
          </p:grpSpPr>
          <p:grpSp>
            <p:nvGrpSpPr>
              <p:cNvPr id="6" name="Group 6"/>
              <p:cNvGrpSpPr/>
              <p:nvPr/>
            </p:nvGrpSpPr>
            <p:grpSpPr>
              <a:xfrm>
                <a:off x="128336" y="3356992"/>
                <a:ext cx="4021443" cy="2850706"/>
                <a:chOff x="91013" y="3798944"/>
                <a:chExt cx="4021443" cy="2850706"/>
              </a:xfrm>
            </p:grpSpPr>
            <p:grpSp>
              <p:nvGrpSpPr>
                <p:cNvPr id="8" name="Group 104"/>
                <p:cNvGrpSpPr/>
                <p:nvPr/>
              </p:nvGrpSpPr>
              <p:grpSpPr>
                <a:xfrm>
                  <a:off x="617663" y="4024004"/>
                  <a:ext cx="2269844" cy="1644742"/>
                  <a:chOff x="1985545" y="2393858"/>
                  <a:chExt cx="2269844" cy="1644742"/>
                </a:xfrm>
              </p:grpSpPr>
              <p:grpSp>
                <p:nvGrpSpPr>
                  <p:cNvPr id="9" name="Group 105"/>
                  <p:cNvGrpSpPr/>
                  <p:nvPr/>
                </p:nvGrpSpPr>
                <p:grpSpPr>
                  <a:xfrm>
                    <a:off x="2238097" y="2393858"/>
                    <a:ext cx="809903" cy="673795"/>
                    <a:chOff x="7646884" y="3147368"/>
                    <a:chExt cx="1396559" cy="673795"/>
                  </a:xfrm>
                </p:grpSpPr>
                <p:sp>
                  <p:nvSpPr>
                    <p:cNvPr id="45" name="Rectangle 44"/>
                    <p:cNvSpPr/>
                    <p:nvPr/>
                  </p:nvSpPr>
                  <p:spPr>
                    <a:xfrm>
                      <a:off x="7646884" y="3148709"/>
                      <a:ext cx="1396559" cy="672454"/>
                    </a:xfrm>
                    <a:prstGeom prst="rect">
                      <a:avLst/>
                    </a:prstGeom>
                    <a:solidFill>
                      <a:schemeClr val="bg1"/>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000" b="1" dirty="0" smtClean="0">
                          <a:solidFill>
                            <a:prstClr val="black"/>
                          </a:solidFill>
                        </a:rPr>
                        <a:t>********</a:t>
                      </a:r>
                      <a:endParaRPr lang="en-GB" sz="1000" b="1" dirty="0">
                        <a:solidFill>
                          <a:prstClr val="black"/>
                        </a:solidFill>
                      </a:endParaRPr>
                    </a:p>
                  </p:txBody>
                </p:sp>
                <p:sp>
                  <p:nvSpPr>
                    <p:cNvPr id="46" name="Rectangle 45"/>
                    <p:cNvSpPr/>
                    <p:nvPr/>
                  </p:nvSpPr>
                  <p:spPr>
                    <a:xfrm>
                      <a:off x="7646884" y="3345353"/>
                      <a:ext cx="1396559" cy="38127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900" b="1" dirty="0" smtClean="0">
                          <a:solidFill>
                            <a:prstClr val="black"/>
                          </a:solidFill>
                        </a:rPr>
                        <a:t>****</a:t>
                      </a:r>
                      <a:endParaRPr lang="en-GB" sz="900" dirty="0">
                        <a:solidFill>
                          <a:prstClr val="black"/>
                        </a:solidFill>
                      </a:endParaRPr>
                    </a:p>
                    <a:p>
                      <a:r>
                        <a:rPr lang="en-GB" sz="900" b="1" dirty="0" smtClean="0">
                          <a:solidFill>
                            <a:prstClr val="black"/>
                          </a:solidFill>
                        </a:rPr>
                        <a:t>*******</a:t>
                      </a:r>
                      <a:endParaRPr lang="en-GB" sz="900" b="1" dirty="0">
                        <a:solidFill>
                          <a:prstClr val="black"/>
                        </a:solidFill>
                      </a:endParaRPr>
                    </a:p>
                  </p:txBody>
                </p:sp>
                <p:cxnSp>
                  <p:nvCxnSpPr>
                    <p:cNvPr id="47" name="Straight Connector 46"/>
                    <p:cNvCxnSpPr/>
                    <p:nvPr/>
                  </p:nvCxnSpPr>
                  <p:spPr>
                    <a:xfrm>
                      <a:off x="9043443" y="3147368"/>
                      <a:ext cx="0" cy="67379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106"/>
                  <p:cNvGrpSpPr/>
                  <p:nvPr/>
                </p:nvGrpSpPr>
                <p:grpSpPr>
                  <a:xfrm>
                    <a:off x="1985545" y="3565433"/>
                    <a:ext cx="809903" cy="473167"/>
                    <a:chOff x="7646884" y="3147368"/>
                    <a:chExt cx="1396559" cy="473167"/>
                  </a:xfrm>
                </p:grpSpPr>
                <p:sp>
                  <p:nvSpPr>
                    <p:cNvPr id="42" name="Rectangle 41"/>
                    <p:cNvSpPr/>
                    <p:nvPr/>
                  </p:nvSpPr>
                  <p:spPr>
                    <a:xfrm>
                      <a:off x="7646884" y="3148709"/>
                      <a:ext cx="1396559" cy="471826"/>
                    </a:xfrm>
                    <a:prstGeom prst="rect">
                      <a:avLst/>
                    </a:prstGeom>
                    <a:solidFill>
                      <a:schemeClr val="bg1"/>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000" b="1" dirty="0" smtClean="0">
                          <a:solidFill>
                            <a:prstClr val="black"/>
                          </a:solidFill>
                        </a:rPr>
                        <a:t>*********</a:t>
                      </a:r>
                      <a:endParaRPr lang="en-GB" sz="1000" b="1" dirty="0">
                        <a:solidFill>
                          <a:prstClr val="black"/>
                        </a:solidFill>
                      </a:endParaRPr>
                    </a:p>
                  </p:txBody>
                </p:sp>
                <p:sp>
                  <p:nvSpPr>
                    <p:cNvPr id="43" name="Rectangle 42"/>
                    <p:cNvSpPr/>
                    <p:nvPr/>
                  </p:nvSpPr>
                  <p:spPr>
                    <a:xfrm>
                      <a:off x="7646884" y="3345353"/>
                      <a:ext cx="1396559" cy="19063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900" b="1" dirty="0" smtClean="0">
                          <a:solidFill>
                            <a:prstClr val="black"/>
                          </a:solidFill>
                        </a:rPr>
                        <a:t>*********</a:t>
                      </a:r>
                      <a:endParaRPr lang="en-GB" sz="900" dirty="0">
                        <a:solidFill>
                          <a:prstClr val="black"/>
                        </a:solidFill>
                      </a:endParaRPr>
                    </a:p>
                  </p:txBody>
                </p:sp>
                <p:cxnSp>
                  <p:nvCxnSpPr>
                    <p:cNvPr id="44" name="Straight Connector 43"/>
                    <p:cNvCxnSpPr/>
                    <p:nvPr/>
                  </p:nvCxnSpPr>
                  <p:spPr>
                    <a:xfrm>
                      <a:off x="9043443" y="3147368"/>
                      <a:ext cx="0" cy="4731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7"/>
                  <p:cNvGrpSpPr/>
                  <p:nvPr/>
                </p:nvGrpSpPr>
                <p:grpSpPr>
                  <a:xfrm>
                    <a:off x="3445486" y="2872680"/>
                    <a:ext cx="809903" cy="882301"/>
                    <a:chOff x="7646884" y="3147368"/>
                    <a:chExt cx="1396559" cy="882301"/>
                  </a:xfrm>
                </p:grpSpPr>
                <p:sp>
                  <p:nvSpPr>
                    <p:cNvPr id="39" name="Rectangle 38"/>
                    <p:cNvSpPr/>
                    <p:nvPr/>
                  </p:nvSpPr>
                  <p:spPr>
                    <a:xfrm>
                      <a:off x="7646884" y="3148708"/>
                      <a:ext cx="1396559" cy="880961"/>
                    </a:xfrm>
                    <a:prstGeom prst="rect">
                      <a:avLst/>
                    </a:prstGeom>
                    <a:solidFill>
                      <a:schemeClr val="bg1"/>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000" b="1" dirty="0" smtClean="0">
                          <a:solidFill>
                            <a:prstClr val="black"/>
                          </a:solidFill>
                        </a:rPr>
                        <a:t>********</a:t>
                      </a:r>
                      <a:endParaRPr lang="en-GB" sz="1000" b="1" dirty="0">
                        <a:solidFill>
                          <a:prstClr val="black"/>
                        </a:solidFill>
                      </a:endParaRPr>
                    </a:p>
                  </p:txBody>
                </p:sp>
                <p:sp>
                  <p:nvSpPr>
                    <p:cNvPr id="40" name="Rectangle 39"/>
                    <p:cNvSpPr/>
                    <p:nvPr/>
                  </p:nvSpPr>
                  <p:spPr>
                    <a:xfrm>
                      <a:off x="7646884" y="3345352"/>
                      <a:ext cx="1396559" cy="588999"/>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900" b="1" dirty="0" smtClean="0">
                          <a:solidFill>
                            <a:prstClr val="black"/>
                          </a:solidFill>
                        </a:rPr>
                        <a:t>**</a:t>
                      </a:r>
                      <a:endParaRPr lang="en-GB" sz="900" dirty="0">
                        <a:solidFill>
                          <a:prstClr val="black"/>
                        </a:solidFill>
                      </a:endParaRPr>
                    </a:p>
                    <a:p>
                      <a:r>
                        <a:rPr lang="en-GB" sz="900" b="1" dirty="0" smtClean="0">
                          <a:solidFill>
                            <a:prstClr val="black"/>
                          </a:solidFill>
                        </a:rPr>
                        <a:t>*******</a:t>
                      </a:r>
                    </a:p>
                    <a:p>
                      <a:r>
                        <a:rPr lang="en-GB" sz="900" b="1" dirty="0" smtClean="0">
                          <a:solidFill>
                            <a:prstClr val="black"/>
                          </a:solidFill>
                        </a:rPr>
                        <a:t>**********</a:t>
                      </a:r>
                    </a:p>
                    <a:p>
                      <a:r>
                        <a:rPr lang="en-GB" sz="900" b="1" dirty="0" smtClean="0">
                          <a:solidFill>
                            <a:prstClr val="black"/>
                          </a:solidFill>
                        </a:rPr>
                        <a:t>**</a:t>
                      </a:r>
                      <a:endParaRPr lang="en-GB" sz="900" b="1" dirty="0">
                        <a:solidFill>
                          <a:prstClr val="black"/>
                        </a:solidFill>
                      </a:endParaRPr>
                    </a:p>
                  </p:txBody>
                </p:sp>
                <p:cxnSp>
                  <p:nvCxnSpPr>
                    <p:cNvPr id="41" name="Straight Connector 40"/>
                    <p:cNvCxnSpPr/>
                    <p:nvPr/>
                  </p:nvCxnSpPr>
                  <p:spPr>
                    <a:xfrm>
                      <a:off x="9043443" y="3147368"/>
                      <a:ext cx="0" cy="88230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 name="Straight Arrow Connector 83"/>
                  <p:cNvCxnSpPr>
                    <a:cxnSpLocks noChangeShapeType="1"/>
                  </p:cNvCxnSpPr>
                  <p:nvPr/>
                </p:nvCxnSpPr>
                <p:spPr bwMode="auto">
                  <a:xfrm>
                    <a:off x="3048000" y="2912364"/>
                    <a:ext cx="397486" cy="158300"/>
                  </a:xfrm>
                  <a:prstGeom prst="straightConnector1">
                    <a:avLst/>
                  </a:prstGeom>
                  <a:noFill/>
                  <a:ln w="9525" algn="ctr">
                    <a:solidFill>
                      <a:srgbClr val="000000"/>
                    </a:solidFill>
                    <a:round/>
                    <a:headEnd/>
                    <a:tailEnd type="arrow" w="med" len="med"/>
                  </a:ln>
                  <a:extLst>
                    <a:ext uri="{909E8E84-426E-40DD-AFC4-6F175D3DCCD1}">
                      <a14:hiddenFill xmlns="" xmlns:a14="http://schemas.microsoft.com/office/drawing/2010/main">
                        <a:noFill/>
                      </a14:hiddenFill>
                    </a:ext>
                  </a:extLst>
                </p:spPr>
              </p:cxnSp>
              <p:cxnSp>
                <p:nvCxnSpPr>
                  <p:cNvPr id="38" name="Straight Arrow Connector 83"/>
                  <p:cNvCxnSpPr>
                    <a:cxnSpLocks noChangeShapeType="1"/>
                    <a:stCxn id="40" idx="1"/>
                  </p:cNvCxnSpPr>
                  <p:nvPr/>
                </p:nvCxnSpPr>
                <p:spPr bwMode="auto">
                  <a:xfrm flipH="1">
                    <a:off x="2795448" y="3365164"/>
                    <a:ext cx="650038" cy="294499"/>
                  </a:xfrm>
                  <a:prstGeom prst="straightConnector1">
                    <a:avLst/>
                  </a:prstGeom>
                  <a:noFill/>
                  <a:ln w="9525" algn="ctr">
                    <a:solidFill>
                      <a:srgbClr val="000000"/>
                    </a:solidFill>
                    <a:round/>
                    <a:headEnd/>
                    <a:tailEnd type="arrow" w="med" len="med"/>
                  </a:ln>
                  <a:extLst>
                    <a:ext uri="{909E8E84-426E-40DD-AFC4-6F175D3DCCD1}">
                      <a14:hiddenFill xmlns="" xmlns:a14="http://schemas.microsoft.com/office/drawing/2010/main">
                        <a:noFill/>
                      </a14:hiddenFill>
                    </a:ext>
                  </a:extLst>
                </p:spPr>
              </p:cxnSp>
            </p:grpSp>
            <p:sp>
              <p:nvSpPr>
                <p:cNvPr id="29" name="Rectangle 28"/>
                <p:cNvSpPr/>
                <p:nvPr/>
              </p:nvSpPr>
              <p:spPr bwMode="auto">
                <a:xfrm>
                  <a:off x="91741" y="3798944"/>
                  <a:ext cx="3600583" cy="2850706"/>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cxnSp>
              <p:nvCxnSpPr>
                <p:cNvPr id="30" name="Straight Arrow Connector 83"/>
                <p:cNvCxnSpPr>
                  <a:cxnSpLocks noChangeShapeType="1"/>
                  <a:stCxn id="18" idx="1"/>
                  <a:endCxn id="29" idx="3"/>
                </p:cNvCxnSpPr>
                <p:nvPr/>
              </p:nvCxnSpPr>
              <p:spPr bwMode="auto">
                <a:xfrm flipH="1">
                  <a:off x="3692324" y="5152289"/>
                  <a:ext cx="263433" cy="72008"/>
                </a:xfrm>
                <a:prstGeom prst="straightConnector1">
                  <a:avLst/>
                </a:prstGeom>
                <a:noFill/>
                <a:ln w="9525" algn="ctr">
                  <a:solidFill>
                    <a:srgbClr val="000000"/>
                  </a:solidFill>
                  <a:prstDash val="lgDash"/>
                  <a:round/>
                  <a:headEnd/>
                  <a:tailEnd type="arrow" w="med" len="med"/>
                </a:ln>
                <a:extLst>
                  <a:ext uri="{909E8E84-426E-40DD-AFC4-6F175D3DCCD1}">
                    <a14:hiddenFill xmlns="" xmlns:a14="http://schemas.microsoft.com/office/drawing/2010/main">
                      <a:noFill/>
                    </a14:hiddenFill>
                  </a:ext>
                </a:extLst>
              </p:spPr>
            </p:cxnSp>
            <p:sp>
              <p:nvSpPr>
                <p:cNvPr id="31" name="Rectangle 30"/>
                <p:cNvSpPr/>
                <p:nvPr/>
              </p:nvSpPr>
              <p:spPr bwMode="auto">
                <a:xfrm rot="16200000">
                  <a:off x="3378924" y="5108923"/>
                  <a:ext cx="1149674" cy="261610"/>
                </a:xfrm>
                <a:prstGeom prst="rect">
                  <a:avLst/>
                </a:prstGeom>
                <a:solidFill>
                  <a:schemeClr val="bg1">
                    <a:alpha val="80000"/>
                  </a:schemeClr>
                </a:solidFill>
              </p:spPr>
              <p:txBody>
                <a:bodyPr wrap="none">
                  <a:spAutoFit/>
                </a:bodyPr>
                <a:lstStyle/>
                <a:p>
                  <a:pPr fontAlgn="auto">
                    <a:spcBef>
                      <a:spcPts val="0"/>
                    </a:spcBef>
                    <a:spcAft>
                      <a:spcPts val="0"/>
                    </a:spcAft>
                    <a:defRPr/>
                  </a:pPr>
                  <a:r>
                    <a:rPr lang="en-GB" sz="1100" b="1" i="1" kern="0" dirty="0" smtClean="0">
                      <a:solidFill>
                        <a:srgbClr val="595959"/>
                      </a:solidFill>
                      <a:latin typeface="+mn-lt"/>
                      <a:ea typeface="Times New Roman"/>
                      <a:cs typeface="+mn-cs"/>
                    </a:rPr>
                    <a:t>« derived from »</a:t>
                  </a:r>
                  <a:endParaRPr lang="en-GB" sz="1100" b="1" dirty="0">
                    <a:latin typeface="+mn-lt"/>
                    <a:cs typeface="+mn-cs"/>
                  </a:endParaRPr>
                </a:p>
              </p:txBody>
            </p:sp>
            <p:sp>
              <p:nvSpPr>
                <p:cNvPr id="32" name="Rectangle 31"/>
                <p:cNvSpPr/>
                <p:nvPr/>
              </p:nvSpPr>
              <p:spPr>
                <a:xfrm>
                  <a:off x="1321711" y="3808446"/>
                  <a:ext cx="2790745" cy="605294"/>
                </a:xfrm>
                <a:prstGeom prst="rect">
                  <a:avLst/>
                </a:prstGeom>
              </p:spPr>
              <p:txBody>
                <a:bodyPr wrap="square">
                  <a:spAutoFit/>
                </a:bodyPr>
                <a:lstStyle/>
                <a:p>
                  <a:pPr algn="ctr" fontAlgn="auto">
                    <a:spcBef>
                      <a:spcPts val="0"/>
                    </a:spcBef>
                    <a:spcAft>
                      <a:spcPts val="400"/>
                    </a:spcAft>
                    <a:defRPr/>
                  </a:pPr>
                  <a:r>
                    <a:rPr lang="en-GB" sz="1600" b="1" i="1" kern="0" dirty="0" smtClean="0">
                      <a:latin typeface="+mn-lt"/>
                      <a:ea typeface="Times New Roman"/>
                      <a:cs typeface="+mn-cs"/>
                    </a:rPr>
                    <a:t>Application Schema</a:t>
                  </a:r>
                </a:p>
                <a:p>
                  <a:pPr algn="ctr" fontAlgn="auto">
                    <a:spcBef>
                      <a:spcPts val="0"/>
                    </a:spcBef>
                    <a:spcAft>
                      <a:spcPts val="400"/>
                    </a:spcAft>
                    <a:defRPr/>
                  </a:pPr>
                  <a:r>
                    <a:rPr lang="en-GB" sz="1400" b="1" i="1" kern="0" dirty="0" smtClean="0">
                      <a:latin typeface="+mn-lt"/>
                      <a:ea typeface="Times New Roman"/>
                      <a:cs typeface="+mn-cs"/>
                    </a:rPr>
                    <a:t>(aka ‘conceptual model’)</a:t>
                  </a:r>
                  <a:endParaRPr lang="en-GB" sz="1400" b="1" i="1" kern="0" dirty="0">
                    <a:latin typeface="+mn-lt"/>
                    <a:ea typeface="Times New Roman"/>
                    <a:cs typeface="+mn-cs"/>
                  </a:endParaRPr>
                </a:p>
              </p:txBody>
            </p:sp>
            <p:sp>
              <p:nvSpPr>
                <p:cNvPr id="33" name="Rectangle 32"/>
                <p:cNvSpPr/>
                <p:nvPr/>
              </p:nvSpPr>
              <p:spPr>
                <a:xfrm>
                  <a:off x="91013" y="5767789"/>
                  <a:ext cx="3601311" cy="830997"/>
                </a:xfrm>
                <a:prstGeom prst="rect">
                  <a:avLst/>
                </a:prstGeom>
              </p:spPr>
              <p:txBody>
                <a:bodyPr wrap="square">
                  <a:spAutoFit/>
                </a:bodyPr>
                <a:lstStyle/>
                <a:p>
                  <a:pPr algn="ctr" fontAlgn="auto">
                    <a:spcBef>
                      <a:spcPts val="0"/>
                    </a:spcBef>
                    <a:spcAft>
                      <a:spcPts val="1200"/>
                    </a:spcAft>
                    <a:defRPr/>
                  </a:pPr>
                  <a:r>
                    <a:rPr lang="en-GB" sz="1600" b="1" i="1" kern="0" dirty="0" smtClean="0">
                      <a:solidFill>
                        <a:srgbClr val="595959"/>
                      </a:solidFill>
                      <a:latin typeface="+mn-lt"/>
                      <a:ea typeface="Times New Roman"/>
                      <a:cs typeface="+mn-cs"/>
                    </a:rPr>
                    <a:t>Technology independent description of content and structure of information to be exchanged for a given application</a:t>
                  </a:r>
                  <a:endParaRPr lang="en-GB" sz="1600" b="1" i="1" kern="0" dirty="0">
                    <a:solidFill>
                      <a:srgbClr val="595959"/>
                    </a:solidFill>
                    <a:latin typeface="+mn-lt"/>
                    <a:ea typeface="Times New Roman"/>
                    <a:cs typeface="+mn-cs"/>
                  </a:endParaRPr>
                </a:p>
              </p:txBody>
            </p:sp>
          </p:grpSp>
          <p:sp>
            <p:nvSpPr>
              <p:cNvPr id="54" name="Down Arrow 53"/>
              <p:cNvSpPr/>
              <p:nvPr/>
            </p:nvSpPr>
            <p:spPr>
              <a:xfrm rot="10800000" flipH="1" flipV="1">
                <a:off x="2217857" y="2487917"/>
                <a:ext cx="1200317" cy="1308374"/>
              </a:xfrm>
              <a:prstGeom prst="downArrow">
                <a:avLst/>
              </a:prstGeom>
              <a:gradFill>
                <a:gsLst>
                  <a:gs pos="0">
                    <a:srgbClr val="C00000">
                      <a:alpha val="20000"/>
                    </a:srgbClr>
                  </a:gs>
                  <a:gs pos="100000">
                    <a:srgbClr val="FF0000">
                      <a:alpha val="0"/>
                    </a:srgbClr>
                  </a:gs>
                </a:gsLst>
                <a:lin ang="16200000" scaled="0"/>
              </a:gradFill>
              <a:ln w="12700" cap="flat" cmpd="sng" algn="ctr">
                <a:gradFill>
                  <a:gsLst>
                    <a:gs pos="0">
                      <a:sysClr val="window" lastClr="FFFFFF"/>
                    </a:gs>
                    <a:gs pos="100000">
                      <a:srgbClr val="FF0000"/>
                    </a:gs>
                  </a:gsLst>
                  <a:lin ang="5400000" scaled="0"/>
                </a:gra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sz="1000" b="1" kern="1200">
                    <a:solidFill>
                      <a:schemeClr val="tx1"/>
                    </a:solidFill>
                    <a:latin typeface="CG Times"/>
                    <a:ea typeface="+mn-ea"/>
                    <a:cs typeface="+mn-cs"/>
                  </a:defRPr>
                </a:lvl1pPr>
                <a:lvl2pPr marL="457200" algn="l" rtl="0" eaLnBrk="0" fontAlgn="base" hangingPunct="0">
                  <a:spcBef>
                    <a:spcPct val="0"/>
                  </a:spcBef>
                  <a:spcAft>
                    <a:spcPct val="0"/>
                  </a:spcAft>
                  <a:defRPr sz="1000" b="1" kern="1200">
                    <a:solidFill>
                      <a:schemeClr val="tx1"/>
                    </a:solidFill>
                    <a:latin typeface="CG Times"/>
                    <a:ea typeface="+mn-ea"/>
                    <a:cs typeface="+mn-cs"/>
                  </a:defRPr>
                </a:lvl2pPr>
                <a:lvl3pPr marL="914400" algn="l" rtl="0" eaLnBrk="0" fontAlgn="base" hangingPunct="0">
                  <a:spcBef>
                    <a:spcPct val="0"/>
                  </a:spcBef>
                  <a:spcAft>
                    <a:spcPct val="0"/>
                  </a:spcAft>
                  <a:defRPr sz="1000" b="1" kern="1200">
                    <a:solidFill>
                      <a:schemeClr val="tx1"/>
                    </a:solidFill>
                    <a:latin typeface="CG Times"/>
                    <a:ea typeface="+mn-ea"/>
                    <a:cs typeface="+mn-cs"/>
                  </a:defRPr>
                </a:lvl3pPr>
                <a:lvl4pPr marL="1371600" algn="l" rtl="0" eaLnBrk="0" fontAlgn="base" hangingPunct="0">
                  <a:spcBef>
                    <a:spcPct val="0"/>
                  </a:spcBef>
                  <a:spcAft>
                    <a:spcPct val="0"/>
                  </a:spcAft>
                  <a:defRPr sz="1000" b="1" kern="1200">
                    <a:solidFill>
                      <a:schemeClr val="tx1"/>
                    </a:solidFill>
                    <a:latin typeface="CG Times"/>
                    <a:ea typeface="+mn-ea"/>
                    <a:cs typeface="+mn-cs"/>
                  </a:defRPr>
                </a:lvl4pPr>
                <a:lvl5pPr marL="1828800" algn="l" rtl="0" eaLnBrk="0" fontAlgn="base" hangingPunct="0">
                  <a:spcBef>
                    <a:spcPct val="0"/>
                  </a:spcBef>
                  <a:spcAft>
                    <a:spcPct val="0"/>
                  </a:spcAft>
                  <a:defRPr sz="1000" b="1" kern="1200">
                    <a:solidFill>
                      <a:schemeClr val="tx1"/>
                    </a:solidFill>
                    <a:latin typeface="CG Times"/>
                    <a:ea typeface="+mn-ea"/>
                    <a:cs typeface="+mn-cs"/>
                  </a:defRPr>
                </a:lvl5pPr>
                <a:lvl6pPr marL="2286000" algn="l" defTabSz="914400" rtl="0" eaLnBrk="1" latinLnBrk="0" hangingPunct="1">
                  <a:defRPr sz="1000" b="1" kern="1200">
                    <a:solidFill>
                      <a:schemeClr val="tx1"/>
                    </a:solidFill>
                    <a:latin typeface="CG Times"/>
                    <a:ea typeface="+mn-ea"/>
                    <a:cs typeface="+mn-cs"/>
                  </a:defRPr>
                </a:lvl6pPr>
                <a:lvl7pPr marL="2743200" algn="l" defTabSz="914400" rtl="0" eaLnBrk="1" latinLnBrk="0" hangingPunct="1">
                  <a:defRPr sz="1000" b="1" kern="1200">
                    <a:solidFill>
                      <a:schemeClr val="tx1"/>
                    </a:solidFill>
                    <a:latin typeface="CG Times"/>
                    <a:ea typeface="+mn-ea"/>
                    <a:cs typeface="+mn-cs"/>
                  </a:defRPr>
                </a:lvl7pPr>
                <a:lvl8pPr marL="3200400" algn="l" defTabSz="914400" rtl="0" eaLnBrk="1" latinLnBrk="0" hangingPunct="1">
                  <a:defRPr sz="1000" b="1" kern="1200">
                    <a:solidFill>
                      <a:schemeClr val="tx1"/>
                    </a:solidFill>
                    <a:latin typeface="CG Times"/>
                    <a:ea typeface="+mn-ea"/>
                    <a:cs typeface="+mn-cs"/>
                  </a:defRPr>
                </a:lvl8pPr>
                <a:lvl9pPr marL="3657600" algn="l" defTabSz="914400" rtl="0" eaLnBrk="1" latinLnBrk="0" hangingPunct="1">
                  <a:defRPr sz="1000" b="1" kern="1200">
                    <a:solidFill>
                      <a:schemeClr val="tx1"/>
                    </a:solidFill>
                    <a:latin typeface="CG Times"/>
                    <a:ea typeface="+mn-ea"/>
                    <a:cs typeface="+mn-cs"/>
                  </a:defRPr>
                </a:lvl9pPr>
              </a:lstStyle>
              <a:p>
                <a:pPr algn="r" eaLnBrk="1" fontAlgn="auto" hangingPunct="1">
                  <a:lnSpc>
                    <a:spcPct val="85000"/>
                  </a:lnSpc>
                  <a:spcBef>
                    <a:spcPts val="0"/>
                  </a:spcBef>
                  <a:spcAft>
                    <a:spcPts val="0"/>
                  </a:spcAft>
                  <a:defRPr/>
                </a:pPr>
                <a:endParaRPr lang="en-GB" sz="5400" b="0" kern="0">
                  <a:solidFill>
                    <a:srgbClr val="FFFFFF"/>
                  </a:solidFill>
                  <a:latin typeface="Arial" charset="0"/>
                </a:endParaRPr>
              </a:p>
            </p:txBody>
          </p:sp>
        </p:grpSp>
      </p:grpSp>
      <p:sp>
        <p:nvSpPr>
          <p:cNvPr id="56" name="Rectangle 55"/>
          <p:cNvSpPr/>
          <p:nvPr/>
        </p:nvSpPr>
        <p:spPr>
          <a:xfrm>
            <a:off x="6877178" y="1682176"/>
            <a:ext cx="1957280" cy="584775"/>
          </a:xfrm>
          <a:prstGeom prst="rect">
            <a:avLst/>
          </a:prstGeom>
        </p:spPr>
        <p:txBody>
          <a:bodyPr wrap="square">
            <a:spAutoFit/>
          </a:bodyPr>
          <a:lstStyle/>
          <a:p>
            <a:pPr algn="ctr" fontAlgn="auto">
              <a:spcBef>
                <a:spcPts val="0"/>
              </a:spcBef>
              <a:spcAft>
                <a:spcPts val="1200"/>
              </a:spcAft>
              <a:defRPr/>
            </a:pPr>
            <a:r>
              <a:rPr lang="en-GB" sz="1600" b="1" i="1" kern="0" dirty="0" smtClean="0">
                <a:solidFill>
                  <a:srgbClr val="595959"/>
                </a:solidFill>
                <a:latin typeface="+mn-lt"/>
                <a:ea typeface="Times New Roman"/>
                <a:cs typeface="+mn-cs"/>
              </a:rPr>
              <a:t>WMO regulation and other specifications</a:t>
            </a:r>
            <a:endParaRPr lang="en-GB" sz="1600" b="1" i="1" kern="0" dirty="0">
              <a:solidFill>
                <a:srgbClr val="595959"/>
              </a:solidFill>
              <a:latin typeface="+mn-lt"/>
              <a:ea typeface="Times New Roman"/>
              <a:cs typeface="+mn-cs"/>
            </a:endParaRPr>
          </a:p>
        </p:txBody>
      </p:sp>
      <p:grpSp>
        <p:nvGrpSpPr>
          <p:cNvPr id="12" name="Group 5"/>
          <p:cNvGrpSpPr/>
          <p:nvPr/>
        </p:nvGrpSpPr>
        <p:grpSpPr>
          <a:xfrm>
            <a:off x="35496" y="1185443"/>
            <a:ext cx="5095327" cy="1828800"/>
            <a:chOff x="35496" y="1185443"/>
            <a:chExt cx="5095327" cy="1828800"/>
          </a:xfrm>
        </p:grpSpPr>
        <p:sp>
          <p:nvSpPr>
            <p:cNvPr id="55" name="Down Arrow 54"/>
            <p:cNvSpPr/>
            <p:nvPr/>
          </p:nvSpPr>
          <p:spPr>
            <a:xfrm rot="16200000" flipH="1" flipV="1">
              <a:off x="3876477" y="1358748"/>
              <a:ext cx="1200317" cy="1308374"/>
            </a:xfrm>
            <a:prstGeom prst="downArrow">
              <a:avLst/>
            </a:prstGeom>
            <a:gradFill>
              <a:gsLst>
                <a:gs pos="0">
                  <a:srgbClr val="C00000">
                    <a:alpha val="20000"/>
                  </a:srgbClr>
                </a:gs>
                <a:gs pos="100000">
                  <a:srgbClr val="FF0000">
                    <a:alpha val="0"/>
                  </a:srgbClr>
                </a:gs>
              </a:gsLst>
              <a:lin ang="16200000" scaled="0"/>
            </a:gradFill>
            <a:ln w="12700" cap="flat" cmpd="sng" algn="ctr">
              <a:gradFill>
                <a:gsLst>
                  <a:gs pos="0">
                    <a:sysClr val="window" lastClr="FFFFFF"/>
                  </a:gs>
                  <a:gs pos="100000">
                    <a:srgbClr val="FF0000"/>
                  </a:gs>
                </a:gsLst>
                <a:lin ang="5400000" scaled="0"/>
              </a:gra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sz="1000" b="1" kern="1200">
                  <a:solidFill>
                    <a:schemeClr val="tx1"/>
                  </a:solidFill>
                  <a:latin typeface="CG Times"/>
                  <a:ea typeface="+mn-ea"/>
                  <a:cs typeface="+mn-cs"/>
                </a:defRPr>
              </a:lvl1pPr>
              <a:lvl2pPr marL="457200" algn="l" rtl="0" eaLnBrk="0" fontAlgn="base" hangingPunct="0">
                <a:spcBef>
                  <a:spcPct val="0"/>
                </a:spcBef>
                <a:spcAft>
                  <a:spcPct val="0"/>
                </a:spcAft>
                <a:defRPr sz="1000" b="1" kern="1200">
                  <a:solidFill>
                    <a:schemeClr val="tx1"/>
                  </a:solidFill>
                  <a:latin typeface="CG Times"/>
                  <a:ea typeface="+mn-ea"/>
                  <a:cs typeface="+mn-cs"/>
                </a:defRPr>
              </a:lvl2pPr>
              <a:lvl3pPr marL="914400" algn="l" rtl="0" eaLnBrk="0" fontAlgn="base" hangingPunct="0">
                <a:spcBef>
                  <a:spcPct val="0"/>
                </a:spcBef>
                <a:spcAft>
                  <a:spcPct val="0"/>
                </a:spcAft>
                <a:defRPr sz="1000" b="1" kern="1200">
                  <a:solidFill>
                    <a:schemeClr val="tx1"/>
                  </a:solidFill>
                  <a:latin typeface="CG Times"/>
                  <a:ea typeface="+mn-ea"/>
                  <a:cs typeface="+mn-cs"/>
                </a:defRPr>
              </a:lvl3pPr>
              <a:lvl4pPr marL="1371600" algn="l" rtl="0" eaLnBrk="0" fontAlgn="base" hangingPunct="0">
                <a:spcBef>
                  <a:spcPct val="0"/>
                </a:spcBef>
                <a:spcAft>
                  <a:spcPct val="0"/>
                </a:spcAft>
                <a:defRPr sz="1000" b="1" kern="1200">
                  <a:solidFill>
                    <a:schemeClr val="tx1"/>
                  </a:solidFill>
                  <a:latin typeface="CG Times"/>
                  <a:ea typeface="+mn-ea"/>
                  <a:cs typeface="+mn-cs"/>
                </a:defRPr>
              </a:lvl4pPr>
              <a:lvl5pPr marL="1828800" algn="l" rtl="0" eaLnBrk="0" fontAlgn="base" hangingPunct="0">
                <a:spcBef>
                  <a:spcPct val="0"/>
                </a:spcBef>
                <a:spcAft>
                  <a:spcPct val="0"/>
                </a:spcAft>
                <a:defRPr sz="1000" b="1" kern="1200">
                  <a:solidFill>
                    <a:schemeClr val="tx1"/>
                  </a:solidFill>
                  <a:latin typeface="CG Times"/>
                  <a:ea typeface="+mn-ea"/>
                  <a:cs typeface="+mn-cs"/>
                </a:defRPr>
              </a:lvl5pPr>
              <a:lvl6pPr marL="2286000" algn="l" defTabSz="914400" rtl="0" eaLnBrk="1" latinLnBrk="0" hangingPunct="1">
                <a:defRPr sz="1000" b="1" kern="1200">
                  <a:solidFill>
                    <a:schemeClr val="tx1"/>
                  </a:solidFill>
                  <a:latin typeface="CG Times"/>
                  <a:ea typeface="+mn-ea"/>
                  <a:cs typeface="+mn-cs"/>
                </a:defRPr>
              </a:lvl6pPr>
              <a:lvl7pPr marL="2743200" algn="l" defTabSz="914400" rtl="0" eaLnBrk="1" latinLnBrk="0" hangingPunct="1">
                <a:defRPr sz="1000" b="1" kern="1200">
                  <a:solidFill>
                    <a:schemeClr val="tx1"/>
                  </a:solidFill>
                  <a:latin typeface="CG Times"/>
                  <a:ea typeface="+mn-ea"/>
                  <a:cs typeface="+mn-cs"/>
                </a:defRPr>
              </a:lvl7pPr>
              <a:lvl8pPr marL="3200400" algn="l" defTabSz="914400" rtl="0" eaLnBrk="1" latinLnBrk="0" hangingPunct="1">
                <a:defRPr sz="1000" b="1" kern="1200">
                  <a:solidFill>
                    <a:schemeClr val="tx1"/>
                  </a:solidFill>
                  <a:latin typeface="CG Times"/>
                  <a:ea typeface="+mn-ea"/>
                  <a:cs typeface="+mn-cs"/>
                </a:defRPr>
              </a:lvl8pPr>
              <a:lvl9pPr marL="3657600" algn="l" defTabSz="914400" rtl="0" eaLnBrk="1" latinLnBrk="0" hangingPunct="1">
                <a:defRPr sz="1000" b="1" kern="1200">
                  <a:solidFill>
                    <a:schemeClr val="tx1"/>
                  </a:solidFill>
                  <a:latin typeface="CG Times"/>
                  <a:ea typeface="+mn-ea"/>
                  <a:cs typeface="+mn-cs"/>
                </a:defRPr>
              </a:lvl9pPr>
            </a:lstStyle>
            <a:p>
              <a:pPr algn="r" eaLnBrk="1" fontAlgn="auto" hangingPunct="1">
                <a:lnSpc>
                  <a:spcPct val="85000"/>
                </a:lnSpc>
                <a:spcBef>
                  <a:spcPts val="0"/>
                </a:spcBef>
                <a:spcAft>
                  <a:spcPts val="0"/>
                </a:spcAft>
                <a:defRPr/>
              </a:pPr>
              <a:endParaRPr lang="en-GB" sz="5400" b="0" kern="0">
                <a:solidFill>
                  <a:srgbClr val="FFFFFF"/>
                </a:solidFill>
                <a:latin typeface="Arial" charset="0"/>
              </a:endParaRPr>
            </a:p>
          </p:txBody>
        </p:sp>
        <p:pic>
          <p:nvPicPr>
            <p:cNvPr id="1029" name="Picture 5"/>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1619672" y="1185443"/>
              <a:ext cx="2371725" cy="1828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7" name="Rectangle 56"/>
            <p:cNvSpPr/>
            <p:nvPr/>
          </p:nvSpPr>
          <p:spPr>
            <a:xfrm>
              <a:off x="35496" y="1720547"/>
              <a:ext cx="1598873" cy="584775"/>
            </a:xfrm>
            <a:prstGeom prst="rect">
              <a:avLst/>
            </a:prstGeom>
          </p:spPr>
          <p:txBody>
            <a:bodyPr wrap="square">
              <a:spAutoFit/>
            </a:bodyPr>
            <a:lstStyle/>
            <a:p>
              <a:pPr algn="ctr" fontAlgn="auto">
                <a:spcBef>
                  <a:spcPts val="0"/>
                </a:spcBef>
                <a:spcAft>
                  <a:spcPts val="1200"/>
                </a:spcAft>
                <a:defRPr/>
              </a:pPr>
              <a:r>
                <a:rPr lang="en-GB" sz="1600" b="1" i="1" kern="0" dirty="0" smtClean="0">
                  <a:solidFill>
                    <a:srgbClr val="595959"/>
                  </a:solidFill>
                  <a:latin typeface="+mn-lt"/>
                  <a:ea typeface="Times New Roman"/>
                  <a:cs typeface="+mn-cs"/>
                </a:rPr>
                <a:t>Requirements</a:t>
              </a:r>
              <a:r>
                <a:rPr lang="en-GB" sz="1600" b="1" i="1" kern="0" dirty="0">
                  <a:solidFill>
                    <a:srgbClr val="595959"/>
                  </a:solidFill>
                  <a:latin typeface="+mn-lt"/>
                  <a:ea typeface="Times New Roman"/>
                </a:rPr>
                <a:t> </a:t>
              </a:r>
              <a:r>
                <a:rPr lang="en-GB" sz="1600" b="1" i="1" kern="0" dirty="0" smtClean="0">
                  <a:solidFill>
                    <a:srgbClr val="595959"/>
                  </a:solidFill>
                  <a:latin typeface="+mn-lt"/>
                  <a:ea typeface="Times New Roman"/>
                </a:rPr>
                <a:t>model</a:t>
              </a:r>
              <a:endParaRPr lang="en-GB" sz="1600" b="1" i="1" kern="0" dirty="0" smtClean="0">
                <a:solidFill>
                  <a:srgbClr val="595959"/>
                </a:solidFill>
                <a:latin typeface="+mn-lt"/>
                <a:ea typeface="Times New Roman"/>
                <a:cs typeface="+mn-cs"/>
              </a:endParaRPr>
            </a:p>
          </p:txBody>
        </p:sp>
      </p:grpSp>
      <p:grpSp>
        <p:nvGrpSpPr>
          <p:cNvPr id="15" name="Group 9"/>
          <p:cNvGrpSpPr/>
          <p:nvPr/>
        </p:nvGrpSpPr>
        <p:grpSpPr>
          <a:xfrm>
            <a:off x="6105391" y="3405184"/>
            <a:ext cx="2826761" cy="1820663"/>
            <a:chOff x="6105391" y="3405184"/>
            <a:chExt cx="2826761" cy="1820663"/>
          </a:xfrm>
        </p:grpSpPr>
        <p:grpSp>
          <p:nvGrpSpPr>
            <p:cNvPr id="19" name="Group 23"/>
            <p:cNvGrpSpPr/>
            <p:nvPr/>
          </p:nvGrpSpPr>
          <p:grpSpPr>
            <a:xfrm>
              <a:off x="6826553" y="3445488"/>
              <a:ext cx="2105599" cy="1050389"/>
              <a:chOff x="6789230" y="4072640"/>
              <a:chExt cx="2105599" cy="1050389"/>
            </a:xfrm>
          </p:grpSpPr>
          <p:sp>
            <p:nvSpPr>
              <p:cNvPr id="13" name="Rectangle 12"/>
              <p:cNvSpPr/>
              <p:nvPr/>
            </p:nvSpPr>
            <p:spPr bwMode="auto">
              <a:xfrm>
                <a:off x="6789230" y="4072640"/>
                <a:ext cx="2105599" cy="1050389"/>
              </a:xfrm>
              <a:prstGeom prst="rect">
                <a:avLst/>
              </a:prstGeom>
              <a:solidFill>
                <a:sysClr val="window" lastClr="FFFFFF"/>
              </a:soli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ctr"/>
              <a:lstStyle/>
              <a:p>
                <a:pPr algn="l" fontAlgn="auto">
                  <a:spcBef>
                    <a:spcPts val="0"/>
                  </a:spcBef>
                  <a:spcAft>
                    <a:spcPts val="0"/>
                  </a:spcAft>
                  <a:defRPr/>
                </a:pPr>
                <a:r>
                  <a:rPr lang="fr-FR" sz="1600" b="1" i="1" kern="0" dirty="0" smtClean="0">
                    <a:solidFill>
                      <a:sysClr val="windowText" lastClr="000000"/>
                    </a:solidFill>
                    <a:latin typeface="+mn-lt"/>
                    <a:cs typeface="+mn-cs"/>
                  </a:rPr>
                  <a:t>XML instance documents</a:t>
                </a:r>
                <a:endParaRPr lang="en-GB" sz="1600" b="1" i="1" kern="0" dirty="0">
                  <a:solidFill>
                    <a:sysClr val="windowText" lastClr="000000"/>
                  </a:solidFill>
                  <a:latin typeface="Calibri"/>
                  <a:cs typeface="+mn-cs"/>
                </a:endParaRPr>
              </a:p>
            </p:txBody>
          </p:sp>
          <p:pic>
            <p:nvPicPr>
              <p:cNvPr id="14" name="Picture 13"/>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8058707" y="4237002"/>
                <a:ext cx="714605" cy="714605"/>
              </a:xfrm>
              <a:prstGeom prst="rect">
                <a:avLst/>
              </a:prstGeom>
            </p:spPr>
          </p:pic>
        </p:grpSp>
        <p:sp>
          <p:nvSpPr>
            <p:cNvPr id="26" name="Rectangle 25"/>
            <p:cNvSpPr/>
            <p:nvPr/>
          </p:nvSpPr>
          <p:spPr>
            <a:xfrm>
              <a:off x="7165210" y="4641072"/>
              <a:ext cx="1428284" cy="584775"/>
            </a:xfrm>
            <a:prstGeom prst="rect">
              <a:avLst/>
            </a:prstGeom>
          </p:spPr>
          <p:txBody>
            <a:bodyPr wrap="square">
              <a:spAutoFit/>
            </a:bodyPr>
            <a:lstStyle/>
            <a:p>
              <a:pPr algn="ctr" fontAlgn="auto">
                <a:spcBef>
                  <a:spcPts val="0"/>
                </a:spcBef>
                <a:spcAft>
                  <a:spcPts val="1200"/>
                </a:spcAft>
                <a:defRPr/>
              </a:pPr>
              <a:r>
                <a:rPr lang="en-GB" sz="1600" b="1" i="1" u="sng" kern="0" dirty="0" err="1" smtClean="0">
                  <a:solidFill>
                    <a:srgbClr val="595959"/>
                  </a:solidFill>
                  <a:latin typeface="+mn-lt"/>
                  <a:ea typeface="Times New Roman"/>
                  <a:cs typeface="+mn-cs"/>
                </a:rPr>
                <a:t>Validatable</a:t>
              </a:r>
              <a:r>
                <a:rPr lang="en-GB" sz="1600" b="1" i="1" kern="0" dirty="0" smtClean="0">
                  <a:solidFill>
                    <a:srgbClr val="595959"/>
                  </a:solidFill>
                  <a:latin typeface="+mn-lt"/>
                  <a:ea typeface="Times New Roman"/>
                  <a:cs typeface="+mn-cs"/>
                </a:rPr>
                <a:t> data products</a:t>
              </a:r>
              <a:endParaRPr lang="en-GB" sz="1600" b="1" i="1" kern="0" dirty="0">
                <a:solidFill>
                  <a:srgbClr val="595959"/>
                </a:solidFill>
                <a:latin typeface="+mn-lt"/>
                <a:ea typeface="Times New Roman"/>
                <a:cs typeface="+mn-cs"/>
              </a:endParaRPr>
            </a:p>
          </p:txBody>
        </p:sp>
        <p:cxnSp>
          <p:nvCxnSpPr>
            <p:cNvPr id="16" name="Straight Arrow Connector 83"/>
            <p:cNvCxnSpPr>
              <a:cxnSpLocks noChangeShapeType="1"/>
            </p:cNvCxnSpPr>
            <p:nvPr/>
          </p:nvCxnSpPr>
          <p:spPr bwMode="auto">
            <a:xfrm flipH="1" flipV="1">
              <a:off x="6105391" y="3949767"/>
              <a:ext cx="705120" cy="4882"/>
            </a:xfrm>
            <a:prstGeom prst="straightConnector1">
              <a:avLst/>
            </a:prstGeom>
            <a:noFill/>
            <a:ln w="9525" algn="ctr">
              <a:solidFill>
                <a:srgbClr val="000000"/>
              </a:solidFill>
              <a:prstDash val="lgDash"/>
              <a:round/>
              <a:headEnd/>
              <a:tailEnd type="arrow" w="med" len="med"/>
            </a:ln>
            <a:extLst>
              <a:ext uri="{909E8E84-426E-40DD-AFC4-6F175D3DCCD1}">
                <a14:hiddenFill xmlns="" xmlns:a14="http://schemas.microsoft.com/office/drawing/2010/main">
                  <a:noFill/>
                </a14:hiddenFill>
              </a:ext>
            </a:extLst>
          </p:spPr>
        </p:cxnSp>
        <p:sp>
          <p:nvSpPr>
            <p:cNvPr id="17" name="Rectangle 16"/>
            <p:cNvSpPr/>
            <p:nvPr/>
          </p:nvSpPr>
          <p:spPr bwMode="auto">
            <a:xfrm rot="16200000">
              <a:off x="6069409" y="3823568"/>
              <a:ext cx="1098378" cy="261610"/>
            </a:xfrm>
            <a:prstGeom prst="rect">
              <a:avLst/>
            </a:prstGeom>
            <a:solidFill>
              <a:schemeClr val="bg1">
                <a:alpha val="80000"/>
              </a:schemeClr>
            </a:solidFill>
          </p:spPr>
          <p:txBody>
            <a:bodyPr wrap="none">
              <a:spAutoFit/>
            </a:bodyPr>
            <a:lstStyle/>
            <a:p>
              <a:pPr fontAlgn="auto">
                <a:spcBef>
                  <a:spcPts val="0"/>
                </a:spcBef>
                <a:spcAft>
                  <a:spcPts val="0"/>
                </a:spcAft>
                <a:defRPr/>
              </a:pPr>
              <a:r>
                <a:rPr lang="en-GB" sz="1100" b="1" i="1" kern="0" dirty="0" smtClean="0">
                  <a:solidFill>
                    <a:srgbClr val="595959"/>
                  </a:solidFill>
                  <a:latin typeface="+mn-lt"/>
                  <a:ea typeface="Times New Roman"/>
                  <a:cs typeface="+mn-cs"/>
                </a:rPr>
                <a:t>« conforms to »</a:t>
              </a:r>
              <a:endParaRPr lang="en-GB" sz="1100" b="1" dirty="0">
                <a:latin typeface="+mn-lt"/>
                <a:cs typeface="+mn-cs"/>
              </a:endParaRPr>
            </a:p>
          </p:txBody>
        </p:sp>
      </p:grpSp>
      <p:grpSp>
        <p:nvGrpSpPr>
          <p:cNvPr id="23" name="Group 10"/>
          <p:cNvGrpSpPr/>
          <p:nvPr/>
        </p:nvGrpSpPr>
        <p:grpSpPr>
          <a:xfrm>
            <a:off x="2975594" y="3356992"/>
            <a:ext cx="3346781" cy="2850705"/>
            <a:chOff x="2975594" y="3356992"/>
            <a:chExt cx="3346781" cy="2850705"/>
          </a:xfrm>
        </p:grpSpPr>
        <p:sp>
          <p:nvSpPr>
            <p:cNvPr id="18" name="Rectangle 17"/>
            <p:cNvSpPr/>
            <p:nvPr/>
          </p:nvSpPr>
          <p:spPr bwMode="auto">
            <a:xfrm>
              <a:off x="3993080" y="3356992"/>
              <a:ext cx="2329295" cy="2850705"/>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grpSp>
          <p:nvGrpSpPr>
            <p:cNvPr id="27" name="Group 32769"/>
            <p:cNvGrpSpPr/>
            <p:nvPr/>
          </p:nvGrpSpPr>
          <p:grpSpPr>
            <a:xfrm>
              <a:off x="5455460" y="3520258"/>
              <a:ext cx="680907" cy="975619"/>
              <a:chOff x="5270111" y="4064872"/>
              <a:chExt cx="680907" cy="975619"/>
            </a:xfrm>
          </p:grpSpPr>
          <p:pic>
            <p:nvPicPr>
              <p:cNvPr id="22" name="Picture 2" descr="http://findicons.com/files/icons/1915/xml_docs/128/xsd.png"/>
              <p:cNvPicPr>
                <a:picLocks noChangeAspect="1" noChangeArrowheads="1"/>
              </p:cNvPicPr>
              <p:nvPr/>
            </p:nvPicPr>
            <p:blipFill>
              <a:blip r:embed="rId8" cstate="print">
                <a:extLst>
                  <a:ext uri="{28A0092B-C50C-407E-A947-70E740481C1C}">
                    <a14:useLocalDpi xmlns="" xmlns:a14="http://schemas.microsoft.com/office/drawing/2010/main" val="0"/>
                  </a:ext>
                </a:extLst>
              </a:blip>
              <a:srcRect/>
              <a:stretch>
                <a:fillRect/>
              </a:stretch>
            </p:blipFill>
            <p:spPr bwMode="auto">
              <a:xfrm>
                <a:off x="5270111" y="4064872"/>
                <a:ext cx="680907" cy="6811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28" name="Group 46"/>
              <p:cNvGrpSpPr/>
              <p:nvPr/>
            </p:nvGrpSpPr>
            <p:grpSpPr>
              <a:xfrm>
                <a:off x="5300570" y="4701937"/>
                <a:ext cx="619987" cy="338554"/>
                <a:chOff x="5300570" y="4701937"/>
                <a:chExt cx="619987" cy="338554"/>
              </a:xfrm>
            </p:grpSpPr>
            <p:sp>
              <p:nvSpPr>
                <p:cNvPr id="24" name="Rectangle 23"/>
                <p:cNvSpPr/>
                <p:nvPr/>
              </p:nvSpPr>
              <p:spPr>
                <a:xfrm>
                  <a:off x="5300570" y="4753532"/>
                  <a:ext cx="619987" cy="241620"/>
                </a:xfrm>
                <a:prstGeom prst="rect">
                  <a:avLst/>
                </a:prstGeom>
                <a:solidFill>
                  <a:srgbClr val="FF33CC"/>
                </a:solidFill>
                <a:ln>
                  <a:noFill/>
                </a:ln>
                <a:effectLst>
                  <a:outerShdw blurRad="50800" dist="12700" dir="2700000" algn="tl" rotWithShape="0">
                    <a:prstClr val="black">
                      <a:alpha val="40000"/>
                    </a:prstClr>
                  </a:outerShdw>
                </a:effectLst>
                <a:scene3d>
                  <a:camera prst="orthographicFront"/>
                  <a:lightRig rig="threePt" dir="t">
                    <a:rot lat="0" lon="0" rev="2700000"/>
                  </a:lightRig>
                </a:scene3d>
                <a:sp3d extrusionH="38100" prstMaterial="plastic">
                  <a:bevelT w="381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spc="5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25" name="Rectangle 24"/>
                <p:cNvSpPr/>
                <p:nvPr/>
              </p:nvSpPr>
              <p:spPr>
                <a:xfrm>
                  <a:off x="5340296" y="4701937"/>
                  <a:ext cx="540533" cy="338554"/>
                </a:xfrm>
                <a:prstGeom prst="rect">
                  <a:avLst/>
                </a:prstGeom>
                <a:noFill/>
              </p:spPr>
              <p:txBody>
                <a:bodyPr wrap="none" lIns="91440" tIns="45720" rIns="91440" bIns="45720">
                  <a:spAutoFit/>
                </a:bodyPr>
                <a:lstStyle/>
                <a:p>
                  <a:pPr algn="ctr"/>
                  <a:r>
                    <a:rPr lang="en-US" sz="1600" b="1" cap="none" spc="50" dirty="0" smtClean="0">
                      <a:ln w="13500">
                        <a:solidFill>
                          <a:schemeClr val="accent1">
                            <a:shade val="2500"/>
                            <a:alpha val="6500"/>
                          </a:schemeClr>
                        </a:solidFill>
                        <a:prstDash val="solid"/>
                      </a:ln>
                      <a:solidFill>
                        <a:schemeClr val="bg1">
                          <a:alpha val="95000"/>
                        </a:schemeClr>
                      </a:solidFill>
                      <a:effectLst>
                        <a:innerShdw blurRad="50900" dist="38500" dir="13500000">
                          <a:srgbClr val="000000">
                            <a:alpha val="60000"/>
                          </a:srgbClr>
                        </a:innerShdw>
                      </a:effectLst>
                    </a:rPr>
                    <a:t>SCH</a:t>
                  </a:r>
                  <a:endParaRPr lang="en-US" sz="1600" b="1" cap="none" spc="50" dirty="0">
                    <a:ln w="13500">
                      <a:solidFill>
                        <a:schemeClr val="accent1">
                          <a:shade val="2500"/>
                          <a:alpha val="6500"/>
                        </a:schemeClr>
                      </a:solidFill>
                      <a:prstDash val="solid"/>
                    </a:ln>
                    <a:solidFill>
                      <a:schemeClr val="bg1">
                        <a:alpha val="95000"/>
                      </a:schemeClr>
                    </a:solidFill>
                    <a:effectLst>
                      <a:innerShdw blurRad="50900" dist="38500" dir="13500000">
                        <a:srgbClr val="000000">
                          <a:alpha val="60000"/>
                        </a:srgbClr>
                      </a:innerShdw>
                    </a:effectLst>
                  </a:endParaRPr>
                </a:p>
              </p:txBody>
            </p:sp>
          </p:grpSp>
        </p:grpSp>
        <p:sp>
          <p:nvSpPr>
            <p:cNvPr id="20" name="Rectangle 19"/>
            <p:cNvSpPr/>
            <p:nvPr/>
          </p:nvSpPr>
          <p:spPr>
            <a:xfrm>
              <a:off x="3988505" y="3792359"/>
              <a:ext cx="1584501" cy="687368"/>
            </a:xfrm>
            <a:prstGeom prst="rect">
              <a:avLst/>
            </a:prstGeom>
          </p:spPr>
          <p:txBody>
            <a:bodyPr wrap="square">
              <a:spAutoFit/>
            </a:bodyPr>
            <a:lstStyle/>
            <a:p>
              <a:pPr algn="r" fontAlgn="auto">
                <a:spcBef>
                  <a:spcPts val="0"/>
                </a:spcBef>
                <a:spcAft>
                  <a:spcPts val="800"/>
                </a:spcAft>
                <a:defRPr/>
              </a:pPr>
              <a:r>
                <a:rPr lang="en-GB" sz="1600" b="1" i="1" kern="0" dirty="0" smtClean="0">
                  <a:latin typeface="+mn-lt"/>
                  <a:ea typeface="Times New Roman"/>
                  <a:cs typeface="+mn-cs"/>
                </a:rPr>
                <a:t>XML Schema 1.0</a:t>
              </a:r>
            </a:p>
            <a:p>
              <a:pPr algn="r" fontAlgn="auto">
                <a:spcBef>
                  <a:spcPts val="0"/>
                </a:spcBef>
                <a:spcAft>
                  <a:spcPts val="800"/>
                </a:spcAft>
                <a:defRPr/>
              </a:pPr>
              <a:r>
                <a:rPr lang="en-GB" sz="1600" b="1" i="1" kern="0" dirty="0" err="1" smtClean="0">
                  <a:latin typeface="+mn-lt"/>
                  <a:ea typeface="Times New Roman"/>
                  <a:cs typeface="+mn-cs"/>
                </a:rPr>
                <a:t>Schematron</a:t>
              </a:r>
              <a:r>
                <a:rPr lang="en-GB" sz="1600" b="1" i="1" kern="0" dirty="0" smtClean="0">
                  <a:latin typeface="+mn-lt"/>
                  <a:ea typeface="Times New Roman"/>
                  <a:cs typeface="+mn-cs"/>
                </a:rPr>
                <a:t>  </a:t>
              </a:r>
              <a:r>
                <a:rPr lang="en-GB" sz="1600" b="1" i="1" kern="0" dirty="0" smtClean="0">
                  <a:solidFill>
                    <a:schemeClr val="bg1"/>
                  </a:solidFill>
                  <a:latin typeface="+mn-lt"/>
                  <a:ea typeface="Times New Roman"/>
                  <a:cs typeface="+mn-cs"/>
                </a:rPr>
                <a:t>.</a:t>
              </a:r>
              <a:endParaRPr lang="en-GB" sz="1400" b="1" i="1" kern="0" dirty="0">
                <a:solidFill>
                  <a:schemeClr val="bg1"/>
                </a:solidFill>
                <a:latin typeface="+mn-lt"/>
                <a:ea typeface="Times New Roman"/>
                <a:cs typeface="+mn-cs"/>
              </a:endParaRPr>
            </a:p>
          </p:txBody>
        </p:sp>
        <p:sp>
          <p:nvSpPr>
            <p:cNvPr id="21" name="Rectangle 20"/>
            <p:cNvSpPr/>
            <p:nvPr/>
          </p:nvSpPr>
          <p:spPr>
            <a:xfrm>
              <a:off x="4179087" y="5489126"/>
              <a:ext cx="1957280" cy="584775"/>
            </a:xfrm>
            <a:prstGeom prst="rect">
              <a:avLst/>
            </a:prstGeom>
          </p:spPr>
          <p:txBody>
            <a:bodyPr wrap="square">
              <a:spAutoFit/>
            </a:bodyPr>
            <a:lstStyle/>
            <a:p>
              <a:pPr algn="ctr" fontAlgn="auto">
                <a:spcBef>
                  <a:spcPts val="0"/>
                </a:spcBef>
                <a:spcAft>
                  <a:spcPts val="1200"/>
                </a:spcAft>
                <a:defRPr/>
              </a:pPr>
              <a:r>
                <a:rPr lang="en-GB" sz="1600" b="1" i="1" kern="0" dirty="0" smtClean="0">
                  <a:solidFill>
                    <a:srgbClr val="595959"/>
                  </a:solidFill>
                  <a:latin typeface="+mn-lt"/>
                  <a:ea typeface="Times New Roman"/>
                  <a:cs typeface="+mn-cs"/>
                </a:rPr>
                <a:t>Validation schema and rules</a:t>
              </a:r>
              <a:endParaRPr lang="en-GB" sz="1600" b="1" i="1" kern="0" dirty="0">
                <a:solidFill>
                  <a:srgbClr val="595959"/>
                </a:solidFill>
                <a:latin typeface="+mn-lt"/>
                <a:ea typeface="Times New Roman"/>
                <a:cs typeface="+mn-cs"/>
              </a:endParaRPr>
            </a:p>
          </p:txBody>
        </p:sp>
        <p:sp>
          <p:nvSpPr>
            <p:cNvPr id="53" name="Down Arrow 52"/>
            <p:cNvSpPr/>
            <p:nvPr/>
          </p:nvSpPr>
          <p:spPr>
            <a:xfrm rot="5400000" flipH="1" flipV="1">
              <a:off x="3029622" y="4102529"/>
              <a:ext cx="1200317" cy="1308374"/>
            </a:xfrm>
            <a:prstGeom prst="downArrow">
              <a:avLst/>
            </a:prstGeom>
            <a:gradFill>
              <a:gsLst>
                <a:gs pos="0">
                  <a:srgbClr val="C00000">
                    <a:alpha val="20000"/>
                  </a:srgbClr>
                </a:gs>
                <a:gs pos="100000">
                  <a:srgbClr val="FF0000">
                    <a:alpha val="0"/>
                  </a:srgbClr>
                </a:gs>
              </a:gsLst>
              <a:lin ang="16200000" scaled="0"/>
            </a:gradFill>
            <a:ln w="12700" cap="flat" cmpd="sng" algn="ctr">
              <a:gradFill>
                <a:gsLst>
                  <a:gs pos="0">
                    <a:sysClr val="window" lastClr="FFFFFF"/>
                  </a:gs>
                  <a:gs pos="100000">
                    <a:srgbClr val="FF0000"/>
                  </a:gs>
                </a:gsLst>
                <a:lin ang="5400000" scaled="0"/>
              </a:gra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sz="1000" b="1" kern="1200">
                  <a:solidFill>
                    <a:schemeClr val="tx1"/>
                  </a:solidFill>
                  <a:latin typeface="CG Times"/>
                  <a:ea typeface="+mn-ea"/>
                  <a:cs typeface="+mn-cs"/>
                </a:defRPr>
              </a:lvl1pPr>
              <a:lvl2pPr marL="457200" algn="l" rtl="0" eaLnBrk="0" fontAlgn="base" hangingPunct="0">
                <a:spcBef>
                  <a:spcPct val="0"/>
                </a:spcBef>
                <a:spcAft>
                  <a:spcPct val="0"/>
                </a:spcAft>
                <a:defRPr sz="1000" b="1" kern="1200">
                  <a:solidFill>
                    <a:schemeClr val="tx1"/>
                  </a:solidFill>
                  <a:latin typeface="CG Times"/>
                  <a:ea typeface="+mn-ea"/>
                  <a:cs typeface="+mn-cs"/>
                </a:defRPr>
              </a:lvl2pPr>
              <a:lvl3pPr marL="914400" algn="l" rtl="0" eaLnBrk="0" fontAlgn="base" hangingPunct="0">
                <a:spcBef>
                  <a:spcPct val="0"/>
                </a:spcBef>
                <a:spcAft>
                  <a:spcPct val="0"/>
                </a:spcAft>
                <a:defRPr sz="1000" b="1" kern="1200">
                  <a:solidFill>
                    <a:schemeClr val="tx1"/>
                  </a:solidFill>
                  <a:latin typeface="CG Times"/>
                  <a:ea typeface="+mn-ea"/>
                  <a:cs typeface="+mn-cs"/>
                </a:defRPr>
              </a:lvl3pPr>
              <a:lvl4pPr marL="1371600" algn="l" rtl="0" eaLnBrk="0" fontAlgn="base" hangingPunct="0">
                <a:spcBef>
                  <a:spcPct val="0"/>
                </a:spcBef>
                <a:spcAft>
                  <a:spcPct val="0"/>
                </a:spcAft>
                <a:defRPr sz="1000" b="1" kern="1200">
                  <a:solidFill>
                    <a:schemeClr val="tx1"/>
                  </a:solidFill>
                  <a:latin typeface="CG Times"/>
                  <a:ea typeface="+mn-ea"/>
                  <a:cs typeface="+mn-cs"/>
                </a:defRPr>
              </a:lvl4pPr>
              <a:lvl5pPr marL="1828800" algn="l" rtl="0" eaLnBrk="0" fontAlgn="base" hangingPunct="0">
                <a:spcBef>
                  <a:spcPct val="0"/>
                </a:spcBef>
                <a:spcAft>
                  <a:spcPct val="0"/>
                </a:spcAft>
                <a:defRPr sz="1000" b="1" kern="1200">
                  <a:solidFill>
                    <a:schemeClr val="tx1"/>
                  </a:solidFill>
                  <a:latin typeface="CG Times"/>
                  <a:ea typeface="+mn-ea"/>
                  <a:cs typeface="+mn-cs"/>
                </a:defRPr>
              </a:lvl5pPr>
              <a:lvl6pPr marL="2286000" algn="l" defTabSz="914400" rtl="0" eaLnBrk="1" latinLnBrk="0" hangingPunct="1">
                <a:defRPr sz="1000" b="1" kern="1200">
                  <a:solidFill>
                    <a:schemeClr val="tx1"/>
                  </a:solidFill>
                  <a:latin typeface="CG Times"/>
                  <a:ea typeface="+mn-ea"/>
                  <a:cs typeface="+mn-cs"/>
                </a:defRPr>
              </a:lvl6pPr>
              <a:lvl7pPr marL="2743200" algn="l" defTabSz="914400" rtl="0" eaLnBrk="1" latinLnBrk="0" hangingPunct="1">
                <a:defRPr sz="1000" b="1" kern="1200">
                  <a:solidFill>
                    <a:schemeClr val="tx1"/>
                  </a:solidFill>
                  <a:latin typeface="CG Times"/>
                  <a:ea typeface="+mn-ea"/>
                  <a:cs typeface="+mn-cs"/>
                </a:defRPr>
              </a:lvl7pPr>
              <a:lvl8pPr marL="3200400" algn="l" defTabSz="914400" rtl="0" eaLnBrk="1" latinLnBrk="0" hangingPunct="1">
                <a:defRPr sz="1000" b="1" kern="1200">
                  <a:solidFill>
                    <a:schemeClr val="tx1"/>
                  </a:solidFill>
                  <a:latin typeface="CG Times"/>
                  <a:ea typeface="+mn-ea"/>
                  <a:cs typeface="+mn-cs"/>
                </a:defRPr>
              </a:lvl8pPr>
              <a:lvl9pPr marL="3657600" algn="l" defTabSz="914400" rtl="0" eaLnBrk="1" latinLnBrk="0" hangingPunct="1">
                <a:defRPr sz="1000" b="1" kern="1200">
                  <a:solidFill>
                    <a:schemeClr val="tx1"/>
                  </a:solidFill>
                  <a:latin typeface="CG Times"/>
                  <a:ea typeface="+mn-ea"/>
                  <a:cs typeface="+mn-cs"/>
                </a:defRPr>
              </a:lvl9pPr>
            </a:lstStyle>
            <a:p>
              <a:pPr algn="r" eaLnBrk="1" fontAlgn="auto" hangingPunct="1">
                <a:lnSpc>
                  <a:spcPct val="85000"/>
                </a:lnSpc>
                <a:spcBef>
                  <a:spcPts val="0"/>
                </a:spcBef>
                <a:spcAft>
                  <a:spcPts val="0"/>
                </a:spcAft>
                <a:defRPr/>
              </a:pPr>
              <a:endParaRPr lang="en-GB" sz="5400" b="0" kern="0">
                <a:solidFill>
                  <a:srgbClr val="FFFFFF"/>
                </a:solidFill>
                <a:latin typeface="Arial" charset="0"/>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fade">
                                      <p:cBhvr>
                                        <p:cTn id="2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57200"/>
            <a:ext cx="9144000" cy="484188"/>
          </a:xfrm>
        </p:spPr>
        <p:txBody>
          <a:bodyPr/>
          <a:lstStyle/>
          <a:p>
            <a:pPr algn="ctr"/>
            <a:r>
              <a:rPr lang="en-AU" dirty="0" smtClean="0"/>
              <a:t>Two standards: Conceptual &amp; Implementation</a:t>
            </a:r>
            <a:endParaRPr lang="en-GB" dirty="0"/>
          </a:p>
        </p:txBody>
      </p:sp>
      <p:graphicFrame>
        <p:nvGraphicFramePr>
          <p:cNvPr id="7" name="Content Placeholder 5"/>
          <p:cNvGraphicFramePr>
            <a:graphicFrameLocks noGrp="1"/>
          </p:cNvGraphicFramePr>
          <p:nvPr>
            <p:ph idx="4294967295"/>
          </p:nvPr>
        </p:nvGraphicFramePr>
        <p:xfrm>
          <a:off x="386000" y="1600200"/>
          <a:ext cx="8458200" cy="4283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2085746634"/>
      </p:ext>
    </p:extLst>
  </p:cSld>
  <p:clrMapOvr>
    <a:masterClrMapping/>
  </p:clrMapOvr>
  <p:transition spd="med">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57200"/>
            <a:ext cx="9144000" cy="484188"/>
          </a:xfrm>
        </p:spPr>
        <p:txBody>
          <a:bodyPr/>
          <a:lstStyle/>
          <a:p>
            <a:pPr algn="ctr"/>
            <a:r>
              <a:rPr lang="en-AU" dirty="0" smtClean="0"/>
              <a:t>Conceptual Model -  based on O&amp;M</a:t>
            </a:r>
            <a:endParaRPr lang="en-GB" dirty="0"/>
          </a:p>
        </p:txBody>
      </p:sp>
      <p:pic>
        <p:nvPicPr>
          <p:cNvPr id="4" name="Picture 5"/>
          <p:cNvPicPr>
            <a:picLocks noGrp="1" noChangeAspect="1" noChangeArrowheads="1"/>
          </p:cNvPicPr>
          <p:nvPr>
            <p:ph idx="4294967295"/>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1052513"/>
            <a:ext cx="6651625" cy="4897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2957868" y="5221382"/>
            <a:ext cx="1600200" cy="914400"/>
          </a:xfrm>
          <a:prstGeom prst="rect">
            <a:avLst/>
          </a:prstGeom>
          <a:noFill/>
          <a:ln w="63500" algn="ctr">
            <a:solidFill>
              <a:srgbClr val="FF0000"/>
            </a:solidFill>
            <a:round/>
            <a:headEnd/>
            <a:tailEnd/>
          </a:ln>
          <a:extLst>
            <a:ext uri="{909E8E84-426E-40DD-AFC4-6F175D3DCCD1}">
              <a14:hiddenFill xmlns="" xmlns:a14="http://schemas.microsoft.com/office/drawing/2010/main">
                <a:solidFill>
                  <a:srgbClr val="FFFFFF"/>
                </a:solidFill>
              </a14:hiddenFill>
            </a:ext>
          </a:extLst>
        </p:spPr>
        <p:txBody>
          <a:bodyPr anchor="ctr"/>
          <a:lstStyle>
            <a:lvl1pPr eaLnBrk="0" hangingPunct="0">
              <a:defRPr sz="1000" b="1">
                <a:solidFill>
                  <a:schemeClr val="tx1"/>
                </a:solidFill>
                <a:latin typeface="CG Times" pitchFamily="18" charset="0"/>
                <a:ea typeface="MS PGothic" pitchFamily="34" charset="-128"/>
              </a:defRPr>
            </a:lvl1pPr>
            <a:lvl2pPr marL="742950" indent="-285750" eaLnBrk="0" hangingPunct="0">
              <a:defRPr sz="1000" b="1">
                <a:solidFill>
                  <a:schemeClr val="tx1"/>
                </a:solidFill>
                <a:latin typeface="CG Times" pitchFamily="18" charset="0"/>
                <a:ea typeface="MS PGothic" pitchFamily="34" charset="-128"/>
              </a:defRPr>
            </a:lvl2pPr>
            <a:lvl3pPr marL="1143000" indent="-228600" eaLnBrk="0" hangingPunct="0">
              <a:defRPr sz="1000" b="1">
                <a:solidFill>
                  <a:schemeClr val="tx1"/>
                </a:solidFill>
                <a:latin typeface="CG Times" pitchFamily="18" charset="0"/>
                <a:ea typeface="MS PGothic" pitchFamily="34" charset="-128"/>
              </a:defRPr>
            </a:lvl3pPr>
            <a:lvl4pPr marL="1600200" indent="-228600" eaLnBrk="0" hangingPunct="0">
              <a:defRPr sz="1000" b="1">
                <a:solidFill>
                  <a:schemeClr val="tx1"/>
                </a:solidFill>
                <a:latin typeface="CG Times" pitchFamily="18" charset="0"/>
                <a:ea typeface="MS PGothic" pitchFamily="34" charset="-128"/>
              </a:defRPr>
            </a:lvl4pPr>
            <a:lvl5pPr marL="2057400" indent="-228600" eaLnBrk="0" hangingPunct="0">
              <a:defRPr sz="1000" b="1">
                <a:solidFill>
                  <a:schemeClr val="tx1"/>
                </a:solidFill>
                <a:latin typeface="CG Times" pitchFamily="18"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pitchFamily="18"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pitchFamily="18"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pitchFamily="18"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pitchFamily="18" charset="0"/>
                <a:ea typeface="MS PGothic" pitchFamily="34" charset="-128"/>
              </a:defRPr>
            </a:lvl9pPr>
          </a:lstStyle>
          <a:p>
            <a:pPr algn="ctr" eaLnBrk="1" hangingPunct="1"/>
            <a:endParaRPr lang="en-GB" altLang="en-US"/>
          </a:p>
        </p:txBody>
      </p:sp>
      <p:sp>
        <p:nvSpPr>
          <p:cNvPr id="6" name="Oval 5"/>
          <p:cNvSpPr/>
          <p:nvPr/>
        </p:nvSpPr>
        <p:spPr>
          <a:xfrm>
            <a:off x="1979712" y="2309165"/>
            <a:ext cx="1224136"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3757968" y="1674093"/>
            <a:ext cx="1224136"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6876256" y="2060848"/>
            <a:ext cx="2062180" cy="1015663"/>
          </a:xfrm>
          <a:prstGeom prst="rect">
            <a:avLst/>
          </a:prstGeom>
          <a:noFill/>
        </p:spPr>
        <p:txBody>
          <a:bodyPr wrap="square" rtlCol="0">
            <a:spAutoFit/>
          </a:bodyPr>
          <a:lstStyle/>
          <a:p>
            <a:r>
              <a:rPr lang="en-AU" sz="2000" dirty="0" err="1" smtClean="0"/>
              <a:t>Timeseries</a:t>
            </a:r>
            <a:r>
              <a:rPr lang="en-AU" sz="2000" dirty="0" smtClean="0"/>
              <a:t> is the 'result' of an Observation</a:t>
            </a:r>
            <a:endParaRPr lang="en-GB" sz="2000" dirty="0"/>
          </a:p>
        </p:txBody>
      </p:sp>
    </p:spTree>
    <p:extLst>
      <p:ext uri="{BB962C8B-B14F-4D97-AF65-F5344CB8AC3E}">
        <p14:creationId xmlns="" xmlns:p14="http://schemas.microsoft.com/office/powerpoint/2010/main" val="587525432"/>
      </p:ext>
    </p:extLst>
  </p:cSld>
  <p:clrMapOvr>
    <a:masterClrMapping/>
  </p:clrMapOvr>
  <p:transition spd="med">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57200"/>
            <a:ext cx="9144000" cy="484188"/>
          </a:xfrm>
        </p:spPr>
        <p:txBody>
          <a:bodyPr/>
          <a:lstStyle/>
          <a:p>
            <a:pPr algn="ctr"/>
            <a:r>
              <a:rPr lang="en-AU" dirty="0" smtClean="0"/>
              <a:t>Implementation Model  - Mapping to Concepts</a:t>
            </a:r>
            <a:endParaRPr lang="en-GB" dirty="0"/>
          </a:p>
        </p:txBody>
      </p:sp>
      <p:pic>
        <p:nvPicPr>
          <p:cNvPr id="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85800" y="1019175"/>
            <a:ext cx="5754688" cy="5219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extBox 18"/>
          <p:cNvSpPr txBox="1">
            <a:spLocks noChangeArrowheads="1"/>
          </p:cNvSpPr>
          <p:nvPr/>
        </p:nvSpPr>
        <p:spPr bwMode="auto">
          <a:xfrm>
            <a:off x="6734175" y="1600200"/>
            <a:ext cx="914400" cy="91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lstStyle>
            <a:lvl1pPr eaLnBrk="0" hangingPunct="0">
              <a:defRPr sz="1000" b="1">
                <a:solidFill>
                  <a:schemeClr val="tx1"/>
                </a:solidFill>
                <a:latin typeface="CG Times" pitchFamily="18" charset="0"/>
                <a:ea typeface="MS PGothic" pitchFamily="34" charset="-128"/>
              </a:defRPr>
            </a:lvl1pPr>
            <a:lvl2pPr marL="742950" indent="-285750" eaLnBrk="0" hangingPunct="0">
              <a:defRPr sz="1000" b="1">
                <a:solidFill>
                  <a:schemeClr val="tx1"/>
                </a:solidFill>
                <a:latin typeface="CG Times" pitchFamily="18" charset="0"/>
                <a:ea typeface="MS PGothic" pitchFamily="34" charset="-128"/>
              </a:defRPr>
            </a:lvl2pPr>
            <a:lvl3pPr marL="1143000" indent="-228600" eaLnBrk="0" hangingPunct="0">
              <a:defRPr sz="1000" b="1">
                <a:solidFill>
                  <a:schemeClr val="tx1"/>
                </a:solidFill>
                <a:latin typeface="CG Times" pitchFamily="18" charset="0"/>
                <a:ea typeface="MS PGothic" pitchFamily="34" charset="-128"/>
              </a:defRPr>
            </a:lvl3pPr>
            <a:lvl4pPr marL="1600200" indent="-228600" eaLnBrk="0" hangingPunct="0">
              <a:defRPr sz="1000" b="1">
                <a:solidFill>
                  <a:schemeClr val="tx1"/>
                </a:solidFill>
                <a:latin typeface="CG Times" pitchFamily="18" charset="0"/>
                <a:ea typeface="MS PGothic" pitchFamily="34" charset="-128"/>
              </a:defRPr>
            </a:lvl4pPr>
            <a:lvl5pPr marL="2057400" indent="-228600" eaLnBrk="0" hangingPunct="0">
              <a:defRPr sz="1000" b="1">
                <a:solidFill>
                  <a:schemeClr val="tx1"/>
                </a:solidFill>
                <a:latin typeface="CG Times" pitchFamily="18"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pitchFamily="18"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pitchFamily="18"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pitchFamily="18"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pitchFamily="18" charset="0"/>
                <a:ea typeface="MS PGothic" pitchFamily="34" charset="-128"/>
              </a:defRPr>
            </a:lvl9pPr>
          </a:lstStyle>
          <a:p>
            <a:pPr eaLnBrk="1" hangingPunct="1"/>
            <a:r>
              <a:rPr lang="en-AU" altLang="en-US" sz="1100" dirty="0"/>
              <a:t>Collection/Metadata</a:t>
            </a:r>
          </a:p>
          <a:p>
            <a:pPr eaLnBrk="1" hangingPunct="1"/>
            <a:endParaRPr lang="en-AU" altLang="en-US" sz="1100" dirty="0"/>
          </a:p>
          <a:p>
            <a:pPr eaLnBrk="1" hangingPunct="1"/>
            <a:r>
              <a:rPr lang="en-AU" altLang="en-US" sz="1100" dirty="0"/>
              <a:t>OM Observation</a:t>
            </a:r>
          </a:p>
          <a:p>
            <a:pPr eaLnBrk="1" hangingPunct="1"/>
            <a:endParaRPr lang="en-AU" altLang="en-US" sz="1100" dirty="0"/>
          </a:p>
          <a:p>
            <a:pPr eaLnBrk="1" hangingPunct="1"/>
            <a:endParaRPr lang="en-AU" altLang="en-US" sz="1100" dirty="0"/>
          </a:p>
          <a:p>
            <a:pPr eaLnBrk="1" hangingPunct="1"/>
            <a:endParaRPr lang="en-AU" altLang="en-US" sz="1100" dirty="0"/>
          </a:p>
          <a:p>
            <a:pPr eaLnBrk="1" hangingPunct="1"/>
            <a:r>
              <a:rPr lang="en-AU" altLang="en-US" sz="1100" dirty="0"/>
              <a:t>Time Value Pair Encoding</a:t>
            </a:r>
          </a:p>
          <a:p>
            <a:pPr eaLnBrk="1" hangingPunct="1"/>
            <a:endParaRPr lang="en-AU" altLang="en-US" sz="1100" dirty="0"/>
          </a:p>
          <a:p>
            <a:pPr eaLnBrk="1" hangingPunct="1"/>
            <a:r>
              <a:rPr lang="en-AU" altLang="en-US" sz="1100" dirty="0"/>
              <a:t>Domain Range Encoding</a:t>
            </a:r>
          </a:p>
          <a:p>
            <a:pPr eaLnBrk="1" hangingPunct="1"/>
            <a:endParaRPr lang="en-AU" altLang="en-US" sz="1100" dirty="0"/>
          </a:p>
          <a:p>
            <a:pPr eaLnBrk="1" hangingPunct="1"/>
            <a:endParaRPr lang="en-AU" altLang="en-US" sz="1100" dirty="0"/>
          </a:p>
          <a:p>
            <a:pPr eaLnBrk="1" hangingPunct="1"/>
            <a:r>
              <a:rPr lang="en-AU" altLang="en-US" sz="1100" dirty="0"/>
              <a:t>Point Metadata</a:t>
            </a:r>
          </a:p>
          <a:p>
            <a:pPr eaLnBrk="1" hangingPunct="1"/>
            <a:endParaRPr lang="en-AU" altLang="en-US" sz="1100" dirty="0"/>
          </a:p>
          <a:p>
            <a:pPr eaLnBrk="1" hangingPunct="1"/>
            <a:endParaRPr lang="en-AU" altLang="en-US" sz="1100" dirty="0"/>
          </a:p>
          <a:p>
            <a:pPr eaLnBrk="1" hangingPunct="1"/>
            <a:r>
              <a:rPr lang="en-AU" altLang="en-US" sz="1100" dirty="0"/>
              <a:t>Specialised data types</a:t>
            </a:r>
          </a:p>
          <a:p>
            <a:pPr eaLnBrk="1" hangingPunct="1"/>
            <a:endParaRPr lang="en-AU" altLang="en-US" sz="1100" dirty="0"/>
          </a:p>
          <a:p>
            <a:pPr eaLnBrk="1" hangingPunct="1"/>
            <a:r>
              <a:rPr lang="en-AU" altLang="en-US" sz="1100" dirty="0"/>
              <a:t>Process </a:t>
            </a:r>
          </a:p>
          <a:p>
            <a:pPr eaLnBrk="1" hangingPunct="1"/>
            <a:r>
              <a:rPr lang="en-AU" altLang="en-US" sz="1100" dirty="0"/>
              <a:t>Monitoring feature</a:t>
            </a:r>
            <a:endParaRPr lang="en-GB" altLang="en-US" sz="1100" dirty="0"/>
          </a:p>
        </p:txBody>
      </p:sp>
    </p:spTree>
    <p:extLst>
      <p:ext uri="{BB962C8B-B14F-4D97-AF65-F5344CB8AC3E}">
        <p14:creationId xmlns="" xmlns:p14="http://schemas.microsoft.com/office/powerpoint/2010/main" val="641055651"/>
      </p:ext>
    </p:extLst>
  </p:cSld>
  <p:clrMapOvr>
    <a:masterClrMapping/>
  </p:clrMapOvr>
  <p:transition spd="med">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430213" y="188913"/>
            <a:ext cx="8713787" cy="1008062"/>
          </a:xfrm>
        </p:spPr>
        <p:txBody>
          <a:bodyPr/>
          <a:lstStyle/>
          <a:p>
            <a:pPr algn="ctr"/>
            <a:r>
              <a:rPr lang="en-US" dirty="0" smtClean="0">
                <a:solidFill>
                  <a:srgbClr val="FF0000"/>
                </a:solidFill>
              </a:rPr>
              <a:t>Metadata – a much abused concept</a:t>
            </a:r>
            <a:br>
              <a:rPr lang="en-US" dirty="0" smtClean="0">
                <a:solidFill>
                  <a:srgbClr val="FF0000"/>
                </a:solidFill>
              </a:rPr>
            </a:br>
            <a:r>
              <a:rPr lang="en-US" dirty="0" smtClean="0">
                <a:solidFill>
                  <a:srgbClr val="FF0000"/>
                </a:solidFill>
              </a:rPr>
              <a:t>please qualify your use</a:t>
            </a:r>
            <a:endParaRPr lang="en-US" dirty="0">
              <a:solidFill>
                <a:srgbClr val="FF0000"/>
              </a:solidFill>
            </a:endParaRPr>
          </a:p>
        </p:txBody>
      </p:sp>
      <p:sp>
        <p:nvSpPr>
          <p:cNvPr id="6147" name="Rectangle 10"/>
          <p:cNvSpPr>
            <a:spLocks noGrp="1" noChangeArrowheads="1"/>
          </p:cNvSpPr>
          <p:nvPr>
            <p:ph type="body" idx="4294967295"/>
          </p:nvPr>
        </p:nvSpPr>
        <p:spPr>
          <a:xfrm>
            <a:off x="430213" y="836613"/>
            <a:ext cx="8713787" cy="4681537"/>
          </a:xfrm>
        </p:spPr>
        <p:txBody>
          <a:bodyPr/>
          <a:lstStyle/>
          <a:p>
            <a:endParaRPr lang="en-US" sz="2400" dirty="0" smtClean="0"/>
          </a:p>
          <a:p>
            <a:r>
              <a:rPr lang="en-US" sz="2400" b="1" dirty="0" smtClean="0"/>
              <a:t>Observations Metadata</a:t>
            </a:r>
          </a:p>
          <a:p>
            <a:pPr lvl="1"/>
            <a:r>
              <a:rPr lang="en-US" sz="2000" dirty="0"/>
              <a:t>Time-series data that describe how, when and where meteorological observations were made and the conditions they were made under 	</a:t>
            </a:r>
            <a:endParaRPr lang="en-US" sz="2000" dirty="0" smtClean="0"/>
          </a:p>
          <a:p>
            <a:r>
              <a:rPr lang="en-US" sz="2400" b="1" dirty="0" smtClean="0"/>
              <a:t>Discovery Metadata</a:t>
            </a:r>
          </a:p>
          <a:p>
            <a:pPr lvl="1"/>
            <a:r>
              <a:rPr lang="en-US" sz="2000" dirty="0"/>
              <a:t>Information intended to facilitate the discovery and assessment of a dataset to determine if it is fit for reuse for a purpose that may be at odds with the reason for which it was originally created 	</a:t>
            </a:r>
            <a:endParaRPr lang="en-US" sz="2000" dirty="0" smtClean="0"/>
          </a:p>
          <a:p>
            <a:r>
              <a:rPr lang="en-US" sz="2400" b="1" dirty="0" smtClean="0"/>
              <a:t>Data Provenance Metadata</a:t>
            </a:r>
          </a:p>
          <a:p>
            <a:pPr lvl="1"/>
            <a:r>
              <a:rPr lang="en-US" sz="2000" dirty="0"/>
              <a:t>Information relevant to climate data that allows end-users, including data managers, scientists and the general public, to develop trust in the integrity of the climate data 	</a:t>
            </a:r>
          </a:p>
          <a:p>
            <a:r>
              <a:rPr lang="en-US" sz="2400" b="1" dirty="0" smtClean="0"/>
              <a:t>Data Intellectual Property Metadata</a:t>
            </a:r>
          </a:p>
        </p:txBody>
      </p:sp>
    </p:spTree>
    <p:extLst>
      <p:ext uri="{BB962C8B-B14F-4D97-AF65-F5344CB8AC3E}">
        <p14:creationId xmlns:p14="http://schemas.microsoft.com/office/powerpoint/2010/main" xmlns="" val="4016392886"/>
      </p:ext>
    </p:extLst>
  </p:cSld>
  <p:clrMapOvr>
    <a:masterClrMapping/>
  </p:clrMapOvr>
  <p:transition spd="med">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32012" y="151806"/>
            <a:ext cx="8693624" cy="585173"/>
          </a:xfrm>
          <a:prstGeom prst="rect">
            <a:avLst/>
          </a:prstGeom>
        </p:spPr>
        <p:txBody>
          <a:bodyPr/>
          <a:lstStyle/>
          <a:p>
            <a:pPr algn="l" eaLnBrk="1" hangingPunct="1">
              <a:spcBef>
                <a:spcPct val="0"/>
              </a:spcBef>
              <a:buClrTx/>
            </a:pPr>
            <a:r>
              <a:rPr lang="en-GB" sz="3000" b="1" dirty="0" smtClean="0">
                <a:solidFill>
                  <a:srgbClr val="000000"/>
                </a:solidFill>
                <a:latin typeface="Calibri" pitchFamily="34" charset="0"/>
                <a:ea typeface="ＭＳ Ｐゴシック" pitchFamily="34" charset="-128"/>
              </a:rPr>
              <a:t>METCE: a </a:t>
            </a:r>
            <a:r>
              <a:rPr lang="en-GB" sz="3000" b="1" i="1" dirty="0" smtClean="0">
                <a:solidFill>
                  <a:srgbClr val="000000"/>
                </a:solidFill>
                <a:latin typeface="Calibri" pitchFamily="34" charset="0"/>
                <a:ea typeface="ＭＳ Ｐゴシック" pitchFamily="34" charset="-128"/>
              </a:rPr>
              <a:t>profile </a:t>
            </a:r>
            <a:r>
              <a:rPr lang="en-GB" sz="3000" b="1" dirty="0" smtClean="0">
                <a:solidFill>
                  <a:srgbClr val="000000"/>
                </a:solidFill>
                <a:latin typeface="Calibri" pitchFamily="34" charset="0"/>
                <a:ea typeface="ＭＳ Ｐゴシック" pitchFamily="34" charset="-128"/>
              </a:rPr>
              <a:t>of Observations and Measurements</a:t>
            </a:r>
          </a:p>
        </p:txBody>
      </p:sp>
      <p:grpSp>
        <p:nvGrpSpPr>
          <p:cNvPr id="3" name="Group 4"/>
          <p:cNvGrpSpPr/>
          <p:nvPr/>
        </p:nvGrpSpPr>
        <p:grpSpPr>
          <a:xfrm>
            <a:off x="398865" y="1282925"/>
            <a:ext cx="1764435" cy="699965"/>
            <a:chOff x="3699038" y="2224419"/>
            <a:chExt cx="1568997" cy="699965"/>
          </a:xfrm>
        </p:grpSpPr>
        <p:sp>
          <p:nvSpPr>
            <p:cNvPr id="6" name="Rectangle 5"/>
            <p:cNvSpPr/>
            <p:nvPr/>
          </p:nvSpPr>
          <p:spPr bwMode="auto">
            <a:xfrm>
              <a:off x="3699038" y="2224419"/>
              <a:ext cx="1568997" cy="699965"/>
            </a:xfrm>
            <a:prstGeom prst="rect">
              <a:avLst/>
            </a:prstGeom>
            <a:solidFill>
              <a:sysClr val="window" lastClr="FFFFFF"/>
            </a:soli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defRPr/>
              </a:pPr>
              <a:r>
                <a:rPr lang="en-GB" sz="1000" kern="0" dirty="0" smtClean="0">
                  <a:solidFill>
                    <a:sysClr val="windowText" lastClr="000000"/>
                  </a:solidFill>
                  <a:latin typeface="Calibri" pitchFamily="34" charset="0"/>
                </a:rPr>
                <a:t>«</a:t>
              </a:r>
              <a:r>
                <a:rPr lang="en-GB" sz="1000" kern="0" dirty="0" err="1" smtClean="0">
                  <a:solidFill>
                    <a:sysClr val="windowText" lastClr="000000"/>
                  </a:solidFill>
                  <a:latin typeface="Calibri" pitchFamily="34" charset="0"/>
                </a:rPr>
                <a:t>FeatureType</a:t>
              </a:r>
              <a:r>
                <a:rPr lang="en-GB" sz="1000" kern="0" dirty="0" smtClean="0">
                  <a:solidFill>
                    <a:sysClr val="windowText" lastClr="000000"/>
                  </a:solidFill>
                  <a:latin typeface="Calibri" pitchFamily="34" charset="0"/>
                </a:rPr>
                <a:t>»</a:t>
              </a:r>
            </a:p>
            <a:p>
              <a:pPr algn="ctr">
                <a:spcBef>
                  <a:spcPts val="0"/>
                </a:spcBef>
                <a:defRPr/>
              </a:pPr>
              <a:r>
                <a:rPr lang="en-GB" sz="1000" kern="0" dirty="0" err="1" smtClean="0">
                  <a:solidFill>
                    <a:sysClr val="windowText" lastClr="000000"/>
                  </a:solidFill>
                  <a:latin typeface="Calibri" pitchFamily="34" charset="0"/>
                </a:rPr>
                <a:t>OM_Observation</a:t>
              </a:r>
              <a:endParaRPr lang="en-GB" sz="1000" kern="0" dirty="0">
                <a:solidFill>
                  <a:sysClr val="windowText" lastClr="000000"/>
                </a:solidFill>
                <a:latin typeface="Calibri" pitchFamily="34" charset="0"/>
              </a:endParaRPr>
            </a:p>
          </p:txBody>
        </p:sp>
        <p:sp>
          <p:nvSpPr>
            <p:cNvPr id="7" name="Rectangle 6"/>
            <p:cNvSpPr/>
            <p:nvPr/>
          </p:nvSpPr>
          <p:spPr bwMode="auto">
            <a:xfrm>
              <a:off x="3699039" y="2677028"/>
              <a:ext cx="1568996" cy="247356"/>
            </a:xfrm>
            <a:prstGeom prst="rect">
              <a:avLst/>
            </a:prstGeom>
            <a:solidFill>
              <a:sysClr val="window" lastClr="FFFFFF"/>
            </a:solidFill>
            <a:ln w="9525" cap="flat" cmpd="sng" algn="ctr">
              <a:solidFill>
                <a:sysClr val="windowText" lastClr="000000"/>
              </a:solidFill>
              <a:prstDash val="solid"/>
            </a:ln>
            <a:effectLst/>
          </p:spPr>
          <p:txBody>
            <a:bodyPr anchor="ctr" anchorCtr="0"/>
            <a:lstStyle/>
            <a:p>
              <a:pPr algn="ctr">
                <a:defRPr/>
              </a:pPr>
              <a:endParaRPr lang="en-GB" sz="1000" u="sng" kern="0" dirty="0">
                <a:solidFill>
                  <a:sysClr val="windowText" lastClr="000000"/>
                </a:solidFill>
              </a:endParaRPr>
            </a:p>
          </p:txBody>
        </p:sp>
      </p:grpSp>
      <p:sp>
        <p:nvSpPr>
          <p:cNvPr id="8" name="TextBox 7"/>
          <p:cNvSpPr txBox="1"/>
          <p:nvPr/>
        </p:nvSpPr>
        <p:spPr bwMode="auto">
          <a:xfrm>
            <a:off x="398867" y="1982889"/>
            <a:ext cx="728084" cy="230832"/>
          </a:xfrm>
          <a:prstGeom prst="rect">
            <a:avLst/>
          </a:prstGeom>
          <a:noFill/>
        </p:spPr>
        <p:txBody>
          <a:bodyPr wrap="none">
            <a:spAutoFit/>
          </a:bodyPr>
          <a:lstStyle/>
          <a:p>
            <a:pPr>
              <a:defRPr/>
            </a:pPr>
            <a:r>
              <a:rPr lang="en-GB" sz="900" i="1" kern="0" dirty="0">
                <a:solidFill>
                  <a:schemeClr val="bg1">
                    <a:lumMod val="75000"/>
                  </a:schemeClr>
                </a:solidFill>
              </a:rPr>
              <a:t>(</a:t>
            </a:r>
            <a:r>
              <a:rPr lang="en-GB" sz="900" i="1" kern="0" dirty="0" smtClean="0">
                <a:solidFill>
                  <a:schemeClr val="bg1">
                    <a:lumMod val="75000"/>
                  </a:schemeClr>
                </a:solidFill>
              </a:rPr>
              <a:t>ISO 19156)</a:t>
            </a:r>
            <a:endParaRPr lang="en-GB" sz="900" i="1" kern="0" dirty="0">
              <a:solidFill>
                <a:schemeClr val="bg1">
                  <a:lumMod val="75000"/>
                </a:schemeClr>
              </a:solidFill>
            </a:endParaRPr>
          </a:p>
        </p:txBody>
      </p:sp>
      <p:grpSp>
        <p:nvGrpSpPr>
          <p:cNvPr id="5" name="Group 14"/>
          <p:cNvGrpSpPr/>
          <p:nvPr/>
        </p:nvGrpSpPr>
        <p:grpSpPr>
          <a:xfrm>
            <a:off x="1533925" y="1982890"/>
            <a:ext cx="944596" cy="1031866"/>
            <a:chOff x="1533925" y="1462190"/>
            <a:chExt cx="944596" cy="1031866"/>
          </a:xfrm>
        </p:grpSpPr>
        <p:cxnSp>
          <p:nvCxnSpPr>
            <p:cNvPr id="10" name="Straight Arrow Connector 16"/>
            <p:cNvCxnSpPr>
              <a:cxnSpLocks noChangeShapeType="1"/>
              <a:endCxn id="15" idx="0"/>
            </p:cNvCxnSpPr>
            <p:nvPr/>
          </p:nvCxnSpPr>
          <p:spPr bwMode="auto">
            <a:xfrm>
              <a:off x="1975034" y="1462190"/>
              <a:ext cx="0" cy="304259"/>
            </a:xfrm>
            <a:prstGeom prst="straightConnector1">
              <a:avLst/>
            </a:prstGeom>
            <a:noFill/>
            <a:ln w="9525" algn="ctr">
              <a:solidFill>
                <a:srgbClr val="000000"/>
              </a:solidFill>
              <a:round/>
              <a:headEnd/>
              <a:tailEnd type="arrow" w="med" len="med"/>
            </a:ln>
            <a:extLst>
              <a:ext uri="{909E8E84-426E-40DD-AFC4-6F175D3DCCD1}">
                <a14:hiddenFill xmlns="" xmlns:a14="http://schemas.microsoft.com/office/drawing/2010/main">
                  <a:noFill/>
                </a14:hiddenFill>
              </a:ext>
            </a:extLst>
          </p:spPr>
        </p:cxnSp>
        <p:sp>
          <p:nvSpPr>
            <p:cNvPr id="11" name="TextBox 10"/>
            <p:cNvSpPr txBox="1"/>
            <p:nvPr/>
          </p:nvSpPr>
          <p:spPr bwMode="auto">
            <a:xfrm>
              <a:off x="1966842" y="1569237"/>
              <a:ext cx="511679" cy="230832"/>
            </a:xfrm>
            <a:prstGeom prst="rect">
              <a:avLst/>
            </a:prstGeom>
            <a:noFill/>
          </p:spPr>
          <p:txBody>
            <a:bodyPr wrap="none">
              <a:spAutoFit/>
            </a:bodyPr>
            <a:lstStyle/>
            <a:p>
              <a:pPr>
                <a:defRPr/>
              </a:pPr>
              <a:r>
                <a:rPr lang="en-GB" sz="900" kern="0" dirty="0" smtClean="0">
                  <a:solidFill>
                    <a:sysClr val="windowText" lastClr="000000"/>
                  </a:solidFill>
                </a:rPr>
                <a:t>+result</a:t>
              </a:r>
              <a:endParaRPr lang="en-GB" sz="900" kern="0" dirty="0">
                <a:solidFill>
                  <a:sysClr val="windowText" lastClr="000000"/>
                </a:solidFill>
              </a:endParaRPr>
            </a:p>
          </p:txBody>
        </p:sp>
        <p:grpSp>
          <p:nvGrpSpPr>
            <p:cNvPr id="9" name="Group 17"/>
            <p:cNvGrpSpPr/>
            <p:nvPr/>
          </p:nvGrpSpPr>
          <p:grpSpPr>
            <a:xfrm>
              <a:off x="1533925" y="1766449"/>
              <a:ext cx="882217" cy="727607"/>
              <a:chOff x="2956535" y="223624"/>
              <a:chExt cx="882217" cy="727607"/>
            </a:xfrm>
          </p:grpSpPr>
          <p:grpSp>
            <p:nvGrpSpPr>
              <p:cNvPr id="12" name="Group 18"/>
              <p:cNvGrpSpPr/>
              <p:nvPr/>
            </p:nvGrpSpPr>
            <p:grpSpPr>
              <a:xfrm>
                <a:off x="2956535" y="223624"/>
                <a:ext cx="882217" cy="496775"/>
                <a:chOff x="3699038" y="2224419"/>
                <a:chExt cx="1568997" cy="496775"/>
              </a:xfrm>
            </p:grpSpPr>
            <p:sp>
              <p:nvSpPr>
                <p:cNvPr id="15" name="Rectangle 14"/>
                <p:cNvSpPr/>
                <p:nvPr/>
              </p:nvSpPr>
              <p:spPr bwMode="auto">
                <a:xfrm>
                  <a:off x="3699038" y="2224419"/>
                  <a:ext cx="1568997" cy="496775"/>
                </a:xfrm>
                <a:prstGeom prst="rect">
                  <a:avLst/>
                </a:prstGeom>
                <a:solidFill>
                  <a:sysClr val="window" lastClr="FFFFFF"/>
                </a:soli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defRPr/>
                  </a:pPr>
                  <a:r>
                    <a:rPr lang="en-GB" sz="1000" kern="0" dirty="0" smtClean="0">
                      <a:solidFill>
                        <a:sysClr val="windowText" lastClr="000000"/>
                      </a:solidFill>
                      <a:latin typeface="Calibri" pitchFamily="34" charset="0"/>
                    </a:rPr>
                    <a:t>«Type»</a:t>
                  </a:r>
                </a:p>
                <a:p>
                  <a:pPr algn="ctr">
                    <a:spcBef>
                      <a:spcPts val="0"/>
                    </a:spcBef>
                    <a:defRPr/>
                  </a:pPr>
                  <a:r>
                    <a:rPr lang="en-GB" sz="1000" kern="0" dirty="0" smtClean="0">
                      <a:solidFill>
                        <a:sysClr val="windowText" lastClr="000000"/>
                      </a:solidFill>
                      <a:latin typeface="Calibri" pitchFamily="34" charset="0"/>
                    </a:rPr>
                    <a:t>Any</a:t>
                  </a:r>
                  <a:endParaRPr lang="en-GB" sz="1000" kern="0" dirty="0">
                    <a:solidFill>
                      <a:sysClr val="windowText" lastClr="000000"/>
                    </a:solidFill>
                    <a:latin typeface="Calibri" pitchFamily="34" charset="0"/>
                  </a:endParaRPr>
                </a:p>
              </p:txBody>
            </p:sp>
            <p:sp>
              <p:nvSpPr>
                <p:cNvPr id="16" name="Rectangle 15"/>
                <p:cNvSpPr/>
                <p:nvPr/>
              </p:nvSpPr>
              <p:spPr bwMode="auto">
                <a:xfrm>
                  <a:off x="3699040" y="2597516"/>
                  <a:ext cx="1568995" cy="123678"/>
                </a:xfrm>
                <a:prstGeom prst="rect">
                  <a:avLst/>
                </a:prstGeom>
                <a:solidFill>
                  <a:sysClr val="window" lastClr="FFFFFF"/>
                </a:solidFill>
                <a:ln w="9525" cap="flat" cmpd="sng" algn="ctr">
                  <a:solidFill>
                    <a:sysClr val="windowText" lastClr="000000"/>
                  </a:solidFill>
                  <a:prstDash val="solid"/>
                </a:ln>
                <a:effectLst/>
              </p:spPr>
              <p:txBody>
                <a:bodyPr anchor="ctr" anchorCtr="0"/>
                <a:lstStyle/>
                <a:p>
                  <a:pPr algn="ctr">
                    <a:defRPr/>
                  </a:pPr>
                  <a:endParaRPr lang="en-GB" sz="1000" u="sng" kern="0" dirty="0">
                    <a:solidFill>
                      <a:sysClr val="windowText" lastClr="000000"/>
                    </a:solidFill>
                  </a:endParaRPr>
                </a:p>
              </p:txBody>
            </p:sp>
          </p:grpSp>
          <p:sp>
            <p:nvSpPr>
              <p:cNvPr id="14" name="TextBox 13"/>
              <p:cNvSpPr txBox="1"/>
              <p:nvPr/>
            </p:nvSpPr>
            <p:spPr bwMode="auto">
              <a:xfrm>
                <a:off x="2956536" y="720399"/>
                <a:ext cx="726481" cy="230832"/>
              </a:xfrm>
              <a:prstGeom prst="rect">
                <a:avLst/>
              </a:prstGeom>
              <a:noFill/>
            </p:spPr>
            <p:txBody>
              <a:bodyPr wrap="none">
                <a:spAutoFit/>
              </a:bodyPr>
              <a:lstStyle/>
              <a:p>
                <a:pPr>
                  <a:defRPr/>
                </a:pPr>
                <a:r>
                  <a:rPr lang="en-GB" sz="900" i="1" kern="0" dirty="0">
                    <a:solidFill>
                      <a:schemeClr val="bg1">
                        <a:lumMod val="75000"/>
                      </a:schemeClr>
                    </a:solidFill>
                  </a:rPr>
                  <a:t>(</a:t>
                </a:r>
                <a:r>
                  <a:rPr lang="en-GB" sz="900" i="1" kern="0" dirty="0" smtClean="0">
                    <a:solidFill>
                      <a:schemeClr val="bg1">
                        <a:lumMod val="75000"/>
                      </a:schemeClr>
                    </a:solidFill>
                  </a:rPr>
                  <a:t>ISO 19103)</a:t>
                </a:r>
                <a:endParaRPr lang="en-GB" sz="900" i="1" kern="0" dirty="0">
                  <a:solidFill>
                    <a:schemeClr val="bg1">
                      <a:lumMod val="75000"/>
                    </a:schemeClr>
                  </a:solidFill>
                </a:endParaRPr>
              </a:p>
            </p:txBody>
          </p:sp>
        </p:grpSp>
      </p:grpSp>
      <p:grpSp>
        <p:nvGrpSpPr>
          <p:cNvPr id="13" name="Group 88"/>
          <p:cNvGrpSpPr/>
          <p:nvPr/>
        </p:nvGrpSpPr>
        <p:grpSpPr>
          <a:xfrm>
            <a:off x="228563" y="580625"/>
            <a:ext cx="8654180" cy="5572179"/>
            <a:chOff x="228563" y="1088625"/>
            <a:chExt cx="8654180" cy="5572179"/>
          </a:xfrm>
        </p:grpSpPr>
        <p:grpSp>
          <p:nvGrpSpPr>
            <p:cNvPr id="17" name="Group 6"/>
            <p:cNvGrpSpPr/>
            <p:nvPr/>
          </p:nvGrpSpPr>
          <p:grpSpPr>
            <a:xfrm>
              <a:off x="228563" y="4576992"/>
              <a:ext cx="7530201" cy="1198710"/>
              <a:chOff x="228567" y="4152180"/>
              <a:chExt cx="8678366" cy="1198710"/>
            </a:xfrm>
          </p:grpSpPr>
          <p:sp>
            <p:nvSpPr>
              <p:cNvPr id="23" name="Rectangle 22"/>
              <p:cNvSpPr/>
              <p:nvPr/>
            </p:nvSpPr>
            <p:spPr bwMode="auto">
              <a:xfrm>
                <a:off x="228567" y="4325997"/>
                <a:ext cx="8678366" cy="1024893"/>
              </a:xfrm>
              <a:prstGeom prst="rect">
                <a:avLst/>
              </a:prstGeom>
              <a:gradFill>
                <a:gsLst>
                  <a:gs pos="0">
                    <a:schemeClr val="bg1">
                      <a:lumMod val="95000"/>
                    </a:schemeClr>
                  </a:gs>
                  <a:gs pos="100000">
                    <a:schemeClr val="bg1"/>
                  </a:gs>
                </a:gsLst>
                <a:lin ang="16200000" scaled="0"/>
              </a:gradFill>
              <a:ln w="9525" cap="flat" cmpd="sng" algn="ctr">
                <a:solidFill>
                  <a:sysClr val="windowText" lastClr="000000"/>
                </a:solidFill>
                <a:prstDash val="solid"/>
              </a:ln>
              <a:effectLst/>
            </p:spPr>
            <p:txBody>
              <a:bodyPr anchor="t" anchorCtr="0"/>
              <a:lstStyle/>
              <a:p>
                <a:pPr algn="ctr">
                  <a:defRPr/>
                </a:pPr>
                <a:endParaRPr lang="en-GB" sz="1000" kern="0" dirty="0">
                  <a:solidFill>
                    <a:sysClr val="windowText" lastClr="000000"/>
                  </a:solidFill>
                </a:endParaRPr>
              </a:p>
            </p:txBody>
          </p:sp>
          <p:sp>
            <p:nvSpPr>
              <p:cNvPr id="24" name="Rectangle 8"/>
              <p:cNvSpPr/>
              <p:nvPr/>
            </p:nvSpPr>
            <p:spPr bwMode="auto">
              <a:xfrm>
                <a:off x="228567" y="4152180"/>
                <a:ext cx="1105719" cy="177225"/>
              </a:xfrm>
              <a:prstGeom prst="rect">
                <a:avLst/>
              </a:prstGeom>
              <a:solidFill>
                <a:schemeClr val="bg1"/>
              </a:solidFill>
              <a:ln w="9525" cap="flat" cmpd="sng" algn="ctr">
                <a:solidFill>
                  <a:sysClr val="windowText" lastClr="000000"/>
                </a:solidFill>
                <a:prstDash val="solid"/>
              </a:ln>
              <a:effectLst/>
            </p:spPr>
            <p:txBody>
              <a:bodyPr anchor="ctr" anchorCtr="0"/>
              <a:lstStyle/>
              <a:p>
                <a:pPr algn="ctr">
                  <a:spcBef>
                    <a:spcPts val="0"/>
                  </a:spcBef>
                  <a:defRPr/>
                </a:pPr>
                <a:r>
                  <a:rPr lang="en-GB" sz="1000" kern="0" dirty="0" smtClean="0">
                    <a:solidFill>
                      <a:sysClr val="windowText" lastClr="000000"/>
                    </a:solidFill>
                    <a:latin typeface="Calibri" pitchFamily="34" charset="0"/>
                  </a:rPr>
                  <a:t>WMO METCE</a:t>
                </a:r>
                <a:endParaRPr lang="en-GB" sz="1000" kern="0" dirty="0">
                  <a:solidFill>
                    <a:sysClr val="windowText" lastClr="000000"/>
                  </a:solidFill>
                  <a:latin typeface="Calibri" pitchFamily="34" charset="0"/>
                </a:endParaRPr>
              </a:p>
            </p:txBody>
          </p:sp>
        </p:grpSp>
        <p:sp>
          <p:nvSpPr>
            <p:cNvPr id="19" name="Rectangle 18"/>
            <p:cNvSpPr/>
            <p:nvPr/>
          </p:nvSpPr>
          <p:spPr>
            <a:xfrm>
              <a:off x="1692275" y="1088625"/>
              <a:ext cx="7190468" cy="369332"/>
            </a:xfrm>
            <a:prstGeom prst="rect">
              <a:avLst/>
            </a:prstGeom>
          </p:spPr>
          <p:txBody>
            <a:bodyPr wrap="square">
              <a:spAutoFit/>
            </a:bodyPr>
            <a:lstStyle/>
            <a:p>
              <a:pPr fontAlgn="auto">
                <a:spcBef>
                  <a:spcPts val="0"/>
                </a:spcBef>
                <a:spcAft>
                  <a:spcPts val="1200"/>
                </a:spcAft>
                <a:defRPr/>
              </a:pPr>
              <a:r>
                <a:rPr lang="en-GB" sz="1800" i="1" kern="0" dirty="0" smtClean="0">
                  <a:solidFill>
                    <a:srgbClr val="595959"/>
                  </a:solidFill>
                  <a:latin typeface="Calibri" pitchFamily="34" charset="0"/>
                  <a:ea typeface="Times New Roman"/>
                </a:rPr>
                <a:t>Does the data collected (e.g. the ‘result’) from the Observation event:</a:t>
              </a:r>
            </a:p>
          </p:txBody>
        </p:sp>
        <p:grpSp>
          <p:nvGrpSpPr>
            <p:cNvPr id="18" name="Group 82"/>
            <p:cNvGrpSpPr/>
            <p:nvPr/>
          </p:nvGrpSpPr>
          <p:grpSpPr>
            <a:xfrm>
              <a:off x="7419129" y="5981534"/>
              <a:ext cx="679270" cy="679270"/>
              <a:chOff x="7955279" y="4585586"/>
              <a:chExt cx="679270" cy="679270"/>
            </a:xfrm>
          </p:grpSpPr>
          <p:sp>
            <p:nvSpPr>
              <p:cNvPr id="21" name="Oval 20"/>
              <p:cNvSpPr/>
              <p:nvPr/>
            </p:nvSpPr>
            <p:spPr>
              <a:xfrm>
                <a:off x="7955279" y="4585586"/>
                <a:ext cx="679270" cy="679270"/>
              </a:xfrm>
              <a:prstGeom prst="ellipse">
                <a:avLst/>
              </a:prstGeom>
              <a:gradFill rotWithShape="1">
                <a:gsLst>
                  <a:gs pos="0">
                    <a:schemeClr val="accent1">
                      <a:lumMod val="50000"/>
                    </a:schemeClr>
                  </a:gs>
                  <a:gs pos="80000">
                    <a:schemeClr val="accent1">
                      <a:lumMod val="75000"/>
                    </a:schemeClr>
                  </a:gs>
                  <a:gs pos="100000">
                    <a:schemeClr val="accent1">
                      <a:lumMod val="75000"/>
                    </a:schemeClr>
                  </a:gs>
                </a:gsLst>
                <a:lin ang="16200000" scaled="0"/>
              </a:gradFill>
              <a:ln w="9525" cap="flat" cmpd="sng" algn="ctr">
                <a:solidFill>
                  <a:srgbClr val="003300"/>
                </a:solidFill>
                <a:prstDash val="solid"/>
              </a:ln>
              <a:effectLst>
                <a:outerShdw blurRad="40000" dist="23000" dir="5400000" rotWithShape="0">
                  <a:srgbClr val="000000">
                    <a:alpha val="35000"/>
                  </a:srgbClr>
                </a:outerShdw>
              </a:effectLst>
            </p:spPr>
            <p:txBody>
              <a:bodyPr anchor="ctr"/>
              <a:lstStyle/>
              <a:p>
                <a:pPr algn="ctr" fontAlgn="auto">
                  <a:spcBef>
                    <a:spcPts val="0"/>
                  </a:spcBef>
                  <a:spcAft>
                    <a:spcPts val="0"/>
                  </a:spcAft>
                </a:pPr>
                <a:endParaRPr lang="en-GB" kern="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a:cs typeface="Arial" pitchFamily="34" charset="0"/>
                </a:endParaRPr>
              </a:p>
            </p:txBody>
          </p:sp>
          <p:sp>
            <p:nvSpPr>
              <p:cNvPr id="22" name="TextBox 21"/>
              <p:cNvSpPr txBox="1"/>
              <p:nvPr/>
            </p:nvSpPr>
            <p:spPr>
              <a:xfrm>
                <a:off x="8061517" y="4632833"/>
                <a:ext cx="466794" cy="584775"/>
              </a:xfrm>
              <a:prstGeom prst="rect">
                <a:avLst/>
              </a:prstGeom>
              <a:noFill/>
            </p:spPr>
            <p:txBody>
              <a:bodyPr wrap="none" rtlCol="0">
                <a:spAutoFit/>
              </a:bodyPr>
              <a:lstStyle/>
              <a:p>
                <a:r>
                  <a:rPr lang="en-GB" sz="3200" b="1" dirty="0" smtClean="0">
                    <a:solidFill>
                      <a:schemeClr val="bg1"/>
                    </a:solidFill>
                  </a:rPr>
                  <a:t>Q</a:t>
                </a:r>
                <a:endParaRPr lang="en-GB" sz="3200" b="1" dirty="0">
                  <a:solidFill>
                    <a:schemeClr val="bg1"/>
                  </a:solidFill>
                </a:endParaRPr>
              </a:p>
            </p:txBody>
          </p:sp>
        </p:grpSp>
      </p:grpSp>
      <p:grpSp>
        <p:nvGrpSpPr>
          <p:cNvPr id="20" name="Group 95"/>
          <p:cNvGrpSpPr/>
          <p:nvPr/>
        </p:nvGrpSpPr>
        <p:grpSpPr>
          <a:xfrm>
            <a:off x="2163300" y="1194025"/>
            <a:ext cx="6623972" cy="5048304"/>
            <a:chOff x="2163300" y="1702025"/>
            <a:chExt cx="6623972" cy="5048304"/>
          </a:xfrm>
        </p:grpSpPr>
        <p:sp>
          <p:nvSpPr>
            <p:cNvPr id="26" name="Rectangle 25"/>
            <p:cNvSpPr/>
            <p:nvPr/>
          </p:nvSpPr>
          <p:spPr>
            <a:xfrm>
              <a:off x="3065834" y="1702025"/>
              <a:ext cx="5721438" cy="461665"/>
            </a:xfrm>
            <a:prstGeom prst="rect">
              <a:avLst/>
            </a:prstGeom>
          </p:spPr>
          <p:txBody>
            <a:bodyPr wrap="none">
              <a:spAutoFit/>
            </a:bodyPr>
            <a:lstStyle/>
            <a:p>
              <a:pPr marL="342900" indent="-342900" algn="l" fontAlgn="auto">
                <a:spcBef>
                  <a:spcPts val="0"/>
                </a:spcBef>
                <a:spcAft>
                  <a:spcPts val="1200"/>
                </a:spcAft>
                <a:buFont typeface="+mj-lt"/>
                <a:buAutoNum type="alphaUcPeriod" startAt="2"/>
                <a:defRPr/>
              </a:pPr>
              <a:r>
                <a:rPr lang="en-GB" i="1" kern="0" dirty="0">
                  <a:solidFill>
                    <a:srgbClr val="595959"/>
                  </a:solidFill>
                  <a:ea typeface="Times New Roman"/>
                </a:rPr>
                <a:t>Describe multiple physical properties?</a:t>
              </a:r>
            </a:p>
          </p:txBody>
        </p:sp>
        <p:grpSp>
          <p:nvGrpSpPr>
            <p:cNvPr id="25" name="Group 93"/>
            <p:cNvGrpSpPr/>
            <p:nvPr/>
          </p:nvGrpSpPr>
          <p:grpSpPr>
            <a:xfrm>
              <a:off x="2163300" y="2140908"/>
              <a:ext cx="3460673" cy="4609421"/>
              <a:chOff x="2163300" y="2140908"/>
              <a:chExt cx="3460673" cy="4609421"/>
            </a:xfrm>
          </p:grpSpPr>
          <p:cxnSp>
            <p:nvCxnSpPr>
              <p:cNvPr id="28" name="Straight Arrow Connector 27"/>
              <p:cNvCxnSpPr>
                <a:endCxn id="45" idx="3"/>
              </p:cNvCxnSpPr>
              <p:nvPr/>
            </p:nvCxnSpPr>
            <p:spPr>
              <a:xfrm flipH="1">
                <a:off x="4007054" y="6321170"/>
                <a:ext cx="1616919" cy="7768"/>
              </a:xfrm>
              <a:prstGeom prst="straightConnector1">
                <a:avLst/>
              </a:prstGeom>
              <a:ln w="38100">
                <a:solidFill>
                  <a:schemeClr val="accent1">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4150269" y="6324387"/>
                <a:ext cx="458780" cy="369332"/>
              </a:xfrm>
              <a:prstGeom prst="rect">
                <a:avLst/>
              </a:prstGeom>
            </p:spPr>
            <p:txBody>
              <a:bodyPr wrap="none">
                <a:spAutoFit/>
              </a:bodyPr>
              <a:lstStyle/>
              <a:p>
                <a:pPr fontAlgn="auto">
                  <a:spcBef>
                    <a:spcPts val="0"/>
                  </a:spcBef>
                  <a:spcAft>
                    <a:spcPts val="1200"/>
                  </a:spcAft>
                  <a:defRPr/>
                </a:pPr>
                <a:r>
                  <a:rPr lang="en-GB" b="1" i="1" kern="0" dirty="0" smtClean="0">
                    <a:solidFill>
                      <a:schemeClr val="accent1">
                        <a:lumMod val="75000"/>
                      </a:schemeClr>
                    </a:solidFill>
                    <a:ea typeface="Times New Roman"/>
                  </a:rPr>
                  <a:t>No</a:t>
                </a:r>
                <a:endParaRPr lang="en-GB" b="1" i="1" kern="0" dirty="0">
                  <a:solidFill>
                    <a:schemeClr val="accent1">
                      <a:lumMod val="75000"/>
                    </a:schemeClr>
                  </a:solidFill>
                  <a:ea typeface="Times New Roman"/>
                </a:endParaRPr>
              </a:p>
            </p:txBody>
          </p:sp>
          <p:grpSp>
            <p:nvGrpSpPr>
              <p:cNvPr id="27" name="Group 91"/>
              <p:cNvGrpSpPr/>
              <p:nvPr/>
            </p:nvGrpSpPr>
            <p:grpSpPr>
              <a:xfrm>
                <a:off x="2163300" y="2140908"/>
                <a:ext cx="2664981" cy="4609421"/>
                <a:chOff x="2163300" y="2140908"/>
                <a:chExt cx="2664981" cy="4609421"/>
              </a:xfrm>
            </p:grpSpPr>
            <p:cxnSp>
              <p:nvCxnSpPr>
                <p:cNvPr id="31" name="Elbow Connector 22"/>
                <p:cNvCxnSpPr/>
                <p:nvPr/>
              </p:nvCxnSpPr>
              <p:spPr>
                <a:xfrm>
                  <a:off x="2163300" y="2140908"/>
                  <a:ext cx="1424219" cy="879684"/>
                </a:xfrm>
                <a:prstGeom prst="bentConnector2">
                  <a:avLst/>
                </a:prstGeom>
                <a:noFill/>
                <a:ln w="9525" algn="ctr">
                  <a:solidFill>
                    <a:srgbClr val="000000"/>
                  </a:solidFill>
                  <a:round/>
                  <a:headEnd/>
                  <a:tailEnd type="none" w="med" len="med"/>
                </a:ln>
                <a:extLst>
                  <a:ext uri="{909E8E84-426E-40DD-AFC4-6F175D3DCCD1}">
                    <a14:hiddenFill xmlns="" xmlns:a14="http://schemas.microsoft.com/office/drawing/2010/main">
                      <a:noFill/>
                    </a14:hiddenFill>
                  </a:ext>
                </a:extLst>
              </p:spPr>
            </p:cxnSp>
            <p:grpSp>
              <p:nvGrpSpPr>
                <p:cNvPr id="30" name="Group 32"/>
                <p:cNvGrpSpPr/>
                <p:nvPr/>
              </p:nvGrpSpPr>
              <p:grpSpPr>
                <a:xfrm>
                  <a:off x="2615475" y="3020592"/>
                  <a:ext cx="1944088" cy="645184"/>
                  <a:chOff x="3699038" y="2224420"/>
                  <a:chExt cx="1568997" cy="645184"/>
                </a:xfrm>
              </p:grpSpPr>
              <p:sp>
                <p:nvSpPr>
                  <p:cNvPr id="51" name="Rectangle 33"/>
                  <p:cNvSpPr/>
                  <p:nvPr/>
                </p:nvSpPr>
                <p:spPr bwMode="auto">
                  <a:xfrm>
                    <a:off x="3699038" y="2224420"/>
                    <a:ext cx="1568997" cy="645184"/>
                  </a:xfrm>
                  <a:prstGeom prst="rect">
                    <a:avLst/>
                  </a:prstGeom>
                  <a:solidFill>
                    <a:sysClr val="window" lastClr="FFFFFF"/>
                  </a:soli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defRPr/>
                    </a:pPr>
                    <a:r>
                      <a:rPr lang="en-GB" sz="1000" kern="0" dirty="0" smtClean="0">
                        <a:solidFill>
                          <a:sysClr val="windowText" lastClr="000000"/>
                        </a:solidFill>
                        <a:latin typeface="Calibri" pitchFamily="34" charset="0"/>
                      </a:rPr>
                      <a:t>«</a:t>
                    </a:r>
                    <a:r>
                      <a:rPr lang="en-GB" sz="1000" kern="0" dirty="0" err="1" smtClean="0">
                        <a:solidFill>
                          <a:sysClr val="windowText" lastClr="000000"/>
                        </a:solidFill>
                        <a:latin typeface="Calibri" pitchFamily="34" charset="0"/>
                      </a:rPr>
                      <a:t>FeatureType</a:t>
                    </a:r>
                    <a:r>
                      <a:rPr lang="en-GB" sz="1000" kern="0" dirty="0" smtClean="0">
                        <a:solidFill>
                          <a:sysClr val="windowText" lastClr="000000"/>
                        </a:solidFill>
                        <a:latin typeface="Calibri" pitchFamily="34" charset="0"/>
                      </a:rPr>
                      <a:t>»</a:t>
                    </a:r>
                  </a:p>
                  <a:p>
                    <a:pPr algn="ctr">
                      <a:spcBef>
                        <a:spcPts val="0"/>
                      </a:spcBef>
                      <a:defRPr/>
                    </a:pPr>
                    <a:r>
                      <a:rPr lang="en-GB" sz="1000" kern="0" dirty="0" err="1" smtClean="0">
                        <a:solidFill>
                          <a:sysClr val="windowText" lastClr="000000"/>
                        </a:solidFill>
                        <a:latin typeface="Calibri" pitchFamily="34" charset="0"/>
                      </a:rPr>
                      <a:t>OM_ComplexObservation</a:t>
                    </a:r>
                    <a:endParaRPr lang="en-GB" sz="1000" kern="0" dirty="0">
                      <a:solidFill>
                        <a:sysClr val="windowText" lastClr="000000"/>
                      </a:solidFill>
                      <a:latin typeface="Calibri" pitchFamily="34" charset="0"/>
                    </a:endParaRPr>
                  </a:p>
                </p:txBody>
              </p:sp>
              <p:sp>
                <p:nvSpPr>
                  <p:cNvPr id="52" name="Rectangle 51"/>
                  <p:cNvSpPr/>
                  <p:nvPr/>
                </p:nvSpPr>
                <p:spPr bwMode="auto">
                  <a:xfrm>
                    <a:off x="3699039" y="2677028"/>
                    <a:ext cx="1568996" cy="192576"/>
                  </a:xfrm>
                  <a:prstGeom prst="rect">
                    <a:avLst/>
                  </a:prstGeom>
                  <a:solidFill>
                    <a:sysClr val="window" lastClr="FFFFFF"/>
                  </a:solidFill>
                  <a:ln w="9525" cap="flat" cmpd="sng" algn="ctr">
                    <a:solidFill>
                      <a:sysClr val="windowText" lastClr="000000"/>
                    </a:solidFill>
                    <a:prstDash val="solid"/>
                  </a:ln>
                  <a:effectLst/>
                </p:spPr>
                <p:txBody>
                  <a:bodyPr anchor="ctr" anchorCtr="0"/>
                  <a:lstStyle/>
                  <a:p>
                    <a:pPr algn="ctr">
                      <a:defRPr/>
                    </a:pPr>
                    <a:endParaRPr lang="en-GB" sz="1000" u="sng" kern="0" dirty="0">
                      <a:solidFill>
                        <a:sysClr val="windowText" lastClr="000000"/>
                      </a:solidFill>
                    </a:endParaRPr>
                  </a:p>
                </p:txBody>
              </p:sp>
            </p:grpSp>
            <p:sp>
              <p:nvSpPr>
                <p:cNvPr id="33" name="TextBox 32"/>
                <p:cNvSpPr txBox="1"/>
                <p:nvPr/>
              </p:nvSpPr>
              <p:spPr bwMode="auto">
                <a:xfrm>
                  <a:off x="2615471" y="3679469"/>
                  <a:ext cx="728084" cy="230832"/>
                </a:xfrm>
                <a:prstGeom prst="rect">
                  <a:avLst/>
                </a:prstGeom>
                <a:noFill/>
              </p:spPr>
              <p:txBody>
                <a:bodyPr wrap="none">
                  <a:spAutoFit/>
                </a:bodyPr>
                <a:lstStyle/>
                <a:p>
                  <a:pPr>
                    <a:defRPr/>
                  </a:pPr>
                  <a:r>
                    <a:rPr lang="en-GB" sz="900" i="1" kern="0" dirty="0">
                      <a:solidFill>
                        <a:schemeClr val="bg1">
                          <a:lumMod val="75000"/>
                        </a:schemeClr>
                      </a:solidFill>
                    </a:rPr>
                    <a:t>(</a:t>
                  </a:r>
                  <a:r>
                    <a:rPr lang="en-GB" sz="900" i="1" kern="0" dirty="0" smtClean="0">
                      <a:solidFill>
                        <a:schemeClr val="bg1">
                          <a:lumMod val="75000"/>
                        </a:schemeClr>
                      </a:solidFill>
                    </a:rPr>
                    <a:t>ISO 19156)</a:t>
                  </a:r>
                  <a:endParaRPr lang="en-GB" sz="900" i="1" kern="0" dirty="0">
                    <a:solidFill>
                      <a:schemeClr val="bg1">
                        <a:lumMod val="75000"/>
                      </a:schemeClr>
                    </a:solidFill>
                  </a:endParaRPr>
                </a:p>
              </p:txBody>
            </p:sp>
            <p:cxnSp>
              <p:nvCxnSpPr>
                <p:cNvPr id="34" name="Straight Arrow Connector 16"/>
                <p:cNvCxnSpPr>
                  <a:cxnSpLocks noChangeShapeType="1"/>
                  <a:endCxn id="49" idx="0"/>
                </p:cNvCxnSpPr>
                <p:nvPr/>
              </p:nvCxnSpPr>
              <p:spPr bwMode="auto">
                <a:xfrm>
                  <a:off x="4325571" y="3661974"/>
                  <a:ext cx="0" cy="304259"/>
                </a:xfrm>
                <a:prstGeom prst="straightConnector1">
                  <a:avLst/>
                </a:prstGeom>
                <a:noFill/>
                <a:ln w="9525" algn="ctr">
                  <a:solidFill>
                    <a:srgbClr val="000000"/>
                  </a:solidFill>
                  <a:round/>
                  <a:headEnd/>
                  <a:tailEnd type="arrow" w="med" len="med"/>
                </a:ln>
                <a:extLst>
                  <a:ext uri="{909E8E84-426E-40DD-AFC4-6F175D3DCCD1}">
                    <a14:hiddenFill xmlns="" xmlns:a14="http://schemas.microsoft.com/office/drawing/2010/main">
                      <a:noFill/>
                    </a14:hiddenFill>
                  </a:ext>
                </a:extLst>
              </p:spPr>
            </p:cxnSp>
            <p:grpSp>
              <p:nvGrpSpPr>
                <p:cNvPr id="32" name="Group 44"/>
                <p:cNvGrpSpPr/>
                <p:nvPr/>
              </p:nvGrpSpPr>
              <p:grpSpPr>
                <a:xfrm>
                  <a:off x="3884462" y="3966233"/>
                  <a:ext cx="882217" cy="727607"/>
                  <a:chOff x="2956535" y="223624"/>
                  <a:chExt cx="882217" cy="727607"/>
                </a:xfrm>
              </p:grpSpPr>
              <p:grpSp>
                <p:nvGrpSpPr>
                  <p:cNvPr id="35" name="Group 45"/>
                  <p:cNvGrpSpPr/>
                  <p:nvPr/>
                </p:nvGrpSpPr>
                <p:grpSpPr>
                  <a:xfrm>
                    <a:off x="2956535" y="223624"/>
                    <a:ext cx="882217" cy="496775"/>
                    <a:chOff x="3699038" y="2224419"/>
                    <a:chExt cx="1568997" cy="496775"/>
                  </a:xfrm>
                </p:grpSpPr>
                <p:sp>
                  <p:nvSpPr>
                    <p:cNvPr id="49" name="Rectangle 48"/>
                    <p:cNvSpPr/>
                    <p:nvPr/>
                  </p:nvSpPr>
                  <p:spPr bwMode="auto">
                    <a:xfrm>
                      <a:off x="3699038" y="2224419"/>
                      <a:ext cx="1568997" cy="496775"/>
                    </a:xfrm>
                    <a:prstGeom prst="rect">
                      <a:avLst/>
                    </a:prstGeom>
                    <a:solidFill>
                      <a:sysClr val="window" lastClr="FFFFFF"/>
                    </a:soli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defRPr/>
                      </a:pPr>
                      <a:r>
                        <a:rPr lang="en-GB" sz="1000" kern="0" dirty="0" smtClean="0">
                          <a:solidFill>
                            <a:sysClr val="windowText" lastClr="000000"/>
                          </a:solidFill>
                          <a:latin typeface="Calibri" pitchFamily="34" charset="0"/>
                        </a:rPr>
                        <a:t>«Type»</a:t>
                      </a:r>
                    </a:p>
                    <a:p>
                      <a:pPr algn="ctr">
                        <a:spcBef>
                          <a:spcPts val="0"/>
                        </a:spcBef>
                        <a:defRPr/>
                      </a:pPr>
                      <a:r>
                        <a:rPr lang="en-GB" sz="1000" kern="0" dirty="0" smtClean="0">
                          <a:solidFill>
                            <a:sysClr val="windowText" lastClr="000000"/>
                          </a:solidFill>
                          <a:latin typeface="Calibri" pitchFamily="34" charset="0"/>
                        </a:rPr>
                        <a:t>Record</a:t>
                      </a:r>
                      <a:endParaRPr lang="en-GB" sz="1000" kern="0" dirty="0">
                        <a:solidFill>
                          <a:sysClr val="windowText" lastClr="000000"/>
                        </a:solidFill>
                        <a:latin typeface="Calibri" pitchFamily="34" charset="0"/>
                      </a:endParaRPr>
                    </a:p>
                  </p:txBody>
                </p:sp>
                <p:sp>
                  <p:nvSpPr>
                    <p:cNvPr id="50" name="Rectangle 49"/>
                    <p:cNvSpPr/>
                    <p:nvPr/>
                  </p:nvSpPr>
                  <p:spPr bwMode="auto">
                    <a:xfrm>
                      <a:off x="3699040" y="2597516"/>
                      <a:ext cx="1568995" cy="123678"/>
                    </a:xfrm>
                    <a:prstGeom prst="rect">
                      <a:avLst/>
                    </a:prstGeom>
                    <a:solidFill>
                      <a:sysClr val="window" lastClr="FFFFFF"/>
                    </a:solidFill>
                    <a:ln w="9525" cap="flat" cmpd="sng" algn="ctr">
                      <a:solidFill>
                        <a:sysClr val="windowText" lastClr="000000"/>
                      </a:solidFill>
                      <a:prstDash val="solid"/>
                    </a:ln>
                    <a:effectLst/>
                  </p:spPr>
                  <p:txBody>
                    <a:bodyPr anchor="ctr" anchorCtr="0"/>
                    <a:lstStyle/>
                    <a:p>
                      <a:pPr algn="ctr">
                        <a:defRPr/>
                      </a:pPr>
                      <a:endParaRPr lang="en-GB" sz="1000" u="sng" kern="0" dirty="0">
                        <a:solidFill>
                          <a:sysClr val="windowText" lastClr="000000"/>
                        </a:solidFill>
                      </a:endParaRPr>
                    </a:p>
                  </p:txBody>
                </p:sp>
              </p:grpSp>
              <p:sp>
                <p:nvSpPr>
                  <p:cNvPr id="48" name="TextBox 47"/>
                  <p:cNvSpPr txBox="1"/>
                  <p:nvPr/>
                </p:nvSpPr>
                <p:spPr bwMode="auto">
                  <a:xfrm>
                    <a:off x="2956536" y="720399"/>
                    <a:ext cx="726481" cy="230832"/>
                  </a:xfrm>
                  <a:prstGeom prst="rect">
                    <a:avLst/>
                  </a:prstGeom>
                  <a:noFill/>
                </p:spPr>
                <p:txBody>
                  <a:bodyPr wrap="none">
                    <a:spAutoFit/>
                  </a:bodyPr>
                  <a:lstStyle/>
                  <a:p>
                    <a:pPr>
                      <a:defRPr/>
                    </a:pPr>
                    <a:r>
                      <a:rPr lang="en-GB" sz="900" i="1" kern="0" dirty="0">
                        <a:solidFill>
                          <a:schemeClr val="bg1">
                            <a:lumMod val="75000"/>
                          </a:schemeClr>
                        </a:solidFill>
                      </a:rPr>
                      <a:t>(</a:t>
                    </a:r>
                    <a:r>
                      <a:rPr lang="en-GB" sz="900" i="1" kern="0" dirty="0" smtClean="0">
                        <a:solidFill>
                          <a:schemeClr val="bg1">
                            <a:lumMod val="75000"/>
                          </a:schemeClr>
                        </a:solidFill>
                      </a:rPr>
                      <a:t>ISO 19103)</a:t>
                    </a:r>
                    <a:endParaRPr lang="en-GB" sz="900" i="1" kern="0" dirty="0">
                      <a:solidFill>
                        <a:schemeClr val="bg1">
                          <a:lumMod val="75000"/>
                        </a:schemeClr>
                      </a:solidFill>
                    </a:endParaRPr>
                  </a:p>
                </p:txBody>
              </p:sp>
            </p:grpSp>
            <p:sp>
              <p:nvSpPr>
                <p:cNvPr id="36" name="TextBox 35"/>
                <p:cNvSpPr txBox="1"/>
                <p:nvPr/>
              </p:nvSpPr>
              <p:spPr bwMode="auto">
                <a:xfrm>
                  <a:off x="4316602" y="3773508"/>
                  <a:ext cx="511679" cy="230832"/>
                </a:xfrm>
                <a:prstGeom prst="rect">
                  <a:avLst/>
                </a:prstGeom>
                <a:noFill/>
              </p:spPr>
              <p:txBody>
                <a:bodyPr wrap="none">
                  <a:spAutoFit/>
                </a:bodyPr>
                <a:lstStyle/>
                <a:p>
                  <a:pPr>
                    <a:defRPr/>
                  </a:pPr>
                  <a:r>
                    <a:rPr lang="en-GB" sz="900" kern="0" dirty="0" smtClean="0">
                      <a:solidFill>
                        <a:sysClr val="windowText" lastClr="000000"/>
                      </a:solidFill>
                    </a:rPr>
                    <a:t>+result</a:t>
                  </a:r>
                  <a:endParaRPr lang="en-GB" sz="900" kern="0" dirty="0">
                    <a:solidFill>
                      <a:sysClr val="windowText" lastClr="000000"/>
                    </a:solidFill>
                  </a:endParaRPr>
                </a:p>
              </p:txBody>
            </p:sp>
            <p:grpSp>
              <p:nvGrpSpPr>
                <p:cNvPr id="37" name="Group 87"/>
                <p:cNvGrpSpPr/>
                <p:nvPr/>
              </p:nvGrpSpPr>
              <p:grpSpPr>
                <a:xfrm>
                  <a:off x="3167986" y="5907547"/>
                  <a:ext cx="839068" cy="842782"/>
                  <a:chOff x="3167986" y="5907547"/>
                  <a:chExt cx="839068" cy="842782"/>
                </a:xfrm>
              </p:grpSpPr>
              <p:sp>
                <p:nvSpPr>
                  <p:cNvPr id="45" name="Diamond 44"/>
                  <p:cNvSpPr/>
                  <p:nvPr/>
                </p:nvSpPr>
                <p:spPr>
                  <a:xfrm>
                    <a:off x="3167986" y="5907547"/>
                    <a:ext cx="839068" cy="842782"/>
                  </a:xfrm>
                  <a:prstGeom prst="diamond">
                    <a:avLst/>
                  </a:prstGeom>
                  <a:gradFill rotWithShape="1">
                    <a:gsLst>
                      <a:gs pos="0">
                        <a:schemeClr val="accent1">
                          <a:lumMod val="50000"/>
                        </a:schemeClr>
                      </a:gs>
                      <a:gs pos="80000">
                        <a:schemeClr val="accent1">
                          <a:lumMod val="75000"/>
                        </a:schemeClr>
                      </a:gs>
                      <a:gs pos="100000">
                        <a:schemeClr val="accent1">
                          <a:lumMod val="75000"/>
                        </a:schemeClr>
                      </a:gs>
                    </a:gsLst>
                    <a:lin ang="16200000" scaled="0"/>
                  </a:gradFill>
                  <a:ln w="9525" cap="flat" cmpd="sng" algn="ctr">
                    <a:solidFill>
                      <a:srgbClr val="003300"/>
                    </a:solidFill>
                    <a:prstDash val="solid"/>
                  </a:ln>
                  <a:effectLst>
                    <a:outerShdw blurRad="40000" dist="23000" dir="5400000" rotWithShape="0">
                      <a:srgbClr val="000000">
                        <a:alpha val="35000"/>
                      </a:srgbClr>
                    </a:outerShdw>
                  </a:effectLst>
                </p:spPr>
                <p:txBody>
                  <a:bodyPr anchor="ctr"/>
                  <a:lstStyle/>
                  <a:p>
                    <a:pPr algn="ctr" fontAlgn="auto">
                      <a:spcBef>
                        <a:spcPts val="0"/>
                      </a:spcBef>
                      <a:spcAft>
                        <a:spcPts val="0"/>
                      </a:spcAft>
                      <a:defRPr/>
                    </a:pPr>
                    <a:endParaRPr lang="en-GB" kern="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a:endParaRPr>
                  </a:p>
                </p:txBody>
              </p:sp>
              <p:sp>
                <p:nvSpPr>
                  <p:cNvPr id="46" name="TextBox 45"/>
                  <p:cNvSpPr txBox="1"/>
                  <p:nvPr/>
                </p:nvSpPr>
                <p:spPr>
                  <a:xfrm>
                    <a:off x="3379771" y="6028782"/>
                    <a:ext cx="415498" cy="584775"/>
                  </a:xfrm>
                  <a:prstGeom prst="rect">
                    <a:avLst/>
                  </a:prstGeom>
                  <a:noFill/>
                </p:spPr>
                <p:txBody>
                  <a:bodyPr wrap="none" rtlCol="0">
                    <a:spAutoFit/>
                  </a:bodyPr>
                  <a:lstStyle/>
                  <a:p>
                    <a:r>
                      <a:rPr lang="en-GB" sz="3200" b="1" dirty="0" smtClean="0">
                        <a:solidFill>
                          <a:schemeClr val="bg1"/>
                        </a:solidFill>
                      </a:rPr>
                      <a:t>B</a:t>
                    </a:r>
                    <a:endParaRPr lang="en-GB" sz="3200" b="1" dirty="0">
                      <a:solidFill>
                        <a:schemeClr val="bg1"/>
                      </a:solidFill>
                    </a:endParaRPr>
                  </a:p>
                </p:txBody>
              </p:sp>
            </p:grpSp>
            <p:sp>
              <p:nvSpPr>
                <p:cNvPr id="38" name="Rectangle 37"/>
                <p:cNvSpPr/>
                <p:nvPr/>
              </p:nvSpPr>
              <p:spPr>
                <a:xfrm>
                  <a:off x="3660575" y="5710387"/>
                  <a:ext cx="510076" cy="369332"/>
                </a:xfrm>
                <a:prstGeom prst="rect">
                  <a:avLst/>
                </a:prstGeom>
              </p:spPr>
              <p:txBody>
                <a:bodyPr wrap="none">
                  <a:spAutoFit/>
                </a:bodyPr>
                <a:lstStyle/>
                <a:p>
                  <a:pPr fontAlgn="auto">
                    <a:spcBef>
                      <a:spcPts val="0"/>
                    </a:spcBef>
                    <a:spcAft>
                      <a:spcPts val="1200"/>
                    </a:spcAft>
                    <a:defRPr/>
                  </a:pPr>
                  <a:r>
                    <a:rPr lang="en-GB" b="1" i="1" kern="0" dirty="0" smtClean="0">
                      <a:solidFill>
                        <a:schemeClr val="accent1">
                          <a:lumMod val="75000"/>
                        </a:schemeClr>
                      </a:solidFill>
                      <a:ea typeface="Times New Roman"/>
                    </a:rPr>
                    <a:t>Yes</a:t>
                  </a:r>
                  <a:endParaRPr lang="en-GB" b="1" i="1" kern="0" dirty="0">
                    <a:solidFill>
                      <a:schemeClr val="accent1">
                        <a:lumMod val="75000"/>
                      </a:schemeClr>
                    </a:solidFill>
                    <a:ea typeface="Times New Roman"/>
                  </a:endParaRPr>
                </a:p>
              </p:txBody>
            </p:sp>
            <p:grpSp>
              <p:nvGrpSpPr>
                <p:cNvPr id="39" name="Group 38"/>
                <p:cNvGrpSpPr/>
                <p:nvPr/>
              </p:nvGrpSpPr>
              <p:grpSpPr>
                <a:xfrm>
                  <a:off x="2615471" y="4925221"/>
                  <a:ext cx="1944088" cy="645184"/>
                  <a:chOff x="3699038" y="2835121"/>
                  <a:chExt cx="1568997" cy="645184"/>
                </a:xfrm>
              </p:grpSpPr>
              <p:sp>
                <p:nvSpPr>
                  <p:cNvPr id="43" name="Rectangle 42"/>
                  <p:cNvSpPr/>
                  <p:nvPr/>
                </p:nvSpPr>
                <p:spPr bwMode="auto">
                  <a:xfrm>
                    <a:off x="3699038" y="2835121"/>
                    <a:ext cx="1568997" cy="645184"/>
                  </a:xfrm>
                  <a:prstGeom prst="rect">
                    <a:avLst/>
                  </a:prstGeom>
                  <a:gradFill>
                    <a:gsLst>
                      <a:gs pos="0">
                        <a:srgbClr val="FFFFCC"/>
                      </a:gs>
                      <a:gs pos="100000">
                        <a:srgbClr val="FFFF99"/>
                      </a:gs>
                    </a:gsLst>
                    <a:lin ang="16200000" scaled="0"/>
                  </a:gra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pPr>
                    <a:r>
                      <a:rPr lang="en-GB" sz="1000" kern="0" dirty="0">
                        <a:solidFill>
                          <a:sysClr val="windowText" lastClr="000000"/>
                        </a:solidFill>
                        <a:latin typeface="Calibri" pitchFamily="34" charset="0"/>
                      </a:rPr>
                      <a:t>«</a:t>
                    </a:r>
                    <a:r>
                      <a:rPr lang="en-GB" sz="1000" kern="0" dirty="0" err="1">
                        <a:solidFill>
                          <a:sysClr val="windowText" lastClr="000000"/>
                        </a:solidFill>
                        <a:latin typeface="Calibri" pitchFamily="34" charset="0"/>
                      </a:rPr>
                      <a:t>FeatureType</a:t>
                    </a:r>
                    <a:r>
                      <a:rPr lang="en-GB" sz="1000" kern="0" dirty="0">
                        <a:solidFill>
                          <a:sysClr val="windowText" lastClr="000000"/>
                        </a:solidFill>
                        <a:latin typeface="Calibri" pitchFamily="34" charset="0"/>
                      </a:rPr>
                      <a:t>»</a:t>
                    </a:r>
                  </a:p>
                  <a:p>
                    <a:pPr algn="ctr">
                      <a:spcBef>
                        <a:spcPts val="0"/>
                      </a:spcBef>
                    </a:pPr>
                    <a:r>
                      <a:rPr lang="en-GB" sz="1000" kern="0" dirty="0" err="1">
                        <a:solidFill>
                          <a:sysClr val="windowText" lastClr="000000"/>
                        </a:solidFill>
                        <a:latin typeface="Calibri" pitchFamily="34" charset="0"/>
                      </a:rPr>
                      <a:t>ComplexSamplingMeasurement</a:t>
                    </a:r>
                    <a:endParaRPr lang="en-GB" sz="1000" kern="0" dirty="0">
                      <a:solidFill>
                        <a:sysClr val="windowText" lastClr="000000"/>
                      </a:solidFill>
                      <a:latin typeface="Calibri" pitchFamily="34" charset="0"/>
                    </a:endParaRPr>
                  </a:p>
                </p:txBody>
              </p:sp>
              <p:sp>
                <p:nvSpPr>
                  <p:cNvPr id="44" name="Rectangle 43"/>
                  <p:cNvSpPr/>
                  <p:nvPr/>
                </p:nvSpPr>
                <p:spPr bwMode="auto">
                  <a:xfrm>
                    <a:off x="3699039" y="3287729"/>
                    <a:ext cx="1568996" cy="192576"/>
                  </a:xfrm>
                  <a:prstGeom prst="rect">
                    <a:avLst/>
                  </a:prstGeom>
                  <a:noFill/>
                  <a:ln w="9525" cap="flat" cmpd="sng" algn="ctr">
                    <a:solidFill>
                      <a:sysClr val="windowText" lastClr="000000"/>
                    </a:solidFill>
                    <a:prstDash val="solid"/>
                  </a:ln>
                  <a:effectLst/>
                </p:spPr>
                <p:txBody>
                  <a:bodyPr anchor="ctr" anchorCtr="0"/>
                  <a:lstStyle/>
                  <a:p>
                    <a:pPr algn="ctr">
                      <a:defRPr/>
                    </a:pPr>
                    <a:endParaRPr lang="en-GB" sz="1000" u="sng" kern="0" dirty="0">
                      <a:solidFill>
                        <a:sysClr val="windowText" lastClr="000000"/>
                      </a:solidFill>
                    </a:endParaRPr>
                  </a:p>
                </p:txBody>
              </p:sp>
            </p:grpSp>
            <p:cxnSp>
              <p:nvCxnSpPr>
                <p:cNvPr id="40" name="Straight Arrow Connector 16"/>
                <p:cNvCxnSpPr>
                  <a:cxnSpLocks noChangeShapeType="1"/>
                  <a:stCxn id="43" idx="0"/>
                  <a:endCxn id="52" idx="2"/>
                </p:cNvCxnSpPr>
                <p:nvPr/>
              </p:nvCxnSpPr>
              <p:spPr bwMode="auto">
                <a:xfrm flipV="1">
                  <a:off x="3587515" y="3665776"/>
                  <a:ext cx="5" cy="1259445"/>
                </a:xfrm>
                <a:prstGeom prst="straightConnector1">
                  <a:avLst/>
                </a:prstGeom>
                <a:noFill/>
                <a:ln w="9525" algn="ctr">
                  <a:solidFill>
                    <a:srgbClr val="000000"/>
                  </a:solidFill>
                  <a:round/>
                  <a:headEnd/>
                  <a:tailEnd type="none" w="med" len="med"/>
                </a:ln>
                <a:extLst>
                  <a:ext uri="{909E8E84-426E-40DD-AFC4-6F175D3DCCD1}">
                    <a14:hiddenFill xmlns="" xmlns:a14="http://schemas.microsoft.com/office/drawing/2010/main">
                      <a:noFill/>
                    </a14:hiddenFill>
                  </a:ext>
                </a:extLst>
              </p:spPr>
            </p:cxnSp>
            <p:sp>
              <p:nvSpPr>
                <p:cNvPr id="41" name="Isosceles Triangle 40"/>
                <p:cNvSpPr/>
                <p:nvPr/>
              </p:nvSpPr>
              <p:spPr>
                <a:xfrm>
                  <a:off x="3492047" y="3668665"/>
                  <a:ext cx="190936" cy="252440"/>
                </a:xfrm>
                <a:prstGeom prst="triangle">
                  <a:avLst/>
                </a:prstGeom>
                <a:solidFill>
                  <a:sysClr val="window" lastClr="FFFFFF"/>
                </a:solidFill>
                <a:ln w="9525" cap="flat" cmpd="sng" algn="ctr">
                  <a:solidFill>
                    <a:sysClr val="windowText" lastClr="000000"/>
                  </a:solidFill>
                  <a:prstDash val="solid"/>
                </a:ln>
                <a:effectLst/>
              </p:spPr>
              <p:txBody>
                <a:bodyPr anchor="ctr" anchorCtr="0"/>
                <a:lstStyle/>
                <a:p>
                  <a:pPr algn="ctr"/>
                  <a:endParaRPr lang="en-GB" sz="1000" u="sng" kern="0">
                    <a:solidFill>
                      <a:sysClr val="windowText" lastClr="000000"/>
                    </a:solidFill>
                  </a:endParaRPr>
                </a:p>
              </p:txBody>
            </p:sp>
            <p:cxnSp>
              <p:nvCxnSpPr>
                <p:cNvPr id="42" name="Straight Arrow Connector 41"/>
                <p:cNvCxnSpPr>
                  <a:stCxn id="45" idx="0"/>
                  <a:endCxn id="43" idx="2"/>
                </p:cNvCxnSpPr>
                <p:nvPr/>
              </p:nvCxnSpPr>
              <p:spPr>
                <a:xfrm flipH="1" flipV="1">
                  <a:off x="3587515" y="5570405"/>
                  <a:ext cx="5" cy="337142"/>
                </a:xfrm>
                <a:prstGeom prst="straightConnector1">
                  <a:avLst/>
                </a:prstGeom>
                <a:ln w="38100">
                  <a:solidFill>
                    <a:schemeClr val="accent1">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grpSp>
        </p:grpSp>
      </p:grpSp>
      <p:grpSp>
        <p:nvGrpSpPr>
          <p:cNvPr id="47" name="Group 94"/>
          <p:cNvGrpSpPr/>
          <p:nvPr/>
        </p:nvGrpSpPr>
        <p:grpSpPr>
          <a:xfrm>
            <a:off x="398866" y="1982890"/>
            <a:ext cx="2769120" cy="3850749"/>
            <a:chOff x="398866" y="2490890"/>
            <a:chExt cx="2769120" cy="3850749"/>
          </a:xfrm>
        </p:grpSpPr>
        <p:sp>
          <p:nvSpPr>
            <p:cNvPr id="54" name="Rectangle 53"/>
            <p:cNvSpPr/>
            <p:nvPr/>
          </p:nvSpPr>
          <p:spPr>
            <a:xfrm>
              <a:off x="1300551" y="5717904"/>
              <a:ext cx="458780" cy="369332"/>
            </a:xfrm>
            <a:prstGeom prst="rect">
              <a:avLst/>
            </a:prstGeom>
          </p:spPr>
          <p:txBody>
            <a:bodyPr wrap="none">
              <a:spAutoFit/>
            </a:bodyPr>
            <a:lstStyle/>
            <a:p>
              <a:pPr fontAlgn="auto">
                <a:spcBef>
                  <a:spcPts val="0"/>
                </a:spcBef>
                <a:spcAft>
                  <a:spcPts val="1200"/>
                </a:spcAft>
                <a:defRPr/>
              </a:pPr>
              <a:r>
                <a:rPr lang="en-GB" b="1" i="1" kern="0" dirty="0" smtClean="0">
                  <a:solidFill>
                    <a:schemeClr val="accent1">
                      <a:lumMod val="75000"/>
                    </a:schemeClr>
                  </a:solidFill>
                  <a:ea typeface="Times New Roman"/>
                </a:rPr>
                <a:t>No</a:t>
              </a:r>
              <a:endParaRPr lang="en-GB" b="1" i="1" kern="0" dirty="0">
                <a:solidFill>
                  <a:schemeClr val="accent1">
                    <a:lumMod val="75000"/>
                  </a:schemeClr>
                </a:solidFill>
                <a:ea typeface="Times New Roman"/>
              </a:endParaRPr>
            </a:p>
          </p:txBody>
        </p:sp>
        <p:grpSp>
          <p:nvGrpSpPr>
            <p:cNvPr id="53" name="Group 9"/>
            <p:cNvGrpSpPr/>
            <p:nvPr/>
          </p:nvGrpSpPr>
          <p:grpSpPr>
            <a:xfrm>
              <a:off x="398866" y="4925221"/>
              <a:ext cx="1764435" cy="612788"/>
              <a:chOff x="3699038" y="2245624"/>
              <a:chExt cx="1568997" cy="612788"/>
            </a:xfrm>
          </p:grpSpPr>
          <p:sp>
            <p:nvSpPr>
              <p:cNvPr id="59" name="Rectangle 58"/>
              <p:cNvSpPr/>
              <p:nvPr/>
            </p:nvSpPr>
            <p:spPr bwMode="auto">
              <a:xfrm>
                <a:off x="3699038" y="2245624"/>
                <a:ext cx="1568997" cy="612788"/>
              </a:xfrm>
              <a:prstGeom prst="rect">
                <a:avLst/>
              </a:prstGeom>
              <a:gradFill>
                <a:gsLst>
                  <a:gs pos="0">
                    <a:srgbClr val="FFFFCC"/>
                  </a:gs>
                  <a:gs pos="100000">
                    <a:srgbClr val="FFFF99"/>
                  </a:gs>
                </a:gsLst>
                <a:lin ang="16200000" scaled="0"/>
              </a:gra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defRPr/>
                </a:pPr>
                <a:r>
                  <a:rPr lang="en-GB" sz="1000" u="sng" kern="0" dirty="0">
                    <a:solidFill>
                      <a:sysClr val="windowText" lastClr="000000"/>
                    </a:solidFill>
                    <a:latin typeface="Calibri" pitchFamily="34" charset="0"/>
                  </a:rPr>
                  <a:t>«</a:t>
                </a:r>
                <a:r>
                  <a:rPr lang="en-GB" sz="1000" kern="0" dirty="0" err="1">
                    <a:solidFill>
                      <a:sysClr val="windowText" lastClr="000000"/>
                    </a:solidFill>
                    <a:latin typeface="Calibri" pitchFamily="34" charset="0"/>
                  </a:rPr>
                  <a:t>FeatureType</a:t>
                </a:r>
                <a:r>
                  <a:rPr lang="en-GB" sz="1000" kern="0" dirty="0" smtClean="0">
                    <a:solidFill>
                      <a:sysClr val="windowText" lastClr="000000"/>
                    </a:solidFill>
                    <a:latin typeface="Calibri" pitchFamily="34" charset="0"/>
                  </a:rPr>
                  <a:t>»</a:t>
                </a:r>
              </a:p>
              <a:p>
                <a:pPr algn="ctr">
                  <a:spcBef>
                    <a:spcPts val="0"/>
                  </a:spcBef>
                  <a:defRPr/>
                </a:pPr>
                <a:r>
                  <a:rPr lang="en-GB" sz="1000" kern="0" dirty="0" err="1" smtClean="0">
                    <a:solidFill>
                      <a:sysClr val="windowText" lastClr="000000"/>
                    </a:solidFill>
                    <a:latin typeface="Calibri" pitchFamily="34" charset="0"/>
                  </a:rPr>
                  <a:t>SamplingObservation</a:t>
                </a:r>
                <a:endParaRPr lang="en-GB" sz="1000" kern="0" dirty="0">
                  <a:solidFill>
                    <a:sysClr val="windowText" lastClr="000000"/>
                  </a:solidFill>
                  <a:latin typeface="Calibri" pitchFamily="34" charset="0"/>
                </a:endParaRPr>
              </a:p>
            </p:txBody>
          </p:sp>
          <p:sp>
            <p:nvSpPr>
              <p:cNvPr id="60" name="Rectangle 59"/>
              <p:cNvSpPr/>
              <p:nvPr/>
            </p:nvSpPr>
            <p:spPr bwMode="auto">
              <a:xfrm>
                <a:off x="3699039" y="2677027"/>
                <a:ext cx="1568996" cy="181385"/>
              </a:xfrm>
              <a:prstGeom prst="rect">
                <a:avLst/>
              </a:prstGeom>
              <a:no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ctr" anchorCtr="0"/>
              <a:lstStyle/>
              <a:p>
                <a:pPr algn="ctr">
                  <a:spcAft>
                    <a:spcPts val="800"/>
                  </a:spcAft>
                </a:pPr>
                <a:endParaRPr lang="en-GB" sz="1000" u="sng" kern="0" dirty="0">
                  <a:solidFill>
                    <a:sysClr val="windowText" lastClr="000000"/>
                  </a:solidFill>
                </a:endParaRPr>
              </a:p>
            </p:txBody>
          </p:sp>
        </p:grpSp>
        <p:cxnSp>
          <p:nvCxnSpPr>
            <p:cNvPr id="56" name="Straight Arrow Connector 16"/>
            <p:cNvCxnSpPr>
              <a:cxnSpLocks noChangeShapeType="1"/>
              <a:stCxn id="59" idx="0"/>
              <a:endCxn id="6" idx="2"/>
            </p:cNvCxnSpPr>
            <p:nvPr/>
          </p:nvCxnSpPr>
          <p:spPr bwMode="auto">
            <a:xfrm flipH="1" flipV="1">
              <a:off x="1281083" y="2503590"/>
              <a:ext cx="1" cy="2421631"/>
            </a:xfrm>
            <a:prstGeom prst="straightConnector1">
              <a:avLst/>
            </a:prstGeom>
            <a:noFill/>
            <a:ln w="9525" algn="ctr">
              <a:solidFill>
                <a:srgbClr val="000000"/>
              </a:solidFill>
              <a:round/>
              <a:headEnd/>
              <a:tailEnd type="none" w="med" len="med"/>
            </a:ln>
            <a:extLst>
              <a:ext uri="{909E8E84-426E-40DD-AFC4-6F175D3DCCD1}">
                <a14:hiddenFill xmlns="" xmlns:a14="http://schemas.microsoft.com/office/drawing/2010/main">
                  <a:noFill/>
                </a14:hiddenFill>
              </a:ext>
            </a:extLst>
          </p:spPr>
        </p:cxnSp>
        <p:sp>
          <p:nvSpPr>
            <p:cNvPr id="57" name="Isosceles Triangle 56"/>
            <p:cNvSpPr/>
            <p:nvPr/>
          </p:nvSpPr>
          <p:spPr>
            <a:xfrm>
              <a:off x="1187993" y="2490890"/>
              <a:ext cx="190936" cy="252440"/>
            </a:xfrm>
            <a:prstGeom prst="triangle">
              <a:avLst/>
            </a:prstGeom>
            <a:solidFill>
              <a:sysClr val="window" lastClr="FFFFFF"/>
            </a:solidFill>
            <a:ln w="9525" cap="flat" cmpd="sng" algn="ctr">
              <a:solidFill>
                <a:sysClr val="windowText" lastClr="000000"/>
              </a:solidFill>
              <a:prstDash val="solid"/>
            </a:ln>
            <a:effectLst/>
          </p:spPr>
          <p:txBody>
            <a:bodyPr anchor="ctr" anchorCtr="0"/>
            <a:lstStyle/>
            <a:p>
              <a:pPr algn="ctr"/>
              <a:endParaRPr lang="en-GB" sz="1000" u="sng" kern="0">
                <a:solidFill>
                  <a:sysClr val="windowText" lastClr="000000"/>
                </a:solidFill>
              </a:endParaRPr>
            </a:p>
          </p:txBody>
        </p:sp>
        <p:cxnSp>
          <p:nvCxnSpPr>
            <p:cNvPr id="58" name="Elbow Connector 75"/>
            <p:cNvCxnSpPr>
              <a:stCxn id="45" idx="1"/>
              <a:endCxn id="60" idx="2"/>
            </p:cNvCxnSpPr>
            <p:nvPr/>
          </p:nvCxnSpPr>
          <p:spPr>
            <a:xfrm rot="10800000">
              <a:off x="1281084" y="5538010"/>
              <a:ext cx="1886902" cy="803629"/>
            </a:xfrm>
            <a:prstGeom prst="bentConnector2">
              <a:avLst/>
            </a:prstGeom>
            <a:ln w="38100">
              <a:solidFill>
                <a:schemeClr val="accent1">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grpSp>
      <p:grpSp>
        <p:nvGrpSpPr>
          <p:cNvPr id="55" name="Group 96"/>
          <p:cNvGrpSpPr/>
          <p:nvPr/>
        </p:nvGrpSpPr>
        <p:grpSpPr>
          <a:xfrm>
            <a:off x="2163300" y="824693"/>
            <a:ext cx="5494693" cy="5409868"/>
            <a:chOff x="2163300" y="1332693"/>
            <a:chExt cx="5494693" cy="5409868"/>
          </a:xfrm>
        </p:grpSpPr>
        <p:sp>
          <p:nvSpPr>
            <p:cNvPr id="62" name="Rectangle 61"/>
            <p:cNvSpPr/>
            <p:nvPr/>
          </p:nvSpPr>
          <p:spPr>
            <a:xfrm>
              <a:off x="3111094" y="1332693"/>
              <a:ext cx="4193777" cy="461665"/>
            </a:xfrm>
            <a:prstGeom prst="rect">
              <a:avLst/>
            </a:prstGeom>
          </p:spPr>
          <p:txBody>
            <a:bodyPr wrap="none">
              <a:spAutoFit/>
            </a:bodyPr>
            <a:lstStyle/>
            <a:p>
              <a:pPr marL="342900" indent="-342900" algn="l" fontAlgn="auto">
                <a:spcBef>
                  <a:spcPts val="0"/>
                </a:spcBef>
                <a:spcAft>
                  <a:spcPts val="1200"/>
                </a:spcAft>
                <a:buFont typeface="+mj-lt"/>
                <a:buAutoNum type="alphaUcPeriod"/>
                <a:defRPr/>
              </a:pPr>
              <a:r>
                <a:rPr lang="en-GB" i="1" kern="0" dirty="0">
                  <a:solidFill>
                    <a:srgbClr val="595959"/>
                  </a:solidFill>
                  <a:ea typeface="Times New Roman"/>
                </a:rPr>
                <a:t>Vary in space and or time?</a:t>
              </a:r>
            </a:p>
          </p:txBody>
        </p:sp>
        <p:grpSp>
          <p:nvGrpSpPr>
            <p:cNvPr id="61" name="Group 92"/>
            <p:cNvGrpSpPr/>
            <p:nvPr/>
          </p:nvGrpSpPr>
          <p:grpSpPr>
            <a:xfrm>
              <a:off x="2163300" y="2044355"/>
              <a:ext cx="5494693" cy="4698206"/>
              <a:chOff x="2163300" y="2044355"/>
              <a:chExt cx="5494693" cy="4698206"/>
            </a:xfrm>
          </p:grpSpPr>
          <p:cxnSp>
            <p:nvCxnSpPr>
              <p:cNvPr id="64" name="Straight Arrow Connector 63"/>
              <p:cNvCxnSpPr/>
              <p:nvPr/>
            </p:nvCxnSpPr>
            <p:spPr>
              <a:xfrm flipH="1">
                <a:off x="6463041" y="6308469"/>
                <a:ext cx="956088" cy="1"/>
              </a:xfrm>
              <a:prstGeom prst="straightConnector1">
                <a:avLst/>
              </a:prstGeom>
              <a:ln w="38100">
                <a:solidFill>
                  <a:schemeClr val="accent1">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grpSp>
            <p:nvGrpSpPr>
              <p:cNvPr id="63" name="Group 23"/>
              <p:cNvGrpSpPr/>
              <p:nvPr/>
            </p:nvGrpSpPr>
            <p:grpSpPr>
              <a:xfrm>
                <a:off x="4987860" y="3020592"/>
                <a:ext cx="2111294" cy="645184"/>
                <a:chOff x="3699038" y="2224420"/>
                <a:chExt cx="1568997" cy="645184"/>
              </a:xfrm>
            </p:grpSpPr>
            <p:sp>
              <p:nvSpPr>
                <p:cNvPr id="86" name="Rectangle 24"/>
                <p:cNvSpPr/>
                <p:nvPr/>
              </p:nvSpPr>
              <p:spPr bwMode="auto">
                <a:xfrm>
                  <a:off x="3699038" y="2224420"/>
                  <a:ext cx="1568997" cy="645184"/>
                </a:xfrm>
                <a:prstGeom prst="rect">
                  <a:avLst/>
                </a:prstGeom>
                <a:solidFill>
                  <a:sysClr val="window" lastClr="FFFFFF"/>
                </a:soli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defRPr/>
                  </a:pPr>
                  <a:r>
                    <a:rPr lang="en-GB" sz="1000" kern="0" dirty="0" smtClean="0">
                      <a:solidFill>
                        <a:sysClr val="windowText" lastClr="000000"/>
                      </a:solidFill>
                      <a:latin typeface="Calibri" pitchFamily="34" charset="0"/>
                    </a:rPr>
                    <a:t>«</a:t>
                  </a:r>
                  <a:r>
                    <a:rPr lang="en-GB" sz="1000" kern="0" dirty="0" err="1" smtClean="0">
                      <a:solidFill>
                        <a:sysClr val="windowText" lastClr="000000"/>
                      </a:solidFill>
                      <a:latin typeface="Calibri" pitchFamily="34" charset="0"/>
                    </a:rPr>
                    <a:t>FeatureType</a:t>
                  </a:r>
                  <a:r>
                    <a:rPr lang="en-GB" sz="1000" kern="0" dirty="0" smtClean="0">
                      <a:solidFill>
                        <a:sysClr val="windowText" lastClr="000000"/>
                      </a:solidFill>
                      <a:latin typeface="Calibri" pitchFamily="34" charset="0"/>
                    </a:rPr>
                    <a:t>»</a:t>
                  </a:r>
                </a:p>
                <a:p>
                  <a:pPr algn="ctr">
                    <a:spcBef>
                      <a:spcPts val="0"/>
                    </a:spcBef>
                    <a:defRPr/>
                  </a:pPr>
                  <a:r>
                    <a:rPr lang="en-GB" sz="1000" kern="0" dirty="0" err="1" smtClean="0">
                      <a:solidFill>
                        <a:sysClr val="windowText" lastClr="000000"/>
                      </a:solidFill>
                      <a:latin typeface="Calibri" pitchFamily="34" charset="0"/>
                    </a:rPr>
                    <a:t>OM_DiscreteCoverageObservation</a:t>
                  </a:r>
                  <a:endParaRPr lang="en-GB" sz="1000" kern="0" dirty="0">
                    <a:solidFill>
                      <a:sysClr val="windowText" lastClr="000000"/>
                    </a:solidFill>
                    <a:latin typeface="Calibri" pitchFamily="34" charset="0"/>
                  </a:endParaRPr>
                </a:p>
              </p:txBody>
            </p:sp>
            <p:sp>
              <p:nvSpPr>
                <p:cNvPr id="87" name="Rectangle 25"/>
                <p:cNvSpPr/>
                <p:nvPr/>
              </p:nvSpPr>
              <p:spPr bwMode="auto">
                <a:xfrm>
                  <a:off x="3699039" y="2677028"/>
                  <a:ext cx="1568996" cy="192576"/>
                </a:xfrm>
                <a:prstGeom prst="rect">
                  <a:avLst/>
                </a:prstGeom>
                <a:solidFill>
                  <a:sysClr val="window" lastClr="FFFFFF"/>
                </a:solidFill>
                <a:ln w="9525" cap="flat" cmpd="sng" algn="ctr">
                  <a:solidFill>
                    <a:sysClr val="windowText" lastClr="000000"/>
                  </a:solidFill>
                  <a:prstDash val="solid"/>
                </a:ln>
                <a:effectLst/>
              </p:spPr>
              <p:txBody>
                <a:bodyPr anchor="ctr" anchorCtr="0"/>
                <a:lstStyle/>
                <a:p>
                  <a:pPr algn="ctr">
                    <a:defRPr/>
                  </a:pPr>
                  <a:endParaRPr lang="en-GB" sz="1000" u="sng" kern="0" dirty="0">
                    <a:solidFill>
                      <a:sysClr val="windowText" lastClr="000000"/>
                    </a:solidFill>
                  </a:endParaRPr>
                </a:p>
              </p:txBody>
            </p:sp>
          </p:grpSp>
          <p:sp>
            <p:nvSpPr>
              <p:cNvPr id="66" name="TextBox 31"/>
              <p:cNvSpPr txBox="1"/>
              <p:nvPr/>
            </p:nvSpPr>
            <p:spPr bwMode="auto">
              <a:xfrm>
                <a:off x="4987861" y="3665776"/>
                <a:ext cx="728084" cy="230832"/>
              </a:xfrm>
              <a:prstGeom prst="rect">
                <a:avLst/>
              </a:prstGeom>
              <a:noFill/>
            </p:spPr>
            <p:txBody>
              <a:bodyPr wrap="none">
                <a:spAutoFit/>
              </a:bodyPr>
              <a:lstStyle/>
              <a:p>
                <a:pPr>
                  <a:defRPr/>
                </a:pPr>
                <a:r>
                  <a:rPr lang="en-GB" sz="900" i="1" kern="0" dirty="0">
                    <a:solidFill>
                      <a:schemeClr val="bg1">
                        <a:lumMod val="75000"/>
                      </a:schemeClr>
                    </a:solidFill>
                  </a:rPr>
                  <a:t>(</a:t>
                </a:r>
                <a:r>
                  <a:rPr lang="en-GB" sz="900" i="1" kern="0" dirty="0" smtClean="0">
                    <a:solidFill>
                      <a:schemeClr val="bg1">
                        <a:lumMod val="75000"/>
                      </a:schemeClr>
                    </a:solidFill>
                  </a:rPr>
                  <a:t>ISO 19156)</a:t>
                </a:r>
                <a:endParaRPr lang="en-GB" sz="900" i="1" kern="0" dirty="0">
                  <a:solidFill>
                    <a:schemeClr val="bg1">
                      <a:lumMod val="75000"/>
                    </a:schemeClr>
                  </a:solidFill>
                </a:endParaRPr>
              </a:p>
            </p:txBody>
          </p:sp>
          <p:sp>
            <p:nvSpPr>
              <p:cNvPr id="67" name="TextBox 43"/>
              <p:cNvSpPr txBox="1"/>
              <p:nvPr/>
            </p:nvSpPr>
            <p:spPr bwMode="auto">
              <a:xfrm>
                <a:off x="6797210" y="3752475"/>
                <a:ext cx="511679" cy="230832"/>
              </a:xfrm>
              <a:prstGeom prst="rect">
                <a:avLst/>
              </a:prstGeom>
              <a:noFill/>
            </p:spPr>
            <p:txBody>
              <a:bodyPr wrap="none">
                <a:spAutoFit/>
              </a:bodyPr>
              <a:lstStyle/>
              <a:p>
                <a:pPr>
                  <a:defRPr/>
                </a:pPr>
                <a:r>
                  <a:rPr lang="en-GB" sz="900" kern="0" dirty="0" smtClean="0">
                    <a:solidFill>
                      <a:sysClr val="windowText" lastClr="000000"/>
                    </a:solidFill>
                  </a:rPr>
                  <a:t>+result</a:t>
                </a:r>
                <a:endParaRPr lang="en-GB" sz="900" kern="0" dirty="0">
                  <a:solidFill>
                    <a:sysClr val="windowText" lastClr="000000"/>
                  </a:solidFill>
                </a:endParaRPr>
              </a:p>
            </p:txBody>
          </p:sp>
          <p:cxnSp>
            <p:nvCxnSpPr>
              <p:cNvPr id="68" name="Straight Arrow Connector 16"/>
              <p:cNvCxnSpPr>
                <a:cxnSpLocks noChangeShapeType="1"/>
              </p:cNvCxnSpPr>
              <p:nvPr/>
            </p:nvCxnSpPr>
            <p:spPr bwMode="auto">
              <a:xfrm>
                <a:off x="6790865" y="3661973"/>
                <a:ext cx="0" cy="304260"/>
              </a:xfrm>
              <a:prstGeom prst="straightConnector1">
                <a:avLst/>
              </a:prstGeom>
              <a:noFill/>
              <a:ln w="9525" algn="ctr">
                <a:solidFill>
                  <a:srgbClr val="000000"/>
                </a:solidFill>
                <a:round/>
                <a:headEnd/>
                <a:tailEnd type="arrow" w="med" len="med"/>
              </a:ln>
              <a:extLst>
                <a:ext uri="{909E8E84-426E-40DD-AFC4-6F175D3DCCD1}">
                  <a14:hiddenFill xmlns="" xmlns:a14="http://schemas.microsoft.com/office/drawing/2010/main">
                    <a:noFill/>
                  </a14:hiddenFill>
                </a:ext>
              </a:extLst>
            </p:spPr>
          </p:cxnSp>
          <p:grpSp>
            <p:nvGrpSpPr>
              <p:cNvPr id="65" name="Group 50"/>
              <p:cNvGrpSpPr/>
              <p:nvPr/>
            </p:nvGrpSpPr>
            <p:grpSpPr>
              <a:xfrm>
                <a:off x="6349756" y="3966232"/>
                <a:ext cx="1308237" cy="727607"/>
                <a:chOff x="2956535" y="223624"/>
                <a:chExt cx="882217" cy="727607"/>
              </a:xfrm>
            </p:grpSpPr>
            <p:grpSp>
              <p:nvGrpSpPr>
                <p:cNvPr id="69" name="Group 51"/>
                <p:cNvGrpSpPr/>
                <p:nvPr/>
              </p:nvGrpSpPr>
              <p:grpSpPr>
                <a:xfrm>
                  <a:off x="2956535" y="223624"/>
                  <a:ext cx="882217" cy="496775"/>
                  <a:chOff x="3699038" y="2224419"/>
                  <a:chExt cx="1568997" cy="496775"/>
                </a:xfrm>
              </p:grpSpPr>
              <p:sp>
                <p:nvSpPr>
                  <p:cNvPr id="84" name="Rectangle 53"/>
                  <p:cNvSpPr/>
                  <p:nvPr/>
                </p:nvSpPr>
                <p:spPr bwMode="auto">
                  <a:xfrm>
                    <a:off x="3699038" y="2224419"/>
                    <a:ext cx="1568997" cy="496775"/>
                  </a:xfrm>
                  <a:prstGeom prst="rect">
                    <a:avLst/>
                  </a:prstGeom>
                  <a:solidFill>
                    <a:sysClr val="window" lastClr="FFFFFF"/>
                  </a:soli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defRPr/>
                    </a:pPr>
                    <a:r>
                      <a:rPr lang="en-GB" sz="1000" kern="0" dirty="0" smtClean="0">
                        <a:solidFill>
                          <a:sysClr val="windowText" lastClr="000000"/>
                        </a:solidFill>
                        <a:latin typeface="Calibri" pitchFamily="34" charset="0"/>
                      </a:rPr>
                      <a:t>«Type»</a:t>
                    </a:r>
                  </a:p>
                  <a:p>
                    <a:pPr algn="ctr">
                      <a:spcBef>
                        <a:spcPts val="0"/>
                      </a:spcBef>
                      <a:defRPr/>
                    </a:pPr>
                    <a:r>
                      <a:rPr lang="en-GB" sz="1000" kern="0" dirty="0" err="1" smtClean="0">
                        <a:solidFill>
                          <a:sysClr val="windowText" lastClr="000000"/>
                        </a:solidFill>
                        <a:latin typeface="Calibri" pitchFamily="34" charset="0"/>
                      </a:rPr>
                      <a:t>CV_DiscreteCoverage</a:t>
                    </a:r>
                    <a:endParaRPr lang="en-GB" sz="1000" kern="0" dirty="0">
                      <a:solidFill>
                        <a:sysClr val="windowText" lastClr="000000"/>
                      </a:solidFill>
                      <a:latin typeface="Calibri" pitchFamily="34" charset="0"/>
                    </a:endParaRPr>
                  </a:p>
                </p:txBody>
              </p:sp>
              <p:sp>
                <p:nvSpPr>
                  <p:cNvPr id="85" name="Rectangle 54"/>
                  <p:cNvSpPr/>
                  <p:nvPr/>
                </p:nvSpPr>
                <p:spPr bwMode="auto">
                  <a:xfrm>
                    <a:off x="3699040" y="2597516"/>
                    <a:ext cx="1568995" cy="123678"/>
                  </a:xfrm>
                  <a:prstGeom prst="rect">
                    <a:avLst/>
                  </a:prstGeom>
                  <a:solidFill>
                    <a:sysClr val="window" lastClr="FFFFFF"/>
                  </a:solidFill>
                  <a:ln w="9525" cap="flat" cmpd="sng" algn="ctr">
                    <a:solidFill>
                      <a:sysClr val="windowText" lastClr="000000"/>
                    </a:solidFill>
                    <a:prstDash val="solid"/>
                  </a:ln>
                  <a:effectLst/>
                </p:spPr>
                <p:txBody>
                  <a:bodyPr anchor="ctr" anchorCtr="0"/>
                  <a:lstStyle/>
                  <a:p>
                    <a:pPr algn="ctr">
                      <a:defRPr/>
                    </a:pPr>
                    <a:endParaRPr lang="en-GB" sz="1000" u="sng" kern="0" dirty="0">
                      <a:solidFill>
                        <a:sysClr val="windowText" lastClr="000000"/>
                      </a:solidFill>
                    </a:endParaRPr>
                  </a:p>
                </p:txBody>
              </p:sp>
            </p:grpSp>
            <p:sp>
              <p:nvSpPr>
                <p:cNvPr id="83" name="TextBox 52"/>
                <p:cNvSpPr txBox="1"/>
                <p:nvPr/>
              </p:nvSpPr>
              <p:spPr bwMode="auto">
                <a:xfrm>
                  <a:off x="2956536" y="720399"/>
                  <a:ext cx="489907" cy="230832"/>
                </a:xfrm>
                <a:prstGeom prst="rect">
                  <a:avLst/>
                </a:prstGeom>
                <a:noFill/>
              </p:spPr>
              <p:txBody>
                <a:bodyPr wrap="none">
                  <a:spAutoFit/>
                </a:bodyPr>
                <a:lstStyle/>
                <a:p>
                  <a:pPr>
                    <a:defRPr/>
                  </a:pPr>
                  <a:r>
                    <a:rPr lang="en-GB" sz="900" i="1" kern="0" dirty="0">
                      <a:solidFill>
                        <a:schemeClr val="bg1">
                          <a:lumMod val="75000"/>
                        </a:schemeClr>
                      </a:solidFill>
                    </a:rPr>
                    <a:t>(</a:t>
                  </a:r>
                  <a:r>
                    <a:rPr lang="en-GB" sz="900" i="1" kern="0" dirty="0" smtClean="0">
                      <a:solidFill>
                        <a:schemeClr val="bg1">
                          <a:lumMod val="75000"/>
                        </a:schemeClr>
                      </a:solidFill>
                    </a:rPr>
                    <a:t>ISO 19123)</a:t>
                  </a:r>
                  <a:endParaRPr lang="en-GB" sz="900" i="1" kern="0" dirty="0">
                    <a:solidFill>
                      <a:schemeClr val="bg1">
                        <a:lumMod val="75000"/>
                      </a:schemeClr>
                    </a:solidFill>
                  </a:endParaRPr>
                </a:p>
              </p:txBody>
            </p:sp>
          </p:grpSp>
          <p:cxnSp>
            <p:nvCxnSpPr>
              <p:cNvPr id="70" name="Elbow Connector 56"/>
              <p:cNvCxnSpPr>
                <a:stCxn id="6" idx="3"/>
                <a:endCxn id="86" idx="0"/>
              </p:cNvCxnSpPr>
              <p:nvPr/>
            </p:nvCxnSpPr>
            <p:spPr>
              <a:xfrm>
                <a:off x="2163300" y="2140908"/>
                <a:ext cx="3880207" cy="879684"/>
              </a:xfrm>
              <a:prstGeom prst="bentConnector2">
                <a:avLst/>
              </a:prstGeom>
              <a:noFill/>
              <a:ln w="9525" algn="ctr">
                <a:solidFill>
                  <a:srgbClr val="000000"/>
                </a:solidFill>
                <a:round/>
                <a:headEnd/>
                <a:tailEnd type="none" w="med" len="med"/>
              </a:ln>
              <a:extLst>
                <a:ext uri="{909E8E84-426E-40DD-AFC4-6F175D3DCCD1}">
                  <a14:hiddenFill xmlns="" xmlns:a14="http://schemas.microsoft.com/office/drawing/2010/main">
                    <a:noFill/>
                  </a14:hiddenFill>
                </a:ext>
              </a:extLst>
            </p:spPr>
          </p:cxnSp>
          <p:sp>
            <p:nvSpPr>
              <p:cNvPr id="71" name="Isosceles Triangle 70"/>
              <p:cNvSpPr/>
              <p:nvPr/>
            </p:nvSpPr>
            <p:spPr>
              <a:xfrm rot="16200000">
                <a:off x="2194052" y="2013603"/>
                <a:ext cx="190936" cy="252440"/>
              </a:xfrm>
              <a:prstGeom prst="triangle">
                <a:avLst/>
              </a:prstGeom>
              <a:solidFill>
                <a:sysClr val="window" lastClr="FFFFFF"/>
              </a:solidFill>
              <a:ln w="9525" cap="flat" cmpd="sng" algn="ctr">
                <a:solidFill>
                  <a:sysClr val="windowText" lastClr="000000"/>
                </a:solidFill>
                <a:prstDash val="solid"/>
              </a:ln>
              <a:effectLst/>
            </p:spPr>
            <p:txBody>
              <a:bodyPr anchor="ctr" anchorCtr="0"/>
              <a:lstStyle/>
              <a:p>
                <a:pPr algn="ctr"/>
                <a:endParaRPr lang="en-GB" sz="1000" u="sng" kern="0">
                  <a:solidFill>
                    <a:sysClr val="windowText" lastClr="000000"/>
                  </a:solidFill>
                </a:endParaRPr>
              </a:p>
            </p:txBody>
          </p:sp>
          <p:grpSp>
            <p:nvGrpSpPr>
              <p:cNvPr id="72" name="Group 86"/>
              <p:cNvGrpSpPr/>
              <p:nvPr/>
            </p:nvGrpSpPr>
            <p:grpSpPr>
              <a:xfrm>
                <a:off x="5623973" y="5899779"/>
                <a:ext cx="839068" cy="842782"/>
                <a:chOff x="5623973" y="5899779"/>
                <a:chExt cx="839068" cy="842782"/>
              </a:xfrm>
            </p:grpSpPr>
            <p:sp>
              <p:nvSpPr>
                <p:cNvPr id="80" name="Diamond 60"/>
                <p:cNvSpPr/>
                <p:nvPr/>
              </p:nvSpPr>
              <p:spPr>
                <a:xfrm>
                  <a:off x="5623973" y="5899779"/>
                  <a:ext cx="839068" cy="842782"/>
                </a:xfrm>
                <a:prstGeom prst="diamond">
                  <a:avLst/>
                </a:prstGeom>
                <a:gradFill rotWithShape="1">
                  <a:gsLst>
                    <a:gs pos="0">
                      <a:schemeClr val="accent1">
                        <a:lumMod val="50000"/>
                      </a:schemeClr>
                    </a:gs>
                    <a:gs pos="80000">
                      <a:schemeClr val="accent1">
                        <a:lumMod val="75000"/>
                      </a:schemeClr>
                    </a:gs>
                    <a:gs pos="100000">
                      <a:schemeClr val="accent1">
                        <a:lumMod val="75000"/>
                      </a:schemeClr>
                    </a:gs>
                  </a:gsLst>
                  <a:lin ang="16200000" scaled="0"/>
                </a:gradFill>
                <a:ln w="9525" cap="flat" cmpd="sng" algn="ctr">
                  <a:solidFill>
                    <a:srgbClr val="003300"/>
                  </a:solidFill>
                  <a:prstDash val="solid"/>
                </a:ln>
                <a:effectLst>
                  <a:outerShdw blurRad="40000" dist="23000" dir="5400000" rotWithShape="0">
                    <a:srgbClr val="000000">
                      <a:alpha val="35000"/>
                    </a:srgbClr>
                  </a:outerShdw>
                </a:effectLst>
              </p:spPr>
              <p:txBody>
                <a:bodyPr anchor="ctr"/>
                <a:lstStyle/>
                <a:p>
                  <a:pPr algn="ctr" fontAlgn="auto">
                    <a:spcBef>
                      <a:spcPts val="0"/>
                    </a:spcBef>
                    <a:spcAft>
                      <a:spcPts val="0"/>
                    </a:spcAft>
                    <a:defRPr/>
                  </a:pPr>
                  <a:endParaRPr lang="en-GB" kern="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a:endParaRPr>
                </a:p>
              </p:txBody>
            </p:sp>
            <p:sp>
              <p:nvSpPr>
                <p:cNvPr id="81" name="TextBox 62"/>
                <p:cNvSpPr txBox="1"/>
                <p:nvPr/>
              </p:nvSpPr>
              <p:spPr>
                <a:xfrm>
                  <a:off x="5826941" y="6036550"/>
                  <a:ext cx="433132" cy="584775"/>
                </a:xfrm>
                <a:prstGeom prst="rect">
                  <a:avLst/>
                </a:prstGeom>
                <a:noFill/>
              </p:spPr>
              <p:txBody>
                <a:bodyPr wrap="none" rtlCol="0">
                  <a:spAutoFit/>
                </a:bodyPr>
                <a:lstStyle/>
                <a:p>
                  <a:r>
                    <a:rPr lang="en-GB" sz="3200" b="1" dirty="0" smtClean="0">
                      <a:solidFill>
                        <a:schemeClr val="bg1"/>
                      </a:solidFill>
                    </a:rPr>
                    <a:t>A</a:t>
                  </a:r>
                  <a:endParaRPr lang="en-GB" sz="3200" b="1" dirty="0">
                    <a:solidFill>
                      <a:schemeClr val="bg1"/>
                    </a:solidFill>
                  </a:endParaRPr>
                </a:p>
              </p:txBody>
            </p:sp>
          </p:grpSp>
          <p:sp>
            <p:nvSpPr>
              <p:cNvPr id="73" name="Rectangle 72"/>
              <p:cNvSpPr/>
              <p:nvPr/>
            </p:nvSpPr>
            <p:spPr>
              <a:xfrm>
                <a:off x="6111481" y="5717904"/>
                <a:ext cx="510076" cy="369332"/>
              </a:xfrm>
              <a:prstGeom prst="rect">
                <a:avLst/>
              </a:prstGeom>
            </p:spPr>
            <p:txBody>
              <a:bodyPr wrap="none">
                <a:spAutoFit/>
              </a:bodyPr>
              <a:lstStyle/>
              <a:p>
                <a:pPr fontAlgn="auto">
                  <a:spcBef>
                    <a:spcPts val="0"/>
                  </a:spcBef>
                  <a:spcAft>
                    <a:spcPts val="1200"/>
                  </a:spcAft>
                  <a:defRPr/>
                </a:pPr>
                <a:r>
                  <a:rPr lang="en-GB" b="1" i="1" kern="0" dirty="0" smtClean="0">
                    <a:solidFill>
                      <a:schemeClr val="accent1">
                        <a:lumMod val="75000"/>
                      </a:schemeClr>
                    </a:solidFill>
                    <a:ea typeface="Times New Roman"/>
                  </a:rPr>
                  <a:t>Yes</a:t>
                </a:r>
                <a:endParaRPr lang="en-GB" b="1" i="1" kern="0" dirty="0">
                  <a:solidFill>
                    <a:schemeClr val="accent1">
                      <a:lumMod val="75000"/>
                    </a:schemeClr>
                  </a:solidFill>
                  <a:ea typeface="Times New Roman"/>
                </a:endParaRPr>
              </a:p>
            </p:txBody>
          </p:sp>
          <p:grpSp>
            <p:nvGrpSpPr>
              <p:cNvPr id="74" name="Group 26"/>
              <p:cNvGrpSpPr/>
              <p:nvPr/>
            </p:nvGrpSpPr>
            <p:grpSpPr>
              <a:xfrm>
                <a:off x="5071463" y="4925221"/>
                <a:ext cx="1944088" cy="645184"/>
                <a:chOff x="3699038" y="2224420"/>
                <a:chExt cx="1568997" cy="645184"/>
              </a:xfrm>
            </p:grpSpPr>
            <p:sp>
              <p:nvSpPr>
                <p:cNvPr id="78" name="Rectangle 27"/>
                <p:cNvSpPr/>
                <p:nvPr/>
              </p:nvSpPr>
              <p:spPr bwMode="auto">
                <a:xfrm>
                  <a:off x="3699038" y="2224420"/>
                  <a:ext cx="1568997" cy="645184"/>
                </a:xfrm>
                <a:prstGeom prst="rect">
                  <a:avLst/>
                </a:prstGeom>
                <a:gradFill>
                  <a:gsLst>
                    <a:gs pos="0">
                      <a:srgbClr val="FFFFCC"/>
                    </a:gs>
                    <a:gs pos="100000">
                      <a:srgbClr val="FFFF99"/>
                    </a:gs>
                  </a:gsLst>
                  <a:lin ang="16200000" scaled="0"/>
                </a:gradFill>
                <a:ln w="9525" cap="flat" cmpd="sng" algn="ctr">
                  <a:solidFill>
                    <a:sysClr val="windowText" lastClr="000000"/>
                  </a:solidFill>
                  <a:prstDash val="solid"/>
                </a:ln>
                <a:effectLst>
                  <a:outerShdw blurRad="63500" sx="102000" sy="102000" algn="ctr" rotWithShape="0">
                    <a:prstClr val="black">
                      <a:alpha val="40000"/>
                    </a:prstClr>
                  </a:outerShdw>
                </a:effectLst>
              </p:spPr>
              <p:txBody>
                <a:bodyPr anchor="t" anchorCtr="0"/>
                <a:lstStyle/>
                <a:p>
                  <a:pPr algn="ctr">
                    <a:spcBef>
                      <a:spcPts val="0"/>
                    </a:spcBef>
                  </a:pPr>
                  <a:r>
                    <a:rPr lang="en-GB" sz="1000" kern="0" dirty="0">
                      <a:solidFill>
                        <a:sysClr val="windowText" lastClr="000000"/>
                      </a:solidFill>
                      <a:latin typeface="Calibri" pitchFamily="34" charset="0"/>
                    </a:rPr>
                    <a:t>«</a:t>
                  </a:r>
                  <a:r>
                    <a:rPr lang="en-GB" sz="1000" kern="0" dirty="0" err="1">
                      <a:solidFill>
                        <a:sysClr val="windowText" lastClr="000000"/>
                      </a:solidFill>
                      <a:latin typeface="Calibri" pitchFamily="34" charset="0"/>
                    </a:rPr>
                    <a:t>FeatureType</a:t>
                  </a:r>
                  <a:r>
                    <a:rPr lang="en-GB" sz="1000" kern="0" dirty="0">
                      <a:solidFill>
                        <a:sysClr val="windowText" lastClr="000000"/>
                      </a:solidFill>
                      <a:latin typeface="Calibri" pitchFamily="34" charset="0"/>
                    </a:rPr>
                    <a:t>»</a:t>
                  </a:r>
                </a:p>
                <a:p>
                  <a:pPr algn="ctr">
                    <a:spcBef>
                      <a:spcPts val="0"/>
                    </a:spcBef>
                  </a:pPr>
                  <a:r>
                    <a:rPr lang="en-GB" sz="1000" kern="0" dirty="0" err="1">
                      <a:solidFill>
                        <a:sysClr val="windowText" lastClr="000000"/>
                      </a:solidFill>
                      <a:latin typeface="Calibri" pitchFamily="34" charset="0"/>
                    </a:rPr>
                    <a:t>SamplingCoverageMeasurement</a:t>
                  </a:r>
                  <a:endParaRPr lang="en-GB" sz="1000" kern="0" dirty="0">
                    <a:solidFill>
                      <a:sysClr val="windowText" lastClr="000000"/>
                    </a:solidFill>
                    <a:latin typeface="Calibri" pitchFamily="34" charset="0"/>
                  </a:endParaRPr>
                </a:p>
              </p:txBody>
            </p:sp>
            <p:sp>
              <p:nvSpPr>
                <p:cNvPr id="79" name="Rectangle 28"/>
                <p:cNvSpPr/>
                <p:nvPr/>
              </p:nvSpPr>
              <p:spPr bwMode="auto">
                <a:xfrm>
                  <a:off x="3699039" y="2677028"/>
                  <a:ext cx="1568996" cy="192576"/>
                </a:xfrm>
                <a:prstGeom prst="rect">
                  <a:avLst/>
                </a:prstGeom>
                <a:noFill/>
                <a:ln w="9525" cap="flat" cmpd="sng" algn="ctr">
                  <a:solidFill>
                    <a:sysClr val="windowText" lastClr="000000"/>
                  </a:solidFill>
                  <a:prstDash val="solid"/>
                </a:ln>
                <a:effectLst/>
              </p:spPr>
              <p:txBody>
                <a:bodyPr anchor="ctr" anchorCtr="0"/>
                <a:lstStyle/>
                <a:p>
                  <a:pPr algn="ctr">
                    <a:defRPr/>
                  </a:pPr>
                  <a:endParaRPr lang="en-GB" sz="1000" u="sng" kern="0" dirty="0">
                    <a:solidFill>
                      <a:sysClr val="windowText" lastClr="000000"/>
                    </a:solidFill>
                  </a:endParaRPr>
                </a:p>
              </p:txBody>
            </p:sp>
          </p:grpSp>
          <p:cxnSp>
            <p:nvCxnSpPr>
              <p:cNvPr id="75" name="Straight Arrow Connector 16"/>
              <p:cNvCxnSpPr>
                <a:cxnSpLocks noChangeShapeType="1"/>
                <a:endCxn id="67" idx="2"/>
              </p:cNvCxnSpPr>
              <p:nvPr/>
            </p:nvCxnSpPr>
            <p:spPr bwMode="auto">
              <a:xfrm flipV="1">
                <a:off x="6043507" y="3665776"/>
                <a:ext cx="1" cy="1259445"/>
              </a:xfrm>
              <a:prstGeom prst="straightConnector1">
                <a:avLst/>
              </a:prstGeom>
              <a:noFill/>
              <a:ln w="9525" algn="ctr">
                <a:solidFill>
                  <a:srgbClr val="000000"/>
                </a:solidFill>
                <a:round/>
                <a:headEnd/>
                <a:tailEnd type="none" w="med" len="med"/>
              </a:ln>
              <a:extLst>
                <a:ext uri="{909E8E84-426E-40DD-AFC4-6F175D3DCCD1}">
                  <a14:hiddenFill xmlns="" xmlns:a14="http://schemas.microsoft.com/office/drawing/2010/main">
                    <a:noFill/>
                  </a14:hiddenFill>
                </a:ext>
              </a:extLst>
            </p:spPr>
          </p:cxnSp>
          <p:sp>
            <p:nvSpPr>
              <p:cNvPr id="76" name="Isosceles Triangle 75"/>
              <p:cNvSpPr/>
              <p:nvPr/>
            </p:nvSpPr>
            <p:spPr>
              <a:xfrm>
                <a:off x="5952700" y="3668665"/>
                <a:ext cx="190936" cy="252440"/>
              </a:xfrm>
              <a:prstGeom prst="triangle">
                <a:avLst/>
              </a:prstGeom>
              <a:solidFill>
                <a:sysClr val="window" lastClr="FFFFFF"/>
              </a:solidFill>
              <a:ln w="9525" cap="flat" cmpd="sng" algn="ctr">
                <a:solidFill>
                  <a:sysClr val="windowText" lastClr="000000"/>
                </a:solidFill>
                <a:prstDash val="solid"/>
              </a:ln>
              <a:effectLst/>
            </p:spPr>
            <p:txBody>
              <a:bodyPr anchor="ctr" anchorCtr="0"/>
              <a:lstStyle/>
              <a:p>
                <a:pPr algn="ctr"/>
                <a:endParaRPr lang="en-GB" sz="1000" u="sng" kern="0">
                  <a:solidFill>
                    <a:sysClr val="windowText" lastClr="000000"/>
                  </a:solidFill>
                </a:endParaRPr>
              </a:p>
            </p:txBody>
          </p:sp>
          <p:cxnSp>
            <p:nvCxnSpPr>
              <p:cNvPr id="77" name="Straight Arrow Connector 69"/>
              <p:cNvCxnSpPr/>
              <p:nvPr/>
            </p:nvCxnSpPr>
            <p:spPr>
              <a:xfrm flipV="1">
                <a:off x="6043507" y="5570405"/>
                <a:ext cx="0" cy="329374"/>
              </a:xfrm>
              <a:prstGeom prst="straightConnector1">
                <a:avLst/>
              </a:prstGeom>
              <a:ln w="38100">
                <a:solidFill>
                  <a:schemeClr val="accent1">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grpSp>
      </p:grpSp>
      <p:sp>
        <p:nvSpPr>
          <p:cNvPr id="88" name="Oval 87"/>
          <p:cNvSpPr>
            <a:spLocks noChangeArrowheads="1"/>
          </p:cNvSpPr>
          <p:nvPr/>
        </p:nvSpPr>
        <p:spPr bwMode="auto">
          <a:xfrm>
            <a:off x="6186886" y="3225378"/>
            <a:ext cx="1646200" cy="964636"/>
          </a:xfrm>
          <a:prstGeom prst="ellipse">
            <a:avLst/>
          </a:prstGeom>
          <a:noFill/>
          <a:ln w="76200" cap="flat" cmpd="sng" algn="ctr">
            <a:gradFill>
              <a:gsLst>
                <a:gs pos="0">
                  <a:srgbClr val="C00000">
                    <a:alpha val="40000"/>
                  </a:srgbClr>
                </a:gs>
                <a:gs pos="100000">
                  <a:srgbClr val="FF0000">
                    <a:alpha val="40000"/>
                  </a:srgbClr>
                </a:gs>
              </a:gsLst>
              <a:lin ang="5400000" scaled="0"/>
            </a:gradFill>
            <a:prstDash val="solid"/>
            <a:round/>
            <a:headEnd type="none" w="med" len="med"/>
            <a:tailEnd type="none" w="med" len="med"/>
          </a:ln>
          <a:effectLst>
            <a:outerShdw blurRad="50800" dist="38100" dir="5400000" algn="t" rotWithShape="0">
              <a:prstClr val="black">
                <a:alpha val="40000"/>
              </a:prstClr>
            </a:outerShdw>
          </a:effectLst>
          <a:extLst/>
        </p:spPr>
        <p:txBody>
          <a:bodyPr/>
          <a:lstStyle>
            <a:defPPr>
              <a:defRPr lang="en-US"/>
            </a:defPPr>
            <a:lvl1pPr algn="l" rtl="0" eaLnBrk="0" fontAlgn="base" hangingPunct="0">
              <a:spcBef>
                <a:spcPct val="0"/>
              </a:spcBef>
              <a:spcAft>
                <a:spcPct val="0"/>
              </a:spcAft>
              <a:defRPr sz="1000" b="1" kern="1200">
                <a:solidFill>
                  <a:schemeClr val="tx1"/>
                </a:solidFill>
                <a:latin typeface="CG Times"/>
                <a:ea typeface="+mn-ea"/>
                <a:cs typeface="+mn-cs"/>
              </a:defRPr>
            </a:lvl1pPr>
            <a:lvl2pPr marL="457200" algn="l" rtl="0" eaLnBrk="0" fontAlgn="base" hangingPunct="0">
              <a:spcBef>
                <a:spcPct val="0"/>
              </a:spcBef>
              <a:spcAft>
                <a:spcPct val="0"/>
              </a:spcAft>
              <a:defRPr sz="1000" b="1" kern="1200">
                <a:solidFill>
                  <a:schemeClr val="tx1"/>
                </a:solidFill>
                <a:latin typeface="CG Times"/>
                <a:ea typeface="+mn-ea"/>
                <a:cs typeface="+mn-cs"/>
              </a:defRPr>
            </a:lvl2pPr>
            <a:lvl3pPr marL="914400" algn="l" rtl="0" eaLnBrk="0" fontAlgn="base" hangingPunct="0">
              <a:spcBef>
                <a:spcPct val="0"/>
              </a:spcBef>
              <a:spcAft>
                <a:spcPct val="0"/>
              </a:spcAft>
              <a:defRPr sz="1000" b="1" kern="1200">
                <a:solidFill>
                  <a:schemeClr val="tx1"/>
                </a:solidFill>
                <a:latin typeface="CG Times"/>
                <a:ea typeface="+mn-ea"/>
                <a:cs typeface="+mn-cs"/>
              </a:defRPr>
            </a:lvl3pPr>
            <a:lvl4pPr marL="1371600" algn="l" rtl="0" eaLnBrk="0" fontAlgn="base" hangingPunct="0">
              <a:spcBef>
                <a:spcPct val="0"/>
              </a:spcBef>
              <a:spcAft>
                <a:spcPct val="0"/>
              </a:spcAft>
              <a:defRPr sz="1000" b="1" kern="1200">
                <a:solidFill>
                  <a:schemeClr val="tx1"/>
                </a:solidFill>
                <a:latin typeface="CG Times"/>
                <a:ea typeface="+mn-ea"/>
                <a:cs typeface="+mn-cs"/>
              </a:defRPr>
            </a:lvl4pPr>
            <a:lvl5pPr marL="1828800" algn="l" rtl="0" eaLnBrk="0" fontAlgn="base" hangingPunct="0">
              <a:spcBef>
                <a:spcPct val="0"/>
              </a:spcBef>
              <a:spcAft>
                <a:spcPct val="0"/>
              </a:spcAft>
              <a:defRPr sz="1000" b="1" kern="1200">
                <a:solidFill>
                  <a:schemeClr val="tx1"/>
                </a:solidFill>
                <a:latin typeface="CG Times"/>
                <a:ea typeface="+mn-ea"/>
                <a:cs typeface="+mn-cs"/>
              </a:defRPr>
            </a:lvl5pPr>
            <a:lvl6pPr marL="2286000" algn="l" defTabSz="914400" rtl="0" eaLnBrk="1" latinLnBrk="0" hangingPunct="1">
              <a:defRPr sz="1000" b="1" kern="1200">
                <a:solidFill>
                  <a:schemeClr val="tx1"/>
                </a:solidFill>
                <a:latin typeface="CG Times"/>
                <a:ea typeface="+mn-ea"/>
                <a:cs typeface="+mn-cs"/>
              </a:defRPr>
            </a:lvl6pPr>
            <a:lvl7pPr marL="2743200" algn="l" defTabSz="914400" rtl="0" eaLnBrk="1" latinLnBrk="0" hangingPunct="1">
              <a:defRPr sz="1000" b="1" kern="1200">
                <a:solidFill>
                  <a:schemeClr val="tx1"/>
                </a:solidFill>
                <a:latin typeface="CG Times"/>
                <a:ea typeface="+mn-ea"/>
                <a:cs typeface="+mn-cs"/>
              </a:defRPr>
            </a:lvl7pPr>
            <a:lvl8pPr marL="3200400" algn="l" defTabSz="914400" rtl="0" eaLnBrk="1" latinLnBrk="0" hangingPunct="1">
              <a:defRPr sz="1000" b="1" kern="1200">
                <a:solidFill>
                  <a:schemeClr val="tx1"/>
                </a:solidFill>
                <a:latin typeface="CG Times"/>
                <a:ea typeface="+mn-ea"/>
                <a:cs typeface="+mn-cs"/>
              </a:defRPr>
            </a:lvl8pPr>
            <a:lvl9pPr marL="3657600" algn="l" defTabSz="914400" rtl="0" eaLnBrk="1" latinLnBrk="0" hangingPunct="1">
              <a:defRPr sz="1000" b="1" kern="1200">
                <a:solidFill>
                  <a:schemeClr val="tx1"/>
                </a:solidFill>
                <a:latin typeface="CG Times"/>
                <a:ea typeface="+mn-ea"/>
                <a:cs typeface="+mn-cs"/>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endParaRPr kumimoji="0" lang="en-GB" sz="5400" b="1" i="0" u="none" strike="noStrike" kern="0" cap="none" spc="0" normalizeH="0" baseline="0" noProof="0">
              <a:ln>
                <a:noFill/>
              </a:ln>
              <a:solidFill>
                <a:srgbClr val="FFFFFF"/>
              </a:solidFill>
              <a:effectLst/>
              <a:uLnTx/>
              <a:uFillTx/>
              <a:latin typeface="CG Times"/>
              <a:ea typeface="+mn-ea"/>
              <a:cs typeface="+mn-cs"/>
            </a:endParaRPr>
          </a:p>
        </p:txBody>
      </p:sp>
      <p:sp>
        <p:nvSpPr>
          <p:cNvPr id="89" name="Oval 88"/>
          <p:cNvSpPr>
            <a:spLocks noChangeArrowheads="1"/>
          </p:cNvSpPr>
          <p:nvPr/>
        </p:nvSpPr>
        <p:spPr bwMode="auto">
          <a:xfrm>
            <a:off x="3527847" y="3214004"/>
            <a:ext cx="1646200" cy="964636"/>
          </a:xfrm>
          <a:prstGeom prst="ellipse">
            <a:avLst/>
          </a:prstGeom>
          <a:noFill/>
          <a:ln w="76200" cap="flat" cmpd="sng" algn="ctr">
            <a:gradFill>
              <a:gsLst>
                <a:gs pos="0">
                  <a:srgbClr val="C00000">
                    <a:alpha val="40000"/>
                  </a:srgbClr>
                </a:gs>
                <a:gs pos="100000">
                  <a:srgbClr val="FF0000">
                    <a:alpha val="40000"/>
                  </a:srgbClr>
                </a:gs>
              </a:gsLst>
              <a:lin ang="5400000" scaled="0"/>
            </a:gradFill>
            <a:prstDash val="solid"/>
            <a:round/>
            <a:headEnd type="none" w="med" len="med"/>
            <a:tailEnd type="none" w="med" len="med"/>
          </a:ln>
          <a:effectLst>
            <a:outerShdw blurRad="50800" dist="38100" dir="5400000" algn="t" rotWithShape="0">
              <a:prstClr val="black">
                <a:alpha val="40000"/>
              </a:prstClr>
            </a:outerShdw>
          </a:effectLst>
          <a:extLst/>
        </p:spPr>
        <p:txBody>
          <a:bodyPr/>
          <a:lstStyle>
            <a:defPPr>
              <a:defRPr lang="en-US"/>
            </a:defPPr>
            <a:lvl1pPr algn="l" rtl="0" eaLnBrk="0" fontAlgn="base" hangingPunct="0">
              <a:spcBef>
                <a:spcPct val="0"/>
              </a:spcBef>
              <a:spcAft>
                <a:spcPct val="0"/>
              </a:spcAft>
              <a:defRPr sz="1000" b="1" kern="1200">
                <a:solidFill>
                  <a:schemeClr val="tx1"/>
                </a:solidFill>
                <a:latin typeface="CG Times"/>
                <a:ea typeface="+mn-ea"/>
                <a:cs typeface="+mn-cs"/>
              </a:defRPr>
            </a:lvl1pPr>
            <a:lvl2pPr marL="457200" algn="l" rtl="0" eaLnBrk="0" fontAlgn="base" hangingPunct="0">
              <a:spcBef>
                <a:spcPct val="0"/>
              </a:spcBef>
              <a:spcAft>
                <a:spcPct val="0"/>
              </a:spcAft>
              <a:defRPr sz="1000" b="1" kern="1200">
                <a:solidFill>
                  <a:schemeClr val="tx1"/>
                </a:solidFill>
                <a:latin typeface="CG Times"/>
                <a:ea typeface="+mn-ea"/>
                <a:cs typeface="+mn-cs"/>
              </a:defRPr>
            </a:lvl2pPr>
            <a:lvl3pPr marL="914400" algn="l" rtl="0" eaLnBrk="0" fontAlgn="base" hangingPunct="0">
              <a:spcBef>
                <a:spcPct val="0"/>
              </a:spcBef>
              <a:spcAft>
                <a:spcPct val="0"/>
              </a:spcAft>
              <a:defRPr sz="1000" b="1" kern="1200">
                <a:solidFill>
                  <a:schemeClr val="tx1"/>
                </a:solidFill>
                <a:latin typeface="CG Times"/>
                <a:ea typeface="+mn-ea"/>
                <a:cs typeface="+mn-cs"/>
              </a:defRPr>
            </a:lvl3pPr>
            <a:lvl4pPr marL="1371600" algn="l" rtl="0" eaLnBrk="0" fontAlgn="base" hangingPunct="0">
              <a:spcBef>
                <a:spcPct val="0"/>
              </a:spcBef>
              <a:spcAft>
                <a:spcPct val="0"/>
              </a:spcAft>
              <a:defRPr sz="1000" b="1" kern="1200">
                <a:solidFill>
                  <a:schemeClr val="tx1"/>
                </a:solidFill>
                <a:latin typeface="CG Times"/>
                <a:ea typeface="+mn-ea"/>
                <a:cs typeface="+mn-cs"/>
              </a:defRPr>
            </a:lvl4pPr>
            <a:lvl5pPr marL="1828800" algn="l" rtl="0" eaLnBrk="0" fontAlgn="base" hangingPunct="0">
              <a:spcBef>
                <a:spcPct val="0"/>
              </a:spcBef>
              <a:spcAft>
                <a:spcPct val="0"/>
              </a:spcAft>
              <a:defRPr sz="1000" b="1" kern="1200">
                <a:solidFill>
                  <a:schemeClr val="tx1"/>
                </a:solidFill>
                <a:latin typeface="CG Times"/>
                <a:ea typeface="+mn-ea"/>
                <a:cs typeface="+mn-cs"/>
              </a:defRPr>
            </a:lvl5pPr>
            <a:lvl6pPr marL="2286000" algn="l" defTabSz="914400" rtl="0" eaLnBrk="1" latinLnBrk="0" hangingPunct="1">
              <a:defRPr sz="1000" b="1" kern="1200">
                <a:solidFill>
                  <a:schemeClr val="tx1"/>
                </a:solidFill>
                <a:latin typeface="CG Times"/>
                <a:ea typeface="+mn-ea"/>
                <a:cs typeface="+mn-cs"/>
              </a:defRPr>
            </a:lvl6pPr>
            <a:lvl7pPr marL="2743200" algn="l" defTabSz="914400" rtl="0" eaLnBrk="1" latinLnBrk="0" hangingPunct="1">
              <a:defRPr sz="1000" b="1" kern="1200">
                <a:solidFill>
                  <a:schemeClr val="tx1"/>
                </a:solidFill>
                <a:latin typeface="CG Times"/>
                <a:ea typeface="+mn-ea"/>
                <a:cs typeface="+mn-cs"/>
              </a:defRPr>
            </a:lvl7pPr>
            <a:lvl8pPr marL="3200400" algn="l" defTabSz="914400" rtl="0" eaLnBrk="1" latinLnBrk="0" hangingPunct="1">
              <a:defRPr sz="1000" b="1" kern="1200">
                <a:solidFill>
                  <a:schemeClr val="tx1"/>
                </a:solidFill>
                <a:latin typeface="CG Times"/>
                <a:ea typeface="+mn-ea"/>
                <a:cs typeface="+mn-cs"/>
              </a:defRPr>
            </a:lvl8pPr>
            <a:lvl9pPr marL="3657600" algn="l" defTabSz="914400" rtl="0" eaLnBrk="1" latinLnBrk="0" hangingPunct="1">
              <a:defRPr sz="1000" b="1" kern="1200">
                <a:solidFill>
                  <a:schemeClr val="tx1"/>
                </a:solidFill>
                <a:latin typeface="CG Times"/>
                <a:ea typeface="+mn-ea"/>
                <a:cs typeface="+mn-cs"/>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endParaRPr kumimoji="0" lang="en-GB" sz="5400" b="1" i="0" u="none" strike="noStrike" kern="0" cap="none" spc="0" normalizeH="0" baseline="0" noProof="0">
              <a:ln>
                <a:noFill/>
              </a:ln>
              <a:solidFill>
                <a:srgbClr val="FFFFFF"/>
              </a:solidFill>
              <a:effectLst/>
              <a:uLnTx/>
              <a:uFillTx/>
              <a:latin typeface="CG Times"/>
              <a:ea typeface="+mn-ea"/>
              <a:cs typeface="+mn-cs"/>
            </a:endParaRPr>
          </a:p>
        </p:txBody>
      </p:sp>
      <p:sp>
        <p:nvSpPr>
          <p:cNvPr id="90" name="Oval 89"/>
          <p:cNvSpPr>
            <a:spLocks noChangeArrowheads="1"/>
          </p:cNvSpPr>
          <p:nvPr/>
        </p:nvSpPr>
        <p:spPr bwMode="auto">
          <a:xfrm>
            <a:off x="1166784" y="2053945"/>
            <a:ext cx="1646200" cy="964636"/>
          </a:xfrm>
          <a:prstGeom prst="ellipse">
            <a:avLst/>
          </a:prstGeom>
          <a:noFill/>
          <a:ln w="76200" cap="flat" cmpd="sng" algn="ctr">
            <a:gradFill>
              <a:gsLst>
                <a:gs pos="0">
                  <a:srgbClr val="C00000">
                    <a:alpha val="40000"/>
                  </a:srgbClr>
                </a:gs>
                <a:gs pos="100000">
                  <a:srgbClr val="FF0000">
                    <a:alpha val="40000"/>
                  </a:srgbClr>
                </a:gs>
              </a:gsLst>
              <a:lin ang="5400000" scaled="0"/>
            </a:gradFill>
            <a:prstDash val="solid"/>
            <a:round/>
            <a:headEnd type="none" w="med" len="med"/>
            <a:tailEnd type="none" w="med" len="med"/>
          </a:ln>
          <a:effectLst>
            <a:outerShdw blurRad="50800" dist="38100" dir="5400000" algn="t" rotWithShape="0">
              <a:prstClr val="black">
                <a:alpha val="40000"/>
              </a:prstClr>
            </a:outerShdw>
          </a:effectLst>
          <a:extLst/>
        </p:spPr>
        <p:txBody>
          <a:bodyPr/>
          <a:lstStyle>
            <a:defPPr>
              <a:defRPr lang="en-US"/>
            </a:defPPr>
            <a:lvl1pPr algn="l" rtl="0" eaLnBrk="0" fontAlgn="base" hangingPunct="0">
              <a:spcBef>
                <a:spcPct val="0"/>
              </a:spcBef>
              <a:spcAft>
                <a:spcPct val="0"/>
              </a:spcAft>
              <a:defRPr sz="1000" b="1" kern="1200">
                <a:solidFill>
                  <a:schemeClr val="tx1"/>
                </a:solidFill>
                <a:latin typeface="CG Times"/>
                <a:ea typeface="+mn-ea"/>
                <a:cs typeface="+mn-cs"/>
              </a:defRPr>
            </a:lvl1pPr>
            <a:lvl2pPr marL="457200" algn="l" rtl="0" eaLnBrk="0" fontAlgn="base" hangingPunct="0">
              <a:spcBef>
                <a:spcPct val="0"/>
              </a:spcBef>
              <a:spcAft>
                <a:spcPct val="0"/>
              </a:spcAft>
              <a:defRPr sz="1000" b="1" kern="1200">
                <a:solidFill>
                  <a:schemeClr val="tx1"/>
                </a:solidFill>
                <a:latin typeface="CG Times"/>
                <a:ea typeface="+mn-ea"/>
                <a:cs typeface="+mn-cs"/>
              </a:defRPr>
            </a:lvl2pPr>
            <a:lvl3pPr marL="914400" algn="l" rtl="0" eaLnBrk="0" fontAlgn="base" hangingPunct="0">
              <a:spcBef>
                <a:spcPct val="0"/>
              </a:spcBef>
              <a:spcAft>
                <a:spcPct val="0"/>
              </a:spcAft>
              <a:defRPr sz="1000" b="1" kern="1200">
                <a:solidFill>
                  <a:schemeClr val="tx1"/>
                </a:solidFill>
                <a:latin typeface="CG Times"/>
                <a:ea typeface="+mn-ea"/>
                <a:cs typeface="+mn-cs"/>
              </a:defRPr>
            </a:lvl3pPr>
            <a:lvl4pPr marL="1371600" algn="l" rtl="0" eaLnBrk="0" fontAlgn="base" hangingPunct="0">
              <a:spcBef>
                <a:spcPct val="0"/>
              </a:spcBef>
              <a:spcAft>
                <a:spcPct val="0"/>
              </a:spcAft>
              <a:defRPr sz="1000" b="1" kern="1200">
                <a:solidFill>
                  <a:schemeClr val="tx1"/>
                </a:solidFill>
                <a:latin typeface="CG Times"/>
                <a:ea typeface="+mn-ea"/>
                <a:cs typeface="+mn-cs"/>
              </a:defRPr>
            </a:lvl4pPr>
            <a:lvl5pPr marL="1828800" algn="l" rtl="0" eaLnBrk="0" fontAlgn="base" hangingPunct="0">
              <a:spcBef>
                <a:spcPct val="0"/>
              </a:spcBef>
              <a:spcAft>
                <a:spcPct val="0"/>
              </a:spcAft>
              <a:defRPr sz="1000" b="1" kern="1200">
                <a:solidFill>
                  <a:schemeClr val="tx1"/>
                </a:solidFill>
                <a:latin typeface="CG Times"/>
                <a:ea typeface="+mn-ea"/>
                <a:cs typeface="+mn-cs"/>
              </a:defRPr>
            </a:lvl5pPr>
            <a:lvl6pPr marL="2286000" algn="l" defTabSz="914400" rtl="0" eaLnBrk="1" latinLnBrk="0" hangingPunct="1">
              <a:defRPr sz="1000" b="1" kern="1200">
                <a:solidFill>
                  <a:schemeClr val="tx1"/>
                </a:solidFill>
                <a:latin typeface="CG Times"/>
                <a:ea typeface="+mn-ea"/>
                <a:cs typeface="+mn-cs"/>
              </a:defRPr>
            </a:lvl6pPr>
            <a:lvl7pPr marL="2743200" algn="l" defTabSz="914400" rtl="0" eaLnBrk="1" latinLnBrk="0" hangingPunct="1">
              <a:defRPr sz="1000" b="1" kern="1200">
                <a:solidFill>
                  <a:schemeClr val="tx1"/>
                </a:solidFill>
                <a:latin typeface="CG Times"/>
                <a:ea typeface="+mn-ea"/>
                <a:cs typeface="+mn-cs"/>
              </a:defRPr>
            </a:lvl7pPr>
            <a:lvl8pPr marL="3200400" algn="l" defTabSz="914400" rtl="0" eaLnBrk="1" latinLnBrk="0" hangingPunct="1">
              <a:defRPr sz="1000" b="1" kern="1200">
                <a:solidFill>
                  <a:schemeClr val="tx1"/>
                </a:solidFill>
                <a:latin typeface="CG Times"/>
                <a:ea typeface="+mn-ea"/>
                <a:cs typeface="+mn-cs"/>
              </a:defRPr>
            </a:lvl8pPr>
            <a:lvl9pPr marL="3657600" algn="l" defTabSz="914400" rtl="0" eaLnBrk="1" latinLnBrk="0" hangingPunct="1">
              <a:defRPr sz="1000" b="1" kern="1200">
                <a:solidFill>
                  <a:schemeClr val="tx1"/>
                </a:solidFill>
                <a:latin typeface="CG Times"/>
                <a:ea typeface="+mn-ea"/>
                <a:cs typeface="+mn-cs"/>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endParaRPr kumimoji="0" lang="en-GB" sz="5400" b="1" i="0" u="none" strike="noStrike" kern="0" cap="none" spc="0" normalizeH="0" baseline="0" noProof="0">
              <a:ln>
                <a:noFill/>
              </a:ln>
              <a:solidFill>
                <a:srgbClr val="FFFFFF"/>
              </a:solidFill>
              <a:effectLst/>
              <a:uLnTx/>
              <a:uFillTx/>
              <a:latin typeface="CG Times"/>
              <a:ea typeface="+mn-ea"/>
              <a:cs typeface="+mn-cs"/>
            </a:endParaRPr>
          </a:p>
        </p:txBody>
      </p:sp>
    </p:spTree>
    <p:extLst>
      <p:ext uri="{BB962C8B-B14F-4D97-AF65-F5344CB8AC3E}">
        <p14:creationId xmlns="" xmlns:p14="http://schemas.microsoft.com/office/powerpoint/2010/main" val="194677642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fade">
                                      <p:cBhvr>
                                        <p:cTn id="22" dur="500"/>
                                        <p:tgtEl>
                                          <p:spTgt spid="9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9"/>
                                        </p:tgtEl>
                                        <p:attrNameLst>
                                          <p:attrName>style.visibility</p:attrName>
                                        </p:attrNameLst>
                                      </p:cBhvr>
                                      <p:to>
                                        <p:strVal val="visible"/>
                                      </p:to>
                                    </p:set>
                                    <p:animEffect transition="in" filter="fade">
                                      <p:cBhvr>
                                        <p:cTn id="25" dur="500"/>
                                        <p:tgtEl>
                                          <p:spTgt spid="8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8"/>
                                        </p:tgtEl>
                                        <p:attrNameLst>
                                          <p:attrName>style.visibility</p:attrName>
                                        </p:attrNameLst>
                                      </p:cBhvr>
                                      <p:to>
                                        <p:strVal val="visible"/>
                                      </p:to>
                                    </p:set>
                                    <p:animEffect transition="in" filter="fade">
                                      <p:cBhvr>
                                        <p:cTn id="28"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9" grpId="0" animBg="1"/>
      <p:bldP spid="9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p:cNvSpPr txBox="1">
            <a:spLocks/>
          </p:cNvSpPr>
          <p:nvPr/>
        </p:nvSpPr>
        <p:spPr>
          <a:xfrm>
            <a:off x="0" y="2766568"/>
            <a:ext cx="9144000" cy="484632"/>
          </a:xfrm>
          <a:prstGeom prst="rect">
            <a:avLst/>
          </a:prstGeom>
        </p:spPr>
        <p:txBody>
          <a:bodyPr vert="horz" lIns="0" tIns="0" rIns="0" bIns="0" rtlCol="0" anchor="t">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rgbClr val="007AC2"/>
                </a:solidFill>
                <a:effectLst/>
                <a:uLnTx/>
                <a:uFillTx/>
                <a:latin typeface="+mj-lt"/>
                <a:ea typeface="+mj-ea"/>
                <a:cs typeface="Avenir LT Std 85 Heavy"/>
              </a:rPr>
              <a:t>DEFINITION OF A STRATEGIC ROADMAP</a:t>
            </a:r>
            <a:endParaRPr kumimoji="0" lang="en-US" sz="2800" b="1" i="0" u="none" strike="noStrike" kern="1200" cap="none" spc="0" normalizeH="0" baseline="0" noProof="0" dirty="0">
              <a:ln>
                <a:noFill/>
              </a:ln>
              <a:solidFill>
                <a:srgbClr val="007AC2"/>
              </a:solidFill>
              <a:effectLst/>
              <a:uLnTx/>
              <a:uFillTx/>
              <a:latin typeface="+mj-lt"/>
              <a:ea typeface="+mj-ea"/>
              <a:cs typeface="Avenir LT Std 85 Heavy"/>
            </a:endParaRPr>
          </a:p>
        </p:txBody>
      </p:sp>
    </p:spTree>
  </p:cSld>
  <p:clrMapOvr>
    <a:masterClrMapping/>
  </p:clrMapOvr>
  <p:transition spd="med">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rot="269091">
            <a:off x="5317938" y="1586977"/>
            <a:ext cx="4560520" cy="2681670"/>
          </a:xfrm>
          <a:prstGeom prst="roundRect">
            <a:avLst>
              <a:gd name="adj" fmla="val 39018"/>
            </a:avLst>
          </a:prstGeom>
          <a:ln>
            <a:noFill/>
          </a:ln>
          <a:effectLst>
            <a:outerShdw blurRad="152400" dist="12000" dir="900000" sy="98000" kx="110000" ky="200000" algn="tl" rotWithShape="0">
              <a:srgbClr val="000000">
                <a:alpha val="30000"/>
              </a:srgbClr>
            </a:outerShdw>
          </a:effectLst>
          <a:scene3d>
            <a:camera prst="perspectiveRelaxed" fov="4200000">
              <a:rot lat="388211" lon="3163948" rev="21369485"/>
            </a:camera>
            <a:lightRig rig="threePt" dir="t"/>
          </a:scene3d>
          <a:sp3d contourW="6350" prstMaterial="matte">
            <a:bevelT w="101600" h="101600"/>
            <a:contourClr>
              <a:srgbClr val="969696"/>
            </a:contourClr>
          </a:sp3d>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9" name="Connettore 1 8"/>
          <p:cNvCxnSpPr/>
          <p:nvPr/>
        </p:nvCxnSpPr>
        <p:spPr>
          <a:xfrm>
            <a:off x="395536" y="2060848"/>
            <a:ext cx="9024630" cy="16564"/>
          </a:xfrm>
          <a:prstGeom prst="line">
            <a:avLst/>
          </a:prstGeom>
          <a:ln>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4" name="CasellaDiTesto 3"/>
          <p:cNvSpPr txBox="1"/>
          <p:nvPr/>
        </p:nvSpPr>
        <p:spPr>
          <a:xfrm>
            <a:off x="220970" y="1927141"/>
            <a:ext cx="755335" cy="400110"/>
          </a:xfrm>
          <a:prstGeom prst="rect">
            <a:avLst/>
          </a:prstGeom>
        </p:spPr>
        <p:style>
          <a:lnRef idx="0">
            <a:schemeClr val="accent5"/>
          </a:lnRef>
          <a:fillRef idx="3">
            <a:schemeClr val="accent5"/>
          </a:fillRef>
          <a:effectRef idx="3">
            <a:schemeClr val="accent5"/>
          </a:effectRef>
          <a:fontRef idx="minor">
            <a:schemeClr val="lt1"/>
          </a:fontRef>
        </p:style>
        <p:txBody>
          <a:bodyPr wrap="none" rtlCol="0">
            <a:spAutoFit/>
          </a:bodyPr>
          <a:lstStyle/>
          <a:p>
            <a:r>
              <a:rPr lang="en-US" sz="2000" b="1" dirty="0" smtClean="0">
                <a:solidFill>
                  <a:srgbClr val="FFC000"/>
                </a:solidFill>
              </a:rPr>
              <a:t>2012</a:t>
            </a:r>
            <a:endParaRPr lang="en-US" sz="2000" b="1" dirty="0">
              <a:solidFill>
                <a:srgbClr val="FFC000"/>
              </a:solidFill>
            </a:endParaRPr>
          </a:p>
        </p:txBody>
      </p:sp>
      <p:sp>
        <p:nvSpPr>
          <p:cNvPr id="5" name="CasellaDiTesto 4"/>
          <p:cNvSpPr txBox="1"/>
          <p:nvPr/>
        </p:nvSpPr>
        <p:spPr>
          <a:xfrm>
            <a:off x="2539166" y="1927141"/>
            <a:ext cx="761747" cy="400110"/>
          </a:xfrm>
          <a:prstGeom prst="rect">
            <a:avLst/>
          </a:prstGeom>
        </p:spPr>
        <p:style>
          <a:lnRef idx="0">
            <a:schemeClr val="accent5"/>
          </a:lnRef>
          <a:fillRef idx="3">
            <a:schemeClr val="accent5"/>
          </a:fillRef>
          <a:effectRef idx="3">
            <a:schemeClr val="accent5"/>
          </a:effectRef>
          <a:fontRef idx="minor">
            <a:schemeClr val="lt1"/>
          </a:fontRef>
        </p:style>
        <p:txBody>
          <a:bodyPr wrap="none" rtlCol="0">
            <a:spAutoFit/>
          </a:bodyPr>
          <a:lstStyle/>
          <a:p>
            <a:r>
              <a:rPr lang="en-US" sz="2000" b="1" dirty="0" smtClean="0">
                <a:solidFill>
                  <a:srgbClr val="FFC000"/>
                </a:solidFill>
              </a:rPr>
              <a:t>2013</a:t>
            </a:r>
            <a:endParaRPr lang="en-US" sz="2000" b="1" dirty="0">
              <a:solidFill>
                <a:srgbClr val="FFC000"/>
              </a:solidFill>
            </a:endParaRPr>
          </a:p>
        </p:txBody>
      </p:sp>
      <p:sp>
        <p:nvSpPr>
          <p:cNvPr id="6" name="CasellaDiTesto 5"/>
          <p:cNvSpPr txBox="1"/>
          <p:nvPr/>
        </p:nvSpPr>
        <p:spPr>
          <a:xfrm>
            <a:off x="3644616" y="1927141"/>
            <a:ext cx="761747" cy="400110"/>
          </a:xfrm>
          <a:prstGeom prst="rect">
            <a:avLst/>
          </a:prstGeom>
        </p:spPr>
        <p:style>
          <a:lnRef idx="0">
            <a:schemeClr val="accent5"/>
          </a:lnRef>
          <a:fillRef idx="3">
            <a:schemeClr val="accent5"/>
          </a:fillRef>
          <a:effectRef idx="3">
            <a:schemeClr val="accent5"/>
          </a:effectRef>
          <a:fontRef idx="minor">
            <a:schemeClr val="lt1"/>
          </a:fontRef>
        </p:style>
        <p:txBody>
          <a:bodyPr wrap="none" rtlCol="0">
            <a:spAutoFit/>
          </a:bodyPr>
          <a:lstStyle/>
          <a:p>
            <a:r>
              <a:rPr lang="en-US" sz="2000" b="1" dirty="0" smtClean="0">
                <a:solidFill>
                  <a:srgbClr val="FFC000"/>
                </a:solidFill>
              </a:rPr>
              <a:t>2015</a:t>
            </a:r>
            <a:endParaRPr lang="en-US" sz="2000" b="1" dirty="0">
              <a:solidFill>
                <a:srgbClr val="FFC000"/>
              </a:solidFill>
            </a:endParaRPr>
          </a:p>
        </p:txBody>
      </p:sp>
      <p:sp>
        <p:nvSpPr>
          <p:cNvPr id="7" name="CasellaDiTesto 6"/>
          <p:cNvSpPr txBox="1"/>
          <p:nvPr/>
        </p:nvSpPr>
        <p:spPr>
          <a:xfrm>
            <a:off x="4807801" y="1927141"/>
            <a:ext cx="761747" cy="400110"/>
          </a:xfrm>
          <a:prstGeom prst="rect">
            <a:avLst/>
          </a:prstGeom>
        </p:spPr>
        <p:style>
          <a:lnRef idx="0">
            <a:schemeClr val="accent5"/>
          </a:lnRef>
          <a:fillRef idx="3">
            <a:schemeClr val="accent5"/>
          </a:fillRef>
          <a:effectRef idx="3">
            <a:schemeClr val="accent5"/>
          </a:effectRef>
          <a:fontRef idx="minor">
            <a:schemeClr val="lt1"/>
          </a:fontRef>
        </p:style>
        <p:txBody>
          <a:bodyPr wrap="none" rtlCol="0">
            <a:spAutoFit/>
          </a:bodyPr>
          <a:lstStyle/>
          <a:p>
            <a:r>
              <a:rPr lang="en-US" sz="2000" b="1" dirty="0" smtClean="0">
                <a:solidFill>
                  <a:srgbClr val="FFC000"/>
                </a:solidFill>
              </a:rPr>
              <a:t>2016</a:t>
            </a:r>
            <a:endParaRPr lang="en-US" sz="2000" b="1" dirty="0">
              <a:solidFill>
                <a:srgbClr val="FFC000"/>
              </a:solidFill>
            </a:endParaRPr>
          </a:p>
        </p:txBody>
      </p:sp>
      <p:sp>
        <p:nvSpPr>
          <p:cNvPr id="2" name="Titolo 1"/>
          <p:cNvSpPr>
            <a:spLocks noGrp="1"/>
          </p:cNvSpPr>
          <p:nvPr>
            <p:ph type="title"/>
          </p:nvPr>
        </p:nvSpPr>
        <p:spPr>
          <a:xfrm>
            <a:off x="342020" y="358495"/>
            <a:ext cx="8662061" cy="970450"/>
          </a:xfrm>
        </p:spPr>
        <p:txBody>
          <a:bodyPr/>
          <a:lstStyle/>
          <a:p>
            <a:r>
              <a:rPr lang="en-US" sz="3600" dirty="0" smtClean="0"/>
              <a:t>Hydrologic data exchange revolutions</a:t>
            </a:r>
            <a:endParaRPr lang="en-US" sz="3600" dirty="0"/>
          </a:p>
        </p:txBody>
      </p:sp>
      <p:sp>
        <p:nvSpPr>
          <p:cNvPr id="15" name="Figura a mano libera 14"/>
          <p:cNvSpPr/>
          <p:nvPr/>
        </p:nvSpPr>
        <p:spPr>
          <a:xfrm>
            <a:off x="111760" y="2091749"/>
            <a:ext cx="7721600" cy="1124148"/>
          </a:xfrm>
          <a:custGeom>
            <a:avLst/>
            <a:gdLst>
              <a:gd name="connsiteX0" fmla="*/ 0 w 7721600"/>
              <a:gd name="connsiteY0" fmla="*/ 281037 h 1124148"/>
              <a:gd name="connsiteX1" fmla="*/ 7159526 w 7721600"/>
              <a:gd name="connsiteY1" fmla="*/ 281037 h 1124148"/>
              <a:gd name="connsiteX2" fmla="*/ 7159526 w 7721600"/>
              <a:gd name="connsiteY2" fmla="*/ 0 h 1124148"/>
              <a:gd name="connsiteX3" fmla="*/ 7721600 w 7721600"/>
              <a:gd name="connsiteY3" fmla="*/ 562074 h 1124148"/>
              <a:gd name="connsiteX4" fmla="*/ 7159526 w 7721600"/>
              <a:gd name="connsiteY4" fmla="*/ 1124148 h 1124148"/>
              <a:gd name="connsiteX5" fmla="*/ 7159526 w 7721600"/>
              <a:gd name="connsiteY5" fmla="*/ 843111 h 1124148"/>
              <a:gd name="connsiteX6" fmla="*/ 0 w 7721600"/>
              <a:gd name="connsiteY6" fmla="*/ 843111 h 1124148"/>
              <a:gd name="connsiteX7" fmla="*/ 0 w 7721600"/>
              <a:gd name="connsiteY7" fmla="*/ 281037 h 112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1600" h="1124148">
                <a:moveTo>
                  <a:pt x="0" y="281037"/>
                </a:moveTo>
                <a:lnTo>
                  <a:pt x="7159526" y="281037"/>
                </a:lnTo>
                <a:lnTo>
                  <a:pt x="7159526" y="0"/>
                </a:lnTo>
                <a:lnTo>
                  <a:pt x="7721600" y="562074"/>
                </a:lnTo>
                <a:lnTo>
                  <a:pt x="7159526" y="1124148"/>
                </a:lnTo>
                <a:lnTo>
                  <a:pt x="7159526" y="843111"/>
                </a:lnTo>
                <a:lnTo>
                  <a:pt x="0" y="843111"/>
                </a:lnTo>
                <a:lnTo>
                  <a:pt x="0" y="281037"/>
                </a:lnTo>
                <a:close/>
              </a:path>
            </a:pathLst>
          </a:custGeom>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spcFirstLastPara="0" vert="horz" wrap="square" lIns="80010" tIns="361047" rIns="535037" bIns="459496" numCol="1" spcCol="1270" anchor="ctr" anchorCtr="0">
            <a:noAutofit/>
          </a:bodyPr>
          <a:lstStyle/>
          <a:p>
            <a:pPr lvl="0" algn="l" defTabSz="933450">
              <a:lnSpc>
                <a:spcPct val="90000"/>
              </a:lnSpc>
              <a:spcBef>
                <a:spcPct val="0"/>
              </a:spcBef>
              <a:spcAft>
                <a:spcPct val="35000"/>
              </a:spcAft>
            </a:pPr>
            <a:r>
              <a:rPr lang="en-US" sz="2100" kern="1200" dirty="0" smtClean="0"/>
              <a:t>1</a:t>
            </a:r>
            <a:r>
              <a:rPr lang="en-US" sz="2100" kern="1200" baseline="30000" dirty="0" smtClean="0"/>
              <a:t>st</a:t>
            </a:r>
            <a:r>
              <a:rPr lang="en-US" sz="2100" kern="1200" dirty="0" smtClean="0"/>
              <a:t> Revolution</a:t>
            </a:r>
            <a:endParaRPr lang="en-US" sz="2100" kern="1200" dirty="0"/>
          </a:p>
        </p:txBody>
      </p:sp>
      <p:sp>
        <p:nvSpPr>
          <p:cNvPr id="16" name="Figura a mano libera 15"/>
          <p:cNvSpPr/>
          <p:nvPr/>
        </p:nvSpPr>
        <p:spPr>
          <a:xfrm>
            <a:off x="111760" y="2960464"/>
            <a:ext cx="1779828" cy="2079336"/>
          </a:xfrm>
          <a:custGeom>
            <a:avLst/>
            <a:gdLst>
              <a:gd name="connsiteX0" fmla="*/ 0 w 1779828"/>
              <a:gd name="connsiteY0" fmla="*/ 0 h 2079336"/>
              <a:gd name="connsiteX1" fmla="*/ 1779828 w 1779828"/>
              <a:gd name="connsiteY1" fmla="*/ 0 h 2079336"/>
              <a:gd name="connsiteX2" fmla="*/ 1779828 w 1779828"/>
              <a:gd name="connsiteY2" fmla="*/ 2079336 h 2079336"/>
              <a:gd name="connsiteX3" fmla="*/ 0 w 1779828"/>
              <a:gd name="connsiteY3" fmla="*/ 2079336 h 2079336"/>
              <a:gd name="connsiteX4" fmla="*/ 0 w 1779828"/>
              <a:gd name="connsiteY4" fmla="*/ 0 h 207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828" h="2079336">
                <a:moveTo>
                  <a:pt x="0" y="0"/>
                </a:moveTo>
                <a:lnTo>
                  <a:pt x="1779828" y="0"/>
                </a:lnTo>
                <a:lnTo>
                  <a:pt x="1779828" y="2079336"/>
                </a:lnTo>
                <a:lnTo>
                  <a:pt x="0" y="2079336"/>
                </a:lnTo>
                <a:lnTo>
                  <a:pt x="0" y="0"/>
                </a:lnTo>
                <a:close/>
              </a:path>
            </a:pathLst>
          </a:cu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US" sz="2100" kern="1200" dirty="0" smtClean="0"/>
              <a:t>[Service driven]</a:t>
            </a:r>
          </a:p>
          <a:p>
            <a:pPr lvl="0" algn="l" defTabSz="933450">
              <a:lnSpc>
                <a:spcPct val="90000"/>
              </a:lnSpc>
              <a:spcBef>
                <a:spcPct val="0"/>
              </a:spcBef>
              <a:spcAft>
                <a:spcPct val="35000"/>
              </a:spcAft>
            </a:pPr>
            <a:r>
              <a:rPr lang="en-US" sz="2100" i="1" kern="1200" dirty="0" smtClean="0">
                <a:solidFill>
                  <a:srgbClr val="0070C0"/>
                </a:solidFill>
              </a:rPr>
              <a:t>Catalog of catalogs</a:t>
            </a:r>
            <a:endParaRPr lang="en-US" sz="2100" i="1" kern="1200" dirty="0">
              <a:solidFill>
                <a:srgbClr val="0070C0"/>
              </a:solidFill>
            </a:endParaRPr>
          </a:p>
        </p:txBody>
      </p:sp>
      <p:sp>
        <p:nvSpPr>
          <p:cNvPr id="17" name="Figura a mano libera 16"/>
          <p:cNvSpPr/>
          <p:nvPr/>
        </p:nvSpPr>
        <p:spPr>
          <a:xfrm>
            <a:off x="1891588" y="2466333"/>
            <a:ext cx="5941771" cy="1124148"/>
          </a:xfrm>
          <a:custGeom>
            <a:avLst/>
            <a:gdLst>
              <a:gd name="connsiteX0" fmla="*/ 0 w 5941771"/>
              <a:gd name="connsiteY0" fmla="*/ 281037 h 1124148"/>
              <a:gd name="connsiteX1" fmla="*/ 5379697 w 5941771"/>
              <a:gd name="connsiteY1" fmla="*/ 281037 h 1124148"/>
              <a:gd name="connsiteX2" fmla="*/ 5379697 w 5941771"/>
              <a:gd name="connsiteY2" fmla="*/ 0 h 1124148"/>
              <a:gd name="connsiteX3" fmla="*/ 5941771 w 5941771"/>
              <a:gd name="connsiteY3" fmla="*/ 562074 h 1124148"/>
              <a:gd name="connsiteX4" fmla="*/ 5379697 w 5941771"/>
              <a:gd name="connsiteY4" fmla="*/ 1124148 h 1124148"/>
              <a:gd name="connsiteX5" fmla="*/ 5379697 w 5941771"/>
              <a:gd name="connsiteY5" fmla="*/ 843111 h 1124148"/>
              <a:gd name="connsiteX6" fmla="*/ 0 w 5941771"/>
              <a:gd name="connsiteY6" fmla="*/ 843111 h 1124148"/>
              <a:gd name="connsiteX7" fmla="*/ 0 w 5941771"/>
              <a:gd name="connsiteY7" fmla="*/ 281037 h 112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1771" h="1124148">
                <a:moveTo>
                  <a:pt x="0" y="281037"/>
                </a:moveTo>
                <a:lnTo>
                  <a:pt x="5379697" y="281037"/>
                </a:lnTo>
                <a:lnTo>
                  <a:pt x="5379697" y="0"/>
                </a:lnTo>
                <a:lnTo>
                  <a:pt x="5941771" y="562074"/>
                </a:lnTo>
                <a:lnTo>
                  <a:pt x="5379697" y="1124148"/>
                </a:lnTo>
                <a:lnTo>
                  <a:pt x="5379697" y="843111"/>
                </a:lnTo>
                <a:lnTo>
                  <a:pt x="0" y="843111"/>
                </a:lnTo>
                <a:lnTo>
                  <a:pt x="0" y="281037"/>
                </a:lnTo>
                <a:close/>
              </a:path>
            </a:pathLst>
          </a:custGeom>
        </p:spPr>
        <p:style>
          <a:lnRef idx="3">
            <a:schemeClr val="lt1">
              <a:hueOff val="0"/>
              <a:satOff val="0"/>
              <a:lumOff val="0"/>
              <a:alphaOff val="0"/>
            </a:schemeClr>
          </a:lnRef>
          <a:fillRef idx="1">
            <a:schemeClr val="accent4">
              <a:hueOff val="548478"/>
              <a:satOff val="2377"/>
              <a:lumOff val="1569"/>
              <a:alphaOff val="0"/>
            </a:schemeClr>
          </a:fillRef>
          <a:effectRef idx="1">
            <a:schemeClr val="accent4">
              <a:hueOff val="548478"/>
              <a:satOff val="2377"/>
              <a:lumOff val="1569"/>
              <a:alphaOff val="0"/>
            </a:schemeClr>
          </a:effectRef>
          <a:fontRef idx="minor">
            <a:schemeClr val="lt1"/>
          </a:fontRef>
        </p:style>
        <p:txBody>
          <a:bodyPr spcFirstLastPara="0" vert="horz" wrap="square" lIns="80010" tIns="361047" rIns="535037" bIns="459496" numCol="1" spcCol="1270" anchor="ctr" anchorCtr="0">
            <a:noAutofit/>
          </a:bodyPr>
          <a:lstStyle/>
          <a:p>
            <a:pPr lvl="0" algn="l" defTabSz="933450">
              <a:lnSpc>
                <a:spcPct val="90000"/>
              </a:lnSpc>
              <a:spcBef>
                <a:spcPct val="0"/>
              </a:spcBef>
              <a:spcAft>
                <a:spcPct val="35000"/>
              </a:spcAft>
            </a:pPr>
            <a:r>
              <a:rPr lang="en-US" sz="2100" kern="1200" dirty="0" smtClean="0"/>
              <a:t>2</a:t>
            </a:r>
            <a:r>
              <a:rPr lang="en-US" sz="2100" kern="1200" baseline="30000" dirty="0" smtClean="0"/>
              <a:t>nd</a:t>
            </a:r>
            <a:r>
              <a:rPr lang="en-US" sz="2100" kern="1200" dirty="0" smtClean="0"/>
              <a:t> Revolution</a:t>
            </a:r>
            <a:endParaRPr lang="en-US" sz="2100" kern="1200" dirty="0"/>
          </a:p>
        </p:txBody>
      </p:sp>
      <p:sp>
        <p:nvSpPr>
          <p:cNvPr id="18" name="Figura a mano libera 17"/>
          <p:cNvSpPr/>
          <p:nvPr/>
        </p:nvSpPr>
        <p:spPr>
          <a:xfrm>
            <a:off x="1891588" y="3335047"/>
            <a:ext cx="1779828" cy="2026337"/>
          </a:xfrm>
          <a:custGeom>
            <a:avLst/>
            <a:gdLst>
              <a:gd name="connsiteX0" fmla="*/ 0 w 1779828"/>
              <a:gd name="connsiteY0" fmla="*/ 0 h 2026337"/>
              <a:gd name="connsiteX1" fmla="*/ 1779828 w 1779828"/>
              <a:gd name="connsiteY1" fmla="*/ 0 h 2026337"/>
              <a:gd name="connsiteX2" fmla="*/ 1779828 w 1779828"/>
              <a:gd name="connsiteY2" fmla="*/ 2026337 h 2026337"/>
              <a:gd name="connsiteX3" fmla="*/ 0 w 1779828"/>
              <a:gd name="connsiteY3" fmla="*/ 2026337 h 2026337"/>
              <a:gd name="connsiteX4" fmla="*/ 0 w 1779828"/>
              <a:gd name="connsiteY4" fmla="*/ 0 h 2026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828" h="2026337">
                <a:moveTo>
                  <a:pt x="0" y="0"/>
                </a:moveTo>
                <a:lnTo>
                  <a:pt x="1779828" y="0"/>
                </a:lnTo>
                <a:lnTo>
                  <a:pt x="1779828" y="2026337"/>
                </a:lnTo>
                <a:lnTo>
                  <a:pt x="0" y="2026337"/>
                </a:lnTo>
                <a:lnTo>
                  <a:pt x="0" y="0"/>
                </a:lnTo>
                <a:close/>
              </a:path>
            </a:pathLst>
          </a:custGeom>
        </p:spPr>
        <p:style>
          <a:lnRef idx="2">
            <a:schemeClr val="accent4">
              <a:hueOff val="548478"/>
              <a:satOff val="2377"/>
              <a:lumOff val="156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US" sz="2100" kern="1200" dirty="0" smtClean="0"/>
              <a:t>[Brokering pattern]</a:t>
            </a:r>
          </a:p>
          <a:p>
            <a:pPr lvl="0" algn="l" defTabSz="933450">
              <a:lnSpc>
                <a:spcPct val="90000"/>
              </a:lnSpc>
              <a:spcBef>
                <a:spcPct val="0"/>
              </a:spcBef>
              <a:spcAft>
                <a:spcPct val="35000"/>
              </a:spcAft>
            </a:pPr>
            <a:r>
              <a:rPr lang="en-US" sz="2100" i="1" kern="1200" dirty="0" smtClean="0">
                <a:solidFill>
                  <a:srgbClr val="0070C0"/>
                </a:solidFill>
              </a:rPr>
              <a:t>Brokering framework</a:t>
            </a:r>
            <a:endParaRPr lang="en-US" sz="2100" i="1" kern="1200" dirty="0">
              <a:solidFill>
                <a:srgbClr val="0070C0"/>
              </a:solidFill>
            </a:endParaRPr>
          </a:p>
        </p:txBody>
      </p:sp>
      <p:sp>
        <p:nvSpPr>
          <p:cNvPr id="19" name="Figura a mano libera 18"/>
          <p:cNvSpPr/>
          <p:nvPr/>
        </p:nvSpPr>
        <p:spPr>
          <a:xfrm>
            <a:off x="3671417" y="2840916"/>
            <a:ext cx="4161942" cy="1124148"/>
          </a:xfrm>
          <a:custGeom>
            <a:avLst/>
            <a:gdLst>
              <a:gd name="connsiteX0" fmla="*/ 0 w 4161942"/>
              <a:gd name="connsiteY0" fmla="*/ 281037 h 1124148"/>
              <a:gd name="connsiteX1" fmla="*/ 3599868 w 4161942"/>
              <a:gd name="connsiteY1" fmla="*/ 281037 h 1124148"/>
              <a:gd name="connsiteX2" fmla="*/ 3599868 w 4161942"/>
              <a:gd name="connsiteY2" fmla="*/ 0 h 1124148"/>
              <a:gd name="connsiteX3" fmla="*/ 4161942 w 4161942"/>
              <a:gd name="connsiteY3" fmla="*/ 562074 h 1124148"/>
              <a:gd name="connsiteX4" fmla="*/ 3599868 w 4161942"/>
              <a:gd name="connsiteY4" fmla="*/ 1124148 h 1124148"/>
              <a:gd name="connsiteX5" fmla="*/ 3599868 w 4161942"/>
              <a:gd name="connsiteY5" fmla="*/ 843111 h 1124148"/>
              <a:gd name="connsiteX6" fmla="*/ 0 w 4161942"/>
              <a:gd name="connsiteY6" fmla="*/ 843111 h 1124148"/>
              <a:gd name="connsiteX7" fmla="*/ 0 w 4161942"/>
              <a:gd name="connsiteY7" fmla="*/ 281037 h 112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1942" h="1124148">
                <a:moveTo>
                  <a:pt x="0" y="281037"/>
                </a:moveTo>
                <a:lnTo>
                  <a:pt x="3599868" y="281037"/>
                </a:lnTo>
                <a:lnTo>
                  <a:pt x="3599868" y="0"/>
                </a:lnTo>
                <a:lnTo>
                  <a:pt x="4161942" y="562074"/>
                </a:lnTo>
                <a:lnTo>
                  <a:pt x="3599868" y="1124148"/>
                </a:lnTo>
                <a:lnTo>
                  <a:pt x="3599868" y="843111"/>
                </a:lnTo>
                <a:lnTo>
                  <a:pt x="0" y="843111"/>
                </a:lnTo>
                <a:lnTo>
                  <a:pt x="0" y="281037"/>
                </a:lnTo>
                <a:close/>
              </a:path>
            </a:pathLst>
          </a:custGeom>
        </p:spPr>
        <p:style>
          <a:lnRef idx="3">
            <a:schemeClr val="lt1">
              <a:hueOff val="0"/>
              <a:satOff val="0"/>
              <a:lumOff val="0"/>
              <a:alphaOff val="0"/>
            </a:schemeClr>
          </a:lnRef>
          <a:fillRef idx="1">
            <a:schemeClr val="accent4">
              <a:hueOff val="1096956"/>
              <a:satOff val="4755"/>
              <a:lumOff val="3137"/>
              <a:alphaOff val="0"/>
            </a:schemeClr>
          </a:fillRef>
          <a:effectRef idx="1">
            <a:schemeClr val="accent4">
              <a:hueOff val="1096956"/>
              <a:satOff val="4755"/>
              <a:lumOff val="3137"/>
              <a:alphaOff val="0"/>
            </a:schemeClr>
          </a:effectRef>
          <a:fontRef idx="minor">
            <a:schemeClr val="lt1"/>
          </a:fontRef>
        </p:style>
        <p:txBody>
          <a:bodyPr spcFirstLastPara="0" vert="horz" wrap="square" lIns="80010" tIns="361047" rIns="535037" bIns="459496" numCol="1" spcCol="1270" anchor="ctr" anchorCtr="0">
            <a:noAutofit/>
          </a:bodyPr>
          <a:lstStyle/>
          <a:p>
            <a:pPr lvl="0" algn="l" defTabSz="933450">
              <a:lnSpc>
                <a:spcPct val="90000"/>
              </a:lnSpc>
              <a:spcBef>
                <a:spcPct val="0"/>
              </a:spcBef>
              <a:spcAft>
                <a:spcPct val="35000"/>
              </a:spcAft>
            </a:pPr>
            <a:r>
              <a:rPr lang="en-US" sz="2100" kern="1200" dirty="0" smtClean="0"/>
              <a:t>3</a:t>
            </a:r>
            <a:r>
              <a:rPr lang="en-US" sz="2100" kern="1200" baseline="30000" dirty="0" smtClean="0"/>
              <a:t>rd</a:t>
            </a:r>
            <a:r>
              <a:rPr lang="en-US" sz="2100" kern="1200" dirty="0" smtClean="0"/>
              <a:t> Revolution</a:t>
            </a:r>
            <a:endParaRPr lang="en-US" sz="2100" kern="1200" dirty="0"/>
          </a:p>
        </p:txBody>
      </p:sp>
      <p:sp>
        <p:nvSpPr>
          <p:cNvPr id="20" name="Figura a mano libera 19"/>
          <p:cNvSpPr/>
          <p:nvPr/>
        </p:nvSpPr>
        <p:spPr>
          <a:xfrm>
            <a:off x="3671417" y="3709631"/>
            <a:ext cx="1779828" cy="2039885"/>
          </a:xfrm>
          <a:custGeom>
            <a:avLst/>
            <a:gdLst>
              <a:gd name="connsiteX0" fmla="*/ 0 w 1779828"/>
              <a:gd name="connsiteY0" fmla="*/ 0 h 2039885"/>
              <a:gd name="connsiteX1" fmla="*/ 1779828 w 1779828"/>
              <a:gd name="connsiteY1" fmla="*/ 0 h 2039885"/>
              <a:gd name="connsiteX2" fmla="*/ 1779828 w 1779828"/>
              <a:gd name="connsiteY2" fmla="*/ 2039885 h 2039885"/>
              <a:gd name="connsiteX3" fmla="*/ 0 w 1779828"/>
              <a:gd name="connsiteY3" fmla="*/ 2039885 h 2039885"/>
              <a:gd name="connsiteX4" fmla="*/ 0 w 1779828"/>
              <a:gd name="connsiteY4" fmla="*/ 0 h 20398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828" h="2039885">
                <a:moveTo>
                  <a:pt x="0" y="0"/>
                </a:moveTo>
                <a:lnTo>
                  <a:pt x="1779828" y="0"/>
                </a:lnTo>
                <a:lnTo>
                  <a:pt x="1779828" y="2039885"/>
                </a:lnTo>
                <a:lnTo>
                  <a:pt x="0" y="2039885"/>
                </a:lnTo>
                <a:lnTo>
                  <a:pt x="0" y="0"/>
                </a:lnTo>
                <a:close/>
              </a:path>
            </a:pathLst>
          </a:custGeom>
        </p:spPr>
        <p:style>
          <a:lnRef idx="2">
            <a:schemeClr val="accent4">
              <a:hueOff val="1096956"/>
              <a:satOff val="4755"/>
              <a:lumOff val="3137"/>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US" sz="2100" kern="1200" dirty="0" smtClean="0"/>
              <a:t>[Big Data]</a:t>
            </a:r>
          </a:p>
          <a:p>
            <a:pPr lvl="0" algn="l" defTabSz="933450">
              <a:lnSpc>
                <a:spcPct val="90000"/>
              </a:lnSpc>
              <a:spcBef>
                <a:spcPct val="0"/>
              </a:spcBef>
              <a:spcAft>
                <a:spcPct val="35000"/>
              </a:spcAft>
            </a:pPr>
            <a:r>
              <a:rPr lang="en-US" sz="2100" i="1" kern="1200" dirty="0" smtClean="0">
                <a:solidFill>
                  <a:srgbClr val="0070C0"/>
                </a:solidFill>
              </a:rPr>
              <a:t>Cloud-based </a:t>
            </a:r>
            <a:r>
              <a:rPr lang="en-US" sz="2100" i="1" kern="1200" dirty="0" err="1" smtClean="0">
                <a:solidFill>
                  <a:srgbClr val="0070C0"/>
                </a:solidFill>
              </a:rPr>
              <a:t>EcoSystem</a:t>
            </a:r>
            <a:r>
              <a:rPr lang="en-US" sz="2100" i="1" kern="1200" dirty="0" smtClean="0">
                <a:solidFill>
                  <a:srgbClr val="0070C0"/>
                </a:solidFill>
              </a:rPr>
              <a:t> </a:t>
            </a:r>
            <a:endParaRPr lang="en-US" sz="2100" i="1" kern="1200" dirty="0">
              <a:solidFill>
                <a:srgbClr val="0070C0"/>
              </a:solidFill>
            </a:endParaRPr>
          </a:p>
        </p:txBody>
      </p:sp>
      <p:sp>
        <p:nvSpPr>
          <p:cNvPr id="21" name="Figura a mano libera 20"/>
          <p:cNvSpPr/>
          <p:nvPr/>
        </p:nvSpPr>
        <p:spPr>
          <a:xfrm>
            <a:off x="5451246" y="3215500"/>
            <a:ext cx="2382113" cy="1124148"/>
          </a:xfrm>
          <a:custGeom>
            <a:avLst/>
            <a:gdLst>
              <a:gd name="connsiteX0" fmla="*/ 0 w 2382113"/>
              <a:gd name="connsiteY0" fmla="*/ 281037 h 1124148"/>
              <a:gd name="connsiteX1" fmla="*/ 1820039 w 2382113"/>
              <a:gd name="connsiteY1" fmla="*/ 281037 h 1124148"/>
              <a:gd name="connsiteX2" fmla="*/ 1820039 w 2382113"/>
              <a:gd name="connsiteY2" fmla="*/ 0 h 1124148"/>
              <a:gd name="connsiteX3" fmla="*/ 2382113 w 2382113"/>
              <a:gd name="connsiteY3" fmla="*/ 562074 h 1124148"/>
              <a:gd name="connsiteX4" fmla="*/ 1820039 w 2382113"/>
              <a:gd name="connsiteY4" fmla="*/ 1124148 h 1124148"/>
              <a:gd name="connsiteX5" fmla="*/ 1820039 w 2382113"/>
              <a:gd name="connsiteY5" fmla="*/ 843111 h 1124148"/>
              <a:gd name="connsiteX6" fmla="*/ 0 w 2382113"/>
              <a:gd name="connsiteY6" fmla="*/ 843111 h 1124148"/>
              <a:gd name="connsiteX7" fmla="*/ 0 w 2382113"/>
              <a:gd name="connsiteY7" fmla="*/ 281037 h 112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2113" h="1124148">
                <a:moveTo>
                  <a:pt x="0" y="281037"/>
                </a:moveTo>
                <a:lnTo>
                  <a:pt x="1820039" y="281037"/>
                </a:lnTo>
                <a:lnTo>
                  <a:pt x="1820039" y="0"/>
                </a:lnTo>
                <a:lnTo>
                  <a:pt x="2382113" y="562074"/>
                </a:lnTo>
                <a:lnTo>
                  <a:pt x="1820039" y="1124148"/>
                </a:lnTo>
                <a:lnTo>
                  <a:pt x="1820039" y="843111"/>
                </a:lnTo>
                <a:lnTo>
                  <a:pt x="0" y="843111"/>
                </a:lnTo>
                <a:lnTo>
                  <a:pt x="0" y="281037"/>
                </a:lnTo>
                <a:close/>
              </a:path>
            </a:pathLst>
          </a:custGeom>
        </p:spPr>
        <p:style>
          <a:lnRef idx="3">
            <a:schemeClr val="lt1">
              <a:hueOff val="0"/>
              <a:satOff val="0"/>
              <a:lumOff val="0"/>
              <a:alphaOff val="0"/>
            </a:schemeClr>
          </a:lnRef>
          <a:fillRef idx="1">
            <a:schemeClr val="accent4">
              <a:hueOff val="1645434"/>
              <a:satOff val="7132"/>
              <a:lumOff val="4706"/>
              <a:alphaOff val="0"/>
            </a:schemeClr>
          </a:fillRef>
          <a:effectRef idx="1">
            <a:schemeClr val="accent4">
              <a:hueOff val="1645434"/>
              <a:satOff val="7132"/>
              <a:lumOff val="4706"/>
              <a:alphaOff val="0"/>
            </a:schemeClr>
          </a:effectRef>
          <a:fontRef idx="minor">
            <a:schemeClr val="lt1"/>
          </a:fontRef>
        </p:style>
        <p:txBody>
          <a:bodyPr spcFirstLastPara="0" vert="horz" wrap="square" lIns="80010" tIns="361047" rIns="535037" bIns="459496" numCol="1" spcCol="1270" anchor="ctr" anchorCtr="0">
            <a:noAutofit/>
          </a:bodyPr>
          <a:lstStyle/>
          <a:p>
            <a:pPr lvl="0" algn="l" defTabSz="933450">
              <a:lnSpc>
                <a:spcPct val="90000"/>
              </a:lnSpc>
              <a:spcBef>
                <a:spcPct val="0"/>
              </a:spcBef>
              <a:spcAft>
                <a:spcPct val="35000"/>
              </a:spcAft>
            </a:pPr>
            <a:r>
              <a:rPr lang="en-US" sz="2100" kern="1200" dirty="0" smtClean="0"/>
              <a:t>4</a:t>
            </a:r>
            <a:r>
              <a:rPr lang="en-US" sz="2100" kern="1200" baseline="30000" dirty="0" smtClean="0"/>
              <a:t>th</a:t>
            </a:r>
            <a:r>
              <a:rPr lang="en-US" sz="2100" kern="1200" dirty="0" smtClean="0"/>
              <a:t> Revolution</a:t>
            </a:r>
            <a:endParaRPr lang="en-US" sz="2100" kern="1200" dirty="0"/>
          </a:p>
        </p:txBody>
      </p:sp>
      <p:sp>
        <p:nvSpPr>
          <p:cNvPr id="22" name="Figura a mano libera 21"/>
          <p:cNvSpPr/>
          <p:nvPr/>
        </p:nvSpPr>
        <p:spPr>
          <a:xfrm>
            <a:off x="5451246" y="4084214"/>
            <a:ext cx="1796044" cy="2063795"/>
          </a:xfrm>
          <a:custGeom>
            <a:avLst/>
            <a:gdLst>
              <a:gd name="connsiteX0" fmla="*/ 0 w 1796044"/>
              <a:gd name="connsiteY0" fmla="*/ 0 h 2063795"/>
              <a:gd name="connsiteX1" fmla="*/ 1796044 w 1796044"/>
              <a:gd name="connsiteY1" fmla="*/ 0 h 2063795"/>
              <a:gd name="connsiteX2" fmla="*/ 1796044 w 1796044"/>
              <a:gd name="connsiteY2" fmla="*/ 2063795 h 2063795"/>
              <a:gd name="connsiteX3" fmla="*/ 0 w 1796044"/>
              <a:gd name="connsiteY3" fmla="*/ 2063795 h 2063795"/>
              <a:gd name="connsiteX4" fmla="*/ 0 w 1796044"/>
              <a:gd name="connsiteY4" fmla="*/ 0 h 2063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6044" h="2063795">
                <a:moveTo>
                  <a:pt x="0" y="0"/>
                </a:moveTo>
                <a:lnTo>
                  <a:pt x="1796044" y="0"/>
                </a:lnTo>
                <a:lnTo>
                  <a:pt x="1796044" y="2063795"/>
                </a:lnTo>
                <a:lnTo>
                  <a:pt x="0" y="2063795"/>
                </a:lnTo>
                <a:lnTo>
                  <a:pt x="0" y="0"/>
                </a:lnTo>
                <a:close/>
              </a:path>
            </a:pathLst>
          </a:custGeom>
        </p:spPr>
        <p:style>
          <a:lnRef idx="2">
            <a:schemeClr val="accent4">
              <a:hueOff val="1645434"/>
              <a:satOff val="7132"/>
              <a:lumOff val="4706"/>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US" sz="2100" kern="1200" dirty="0" smtClean="0"/>
              <a:t>[… .]</a:t>
            </a:r>
          </a:p>
          <a:p>
            <a:pPr lvl="0" algn="l" defTabSz="933450">
              <a:lnSpc>
                <a:spcPct val="90000"/>
              </a:lnSpc>
              <a:spcBef>
                <a:spcPct val="0"/>
              </a:spcBef>
              <a:spcAft>
                <a:spcPct val="35000"/>
              </a:spcAft>
            </a:pPr>
            <a:endParaRPr lang="en-US" sz="2100" kern="1200" baseline="-25000" dirty="0" smtClean="0"/>
          </a:p>
          <a:p>
            <a:pPr lvl="0" algn="l" defTabSz="933450">
              <a:lnSpc>
                <a:spcPct val="90000"/>
              </a:lnSpc>
              <a:spcBef>
                <a:spcPct val="0"/>
              </a:spcBef>
              <a:spcAft>
                <a:spcPct val="35000"/>
              </a:spcAft>
            </a:pPr>
            <a:r>
              <a:rPr lang="en-US" sz="2100" i="1" kern="1200" dirty="0" smtClean="0">
                <a:solidFill>
                  <a:srgbClr val="0070C0"/>
                </a:solidFill>
              </a:rPr>
              <a:t>… .</a:t>
            </a:r>
            <a:endParaRPr lang="en-US" sz="2100" i="1" kern="1200" dirty="0">
              <a:solidFill>
                <a:srgbClr val="0070C0"/>
              </a:solidFill>
            </a:endParaRPr>
          </a:p>
        </p:txBody>
      </p:sp>
      <p:pic>
        <p:nvPicPr>
          <p:cNvPr id="34" name="Immagine 33"/>
          <p:cNvPicPr>
            <a:picLocks noChangeAspect="1"/>
          </p:cNvPicPr>
          <p:nvPr/>
        </p:nvPicPr>
        <p:blipFill>
          <a:blip r:embed="rId3" cstate="print"/>
          <a:stretch>
            <a:fillRect/>
          </a:stretch>
        </p:blipFill>
        <p:spPr>
          <a:xfrm>
            <a:off x="116965" y="4348215"/>
            <a:ext cx="1465478" cy="1025027"/>
          </a:xfrm>
          <a:prstGeom prst="rect">
            <a:avLst/>
          </a:prstGeom>
        </p:spPr>
      </p:pic>
      <p:pic>
        <p:nvPicPr>
          <p:cNvPr id="36" name="Immagine 35"/>
          <p:cNvPicPr>
            <a:picLocks noChangeAspect="1"/>
          </p:cNvPicPr>
          <p:nvPr/>
        </p:nvPicPr>
        <p:blipFill>
          <a:blip r:embed="rId4" cstate="print"/>
          <a:stretch>
            <a:fillRect/>
          </a:stretch>
        </p:blipFill>
        <p:spPr>
          <a:xfrm>
            <a:off x="1621229" y="4860728"/>
            <a:ext cx="1580979" cy="1038971"/>
          </a:xfrm>
          <a:prstGeom prst="rect">
            <a:avLst/>
          </a:prstGeom>
        </p:spPr>
      </p:pic>
      <p:pic>
        <p:nvPicPr>
          <p:cNvPr id="38" name="Immagine 37"/>
          <p:cNvPicPr>
            <a:picLocks noChangeAspect="1"/>
          </p:cNvPicPr>
          <p:nvPr/>
        </p:nvPicPr>
        <p:blipFill>
          <a:blip r:embed="rId5" cstate="print"/>
          <a:stretch>
            <a:fillRect/>
          </a:stretch>
        </p:blipFill>
        <p:spPr>
          <a:xfrm>
            <a:off x="3351873" y="5116111"/>
            <a:ext cx="2057369" cy="1141154"/>
          </a:xfrm>
          <a:prstGeom prst="rect">
            <a:avLst/>
          </a:prstGeom>
        </p:spPr>
      </p:pic>
      <p:sp>
        <p:nvSpPr>
          <p:cNvPr id="8" name="Triangolo isoscele 7"/>
          <p:cNvSpPr/>
          <p:nvPr/>
        </p:nvSpPr>
        <p:spPr>
          <a:xfrm rot="5400000">
            <a:off x="139690" y="2050996"/>
            <a:ext cx="162560" cy="152400"/>
          </a:xfrm>
          <a:prstGeom prst="triangl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riangolo isoscele 25"/>
          <p:cNvSpPr/>
          <p:nvPr/>
        </p:nvSpPr>
        <p:spPr>
          <a:xfrm rot="5400000">
            <a:off x="2457886" y="2059278"/>
            <a:ext cx="162560" cy="152400"/>
          </a:xfrm>
          <a:prstGeom prst="triangl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riangolo isoscele 26"/>
          <p:cNvSpPr/>
          <p:nvPr/>
        </p:nvSpPr>
        <p:spPr>
          <a:xfrm rot="5400000">
            <a:off x="3590034" y="2059278"/>
            <a:ext cx="162560" cy="152400"/>
          </a:xfrm>
          <a:prstGeom prst="triangl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riangolo isoscele 27"/>
          <p:cNvSpPr/>
          <p:nvPr/>
        </p:nvSpPr>
        <p:spPr>
          <a:xfrm rot="5400000">
            <a:off x="4727336" y="2050996"/>
            <a:ext cx="162560" cy="152400"/>
          </a:xfrm>
          <a:prstGeom prst="triangl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magine 10"/>
          <p:cNvPicPr>
            <a:picLocks noChangeAspect="1"/>
          </p:cNvPicPr>
          <p:nvPr/>
        </p:nvPicPr>
        <p:blipFill>
          <a:blip r:embed="rId6" cstate="print"/>
          <a:stretch>
            <a:fillRect/>
          </a:stretch>
        </p:blipFill>
        <p:spPr>
          <a:xfrm>
            <a:off x="-36759" y="3512212"/>
            <a:ext cx="2013828" cy="973932"/>
          </a:xfrm>
          <a:prstGeom prst="rect">
            <a:avLst/>
          </a:prstGeom>
        </p:spPr>
      </p:pic>
      <p:pic>
        <p:nvPicPr>
          <p:cNvPr id="12" name="Immagine 11"/>
          <p:cNvPicPr>
            <a:picLocks noChangeAspect="1"/>
          </p:cNvPicPr>
          <p:nvPr/>
        </p:nvPicPr>
        <p:blipFill>
          <a:blip r:embed="rId7" cstate="print"/>
          <a:stretch>
            <a:fillRect/>
          </a:stretch>
        </p:blipFill>
        <p:spPr>
          <a:xfrm>
            <a:off x="2424651" y="4115908"/>
            <a:ext cx="2308634" cy="1139734"/>
          </a:xfrm>
          <a:prstGeom prst="rect">
            <a:avLst/>
          </a:prstGeom>
        </p:spPr>
      </p:pic>
      <p:grpSp>
        <p:nvGrpSpPr>
          <p:cNvPr id="10" name="Gruppo 32"/>
          <p:cNvGrpSpPr/>
          <p:nvPr/>
        </p:nvGrpSpPr>
        <p:grpSpPr>
          <a:xfrm>
            <a:off x="446998" y="5162846"/>
            <a:ext cx="2092167" cy="837616"/>
            <a:chOff x="446998" y="5162846"/>
            <a:chExt cx="2092167" cy="837616"/>
          </a:xfrm>
        </p:grpSpPr>
        <p:sp>
          <p:nvSpPr>
            <p:cNvPr id="14" name="Pentagono 13"/>
            <p:cNvSpPr/>
            <p:nvPr/>
          </p:nvSpPr>
          <p:spPr>
            <a:xfrm>
              <a:off x="446998" y="5162846"/>
              <a:ext cx="2092167" cy="837616"/>
            </a:xfrm>
            <a:prstGeom prst="homePlate">
              <a:avLst>
                <a:gd name="adj" fmla="val 28132"/>
              </a:avLst>
            </a:prstGeom>
            <a:solidFill>
              <a:srgbClr val="FFCC66"/>
            </a:solidFill>
            <a:ln>
              <a:solidFill>
                <a:srgbClr val="FF99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a:solidFill>
                    <a:srgbClr val="002060"/>
                  </a:solidFill>
                </a:rPr>
                <a:t>Discovery</a:t>
              </a:r>
            </a:p>
          </p:txBody>
        </p:sp>
        <p:sp>
          <p:nvSpPr>
            <p:cNvPr id="32" name="CasellaDiTesto 31"/>
            <p:cNvSpPr txBox="1"/>
            <p:nvPr/>
          </p:nvSpPr>
          <p:spPr>
            <a:xfrm>
              <a:off x="1098665" y="5718004"/>
              <a:ext cx="1208985" cy="276999"/>
            </a:xfrm>
            <a:prstGeom prst="rect">
              <a:avLst/>
            </a:prstGeom>
            <a:noFill/>
          </p:spPr>
          <p:txBody>
            <a:bodyPr wrap="none" rtlCol="0">
              <a:spAutoFit/>
            </a:bodyPr>
            <a:lstStyle/>
            <a:p>
              <a:r>
                <a:rPr lang="en-US" sz="1200" dirty="0" smtClean="0">
                  <a:solidFill>
                    <a:srgbClr val="002060"/>
                  </a:solidFill>
                </a:rPr>
                <a:t>[functionality]</a:t>
              </a:r>
              <a:endParaRPr lang="en-US" sz="1200" dirty="0">
                <a:solidFill>
                  <a:srgbClr val="002060"/>
                </a:solidFill>
              </a:endParaRPr>
            </a:p>
          </p:txBody>
        </p:sp>
      </p:grpSp>
      <p:grpSp>
        <p:nvGrpSpPr>
          <p:cNvPr id="13" name="Gruppo 39"/>
          <p:cNvGrpSpPr/>
          <p:nvPr/>
        </p:nvGrpSpPr>
        <p:grpSpPr>
          <a:xfrm>
            <a:off x="2913523" y="5480534"/>
            <a:ext cx="2707050" cy="956818"/>
            <a:chOff x="2913523" y="5480534"/>
            <a:chExt cx="2707050" cy="956818"/>
          </a:xfrm>
        </p:grpSpPr>
        <p:sp>
          <p:nvSpPr>
            <p:cNvPr id="37" name="Pentagono 36"/>
            <p:cNvSpPr/>
            <p:nvPr/>
          </p:nvSpPr>
          <p:spPr>
            <a:xfrm>
              <a:off x="2913523" y="5480534"/>
              <a:ext cx="2707050" cy="926155"/>
            </a:xfrm>
            <a:prstGeom prst="homePlate">
              <a:avLst>
                <a:gd name="adj" fmla="val 28132"/>
              </a:avLst>
            </a:prstGeom>
            <a:solidFill>
              <a:srgbClr val="FF9966"/>
            </a:solidFill>
            <a:ln>
              <a:solidFill>
                <a:srgbClr val="CC66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smtClean="0">
                  <a:solidFill>
                    <a:srgbClr val="002060"/>
                  </a:solidFill>
                </a:rPr>
                <a:t>Discovery and Access</a:t>
              </a:r>
              <a:endParaRPr lang="en-US" sz="2000" dirty="0">
                <a:solidFill>
                  <a:srgbClr val="002060"/>
                </a:solidFill>
              </a:endParaRPr>
            </a:p>
          </p:txBody>
        </p:sp>
        <p:sp>
          <p:nvSpPr>
            <p:cNvPr id="39" name="CasellaDiTesto 38"/>
            <p:cNvSpPr txBox="1"/>
            <p:nvPr/>
          </p:nvSpPr>
          <p:spPr>
            <a:xfrm>
              <a:off x="4257980" y="6160353"/>
              <a:ext cx="1208985" cy="276999"/>
            </a:xfrm>
            <a:prstGeom prst="rect">
              <a:avLst/>
            </a:prstGeom>
            <a:noFill/>
          </p:spPr>
          <p:txBody>
            <a:bodyPr wrap="none" rtlCol="0">
              <a:spAutoFit/>
            </a:bodyPr>
            <a:lstStyle/>
            <a:p>
              <a:r>
                <a:rPr lang="en-US" sz="1200" dirty="0" smtClean="0">
                  <a:solidFill>
                    <a:srgbClr val="002060"/>
                  </a:solidFill>
                </a:rPr>
                <a:t>[functionality]</a:t>
              </a:r>
              <a:endParaRPr lang="en-US" sz="1200" dirty="0">
                <a:solidFill>
                  <a:srgbClr val="002060"/>
                </a:solidFill>
              </a:endParaRPr>
            </a:p>
          </p:txBody>
        </p:sp>
      </p:grpSp>
      <p:pic>
        <p:nvPicPr>
          <p:cNvPr id="41" name="Immagine 40"/>
          <p:cNvPicPr>
            <a:picLocks noChangeAspect="1"/>
          </p:cNvPicPr>
          <p:nvPr/>
        </p:nvPicPr>
        <p:blipFill>
          <a:blip r:embed="rId8" cstate="print"/>
          <a:stretch>
            <a:fillRect/>
          </a:stretch>
        </p:blipFill>
        <p:spPr>
          <a:xfrm>
            <a:off x="5808003" y="5117506"/>
            <a:ext cx="1822274" cy="1257917"/>
          </a:xfrm>
          <a:prstGeom prst="rect">
            <a:avLst/>
          </a:prstGeom>
        </p:spPr>
      </p:pic>
      <p:grpSp>
        <p:nvGrpSpPr>
          <p:cNvPr id="23" name="Gruppo 41"/>
          <p:cNvGrpSpPr/>
          <p:nvPr/>
        </p:nvGrpSpPr>
        <p:grpSpPr>
          <a:xfrm>
            <a:off x="6682781" y="5804987"/>
            <a:ext cx="2269851" cy="956818"/>
            <a:chOff x="2913523" y="5480534"/>
            <a:chExt cx="2707050" cy="956818"/>
          </a:xfrm>
        </p:grpSpPr>
        <p:sp>
          <p:nvSpPr>
            <p:cNvPr id="43" name="Pentagono 42"/>
            <p:cNvSpPr/>
            <p:nvPr/>
          </p:nvSpPr>
          <p:spPr>
            <a:xfrm>
              <a:off x="2913523" y="5480534"/>
              <a:ext cx="2707050" cy="926155"/>
            </a:xfrm>
            <a:prstGeom prst="homePlate">
              <a:avLst>
                <a:gd name="adj" fmla="val 28132"/>
              </a:avLst>
            </a:prstGeom>
            <a:solidFill>
              <a:srgbClr val="FF6600"/>
            </a:solidFill>
            <a:ln>
              <a:solidFill>
                <a:srgbClr val="CC33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smtClean="0">
                  <a:solidFill>
                    <a:srgbClr val="002060"/>
                  </a:solidFill>
                </a:rPr>
                <a:t>(re-)Use</a:t>
              </a:r>
              <a:endParaRPr lang="en-US" sz="2000" dirty="0">
                <a:solidFill>
                  <a:srgbClr val="002060"/>
                </a:solidFill>
              </a:endParaRPr>
            </a:p>
          </p:txBody>
        </p:sp>
        <p:sp>
          <p:nvSpPr>
            <p:cNvPr id="44" name="CasellaDiTesto 43"/>
            <p:cNvSpPr txBox="1"/>
            <p:nvPr/>
          </p:nvSpPr>
          <p:spPr>
            <a:xfrm>
              <a:off x="4015641" y="6160353"/>
              <a:ext cx="1208985" cy="276999"/>
            </a:xfrm>
            <a:prstGeom prst="rect">
              <a:avLst/>
            </a:prstGeom>
            <a:noFill/>
          </p:spPr>
          <p:txBody>
            <a:bodyPr wrap="none" rtlCol="0">
              <a:spAutoFit/>
            </a:bodyPr>
            <a:lstStyle/>
            <a:p>
              <a:r>
                <a:rPr lang="en-US" sz="1200" dirty="0" smtClean="0">
                  <a:solidFill>
                    <a:srgbClr val="002060"/>
                  </a:solidFill>
                </a:rPr>
                <a:t>[functionality]</a:t>
              </a:r>
              <a:endParaRPr lang="en-US" sz="1200" dirty="0">
                <a:solidFill>
                  <a:srgbClr val="002060"/>
                </a:solidFill>
              </a:endParaRPr>
            </a:p>
          </p:txBody>
        </p:sp>
      </p:grpSp>
    </p:spTree>
    <p:extLst>
      <p:ext uri="{BB962C8B-B14F-4D97-AF65-F5344CB8AC3E}">
        <p14:creationId xmlns="" xmlns:p14="http://schemas.microsoft.com/office/powerpoint/2010/main" val="156627047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0-#ppt_w/2"/>
                                          </p:val>
                                        </p:tav>
                                        <p:tav tm="100000">
                                          <p:val>
                                            <p:strVal val="#ppt_x"/>
                                          </p:val>
                                        </p:tav>
                                      </p:tavLst>
                                    </p:anim>
                                    <p:anim calcmode="lin" valueType="num">
                                      <p:cBhvr additive="base">
                                        <p:cTn id="16" dur="5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0-#ppt_w/2"/>
                                          </p:val>
                                        </p:tav>
                                        <p:tav tm="100000">
                                          <p:val>
                                            <p:strVal val="#ppt_x"/>
                                          </p:val>
                                        </p:tav>
                                      </p:tavLst>
                                    </p:anim>
                                    <p:anim calcmode="lin" valueType="num">
                                      <p:cBhvr additive="base">
                                        <p:cTn id="25" dur="500" fill="hold"/>
                                        <p:tgtEl>
                                          <p:spTgt spid="16"/>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2" presetClass="entr" presetSubtype="8" fill="hold" nodeType="after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500" fill="hold"/>
                                        <p:tgtEl>
                                          <p:spTgt spid="34"/>
                                        </p:tgtEl>
                                        <p:attrNameLst>
                                          <p:attrName>ppt_x</p:attrName>
                                        </p:attrNameLst>
                                      </p:cBhvr>
                                      <p:tavLst>
                                        <p:tav tm="0">
                                          <p:val>
                                            <p:strVal val="0-#ppt_w/2"/>
                                          </p:val>
                                        </p:tav>
                                        <p:tav tm="100000">
                                          <p:val>
                                            <p:strVal val="#ppt_x"/>
                                          </p:val>
                                        </p:tav>
                                      </p:tavLst>
                                    </p:anim>
                                    <p:anim calcmode="lin" valueType="num">
                                      <p:cBhvr additive="base">
                                        <p:cTn id="30"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0-#ppt_w/2"/>
                                          </p:val>
                                        </p:tav>
                                        <p:tav tm="100000">
                                          <p:val>
                                            <p:strVal val="#ppt_x"/>
                                          </p:val>
                                        </p:tav>
                                      </p:tavLst>
                                    </p:anim>
                                    <p:anim calcmode="lin" valueType="num">
                                      <p:cBhvr additive="base">
                                        <p:cTn id="36" dur="500" fill="hold"/>
                                        <p:tgtEl>
                                          <p:spTgt spid="1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0-#ppt_w/2"/>
                                          </p:val>
                                        </p:tav>
                                        <p:tav tm="100000">
                                          <p:val>
                                            <p:strVal val="#ppt_x"/>
                                          </p:val>
                                        </p:tav>
                                      </p:tavLst>
                                    </p:anim>
                                    <p:anim calcmode="lin" valueType="num">
                                      <p:cBhvr additive="base">
                                        <p:cTn id="40" dur="500" fill="hold"/>
                                        <p:tgtEl>
                                          <p:spTgt spid="5"/>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0-#ppt_w/2"/>
                                          </p:val>
                                        </p:tav>
                                        <p:tav tm="100000">
                                          <p:val>
                                            <p:strVal val="#ppt_x"/>
                                          </p:val>
                                        </p:tav>
                                      </p:tavLst>
                                    </p:anim>
                                    <p:anim calcmode="lin" valueType="num">
                                      <p:cBhvr additive="base">
                                        <p:cTn id="44" dur="500" fill="hold"/>
                                        <p:tgtEl>
                                          <p:spTgt spid="26"/>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2" presetClass="entr" presetSubtype="8"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0-#ppt_w/2"/>
                                          </p:val>
                                        </p:tav>
                                        <p:tav tm="100000">
                                          <p:val>
                                            <p:strVal val="#ppt_x"/>
                                          </p:val>
                                        </p:tav>
                                      </p:tavLst>
                                    </p:anim>
                                    <p:anim calcmode="lin" valueType="num">
                                      <p:cBhvr additive="base">
                                        <p:cTn id="49" dur="500" fill="hold"/>
                                        <p:tgtEl>
                                          <p:spTgt spid="18"/>
                                        </p:tgtEl>
                                        <p:attrNameLst>
                                          <p:attrName>ppt_y</p:attrName>
                                        </p:attrNameLst>
                                      </p:cBhvr>
                                      <p:tavLst>
                                        <p:tav tm="0">
                                          <p:val>
                                            <p:strVal val="#ppt_y"/>
                                          </p:val>
                                        </p:tav>
                                        <p:tav tm="100000">
                                          <p:val>
                                            <p:strVal val="#ppt_y"/>
                                          </p:val>
                                        </p:tav>
                                      </p:tavLst>
                                    </p:anim>
                                  </p:childTnLst>
                                </p:cTn>
                              </p:par>
                            </p:childTnLst>
                          </p:cTn>
                        </p:par>
                        <p:par>
                          <p:cTn id="50" fill="hold">
                            <p:stCondLst>
                              <p:cond delay="1000"/>
                            </p:stCondLst>
                            <p:childTnLst>
                              <p:par>
                                <p:cTn id="51" presetID="2" presetClass="entr" presetSubtype="8" fill="hold" nodeType="afterEffect">
                                  <p:stCondLst>
                                    <p:cond delay="0"/>
                                  </p:stCondLst>
                                  <p:childTnLst>
                                    <p:set>
                                      <p:cBhvr>
                                        <p:cTn id="52" dur="1" fill="hold">
                                          <p:stCondLst>
                                            <p:cond delay="0"/>
                                          </p:stCondLst>
                                        </p:cTn>
                                        <p:tgtEl>
                                          <p:spTgt spid="36"/>
                                        </p:tgtEl>
                                        <p:attrNameLst>
                                          <p:attrName>style.visibility</p:attrName>
                                        </p:attrNameLst>
                                      </p:cBhvr>
                                      <p:to>
                                        <p:strVal val="visible"/>
                                      </p:to>
                                    </p:set>
                                    <p:anim calcmode="lin" valueType="num">
                                      <p:cBhvr additive="base">
                                        <p:cTn id="53" dur="500" fill="hold"/>
                                        <p:tgtEl>
                                          <p:spTgt spid="36"/>
                                        </p:tgtEl>
                                        <p:attrNameLst>
                                          <p:attrName>ppt_x</p:attrName>
                                        </p:attrNameLst>
                                      </p:cBhvr>
                                      <p:tavLst>
                                        <p:tav tm="0">
                                          <p:val>
                                            <p:strVal val="0-#ppt_w/2"/>
                                          </p:val>
                                        </p:tav>
                                        <p:tav tm="100000">
                                          <p:val>
                                            <p:strVal val="#ppt_x"/>
                                          </p:val>
                                        </p:tav>
                                      </p:tavLst>
                                    </p:anim>
                                    <p:anim calcmode="lin" valueType="num">
                                      <p:cBhvr additive="base">
                                        <p:cTn id="54"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0-#ppt_w/2"/>
                                          </p:val>
                                        </p:tav>
                                        <p:tav tm="100000">
                                          <p:val>
                                            <p:strVal val="#ppt_x"/>
                                          </p:val>
                                        </p:tav>
                                      </p:tavLst>
                                    </p:anim>
                                    <p:anim calcmode="lin" valueType="num">
                                      <p:cBhvr additive="base">
                                        <p:cTn id="60" dur="500" fill="hold"/>
                                        <p:tgtEl>
                                          <p:spTgt spid="19"/>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additive="base">
                                        <p:cTn id="63" dur="500" fill="hold"/>
                                        <p:tgtEl>
                                          <p:spTgt spid="6"/>
                                        </p:tgtEl>
                                        <p:attrNameLst>
                                          <p:attrName>ppt_x</p:attrName>
                                        </p:attrNameLst>
                                      </p:cBhvr>
                                      <p:tavLst>
                                        <p:tav tm="0">
                                          <p:val>
                                            <p:strVal val="0-#ppt_w/2"/>
                                          </p:val>
                                        </p:tav>
                                        <p:tav tm="100000">
                                          <p:val>
                                            <p:strVal val="#ppt_x"/>
                                          </p:val>
                                        </p:tav>
                                      </p:tavLst>
                                    </p:anim>
                                    <p:anim calcmode="lin" valueType="num">
                                      <p:cBhvr additive="base">
                                        <p:cTn id="64" dur="500" fill="hold"/>
                                        <p:tgtEl>
                                          <p:spTgt spid="6"/>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 calcmode="lin" valueType="num">
                                      <p:cBhvr additive="base">
                                        <p:cTn id="67" dur="500" fill="hold"/>
                                        <p:tgtEl>
                                          <p:spTgt spid="27"/>
                                        </p:tgtEl>
                                        <p:attrNameLst>
                                          <p:attrName>ppt_x</p:attrName>
                                        </p:attrNameLst>
                                      </p:cBhvr>
                                      <p:tavLst>
                                        <p:tav tm="0">
                                          <p:val>
                                            <p:strVal val="0-#ppt_w/2"/>
                                          </p:val>
                                        </p:tav>
                                        <p:tav tm="100000">
                                          <p:val>
                                            <p:strVal val="#ppt_x"/>
                                          </p:val>
                                        </p:tav>
                                      </p:tavLst>
                                    </p:anim>
                                    <p:anim calcmode="lin" valueType="num">
                                      <p:cBhvr additive="base">
                                        <p:cTn id="68" dur="500" fill="hold"/>
                                        <p:tgtEl>
                                          <p:spTgt spid="27"/>
                                        </p:tgtEl>
                                        <p:attrNameLst>
                                          <p:attrName>ppt_y</p:attrName>
                                        </p:attrNameLst>
                                      </p:cBhvr>
                                      <p:tavLst>
                                        <p:tav tm="0">
                                          <p:val>
                                            <p:strVal val="#ppt_y"/>
                                          </p:val>
                                        </p:tav>
                                        <p:tav tm="100000">
                                          <p:val>
                                            <p:strVal val="#ppt_y"/>
                                          </p:val>
                                        </p:tav>
                                      </p:tavLst>
                                    </p:anim>
                                  </p:childTnLst>
                                </p:cTn>
                              </p:par>
                            </p:childTnLst>
                          </p:cTn>
                        </p:par>
                        <p:par>
                          <p:cTn id="69" fill="hold">
                            <p:stCondLst>
                              <p:cond delay="500"/>
                            </p:stCondLst>
                            <p:childTnLst>
                              <p:par>
                                <p:cTn id="70" presetID="2" presetClass="entr" presetSubtype="8" fill="hold" grpId="0" nodeType="after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00" fill="hold"/>
                                        <p:tgtEl>
                                          <p:spTgt spid="20"/>
                                        </p:tgtEl>
                                        <p:attrNameLst>
                                          <p:attrName>ppt_x</p:attrName>
                                        </p:attrNameLst>
                                      </p:cBhvr>
                                      <p:tavLst>
                                        <p:tav tm="0">
                                          <p:val>
                                            <p:strVal val="0-#ppt_w/2"/>
                                          </p:val>
                                        </p:tav>
                                        <p:tav tm="100000">
                                          <p:val>
                                            <p:strVal val="#ppt_x"/>
                                          </p:val>
                                        </p:tav>
                                      </p:tavLst>
                                    </p:anim>
                                    <p:anim calcmode="lin" valueType="num">
                                      <p:cBhvr additive="base">
                                        <p:cTn id="73" dur="500" fill="hold"/>
                                        <p:tgtEl>
                                          <p:spTgt spid="20"/>
                                        </p:tgtEl>
                                        <p:attrNameLst>
                                          <p:attrName>ppt_y</p:attrName>
                                        </p:attrNameLst>
                                      </p:cBhvr>
                                      <p:tavLst>
                                        <p:tav tm="0">
                                          <p:val>
                                            <p:strVal val="#ppt_y"/>
                                          </p:val>
                                        </p:tav>
                                        <p:tav tm="100000">
                                          <p:val>
                                            <p:strVal val="#ppt_y"/>
                                          </p:val>
                                        </p:tav>
                                      </p:tavLst>
                                    </p:anim>
                                  </p:childTnLst>
                                </p:cTn>
                              </p:par>
                            </p:childTnLst>
                          </p:cTn>
                        </p:par>
                        <p:par>
                          <p:cTn id="74" fill="hold">
                            <p:stCondLst>
                              <p:cond delay="1000"/>
                            </p:stCondLst>
                            <p:childTnLst>
                              <p:par>
                                <p:cTn id="75" presetID="2" presetClass="entr" presetSubtype="8" fill="hold" nodeType="after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additive="base">
                                        <p:cTn id="77" dur="500" fill="hold"/>
                                        <p:tgtEl>
                                          <p:spTgt spid="38"/>
                                        </p:tgtEl>
                                        <p:attrNameLst>
                                          <p:attrName>ppt_x</p:attrName>
                                        </p:attrNameLst>
                                      </p:cBhvr>
                                      <p:tavLst>
                                        <p:tav tm="0">
                                          <p:val>
                                            <p:strVal val="0-#ppt_w/2"/>
                                          </p:val>
                                        </p:tav>
                                        <p:tav tm="100000">
                                          <p:val>
                                            <p:strVal val="#ppt_x"/>
                                          </p:val>
                                        </p:tav>
                                      </p:tavLst>
                                    </p:anim>
                                    <p:anim calcmode="lin" valueType="num">
                                      <p:cBhvr additive="base">
                                        <p:cTn id="78"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500" fill="hold"/>
                                        <p:tgtEl>
                                          <p:spTgt spid="21"/>
                                        </p:tgtEl>
                                        <p:attrNameLst>
                                          <p:attrName>ppt_x</p:attrName>
                                        </p:attrNameLst>
                                      </p:cBhvr>
                                      <p:tavLst>
                                        <p:tav tm="0">
                                          <p:val>
                                            <p:strVal val="0-#ppt_w/2"/>
                                          </p:val>
                                        </p:tav>
                                        <p:tav tm="100000">
                                          <p:val>
                                            <p:strVal val="#ppt_x"/>
                                          </p:val>
                                        </p:tav>
                                      </p:tavLst>
                                    </p:anim>
                                    <p:anim calcmode="lin" valueType="num">
                                      <p:cBhvr additive="base">
                                        <p:cTn id="84" dur="500" fill="hold"/>
                                        <p:tgtEl>
                                          <p:spTgt spid="21"/>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6" dur="1" fill="hold">
                                          <p:stCondLst>
                                            <p:cond delay="0"/>
                                          </p:stCondLst>
                                        </p:cTn>
                                        <p:tgtEl>
                                          <p:spTgt spid="7"/>
                                        </p:tgtEl>
                                        <p:attrNameLst>
                                          <p:attrName>style.visibility</p:attrName>
                                        </p:attrNameLst>
                                      </p:cBhvr>
                                      <p:to>
                                        <p:strVal val="visible"/>
                                      </p:to>
                                    </p:set>
                                    <p:anim calcmode="lin" valueType="num">
                                      <p:cBhvr additive="base">
                                        <p:cTn id="87" dur="500" fill="hold"/>
                                        <p:tgtEl>
                                          <p:spTgt spid="7"/>
                                        </p:tgtEl>
                                        <p:attrNameLst>
                                          <p:attrName>ppt_x</p:attrName>
                                        </p:attrNameLst>
                                      </p:cBhvr>
                                      <p:tavLst>
                                        <p:tav tm="0">
                                          <p:val>
                                            <p:strVal val="0-#ppt_w/2"/>
                                          </p:val>
                                        </p:tav>
                                        <p:tav tm="100000">
                                          <p:val>
                                            <p:strVal val="#ppt_x"/>
                                          </p:val>
                                        </p:tav>
                                      </p:tavLst>
                                    </p:anim>
                                    <p:anim calcmode="lin" valueType="num">
                                      <p:cBhvr additive="base">
                                        <p:cTn id="88" dur="500" fill="hold"/>
                                        <p:tgtEl>
                                          <p:spTgt spid="7"/>
                                        </p:tgtEl>
                                        <p:attrNameLst>
                                          <p:attrName>ppt_y</p:attrName>
                                        </p:attrNameLst>
                                      </p:cBhvr>
                                      <p:tavLst>
                                        <p:tav tm="0">
                                          <p:val>
                                            <p:strVal val="#ppt_y"/>
                                          </p:val>
                                        </p:tav>
                                        <p:tav tm="100000">
                                          <p:val>
                                            <p:strVal val="#ppt_y"/>
                                          </p:val>
                                        </p:tav>
                                      </p:tavLst>
                                    </p:anim>
                                  </p:childTnLst>
                                </p:cTn>
                              </p:par>
                            </p:childTnLst>
                          </p:cTn>
                        </p:par>
                        <p:par>
                          <p:cTn id="89" fill="hold">
                            <p:stCondLst>
                              <p:cond delay="500"/>
                            </p:stCondLst>
                            <p:childTnLst>
                              <p:par>
                                <p:cTn id="90" presetID="2" presetClass="entr" presetSubtype="8" fill="hold" grpId="0" nodeType="after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additive="base">
                                        <p:cTn id="92" dur="500" fill="hold"/>
                                        <p:tgtEl>
                                          <p:spTgt spid="22"/>
                                        </p:tgtEl>
                                        <p:attrNameLst>
                                          <p:attrName>ppt_x</p:attrName>
                                        </p:attrNameLst>
                                      </p:cBhvr>
                                      <p:tavLst>
                                        <p:tav tm="0">
                                          <p:val>
                                            <p:strVal val="0-#ppt_w/2"/>
                                          </p:val>
                                        </p:tav>
                                        <p:tav tm="100000">
                                          <p:val>
                                            <p:strVal val="#ppt_x"/>
                                          </p:val>
                                        </p:tav>
                                      </p:tavLst>
                                    </p:anim>
                                    <p:anim calcmode="lin" valueType="num">
                                      <p:cBhvr additive="base">
                                        <p:cTn id="93" dur="500" fill="hold"/>
                                        <p:tgtEl>
                                          <p:spTgt spid="22"/>
                                        </p:tgtEl>
                                        <p:attrNameLst>
                                          <p:attrName>ppt_y</p:attrName>
                                        </p:attrNameLst>
                                      </p:cBhvr>
                                      <p:tavLst>
                                        <p:tav tm="0">
                                          <p:val>
                                            <p:strVal val="#ppt_y"/>
                                          </p:val>
                                        </p:tav>
                                        <p:tav tm="100000">
                                          <p:val>
                                            <p:strVal val="#ppt_y"/>
                                          </p:val>
                                        </p:tav>
                                      </p:tavLst>
                                    </p:anim>
                                  </p:childTnLst>
                                </p:cTn>
                              </p:par>
                              <p:par>
                                <p:cTn id="94" presetID="2" presetClass="entr" presetSubtype="8"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 calcmode="lin" valueType="num">
                                      <p:cBhvr additive="base">
                                        <p:cTn id="96" dur="500" fill="hold"/>
                                        <p:tgtEl>
                                          <p:spTgt spid="28"/>
                                        </p:tgtEl>
                                        <p:attrNameLst>
                                          <p:attrName>ppt_x</p:attrName>
                                        </p:attrNameLst>
                                      </p:cBhvr>
                                      <p:tavLst>
                                        <p:tav tm="0">
                                          <p:val>
                                            <p:strVal val="0-#ppt_w/2"/>
                                          </p:val>
                                        </p:tav>
                                        <p:tav tm="100000">
                                          <p:val>
                                            <p:strVal val="#ppt_x"/>
                                          </p:val>
                                        </p:tav>
                                      </p:tavLst>
                                    </p:anim>
                                    <p:anim calcmode="lin" valueType="num">
                                      <p:cBhvr additive="base">
                                        <p:cTn id="97" dur="500" fill="hold"/>
                                        <p:tgtEl>
                                          <p:spTgt spid="28"/>
                                        </p:tgtEl>
                                        <p:attrNameLst>
                                          <p:attrName>ppt_y</p:attrName>
                                        </p:attrNameLst>
                                      </p:cBhvr>
                                      <p:tavLst>
                                        <p:tav tm="0">
                                          <p:val>
                                            <p:strVal val="#ppt_y"/>
                                          </p:val>
                                        </p:tav>
                                        <p:tav tm="100000">
                                          <p:val>
                                            <p:strVal val="#ppt_y"/>
                                          </p:val>
                                        </p:tav>
                                      </p:tavLst>
                                    </p:anim>
                                  </p:childTnLst>
                                </p:cTn>
                              </p:par>
                            </p:childTnLst>
                          </p:cTn>
                        </p:par>
                        <p:par>
                          <p:cTn id="98" fill="hold">
                            <p:stCondLst>
                              <p:cond delay="1000"/>
                            </p:stCondLst>
                            <p:childTnLst>
                              <p:par>
                                <p:cTn id="99" presetID="2" presetClass="entr" presetSubtype="8" fill="hold" nodeType="afterEffect">
                                  <p:stCondLst>
                                    <p:cond delay="0"/>
                                  </p:stCondLst>
                                  <p:childTnLst>
                                    <p:set>
                                      <p:cBhvr>
                                        <p:cTn id="100" dur="1" fill="hold">
                                          <p:stCondLst>
                                            <p:cond delay="0"/>
                                          </p:stCondLst>
                                        </p:cTn>
                                        <p:tgtEl>
                                          <p:spTgt spid="41"/>
                                        </p:tgtEl>
                                        <p:attrNameLst>
                                          <p:attrName>style.visibility</p:attrName>
                                        </p:attrNameLst>
                                      </p:cBhvr>
                                      <p:to>
                                        <p:strVal val="visible"/>
                                      </p:to>
                                    </p:set>
                                    <p:anim calcmode="lin" valueType="num">
                                      <p:cBhvr additive="base">
                                        <p:cTn id="101" dur="500" fill="hold"/>
                                        <p:tgtEl>
                                          <p:spTgt spid="41"/>
                                        </p:tgtEl>
                                        <p:attrNameLst>
                                          <p:attrName>ppt_x</p:attrName>
                                        </p:attrNameLst>
                                      </p:cBhvr>
                                      <p:tavLst>
                                        <p:tav tm="0">
                                          <p:val>
                                            <p:strVal val="0-#ppt_w/2"/>
                                          </p:val>
                                        </p:tav>
                                        <p:tav tm="100000">
                                          <p:val>
                                            <p:strVal val="#ppt_x"/>
                                          </p:val>
                                        </p:tav>
                                      </p:tavLst>
                                    </p:anim>
                                    <p:anim calcmode="lin" valueType="num">
                                      <p:cBhvr additive="base">
                                        <p:cTn id="102"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6" presetClass="entr" presetSubtype="0" fill="hold" nodeType="clickEffect">
                                  <p:stCondLst>
                                    <p:cond delay="0"/>
                                  </p:stCondLst>
                                  <p:childTnLst>
                                    <p:set>
                                      <p:cBhvr>
                                        <p:cTn id="106" dur="1" fill="hold">
                                          <p:stCondLst>
                                            <p:cond delay="0"/>
                                          </p:stCondLst>
                                        </p:cTn>
                                        <p:tgtEl>
                                          <p:spTgt spid="11"/>
                                        </p:tgtEl>
                                        <p:attrNameLst>
                                          <p:attrName>style.visibility</p:attrName>
                                        </p:attrNameLst>
                                      </p:cBhvr>
                                      <p:to>
                                        <p:strVal val="visible"/>
                                      </p:to>
                                    </p:set>
                                    <p:animEffect transition="in" filter="wipe(down)">
                                      <p:cBhvr>
                                        <p:cTn id="107" dur="580">
                                          <p:stCondLst>
                                            <p:cond delay="0"/>
                                          </p:stCondLst>
                                        </p:cTn>
                                        <p:tgtEl>
                                          <p:spTgt spid="11"/>
                                        </p:tgtEl>
                                      </p:cBhvr>
                                    </p:animEffect>
                                    <p:anim calcmode="lin" valueType="num">
                                      <p:cBhvr>
                                        <p:cTn id="10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0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1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1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1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13" dur="26">
                                          <p:stCondLst>
                                            <p:cond delay="650"/>
                                          </p:stCondLst>
                                        </p:cTn>
                                        <p:tgtEl>
                                          <p:spTgt spid="11"/>
                                        </p:tgtEl>
                                      </p:cBhvr>
                                      <p:to x="100000" y="60000"/>
                                    </p:animScale>
                                    <p:animScale>
                                      <p:cBhvr>
                                        <p:cTn id="114" dur="166" decel="50000">
                                          <p:stCondLst>
                                            <p:cond delay="676"/>
                                          </p:stCondLst>
                                        </p:cTn>
                                        <p:tgtEl>
                                          <p:spTgt spid="11"/>
                                        </p:tgtEl>
                                      </p:cBhvr>
                                      <p:to x="100000" y="100000"/>
                                    </p:animScale>
                                    <p:animScale>
                                      <p:cBhvr>
                                        <p:cTn id="115" dur="26">
                                          <p:stCondLst>
                                            <p:cond delay="1312"/>
                                          </p:stCondLst>
                                        </p:cTn>
                                        <p:tgtEl>
                                          <p:spTgt spid="11"/>
                                        </p:tgtEl>
                                      </p:cBhvr>
                                      <p:to x="100000" y="80000"/>
                                    </p:animScale>
                                    <p:animScale>
                                      <p:cBhvr>
                                        <p:cTn id="116" dur="166" decel="50000">
                                          <p:stCondLst>
                                            <p:cond delay="1338"/>
                                          </p:stCondLst>
                                        </p:cTn>
                                        <p:tgtEl>
                                          <p:spTgt spid="11"/>
                                        </p:tgtEl>
                                      </p:cBhvr>
                                      <p:to x="100000" y="100000"/>
                                    </p:animScale>
                                    <p:animScale>
                                      <p:cBhvr>
                                        <p:cTn id="117" dur="26">
                                          <p:stCondLst>
                                            <p:cond delay="1642"/>
                                          </p:stCondLst>
                                        </p:cTn>
                                        <p:tgtEl>
                                          <p:spTgt spid="11"/>
                                        </p:tgtEl>
                                      </p:cBhvr>
                                      <p:to x="100000" y="90000"/>
                                    </p:animScale>
                                    <p:animScale>
                                      <p:cBhvr>
                                        <p:cTn id="118" dur="166" decel="50000">
                                          <p:stCondLst>
                                            <p:cond delay="1668"/>
                                          </p:stCondLst>
                                        </p:cTn>
                                        <p:tgtEl>
                                          <p:spTgt spid="11"/>
                                        </p:tgtEl>
                                      </p:cBhvr>
                                      <p:to x="100000" y="100000"/>
                                    </p:animScale>
                                    <p:animScale>
                                      <p:cBhvr>
                                        <p:cTn id="119" dur="26">
                                          <p:stCondLst>
                                            <p:cond delay="1808"/>
                                          </p:stCondLst>
                                        </p:cTn>
                                        <p:tgtEl>
                                          <p:spTgt spid="11"/>
                                        </p:tgtEl>
                                      </p:cBhvr>
                                      <p:to x="100000" y="95000"/>
                                    </p:animScale>
                                    <p:animScale>
                                      <p:cBhvr>
                                        <p:cTn id="120" dur="166" decel="50000">
                                          <p:stCondLst>
                                            <p:cond delay="1834"/>
                                          </p:stCondLst>
                                        </p:cTn>
                                        <p:tgtEl>
                                          <p:spTgt spid="11"/>
                                        </p:tgtEl>
                                      </p:cBhvr>
                                      <p:to x="100000" y="100000"/>
                                    </p:animScale>
                                  </p:childTnLst>
                                </p:cTn>
                              </p:par>
                            </p:childTnLst>
                          </p:cTn>
                        </p:par>
                        <p:par>
                          <p:cTn id="121" fill="hold">
                            <p:stCondLst>
                              <p:cond delay="2000"/>
                            </p:stCondLst>
                            <p:childTnLst>
                              <p:par>
                                <p:cTn id="122" presetID="26" presetClass="entr" presetSubtype="0" fill="hold" nodeType="afterEffect">
                                  <p:stCondLst>
                                    <p:cond delay="0"/>
                                  </p:stCondLst>
                                  <p:childTnLst>
                                    <p:set>
                                      <p:cBhvr>
                                        <p:cTn id="123" dur="1" fill="hold">
                                          <p:stCondLst>
                                            <p:cond delay="0"/>
                                          </p:stCondLst>
                                        </p:cTn>
                                        <p:tgtEl>
                                          <p:spTgt spid="12"/>
                                        </p:tgtEl>
                                        <p:attrNameLst>
                                          <p:attrName>style.visibility</p:attrName>
                                        </p:attrNameLst>
                                      </p:cBhvr>
                                      <p:to>
                                        <p:strVal val="visible"/>
                                      </p:to>
                                    </p:set>
                                    <p:animEffect transition="in" filter="wipe(down)">
                                      <p:cBhvr>
                                        <p:cTn id="124" dur="580">
                                          <p:stCondLst>
                                            <p:cond delay="0"/>
                                          </p:stCondLst>
                                        </p:cTn>
                                        <p:tgtEl>
                                          <p:spTgt spid="12"/>
                                        </p:tgtEl>
                                      </p:cBhvr>
                                    </p:animEffect>
                                    <p:anim calcmode="lin" valueType="num">
                                      <p:cBhvr>
                                        <p:cTn id="125"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26"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27"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28"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29"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30" dur="26">
                                          <p:stCondLst>
                                            <p:cond delay="650"/>
                                          </p:stCondLst>
                                        </p:cTn>
                                        <p:tgtEl>
                                          <p:spTgt spid="12"/>
                                        </p:tgtEl>
                                      </p:cBhvr>
                                      <p:to x="100000" y="60000"/>
                                    </p:animScale>
                                    <p:animScale>
                                      <p:cBhvr>
                                        <p:cTn id="131" dur="166" decel="50000">
                                          <p:stCondLst>
                                            <p:cond delay="676"/>
                                          </p:stCondLst>
                                        </p:cTn>
                                        <p:tgtEl>
                                          <p:spTgt spid="12"/>
                                        </p:tgtEl>
                                      </p:cBhvr>
                                      <p:to x="100000" y="100000"/>
                                    </p:animScale>
                                    <p:animScale>
                                      <p:cBhvr>
                                        <p:cTn id="132" dur="26">
                                          <p:stCondLst>
                                            <p:cond delay="1312"/>
                                          </p:stCondLst>
                                        </p:cTn>
                                        <p:tgtEl>
                                          <p:spTgt spid="12"/>
                                        </p:tgtEl>
                                      </p:cBhvr>
                                      <p:to x="100000" y="80000"/>
                                    </p:animScale>
                                    <p:animScale>
                                      <p:cBhvr>
                                        <p:cTn id="133" dur="166" decel="50000">
                                          <p:stCondLst>
                                            <p:cond delay="1338"/>
                                          </p:stCondLst>
                                        </p:cTn>
                                        <p:tgtEl>
                                          <p:spTgt spid="12"/>
                                        </p:tgtEl>
                                      </p:cBhvr>
                                      <p:to x="100000" y="100000"/>
                                    </p:animScale>
                                    <p:animScale>
                                      <p:cBhvr>
                                        <p:cTn id="134" dur="26">
                                          <p:stCondLst>
                                            <p:cond delay="1642"/>
                                          </p:stCondLst>
                                        </p:cTn>
                                        <p:tgtEl>
                                          <p:spTgt spid="12"/>
                                        </p:tgtEl>
                                      </p:cBhvr>
                                      <p:to x="100000" y="90000"/>
                                    </p:animScale>
                                    <p:animScale>
                                      <p:cBhvr>
                                        <p:cTn id="135" dur="166" decel="50000">
                                          <p:stCondLst>
                                            <p:cond delay="1668"/>
                                          </p:stCondLst>
                                        </p:cTn>
                                        <p:tgtEl>
                                          <p:spTgt spid="12"/>
                                        </p:tgtEl>
                                      </p:cBhvr>
                                      <p:to x="100000" y="100000"/>
                                    </p:animScale>
                                    <p:animScale>
                                      <p:cBhvr>
                                        <p:cTn id="136" dur="26">
                                          <p:stCondLst>
                                            <p:cond delay="1808"/>
                                          </p:stCondLst>
                                        </p:cTn>
                                        <p:tgtEl>
                                          <p:spTgt spid="12"/>
                                        </p:tgtEl>
                                      </p:cBhvr>
                                      <p:to x="100000" y="95000"/>
                                    </p:animScale>
                                    <p:animScale>
                                      <p:cBhvr>
                                        <p:cTn id="137" dur="166" decel="50000">
                                          <p:stCondLst>
                                            <p:cond delay="1834"/>
                                          </p:stCondLst>
                                        </p:cTn>
                                        <p:tgtEl>
                                          <p:spTgt spid="12"/>
                                        </p:tgtEl>
                                      </p:cBhvr>
                                      <p:to x="100000" y="100000"/>
                                    </p:animScale>
                                  </p:childTnLst>
                                </p:cTn>
                              </p:par>
                            </p:childTnLst>
                          </p:cTn>
                        </p:par>
                      </p:childTnLst>
                    </p:cTn>
                  </p:par>
                  <p:par>
                    <p:cTn id="138" fill="hold">
                      <p:stCondLst>
                        <p:cond delay="indefinite"/>
                      </p:stCondLst>
                      <p:childTnLst>
                        <p:par>
                          <p:cTn id="139" fill="hold">
                            <p:stCondLst>
                              <p:cond delay="0"/>
                            </p:stCondLst>
                            <p:childTnLst>
                              <p:par>
                                <p:cTn id="140" presetID="26" presetClass="entr" presetSubtype="0" fill="hold" nodeType="clickEffect">
                                  <p:stCondLst>
                                    <p:cond delay="0"/>
                                  </p:stCondLst>
                                  <p:childTnLst>
                                    <p:set>
                                      <p:cBhvr>
                                        <p:cTn id="141" dur="1" fill="hold">
                                          <p:stCondLst>
                                            <p:cond delay="0"/>
                                          </p:stCondLst>
                                        </p:cTn>
                                        <p:tgtEl>
                                          <p:spTgt spid="10"/>
                                        </p:tgtEl>
                                        <p:attrNameLst>
                                          <p:attrName>style.visibility</p:attrName>
                                        </p:attrNameLst>
                                      </p:cBhvr>
                                      <p:to>
                                        <p:strVal val="visible"/>
                                      </p:to>
                                    </p:set>
                                    <p:animEffect transition="in" filter="wipe(down)">
                                      <p:cBhvr>
                                        <p:cTn id="142" dur="580">
                                          <p:stCondLst>
                                            <p:cond delay="0"/>
                                          </p:stCondLst>
                                        </p:cTn>
                                        <p:tgtEl>
                                          <p:spTgt spid="10"/>
                                        </p:tgtEl>
                                      </p:cBhvr>
                                    </p:animEffect>
                                    <p:anim calcmode="lin" valueType="num">
                                      <p:cBhvr>
                                        <p:cTn id="143"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48" dur="26">
                                          <p:stCondLst>
                                            <p:cond delay="650"/>
                                          </p:stCondLst>
                                        </p:cTn>
                                        <p:tgtEl>
                                          <p:spTgt spid="10"/>
                                        </p:tgtEl>
                                      </p:cBhvr>
                                      <p:to x="100000" y="60000"/>
                                    </p:animScale>
                                    <p:animScale>
                                      <p:cBhvr>
                                        <p:cTn id="149" dur="166" decel="50000">
                                          <p:stCondLst>
                                            <p:cond delay="676"/>
                                          </p:stCondLst>
                                        </p:cTn>
                                        <p:tgtEl>
                                          <p:spTgt spid="10"/>
                                        </p:tgtEl>
                                      </p:cBhvr>
                                      <p:to x="100000" y="100000"/>
                                    </p:animScale>
                                    <p:animScale>
                                      <p:cBhvr>
                                        <p:cTn id="150" dur="26">
                                          <p:stCondLst>
                                            <p:cond delay="1312"/>
                                          </p:stCondLst>
                                        </p:cTn>
                                        <p:tgtEl>
                                          <p:spTgt spid="10"/>
                                        </p:tgtEl>
                                      </p:cBhvr>
                                      <p:to x="100000" y="80000"/>
                                    </p:animScale>
                                    <p:animScale>
                                      <p:cBhvr>
                                        <p:cTn id="151" dur="166" decel="50000">
                                          <p:stCondLst>
                                            <p:cond delay="1338"/>
                                          </p:stCondLst>
                                        </p:cTn>
                                        <p:tgtEl>
                                          <p:spTgt spid="10"/>
                                        </p:tgtEl>
                                      </p:cBhvr>
                                      <p:to x="100000" y="100000"/>
                                    </p:animScale>
                                    <p:animScale>
                                      <p:cBhvr>
                                        <p:cTn id="152" dur="26">
                                          <p:stCondLst>
                                            <p:cond delay="1642"/>
                                          </p:stCondLst>
                                        </p:cTn>
                                        <p:tgtEl>
                                          <p:spTgt spid="10"/>
                                        </p:tgtEl>
                                      </p:cBhvr>
                                      <p:to x="100000" y="90000"/>
                                    </p:animScale>
                                    <p:animScale>
                                      <p:cBhvr>
                                        <p:cTn id="153" dur="166" decel="50000">
                                          <p:stCondLst>
                                            <p:cond delay="1668"/>
                                          </p:stCondLst>
                                        </p:cTn>
                                        <p:tgtEl>
                                          <p:spTgt spid="10"/>
                                        </p:tgtEl>
                                      </p:cBhvr>
                                      <p:to x="100000" y="100000"/>
                                    </p:animScale>
                                    <p:animScale>
                                      <p:cBhvr>
                                        <p:cTn id="154" dur="26">
                                          <p:stCondLst>
                                            <p:cond delay="1808"/>
                                          </p:stCondLst>
                                        </p:cTn>
                                        <p:tgtEl>
                                          <p:spTgt spid="10"/>
                                        </p:tgtEl>
                                      </p:cBhvr>
                                      <p:to x="100000" y="95000"/>
                                    </p:animScale>
                                    <p:animScale>
                                      <p:cBhvr>
                                        <p:cTn id="155" dur="166" decel="50000">
                                          <p:stCondLst>
                                            <p:cond delay="1834"/>
                                          </p:stCondLst>
                                        </p:cTn>
                                        <p:tgtEl>
                                          <p:spTgt spid="10"/>
                                        </p:tgtEl>
                                      </p:cBhvr>
                                      <p:to x="100000" y="100000"/>
                                    </p:animScale>
                                  </p:childTnLst>
                                </p:cTn>
                              </p:par>
                            </p:childTnLst>
                          </p:cTn>
                        </p:par>
                        <p:par>
                          <p:cTn id="156" fill="hold">
                            <p:stCondLst>
                              <p:cond delay="2000"/>
                            </p:stCondLst>
                            <p:childTnLst>
                              <p:par>
                                <p:cTn id="157" presetID="26" presetClass="entr" presetSubtype="0" fill="hold" nodeType="afterEffect">
                                  <p:stCondLst>
                                    <p:cond delay="0"/>
                                  </p:stCondLst>
                                  <p:childTnLst>
                                    <p:set>
                                      <p:cBhvr>
                                        <p:cTn id="158" dur="1" fill="hold">
                                          <p:stCondLst>
                                            <p:cond delay="0"/>
                                          </p:stCondLst>
                                        </p:cTn>
                                        <p:tgtEl>
                                          <p:spTgt spid="13"/>
                                        </p:tgtEl>
                                        <p:attrNameLst>
                                          <p:attrName>style.visibility</p:attrName>
                                        </p:attrNameLst>
                                      </p:cBhvr>
                                      <p:to>
                                        <p:strVal val="visible"/>
                                      </p:to>
                                    </p:set>
                                    <p:animEffect transition="in" filter="wipe(down)">
                                      <p:cBhvr>
                                        <p:cTn id="159" dur="580">
                                          <p:stCondLst>
                                            <p:cond delay="0"/>
                                          </p:stCondLst>
                                        </p:cTn>
                                        <p:tgtEl>
                                          <p:spTgt spid="13"/>
                                        </p:tgtEl>
                                      </p:cBhvr>
                                    </p:animEffect>
                                    <p:anim calcmode="lin" valueType="num">
                                      <p:cBhvr>
                                        <p:cTn id="16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6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6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6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6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65" dur="26">
                                          <p:stCondLst>
                                            <p:cond delay="650"/>
                                          </p:stCondLst>
                                        </p:cTn>
                                        <p:tgtEl>
                                          <p:spTgt spid="13"/>
                                        </p:tgtEl>
                                      </p:cBhvr>
                                      <p:to x="100000" y="60000"/>
                                    </p:animScale>
                                    <p:animScale>
                                      <p:cBhvr>
                                        <p:cTn id="166" dur="166" decel="50000">
                                          <p:stCondLst>
                                            <p:cond delay="676"/>
                                          </p:stCondLst>
                                        </p:cTn>
                                        <p:tgtEl>
                                          <p:spTgt spid="13"/>
                                        </p:tgtEl>
                                      </p:cBhvr>
                                      <p:to x="100000" y="100000"/>
                                    </p:animScale>
                                    <p:animScale>
                                      <p:cBhvr>
                                        <p:cTn id="167" dur="26">
                                          <p:stCondLst>
                                            <p:cond delay="1312"/>
                                          </p:stCondLst>
                                        </p:cTn>
                                        <p:tgtEl>
                                          <p:spTgt spid="13"/>
                                        </p:tgtEl>
                                      </p:cBhvr>
                                      <p:to x="100000" y="80000"/>
                                    </p:animScale>
                                    <p:animScale>
                                      <p:cBhvr>
                                        <p:cTn id="168" dur="166" decel="50000">
                                          <p:stCondLst>
                                            <p:cond delay="1338"/>
                                          </p:stCondLst>
                                        </p:cTn>
                                        <p:tgtEl>
                                          <p:spTgt spid="13"/>
                                        </p:tgtEl>
                                      </p:cBhvr>
                                      <p:to x="100000" y="100000"/>
                                    </p:animScale>
                                    <p:animScale>
                                      <p:cBhvr>
                                        <p:cTn id="169" dur="26">
                                          <p:stCondLst>
                                            <p:cond delay="1642"/>
                                          </p:stCondLst>
                                        </p:cTn>
                                        <p:tgtEl>
                                          <p:spTgt spid="13"/>
                                        </p:tgtEl>
                                      </p:cBhvr>
                                      <p:to x="100000" y="90000"/>
                                    </p:animScale>
                                    <p:animScale>
                                      <p:cBhvr>
                                        <p:cTn id="170" dur="166" decel="50000">
                                          <p:stCondLst>
                                            <p:cond delay="1668"/>
                                          </p:stCondLst>
                                        </p:cTn>
                                        <p:tgtEl>
                                          <p:spTgt spid="13"/>
                                        </p:tgtEl>
                                      </p:cBhvr>
                                      <p:to x="100000" y="100000"/>
                                    </p:animScale>
                                    <p:animScale>
                                      <p:cBhvr>
                                        <p:cTn id="171" dur="26">
                                          <p:stCondLst>
                                            <p:cond delay="1808"/>
                                          </p:stCondLst>
                                        </p:cTn>
                                        <p:tgtEl>
                                          <p:spTgt spid="13"/>
                                        </p:tgtEl>
                                      </p:cBhvr>
                                      <p:to x="100000" y="95000"/>
                                    </p:animScale>
                                    <p:animScale>
                                      <p:cBhvr>
                                        <p:cTn id="172" dur="166" decel="50000">
                                          <p:stCondLst>
                                            <p:cond delay="1834"/>
                                          </p:stCondLst>
                                        </p:cTn>
                                        <p:tgtEl>
                                          <p:spTgt spid="13"/>
                                        </p:tgtEl>
                                      </p:cBhvr>
                                      <p:to x="100000" y="100000"/>
                                    </p:animScale>
                                  </p:childTnLst>
                                </p:cTn>
                              </p:par>
                            </p:childTnLst>
                          </p:cTn>
                        </p:par>
                        <p:par>
                          <p:cTn id="173" fill="hold">
                            <p:stCondLst>
                              <p:cond delay="4000"/>
                            </p:stCondLst>
                            <p:childTnLst>
                              <p:par>
                                <p:cTn id="174" presetID="26" presetClass="entr" presetSubtype="0" fill="hold" nodeType="afterEffect">
                                  <p:stCondLst>
                                    <p:cond delay="0"/>
                                  </p:stCondLst>
                                  <p:childTnLst>
                                    <p:set>
                                      <p:cBhvr>
                                        <p:cTn id="175" dur="1" fill="hold">
                                          <p:stCondLst>
                                            <p:cond delay="0"/>
                                          </p:stCondLst>
                                        </p:cTn>
                                        <p:tgtEl>
                                          <p:spTgt spid="23"/>
                                        </p:tgtEl>
                                        <p:attrNameLst>
                                          <p:attrName>style.visibility</p:attrName>
                                        </p:attrNameLst>
                                      </p:cBhvr>
                                      <p:to>
                                        <p:strVal val="visible"/>
                                      </p:to>
                                    </p:set>
                                    <p:animEffect transition="in" filter="wipe(down)">
                                      <p:cBhvr>
                                        <p:cTn id="176" dur="580">
                                          <p:stCondLst>
                                            <p:cond delay="0"/>
                                          </p:stCondLst>
                                        </p:cTn>
                                        <p:tgtEl>
                                          <p:spTgt spid="23"/>
                                        </p:tgtEl>
                                      </p:cBhvr>
                                    </p:animEffect>
                                    <p:anim calcmode="lin" valueType="num">
                                      <p:cBhvr>
                                        <p:cTn id="177"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178"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179"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180"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181"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182" dur="26">
                                          <p:stCondLst>
                                            <p:cond delay="650"/>
                                          </p:stCondLst>
                                        </p:cTn>
                                        <p:tgtEl>
                                          <p:spTgt spid="23"/>
                                        </p:tgtEl>
                                      </p:cBhvr>
                                      <p:to x="100000" y="60000"/>
                                    </p:animScale>
                                    <p:animScale>
                                      <p:cBhvr>
                                        <p:cTn id="183" dur="166" decel="50000">
                                          <p:stCondLst>
                                            <p:cond delay="676"/>
                                          </p:stCondLst>
                                        </p:cTn>
                                        <p:tgtEl>
                                          <p:spTgt spid="23"/>
                                        </p:tgtEl>
                                      </p:cBhvr>
                                      <p:to x="100000" y="100000"/>
                                    </p:animScale>
                                    <p:animScale>
                                      <p:cBhvr>
                                        <p:cTn id="184" dur="26">
                                          <p:stCondLst>
                                            <p:cond delay="1312"/>
                                          </p:stCondLst>
                                        </p:cTn>
                                        <p:tgtEl>
                                          <p:spTgt spid="23"/>
                                        </p:tgtEl>
                                      </p:cBhvr>
                                      <p:to x="100000" y="80000"/>
                                    </p:animScale>
                                    <p:animScale>
                                      <p:cBhvr>
                                        <p:cTn id="185" dur="166" decel="50000">
                                          <p:stCondLst>
                                            <p:cond delay="1338"/>
                                          </p:stCondLst>
                                        </p:cTn>
                                        <p:tgtEl>
                                          <p:spTgt spid="23"/>
                                        </p:tgtEl>
                                      </p:cBhvr>
                                      <p:to x="100000" y="100000"/>
                                    </p:animScale>
                                    <p:animScale>
                                      <p:cBhvr>
                                        <p:cTn id="186" dur="26">
                                          <p:stCondLst>
                                            <p:cond delay="1642"/>
                                          </p:stCondLst>
                                        </p:cTn>
                                        <p:tgtEl>
                                          <p:spTgt spid="23"/>
                                        </p:tgtEl>
                                      </p:cBhvr>
                                      <p:to x="100000" y="90000"/>
                                    </p:animScale>
                                    <p:animScale>
                                      <p:cBhvr>
                                        <p:cTn id="187" dur="166" decel="50000">
                                          <p:stCondLst>
                                            <p:cond delay="1668"/>
                                          </p:stCondLst>
                                        </p:cTn>
                                        <p:tgtEl>
                                          <p:spTgt spid="23"/>
                                        </p:tgtEl>
                                      </p:cBhvr>
                                      <p:to x="100000" y="100000"/>
                                    </p:animScale>
                                    <p:animScale>
                                      <p:cBhvr>
                                        <p:cTn id="188" dur="26">
                                          <p:stCondLst>
                                            <p:cond delay="1808"/>
                                          </p:stCondLst>
                                        </p:cTn>
                                        <p:tgtEl>
                                          <p:spTgt spid="23"/>
                                        </p:tgtEl>
                                      </p:cBhvr>
                                      <p:to x="100000" y="95000"/>
                                    </p:animScale>
                                    <p:animScale>
                                      <p:cBhvr>
                                        <p:cTn id="189" dur="166" decel="50000">
                                          <p:stCondLst>
                                            <p:cond delay="1834"/>
                                          </p:stCondLst>
                                        </p:cTn>
                                        <p:tgtEl>
                                          <p:spTgt spid="2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5" grpId="0" animBg="1"/>
      <p:bldP spid="16" grpId="0" animBg="1"/>
      <p:bldP spid="17" grpId="0" animBg="1"/>
      <p:bldP spid="18" grpId="0" animBg="1"/>
      <p:bldP spid="19" grpId="0" animBg="1"/>
      <p:bldP spid="20" grpId="0" animBg="1"/>
      <p:bldP spid="21" grpId="0" animBg="1"/>
      <p:bldP spid="22" grpId="0" animBg="1"/>
      <p:bldP spid="8" grpId="0" animBg="1"/>
      <p:bldP spid="26" grpId="0" animBg="1"/>
      <p:bldP spid="27" grpId="0" animBg="1"/>
      <p:bldP spid="2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5"/>
          <p:cNvSpPr>
            <a:spLocks noGrp="1"/>
          </p:cNvSpPr>
          <p:nvPr>
            <p:ph type="title" idx="4294967295"/>
          </p:nvPr>
        </p:nvSpPr>
        <p:spPr>
          <a:xfrm>
            <a:off x="579438" y="119063"/>
            <a:ext cx="8564562" cy="973137"/>
          </a:xfrm>
        </p:spPr>
        <p:txBody>
          <a:bodyPr/>
          <a:lstStyle/>
          <a:p>
            <a:r>
              <a:rPr lang="en-US" sz="4400" dirty="0" smtClean="0">
                <a:solidFill>
                  <a:srgbClr val="00B0F0"/>
                </a:solidFill>
              </a:rPr>
              <a:t>Virtual Community Approach</a:t>
            </a:r>
            <a:endParaRPr lang="en-US" sz="4400" dirty="0">
              <a:solidFill>
                <a:srgbClr val="00B0F0"/>
              </a:solidFill>
            </a:endParaRPr>
          </a:p>
        </p:txBody>
      </p:sp>
      <p:sp>
        <p:nvSpPr>
          <p:cNvPr id="8" name="Arco 7"/>
          <p:cNvSpPr/>
          <p:nvPr/>
        </p:nvSpPr>
        <p:spPr>
          <a:xfrm flipH="1">
            <a:off x="3027293" y="2427413"/>
            <a:ext cx="2157513" cy="4114022"/>
          </a:xfrm>
          <a:prstGeom prst="arc">
            <a:avLst>
              <a:gd name="adj1" fmla="val 16400732"/>
              <a:gd name="adj2" fmla="val 5530688"/>
            </a:avLst>
          </a:prstGeom>
          <a:ln w="76200">
            <a:solidFill>
              <a:srgbClr val="99663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Arco 8"/>
          <p:cNvSpPr/>
          <p:nvPr/>
        </p:nvSpPr>
        <p:spPr>
          <a:xfrm>
            <a:off x="4935320" y="2427414"/>
            <a:ext cx="2157513" cy="4114022"/>
          </a:xfrm>
          <a:prstGeom prst="arc">
            <a:avLst>
              <a:gd name="adj1" fmla="val 16400732"/>
              <a:gd name="adj2" fmla="val 5530688"/>
            </a:avLst>
          </a:prstGeom>
          <a:ln w="76200">
            <a:solidFill>
              <a:srgbClr val="99663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5" name="Gruppo 9"/>
          <p:cNvGrpSpPr/>
          <p:nvPr/>
        </p:nvGrpSpPr>
        <p:grpSpPr>
          <a:xfrm>
            <a:off x="2065870" y="4284495"/>
            <a:ext cx="2233016" cy="2033986"/>
            <a:chOff x="2065870" y="4020335"/>
            <a:chExt cx="2233016" cy="2033986"/>
          </a:xfrm>
        </p:grpSpPr>
        <p:pic>
          <p:nvPicPr>
            <p:cNvPr id="11" name="Immagine 10"/>
            <p:cNvPicPr>
              <a:picLocks noChangeAspect="1"/>
            </p:cNvPicPr>
            <p:nvPr/>
          </p:nvPicPr>
          <p:blipFill rotWithShape="1">
            <a:blip r:embed="rId2" cstate="print"/>
            <a:srcRect l="20006" t="419" r="59528" b="49984"/>
            <a:stretch/>
          </p:blipFill>
          <p:spPr>
            <a:xfrm>
              <a:off x="3324158" y="4020335"/>
              <a:ext cx="974728" cy="1303867"/>
            </a:xfrm>
            <a:prstGeom prst="rect">
              <a:avLst/>
            </a:prstGeom>
          </p:spPr>
        </p:pic>
        <p:pic>
          <p:nvPicPr>
            <p:cNvPr id="12" name="Immagine 11"/>
            <p:cNvPicPr>
              <a:picLocks noChangeAspect="1"/>
            </p:cNvPicPr>
            <p:nvPr/>
          </p:nvPicPr>
          <p:blipFill>
            <a:blip r:embed="rId3" cstate="print">
              <a:clrChange>
                <a:clrFrom>
                  <a:srgbClr val="FFFFFF"/>
                </a:clrFrom>
                <a:clrTo>
                  <a:srgbClr val="FFFFFF">
                    <a:alpha val="0"/>
                  </a:srgbClr>
                </a:clrTo>
              </a:clrChange>
            </a:blip>
            <a:stretch>
              <a:fillRect/>
            </a:stretch>
          </p:blipFill>
          <p:spPr>
            <a:xfrm>
              <a:off x="2065870" y="4816369"/>
              <a:ext cx="1525990" cy="1237952"/>
            </a:xfrm>
            <a:prstGeom prst="rect">
              <a:avLst/>
            </a:prstGeom>
          </p:spPr>
        </p:pic>
      </p:grpSp>
      <p:grpSp>
        <p:nvGrpSpPr>
          <p:cNvPr id="7" name="Gruppo 12"/>
          <p:cNvGrpSpPr/>
          <p:nvPr/>
        </p:nvGrpSpPr>
        <p:grpSpPr>
          <a:xfrm>
            <a:off x="1702807" y="2981478"/>
            <a:ext cx="1841441" cy="1558130"/>
            <a:chOff x="1702807" y="2717318"/>
            <a:chExt cx="1841441" cy="1558130"/>
          </a:xfrm>
        </p:grpSpPr>
        <p:pic>
          <p:nvPicPr>
            <p:cNvPr id="14" name="Immagine 13"/>
            <p:cNvPicPr>
              <a:picLocks noChangeAspect="1"/>
            </p:cNvPicPr>
            <p:nvPr/>
          </p:nvPicPr>
          <p:blipFill rotWithShape="1">
            <a:blip r:embed="rId2" cstate="print">
              <a:clrChange>
                <a:clrFrom>
                  <a:srgbClr val="FFFFFF"/>
                </a:clrFrom>
                <a:clrTo>
                  <a:srgbClr val="FFFFFF">
                    <a:alpha val="0"/>
                  </a:srgbClr>
                </a:clrTo>
              </a:clrChange>
            </a:blip>
            <a:srcRect l="78765" t="50894"/>
            <a:stretch/>
          </p:blipFill>
          <p:spPr>
            <a:xfrm>
              <a:off x="2532938" y="2717318"/>
              <a:ext cx="1011310" cy="1290954"/>
            </a:xfrm>
            <a:prstGeom prst="rect">
              <a:avLst/>
            </a:prstGeom>
          </p:spPr>
        </p:pic>
        <p:pic>
          <p:nvPicPr>
            <p:cNvPr id="15" name="Immagine 14"/>
            <p:cNvPicPr>
              <a:picLocks noChangeAspect="1"/>
            </p:cNvPicPr>
            <p:nvPr/>
          </p:nvPicPr>
          <p:blipFill>
            <a:blip r:embed="rId4" cstate="print">
              <a:clrChange>
                <a:clrFrom>
                  <a:srgbClr val="FFFFFF"/>
                </a:clrFrom>
                <a:clrTo>
                  <a:srgbClr val="FFFFFF">
                    <a:alpha val="0"/>
                  </a:srgbClr>
                </a:clrTo>
              </a:clrChange>
            </a:blip>
            <a:stretch>
              <a:fillRect/>
            </a:stretch>
          </p:blipFill>
          <p:spPr>
            <a:xfrm flipH="1">
              <a:off x="1702807" y="3118953"/>
              <a:ext cx="1197876" cy="1156495"/>
            </a:xfrm>
            <a:prstGeom prst="rect">
              <a:avLst/>
            </a:prstGeom>
          </p:spPr>
        </p:pic>
      </p:grpSp>
      <p:grpSp>
        <p:nvGrpSpPr>
          <p:cNvPr id="10" name="Gruppo 15"/>
          <p:cNvGrpSpPr/>
          <p:nvPr/>
        </p:nvGrpSpPr>
        <p:grpSpPr>
          <a:xfrm>
            <a:off x="5672066" y="4272432"/>
            <a:ext cx="1304205" cy="1454392"/>
            <a:chOff x="5672066" y="4008272"/>
            <a:chExt cx="1304205" cy="1454392"/>
          </a:xfrm>
        </p:grpSpPr>
        <p:pic>
          <p:nvPicPr>
            <p:cNvPr id="17" name="Immagine 16"/>
            <p:cNvPicPr>
              <a:picLocks noChangeAspect="1"/>
            </p:cNvPicPr>
            <p:nvPr/>
          </p:nvPicPr>
          <p:blipFill rotWithShape="1">
            <a:blip r:embed="rId2" cstate="print"/>
            <a:srcRect l="59845" t="48414" r="19889" b="1666"/>
            <a:stretch/>
          </p:blipFill>
          <p:spPr>
            <a:xfrm>
              <a:off x="5672066" y="4008272"/>
              <a:ext cx="965200" cy="1312334"/>
            </a:xfrm>
            <a:prstGeom prst="rect">
              <a:avLst/>
            </a:prstGeom>
          </p:spPr>
        </p:pic>
        <p:pic>
          <p:nvPicPr>
            <p:cNvPr id="18" name="Immagine 17"/>
            <p:cNvPicPr>
              <a:picLocks noChangeAspect="1"/>
            </p:cNvPicPr>
            <p:nvPr/>
          </p:nvPicPr>
          <p:blipFill>
            <a:blip r:embed="rId5" cstate="print">
              <a:duotone>
                <a:prstClr val="black"/>
                <a:schemeClr val="accent3">
                  <a:tint val="45000"/>
                  <a:satMod val="400000"/>
                </a:schemeClr>
              </a:duotone>
              <a:extLst>
                <a:ext uri="{28A0092B-C50C-407E-A947-70E740481C1C}">
                  <a14:useLocalDpi xmlns="" xmlns:a14="http://schemas.microsoft.com/office/drawing/2010/main" val="0"/>
                </a:ext>
              </a:extLst>
            </a:blip>
            <a:stretch>
              <a:fillRect/>
            </a:stretch>
          </p:blipFill>
          <p:spPr>
            <a:xfrm>
              <a:off x="6315193" y="4801586"/>
              <a:ext cx="661078" cy="661078"/>
            </a:xfrm>
            <a:prstGeom prst="rect">
              <a:avLst/>
            </a:prstGeom>
          </p:spPr>
        </p:pic>
      </p:grpSp>
      <p:grpSp>
        <p:nvGrpSpPr>
          <p:cNvPr id="13" name="Gruppo 18"/>
          <p:cNvGrpSpPr/>
          <p:nvPr/>
        </p:nvGrpSpPr>
        <p:grpSpPr>
          <a:xfrm>
            <a:off x="5672066" y="1441852"/>
            <a:ext cx="1366729" cy="1323535"/>
            <a:chOff x="5672066" y="1177692"/>
            <a:chExt cx="1366729" cy="1323535"/>
          </a:xfrm>
        </p:grpSpPr>
        <p:pic>
          <p:nvPicPr>
            <p:cNvPr id="20" name="Immagine 19"/>
            <p:cNvPicPr>
              <a:picLocks noChangeAspect="1"/>
            </p:cNvPicPr>
            <p:nvPr/>
          </p:nvPicPr>
          <p:blipFill rotWithShape="1">
            <a:blip r:embed="rId2" cstate="print">
              <a:clrChange>
                <a:clrFrom>
                  <a:srgbClr val="FFFFFF"/>
                </a:clrFrom>
                <a:clrTo>
                  <a:srgbClr val="FFFFFF">
                    <a:alpha val="0"/>
                  </a:srgbClr>
                </a:clrTo>
              </a:clrChange>
            </a:blip>
            <a:srcRect l="39688" t="48809" r="39867" b="949"/>
            <a:stretch/>
          </p:blipFill>
          <p:spPr>
            <a:xfrm>
              <a:off x="5672066" y="1177692"/>
              <a:ext cx="973666" cy="1320801"/>
            </a:xfrm>
            <a:prstGeom prst="rect">
              <a:avLst/>
            </a:prstGeom>
          </p:spPr>
        </p:pic>
        <p:pic>
          <p:nvPicPr>
            <p:cNvPr id="21" name="Immagine 20"/>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6377717" y="1840149"/>
              <a:ext cx="661078" cy="661078"/>
            </a:xfrm>
            <a:prstGeom prst="rect">
              <a:avLst/>
            </a:prstGeom>
          </p:spPr>
        </p:pic>
      </p:grpSp>
      <p:grpSp>
        <p:nvGrpSpPr>
          <p:cNvPr id="16" name="Gruppo 21"/>
          <p:cNvGrpSpPr/>
          <p:nvPr/>
        </p:nvGrpSpPr>
        <p:grpSpPr>
          <a:xfrm>
            <a:off x="6548648" y="3022079"/>
            <a:ext cx="1287635" cy="1542891"/>
            <a:chOff x="6548648" y="2757919"/>
            <a:chExt cx="1287635" cy="1542891"/>
          </a:xfrm>
          <a:noFill/>
        </p:grpSpPr>
        <p:pic>
          <p:nvPicPr>
            <p:cNvPr id="23" name="Immagine 22"/>
            <p:cNvPicPr>
              <a:picLocks noChangeAspect="1"/>
            </p:cNvPicPr>
            <p:nvPr/>
          </p:nvPicPr>
          <p:blipFill rotWithShape="1">
            <a:blip r:embed="rId2" cstate="print">
              <a:clrChange>
                <a:clrFrom>
                  <a:srgbClr val="FFFFFF"/>
                </a:clrFrom>
                <a:clrTo>
                  <a:srgbClr val="FFFFFF">
                    <a:alpha val="0"/>
                  </a:srgbClr>
                </a:clrTo>
              </a:clrChange>
            </a:blip>
            <a:srcRect l="79045" t="-303" b="47807"/>
            <a:stretch/>
          </p:blipFill>
          <p:spPr>
            <a:xfrm>
              <a:off x="6548648" y="2757919"/>
              <a:ext cx="998006" cy="1380066"/>
            </a:xfrm>
            <a:prstGeom prst="rect">
              <a:avLst/>
            </a:prstGeom>
            <a:grpFill/>
          </p:spPr>
        </p:pic>
        <p:pic>
          <p:nvPicPr>
            <p:cNvPr id="24" name="Immagine 23"/>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7191413" y="3655940"/>
              <a:ext cx="644870" cy="644870"/>
            </a:xfrm>
            <a:prstGeom prst="rect">
              <a:avLst/>
            </a:prstGeom>
            <a:grpFill/>
          </p:spPr>
        </p:pic>
      </p:grpSp>
      <p:grpSp>
        <p:nvGrpSpPr>
          <p:cNvPr id="19" name="Gruppo 24"/>
          <p:cNvGrpSpPr/>
          <p:nvPr/>
        </p:nvGrpSpPr>
        <p:grpSpPr>
          <a:xfrm>
            <a:off x="2111906" y="1428951"/>
            <a:ext cx="2472410" cy="1331651"/>
            <a:chOff x="2111906" y="1164791"/>
            <a:chExt cx="2472410" cy="1331651"/>
          </a:xfrm>
        </p:grpSpPr>
        <p:pic>
          <p:nvPicPr>
            <p:cNvPr id="26" name="Immagine 25"/>
            <p:cNvPicPr>
              <a:picLocks noChangeAspect="1"/>
            </p:cNvPicPr>
            <p:nvPr/>
          </p:nvPicPr>
          <p:blipFill rotWithShape="1">
            <a:blip r:embed="rId2" cstate="print">
              <a:clrChange>
                <a:clrFrom>
                  <a:srgbClr val="FFFFFF"/>
                </a:clrFrom>
                <a:clrTo>
                  <a:srgbClr val="FFFFFF">
                    <a:alpha val="0"/>
                  </a:srgbClr>
                </a:clrTo>
              </a:clrChange>
            </a:blip>
            <a:srcRect r="78657" b="49346"/>
            <a:stretch/>
          </p:blipFill>
          <p:spPr>
            <a:xfrm>
              <a:off x="3567860" y="1164791"/>
              <a:ext cx="1016456" cy="1331651"/>
            </a:xfrm>
            <a:prstGeom prst="rect">
              <a:avLst/>
            </a:prstGeom>
          </p:spPr>
        </p:pic>
        <p:pic>
          <p:nvPicPr>
            <p:cNvPr id="27" name="Immagine 26"/>
            <p:cNvPicPr>
              <a:picLocks noChangeAspect="1"/>
            </p:cNvPicPr>
            <p:nvPr/>
          </p:nvPicPr>
          <p:blipFill>
            <a:blip r:embed="rId7" cstate="print">
              <a:clrChange>
                <a:clrFrom>
                  <a:srgbClr val="FFFFFF"/>
                </a:clrFrom>
                <a:clrTo>
                  <a:srgbClr val="FFFFFF">
                    <a:alpha val="0"/>
                  </a:srgbClr>
                </a:clrTo>
              </a:clrChange>
            </a:blip>
            <a:stretch>
              <a:fillRect/>
            </a:stretch>
          </p:blipFill>
          <p:spPr>
            <a:xfrm>
              <a:off x="2111906" y="1265888"/>
              <a:ext cx="1577553" cy="1187734"/>
            </a:xfrm>
            <a:prstGeom prst="rect">
              <a:avLst/>
            </a:prstGeom>
          </p:spPr>
        </p:pic>
      </p:grpSp>
      <p:sp>
        <p:nvSpPr>
          <p:cNvPr id="28" name="CasellaDiTesto 27"/>
          <p:cNvSpPr txBox="1"/>
          <p:nvPr/>
        </p:nvSpPr>
        <p:spPr>
          <a:xfrm rot="16200000">
            <a:off x="5617839" y="2910188"/>
            <a:ext cx="4922235" cy="1063315"/>
          </a:xfrm>
          <a:prstGeom prst="rect">
            <a:avLst/>
          </a:prstGeom>
          <a:noFill/>
        </p:spPr>
        <p:txBody>
          <a:bodyPr wrap="none" rtlCol="0">
            <a:prstTxWarp prst="textArchDown">
              <a:avLst>
                <a:gd name="adj" fmla="val 319546"/>
              </a:avLst>
            </a:prstTxWarp>
            <a:spAutoFit/>
          </a:bodyPr>
          <a:lstStyle/>
          <a:p>
            <a:r>
              <a:rPr lang="en-US" sz="4400" dirty="0">
                <a:solidFill>
                  <a:srgbClr val="E64823">
                    <a:lumMod val="75000"/>
                  </a:srgbClr>
                </a:solidFill>
              </a:rPr>
              <a:t>Data  Infrastructures</a:t>
            </a:r>
          </a:p>
        </p:txBody>
      </p:sp>
      <p:sp>
        <p:nvSpPr>
          <p:cNvPr id="29" name="CasellaDiTesto 28"/>
          <p:cNvSpPr txBox="1"/>
          <p:nvPr/>
        </p:nvSpPr>
        <p:spPr>
          <a:xfrm rot="16200000">
            <a:off x="-891264" y="2817059"/>
            <a:ext cx="4879993" cy="1063315"/>
          </a:xfrm>
          <a:prstGeom prst="rect">
            <a:avLst/>
          </a:prstGeom>
          <a:noFill/>
        </p:spPr>
        <p:txBody>
          <a:bodyPr wrap="none" rtlCol="0">
            <a:prstTxWarp prst="textArchUp">
              <a:avLst/>
            </a:prstTxWarp>
            <a:spAutoFit/>
          </a:bodyPr>
          <a:lstStyle/>
          <a:p>
            <a:pPr algn="ctr"/>
            <a:r>
              <a:rPr lang="en-US" sz="4400" dirty="0">
                <a:solidFill>
                  <a:srgbClr val="0070C0"/>
                </a:solidFill>
              </a:rPr>
              <a:t>Data  Applications</a:t>
            </a:r>
          </a:p>
        </p:txBody>
      </p:sp>
      <p:cxnSp>
        <p:nvCxnSpPr>
          <p:cNvPr id="30" name="Connettore 1 29"/>
          <p:cNvCxnSpPr>
            <a:stCxn id="44" idx="6"/>
            <a:endCxn id="39" idx="1"/>
          </p:cNvCxnSpPr>
          <p:nvPr/>
        </p:nvCxnSpPr>
        <p:spPr>
          <a:xfrm>
            <a:off x="4243638" y="2777211"/>
            <a:ext cx="2179991" cy="842237"/>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Connettore 1 30"/>
          <p:cNvCxnSpPr>
            <a:stCxn id="42" idx="6"/>
            <a:endCxn id="39" idx="2"/>
          </p:cNvCxnSpPr>
          <p:nvPr/>
        </p:nvCxnSpPr>
        <p:spPr>
          <a:xfrm>
            <a:off x="3734657" y="3619125"/>
            <a:ext cx="2656984" cy="78400"/>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Connettore 1 31"/>
          <p:cNvCxnSpPr>
            <a:stCxn id="43" idx="7"/>
            <a:endCxn id="41" idx="3"/>
          </p:cNvCxnSpPr>
          <p:nvPr/>
        </p:nvCxnSpPr>
        <p:spPr>
          <a:xfrm flipV="1">
            <a:off x="4412695" y="2861369"/>
            <a:ext cx="1655945" cy="1951225"/>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Connettore 1 32"/>
          <p:cNvCxnSpPr>
            <a:stCxn id="42" idx="5"/>
            <a:endCxn id="40" idx="2"/>
          </p:cNvCxnSpPr>
          <p:nvPr/>
        </p:nvCxnSpPr>
        <p:spPr>
          <a:xfrm>
            <a:off x="3702669" y="3697202"/>
            <a:ext cx="1856853" cy="1209757"/>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ttore 1 33"/>
          <p:cNvCxnSpPr>
            <a:stCxn id="44" idx="5"/>
            <a:endCxn id="40" idx="1"/>
          </p:cNvCxnSpPr>
          <p:nvPr/>
        </p:nvCxnSpPr>
        <p:spPr>
          <a:xfrm>
            <a:off x="4211650" y="2855288"/>
            <a:ext cx="1379860" cy="1973594"/>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Connettore 1 34"/>
          <p:cNvCxnSpPr>
            <a:stCxn id="44" idx="6"/>
            <a:endCxn id="41" idx="2"/>
          </p:cNvCxnSpPr>
          <p:nvPr/>
        </p:nvCxnSpPr>
        <p:spPr>
          <a:xfrm>
            <a:off x="4243638" y="2777211"/>
            <a:ext cx="1793014" cy="6081"/>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ttore 1 35"/>
          <p:cNvCxnSpPr>
            <a:endCxn id="40" idx="2"/>
          </p:cNvCxnSpPr>
          <p:nvPr/>
        </p:nvCxnSpPr>
        <p:spPr>
          <a:xfrm flipV="1">
            <a:off x="4444683" y="4906959"/>
            <a:ext cx="1114839" cy="17010"/>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Connettore 1 36"/>
          <p:cNvCxnSpPr>
            <a:stCxn id="43" idx="6"/>
            <a:endCxn id="39" idx="3"/>
          </p:cNvCxnSpPr>
          <p:nvPr/>
        </p:nvCxnSpPr>
        <p:spPr>
          <a:xfrm flipV="1">
            <a:off x="4444683" y="3775602"/>
            <a:ext cx="1978946" cy="1115069"/>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Connettore 1 37"/>
          <p:cNvCxnSpPr>
            <a:stCxn id="42" idx="7"/>
            <a:endCxn id="41" idx="2"/>
          </p:cNvCxnSpPr>
          <p:nvPr/>
        </p:nvCxnSpPr>
        <p:spPr>
          <a:xfrm flipV="1">
            <a:off x="3702669" y="2783292"/>
            <a:ext cx="2333983" cy="757756"/>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Ovale 38"/>
          <p:cNvSpPr/>
          <p:nvPr/>
        </p:nvSpPr>
        <p:spPr>
          <a:xfrm>
            <a:off x="6391641" y="3587108"/>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0" name="Ovale 39"/>
          <p:cNvSpPr/>
          <p:nvPr/>
        </p:nvSpPr>
        <p:spPr>
          <a:xfrm>
            <a:off x="5559522" y="4796542"/>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Ovale 40"/>
          <p:cNvSpPr/>
          <p:nvPr/>
        </p:nvSpPr>
        <p:spPr>
          <a:xfrm>
            <a:off x="6036652" y="2672875"/>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2" name="Ovale 41"/>
          <p:cNvSpPr/>
          <p:nvPr/>
        </p:nvSpPr>
        <p:spPr>
          <a:xfrm>
            <a:off x="3516231" y="3508708"/>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3" name="Ovale 42"/>
          <p:cNvSpPr/>
          <p:nvPr/>
        </p:nvSpPr>
        <p:spPr>
          <a:xfrm>
            <a:off x="4226257" y="4780254"/>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4" name="Ovale 43"/>
          <p:cNvSpPr/>
          <p:nvPr/>
        </p:nvSpPr>
        <p:spPr>
          <a:xfrm>
            <a:off x="4025212" y="2666794"/>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51" name="Immagine 50"/>
          <p:cNvPicPr>
            <a:picLocks noChangeAspect="1"/>
          </p:cNvPicPr>
          <p:nvPr/>
        </p:nvPicPr>
        <p:blipFill>
          <a:blip r:embed="rId8" cstate="print"/>
          <a:stretch>
            <a:fillRect/>
          </a:stretch>
        </p:blipFill>
        <p:spPr>
          <a:xfrm>
            <a:off x="969480" y="1270176"/>
            <a:ext cx="6955236" cy="4776297"/>
          </a:xfrm>
          <a:prstGeom prst="rect">
            <a:avLst/>
          </a:prstGeom>
          <a:effectLst>
            <a:softEdge rad="63500"/>
          </a:effectLst>
        </p:spPr>
      </p:pic>
      <p:pic>
        <p:nvPicPr>
          <p:cNvPr id="45" name="Immagine 44"/>
          <p:cNvPicPr>
            <a:picLocks noChangeAspect="1"/>
          </p:cNvPicPr>
          <p:nvPr/>
        </p:nvPicPr>
        <p:blipFill>
          <a:blip r:embed="rId9" cstate="print">
            <a:clrChange>
              <a:clrFrom>
                <a:srgbClr val="FFFFFF"/>
              </a:clrFrom>
              <a:clrTo>
                <a:srgbClr val="FFFFFF">
                  <a:alpha val="0"/>
                </a:srgbClr>
              </a:clrTo>
            </a:clrChange>
          </a:blip>
          <a:stretch>
            <a:fillRect/>
          </a:stretch>
        </p:blipFill>
        <p:spPr>
          <a:xfrm>
            <a:off x="3667142" y="5527608"/>
            <a:ext cx="2524125" cy="1428750"/>
          </a:xfrm>
          <a:prstGeom prst="rect">
            <a:avLst/>
          </a:prstGeom>
        </p:spPr>
      </p:pic>
      <p:sp>
        <p:nvSpPr>
          <p:cNvPr id="2" name="CasellaDiTesto 1"/>
          <p:cNvSpPr txBox="1"/>
          <p:nvPr/>
        </p:nvSpPr>
        <p:spPr>
          <a:xfrm>
            <a:off x="1580124" y="2427246"/>
            <a:ext cx="553998" cy="2225890"/>
          </a:xfrm>
          <a:prstGeom prst="rect">
            <a:avLst/>
          </a:prstGeom>
          <a:solidFill>
            <a:schemeClr val="accent2">
              <a:lumMod val="60000"/>
              <a:lumOff val="40000"/>
            </a:schemeClr>
          </a:solidFill>
          <a:effectLst>
            <a:softEdge rad="127000"/>
          </a:effectLst>
        </p:spPr>
        <p:txBody>
          <a:bodyPr vert="vert270" wrap="square" rtlCol="0">
            <a:spAutoFit/>
          </a:bodyPr>
          <a:lstStyle/>
          <a:p>
            <a:pPr algn="ctr"/>
            <a:r>
              <a:rPr lang="en-US" sz="2400" dirty="0" smtClean="0">
                <a:solidFill>
                  <a:srgbClr val="002060"/>
                </a:solidFill>
              </a:rPr>
              <a:t>Service Users</a:t>
            </a:r>
            <a:endParaRPr lang="en-US" sz="2400" dirty="0">
              <a:solidFill>
                <a:srgbClr val="002060"/>
              </a:solidFill>
            </a:endParaRPr>
          </a:p>
        </p:txBody>
      </p:sp>
      <p:sp>
        <p:nvSpPr>
          <p:cNvPr id="46" name="CasellaDiTesto 45"/>
          <p:cNvSpPr txBox="1"/>
          <p:nvPr/>
        </p:nvSpPr>
        <p:spPr>
          <a:xfrm>
            <a:off x="6933324" y="2089931"/>
            <a:ext cx="553998" cy="2707221"/>
          </a:xfrm>
          <a:prstGeom prst="rect">
            <a:avLst/>
          </a:prstGeom>
          <a:solidFill>
            <a:schemeClr val="accent3">
              <a:lumMod val="40000"/>
              <a:lumOff val="60000"/>
            </a:schemeClr>
          </a:solidFill>
          <a:effectLst>
            <a:softEdge rad="127000"/>
          </a:effectLst>
        </p:spPr>
        <p:txBody>
          <a:bodyPr vert="vert270" wrap="square" rtlCol="0">
            <a:spAutoFit/>
          </a:bodyPr>
          <a:lstStyle>
            <a:defPPr>
              <a:defRPr lang="en-US"/>
            </a:defPPr>
            <a:lvl1pPr>
              <a:defRPr sz="2400">
                <a:solidFill>
                  <a:srgbClr val="002060"/>
                </a:solidFill>
              </a:defRPr>
            </a:lvl1pPr>
          </a:lstStyle>
          <a:p>
            <a:pPr algn="ctr"/>
            <a:r>
              <a:rPr lang="en-US" dirty="0"/>
              <a:t>Service Providers</a:t>
            </a:r>
          </a:p>
        </p:txBody>
      </p:sp>
      <p:sp>
        <p:nvSpPr>
          <p:cNvPr id="47" name="CasellaDiTesto 46"/>
          <p:cNvSpPr txBox="1"/>
          <p:nvPr/>
        </p:nvSpPr>
        <p:spPr>
          <a:xfrm rot="5400000">
            <a:off x="4832630" y="5665213"/>
            <a:ext cx="553998" cy="1230465"/>
          </a:xfrm>
          <a:prstGeom prst="rect">
            <a:avLst/>
          </a:prstGeom>
          <a:solidFill>
            <a:schemeClr val="tx1"/>
          </a:solidFill>
          <a:effectLst>
            <a:softEdge rad="63500"/>
          </a:effectLst>
        </p:spPr>
        <p:txBody>
          <a:bodyPr vert="vert270" wrap="none" rtlCol="0">
            <a:spAutoFit/>
          </a:bodyPr>
          <a:lstStyle/>
          <a:p>
            <a:r>
              <a:rPr lang="en-US" sz="2400" dirty="0" smtClean="0">
                <a:solidFill>
                  <a:srgbClr val="002060"/>
                </a:solidFill>
              </a:rPr>
              <a:t>Registry</a:t>
            </a:r>
            <a:endParaRPr lang="en-US" sz="2400" dirty="0">
              <a:solidFill>
                <a:srgbClr val="002060"/>
              </a:solidFill>
            </a:endParaRPr>
          </a:p>
        </p:txBody>
      </p:sp>
      <p:grpSp>
        <p:nvGrpSpPr>
          <p:cNvPr id="22" name="Gruppo 53"/>
          <p:cNvGrpSpPr/>
          <p:nvPr/>
        </p:nvGrpSpPr>
        <p:grpSpPr>
          <a:xfrm>
            <a:off x="1146658" y="3694940"/>
            <a:ext cx="6304455" cy="3011900"/>
            <a:chOff x="1302280" y="2896460"/>
            <a:chExt cx="5790553" cy="2570313"/>
          </a:xfrm>
        </p:grpSpPr>
        <p:sp>
          <p:nvSpPr>
            <p:cNvPr id="52" name="Onda 1 51"/>
            <p:cNvSpPr/>
            <p:nvPr/>
          </p:nvSpPr>
          <p:spPr>
            <a:xfrm>
              <a:off x="1302280" y="2896460"/>
              <a:ext cx="5790553" cy="2570313"/>
            </a:xfrm>
            <a:prstGeom prst="wave">
              <a:avLst>
                <a:gd name="adj1" fmla="val 11709"/>
                <a:gd name="adj2" fmla="val 0"/>
              </a:avLst>
            </a:prstGeom>
          </p:spPr>
          <p:style>
            <a:lnRef idx="3">
              <a:schemeClr val="lt1"/>
            </a:lnRef>
            <a:fillRef idx="1">
              <a:schemeClr val="accent5"/>
            </a:fillRef>
            <a:effectRef idx="1">
              <a:schemeClr val="accent5"/>
            </a:effectRef>
            <a:fontRef idx="minor">
              <a:schemeClr val="lt1"/>
            </a:fontRef>
          </p:style>
          <p:txBody>
            <a:bodyPr rtlCol="0" anchor="ctr">
              <a:prstTxWarp prst="textWave1">
                <a:avLst/>
              </a:prstTxWarp>
            </a:bodyPr>
            <a:lstStyle/>
            <a:p>
              <a:pPr algn="ctr"/>
              <a:r>
                <a:rPr lang="en-US" dirty="0" smtClean="0"/>
                <a:t>   </a:t>
              </a:r>
              <a:endParaRPr lang="en-US" dirty="0"/>
            </a:p>
          </p:txBody>
        </p:sp>
        <p:sp>
          <p:nvSpPr>
            <p:cNvPr id="53" name="Rettangolo 52"/>
            <p:cNvSpPr/>
            <p:nvPr/>
          </p:nvSpPr>
          <p:spPr>
            <a:xfrm>
              <a:off x="1573303" y="3453192"/>
              <a:ext cx="5305907" cy="1437479"/>
            </a:xfrm>
            <a:prstGeom prst="rect">
              <a:avLst/>
            </a:prstGeom>
          </p:spPr>
          <p:txBody>
            <a:bodyPr>
              <a:prstTxWarp prst="textWave1">
                <a:avLst>
                  <a:gd name="adj1" fmla="val 12500"/>
                  <a:gd name="adj2" fmla="val -201"/>
                </a:avLst>
              </a:prstTxWarp>
              <a:spAutoFit/>
            </a:bodyPr>
            <a:lstStyle/>
            <a:p>
              <a:pPr algn="ctr"/>
              <a:r>
                <a:rPr lang="en-US" sz="2000" b="1" dirty="0" smtClean="0"/>
                <a:t>Virtual-Collaborative </a:t>
              </a:r>
              <a:br>
                <a:rPr lang="en-US" sz="2000" b="1" dirty="0" smtClean="0"/>
              </a:br>
              <a:r>
                <a:rPr lang="en-US" sz="2000" b="1" dirty="0" smtClean="0"/>
                <a:t>Management approach </a:t>
              </a:r>
              <a:endParaRPr lang="en-US" sz="2000" b="1" dirty="0"/>
            </a:p>
          </p:txBody>
        </p:sp>
      </p:grpSp>
      <p:sp>
        <p:nvSpPr>
          <p:cNvPr id="3" name="CasellaDiTesto 2"/>
          <p:cNvSpPr txBox="1"/>
          <p:nvPr/>
        </p:nvSpPr>
        <p:spPr>
          <a:xfrm rot="21086907">
            <a:off x="5615007" y="6240184"/>
            <a:ext cx="1760888" cy="381867"/>
          </a:xfrm>
          <a:prstGeom prst="rect">
            <a:avLst/>
          </a:prstGeom>
          <a:noFill/>
        </p:spPr>
        <p:txBody>
          <a:bodyPr wrap="none" rtlCol="0">
            <a:prstTxWarp prst="textTriangleInverted">
              <a:avLst/>
            </a:prstTxWarp>
            <a:spAutoFit/>
          </a:bodyPr>
          <a:lstStyle/>
          <a:p>
            <a:r>
              <a:rPr lang="en-US"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[Governance]</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4" name="Immagine 3"/>
          <p:cNvPicPr>
            <a:picLocks noChangeAspect="1"/>
          </p:cNvPicPr>
          <p:nvPr/>
        </p:nvPicPr>
        <p:blipFill>
          <a:blip r:embed="rId10" cstate="print"/>
          <a:stretch>
            <a:fillRect/>
          </a:stretch>
        </p:blipFill>
        <p:spPr>
          <a:xfrm>
            <a:off x="4669438" y="3284718"/>
            <a:ext cx="3662831" cy="1530579"/>
          </a:xfrm>
          <a:prstGeom prst="rect">
            <a:avLst/>
          </a:prstGeom>
        </p:spPr>
      </p:pic>
    </p:spTree>
    <p:extLst>
      <p:ext uri="{BB962C8B-B14F-4D97-AF65-F5344CB8AC3E}">
        <p14:creationId xmlns="" xmlns:p14="http://schemas.microsoft.com/office/powerpoint/2010/main" val="15291153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1+#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1+#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 presetClass="entr" presetSubtype="2"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1+#ppt_w/2"/>
                                          </p:val>
                                        </p:tav>
                                        <p:tav tm="100000">
                                          <p:val>
                                            <p:strVal val="#ppt_x"/>
                                          </p:val>
                                        </p:tav>
                                      </p:tavLst>
                                    </p:anim>
                                    <p:anim calcmode="lin" valueType="num">
                                      <p:cBhvr additive="base">
                                        <p:cTn id="21"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0-#ppt_w/2"/>
                                          </p:val>
                                        </p:tav>
                                        <p:tav tm="100000">
                                          <p:val>
                                            <p:strVal val="#ppt_x"/>
                                          </p:val>
                                        </p:tav>
                                      </p:tavLst>
                                    </p:anim>
                                    <p:anim calcmode="lin" valueType="num">
                                      <p:cBhvr additive="base">
                                        <p:cTn id="27" dur="500" fill="hold"/>
                                        <p:tgtEl>
                                          <p:spTgt spid="19"/>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0-#ppt_w/2"/>
                                          </p:val>
                                        </p:tav>
                                        <p:tav tm="100000">
                                          <p:val>
                                            <p:strVal val="#ppt_x"/>
                                          </p:val>
                                        </p:tav>
                                      </p:tavLst>
                                    </p:anim>
                                    <p:anim calcmode="lin" valueType="num">
                                      <p:cBhvr additive="base">
                                        <p:cTn id="31" dur="500" fill="hold"/>
                                        <p:tgtEl>
                                          <p:spTgt spid="7"/>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0-#ppt_w/2"/>
                                          </p:val>
                                        </p:tav>
                                        <p:tav tm="100000">
                                          <p:val>
                                            <p:strVal val="#ppt_x"/>
                                          </p:val>
                                        </p:tav>
                                      </p:tavLst>
                                    </p:anim>
                                    <p:anim calcmode="lin" valueType="num">
                                      <p:cBhvr additive="base">
                                        <p:cTn id="35" dur="500" fill="hold"/>
                                        <p:tgtEl>
                                          <p:spTgt spid="5"/>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2" presetClass="entr" presetSubtype="8"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fill="hold"/>
                                        <p:tgtEl>
                                          <p:spTgt spid="29"/>
                                        </p:tgtEl>
                                        <p:attrNameLst>
                                          <p:attrName>ppt_x</p:attrName>
                                        </p:attrNameLst>
                                      </p:cBhvr>
                                      <p:tavLst>
                                        <p:tav tm="0">
                                          <p:val>
                                            <p:strVal val="0-#ppt_w/2"/>
                                          </p:val>
                                        </p:tav>
                                        <p:tav tm="100000">
                                          <p:val>
                                            <p:strVal val="#ppt_x"/>
                                          </p:val>
                                        </p:tav>
                                      </p:tavLst>
                                    </p:anim>
                                    <p:anim calcmode="lin" valueType="num">
                                      <p:cBhvr additive="base">
                                        <p:cTn id="40"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5"/>
                                        </p:tgtEl>
                                        <p:attrNameLst>
                                          <p:attrName>style.visibility</p:attrName>
                                        </p:attrNameLst>
                                      </p:cBhvr>
                                      <p:to>
                                        <p:strVal val="visible"/>
                                      </p:to>
                                    </p:set>
                                    <p:anim calcmode="lin" valueType="num">
                                      <p:cBhvr additive="base">
                                        <p:cTn id="45" dur="500" fill="hold"/>
                                        <p:tgtEl>
                                          <p:spTgt spid="45"/>
                                        </p:tgtEl>
                                        <p:attrNameLst>
                                          <p:attrName>ppt_x</p:attrName>
                                        </p:attrNameLst>
                                      </p:cBhvr>
                                      <p:tavLst>
                                        <p:tav tm="0">
                                          <p:val>
                                            <p:strVal val="#ppt_x"/>
                                          </p:val>
                                        </p:tav>
                                        <p:tav tm="100000">
                                          <p:val>
                                            <p:strVal val="#ppt_x"/>
                                          </p:val>
                                        </p:tav>
                                      </p:tavLst>
                                    </p:anim>
                                    <p:anim calcmode="lin" valueType="num">
                                      <p:cBhvr additive="base">
                                        <p:cTn id="46" dur="500" fill="hold"/>
                                        <p:tgtEl>
                                          <p:spTgt spid="45"/>
                                        </p:tgtEl>
                                        <p:attrNameLst>
                                          <p:attrName>ppt_y</p:attrName>
                                        </p:attrNameLst>
                                      </p:cBhvr>
                                      <p:tavLst>
                                        <p:tav tm="0">
                                          <p:val>
                                            <p:strVal val="1+#ppt_h/2"/>
                                          </p:val>
                                        </p:tav>
                                        <p:tav tm="100000">
                                          <p:val>
                                            <p:strVal val="#ppt_y"/>
                                          </p:val>
                                        </p:tav>
                                      </p:tavLst>
                                    </p:anim>
                                  </p:childTnLst>
                                </p:cTn>
                              </p:par>
                            </p:childTnLst>
                          </p:cTn>
                        </p:par>
                        <p:par>
                          <p:cTn id="47" fill="hold">
                            <p:stCondLst>
                              <p:cond delay="500"/>
                            </p:stCondLst>
                            <p:childTnLst>
                              <p:par>
                                <p:cTn id="48" presetID="2" presetClass="entr" presetSubtype="8" fill="hold" grpId="0" nodeType="after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additive="base">
                                        <p:cTn id="50" dur="500" fill="hold"/>
                                        <p:tgtEl>
                                          <p:spTgt spid="8"/>
                                        </p:tgtEl>
                                        <p:attrNameLst>
                                          <p:attrName>ppt_x</p:attrName>
                                        </p:attrNameLst>
                                      </p:cBhvr>
                                      <p:tavLst>
                                        <p:tav tm="0">
                                          <p:val>
                                            <p:strVal val="0-#ppt_w/2"/>
                                          </p:val>
                                        </p:tav>
                                        <p:tav tm="100000">
                                          <p:val>
                                            <p:strVal val="#ppt_x"/>
                                          </p:val>
                                        </p:tav>
                                      </p:tavLst>
                                    </p:anim>
                                    <p:anim calcmode="lin" valueType="num">
                                      <p:cBhvr additive="base">
                                        <p:cTn id="51" dur="500" fill="hold"/>
                                        <p:tgtEl>
                                          <p:spTgt spid="8"/>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anim calcmode="lin" valueType="num">
                                      <p:cBhvr additive="base">
                                        <p:cTn id="54" dur="500" fill="hold"/>
                                        <p:tgtEl>
                                          <p:spTgt spid="9"/>
                                        </p:tgtEl>
                                        <p:attrNameLst>
                                          <p:attrName>ppt_x</p:attrName>
                                        </p:attrNameLst>
                                      </p:cBhvr>
                                      <p:tavLst>
                                        <p:tav tm="0">
                                          <p:val>
                                            <p:strVal val="1+#ppt_w/2"/>
                                          </p:val>
                                        </p:tav>
                                        <p:tav tm="100000">
                                          <p:val>
                                            <p:strVal val="#ppt_x"/>
                                          </p:val>
                                        </p:tav>
                                      </p:tavLst>
                                    </p:anim>
                                    <p:anim calcmode="lin" valueType="num">
                                      <p:cBhvr additive="base">
                                        <p:cTn id="55"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30"/>
                                        </p:tgtEl>
                                        <p:attrNameLst>
                                          <p:attrName>style.visibility</p:attrName>
                                        </p:attrNameLst>
                                      </p:cBhvr>
                                      <p:to>
                                        <p:strVal val="visible"/>
                                      </p:to>
                                    </p:set>
                                    <p:anim calcmode="lin" valueType="num">
                                      <p:cBhvr>
                                        <p:cTn id="60" dur="500" fill="hold"/>
                                        <p:tgtEl>
                                          <p:spTgt spid="30"/>
                                        </p:tgtEl>
                                        <p:attrNameLst>
                                          <p:attrName>ppt_w</p:attrName>
                                        </p:attrNameLst>
                                      </p:cBhvr>
                                      <p:tavLst>
                                        <p:tav tm="0">
                                          <p:val>
                                            <p:fltVal val="0"/>
                                          </p:val>
                                        </p:tav>
                                        <p:tav tm="100000">
                                          <p:val>
                                            <p:strVal val="#ppt_w"/>
                                          </p:val>
                                        </p:tav>
                                      </p:tavLst>
                                    </p:anim>
                                    <p:anim calcmode="lin" valueType="num">
                                      <p:cBhvr>
                                        <p:cTn id="61" dur="500" fill="hold"/>
                                        <p:tgtEl>
                                          <p:spTgt spid="30"/>
                                        </p:tgtEl>
                                        <p:attrNameLst>
                                          <p:attrName>ppt_h</p:attrName>
                                        </p:attrNameLst>
                                      </p:cBhvr>
                                      <p:tavLst>
                                        <p:tav tm="0">
                                          <p:val>
                                            <p:fltVal val="0"/>
                                          </p:val>
                                        </p:tav>
                                        <p:tav tm="100000">
                                          <p:val>
                                            <p:strVal val="#ppt_h"/>
                                          </p:val>
                                        </p:tav>
                                      </p:tavLst>
                                    </p:anim>
                                    <p:animEffect transition="in" filter="fade">
                                      <p:cBhvr>
                                        <p:cTn id="62" dur="500"/>
                                        <p:tgtEl>
                                          <p:spTgt spid="30"/>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53" presetClass="entr" presetSubtype="16" fill="hold" nodeType="withEffect">
                                  <p:stCondLst>
                                    <p:cond delay="0"/>
                                  </p:stCondLst>
                                  <p:childTnLst>
                                    <p:set>
                                      <p:cBhvr>
                                        <p:cTn id="76" dur="1" fill="hold">
                                          <p:stCondLst>
                                            <p:cond delay="0"/>
                                          </p:stCondLst>
                                        </p:cTn>
                                        <p:tgtEl>
                                          <p:spTgt spid="31"/>
                                        </p:tgtEl>
                                        <p:attrNameLst>
                                          <p:attrName>style.visibility</p:attrName>
                                        </p:attrNameLst>
                                      </p:cBhvr>
                                      <p:to>
                                        <p:strVal val="visible"/>
                                      </p:to>
                                    </p:set>
                                    <p:anim calcmode="lin" valueType="num">
                                      <p:cBhvr>
                                        <p:cTn id="77" dur="500" fill="hold"/>
                                        <p:tgtEl>
                                          <p:spTgt spid="31"/>
                                        </p:tgtEl>
                                        <p:attrNameLst>
                                          <p:attrName>ppt_w</p:attrName>
                                        </p:attrNameLst>
                                      </p:cBhvr>
                                      <p:tavLst>
                                        <p:tav tm="0">
                                          <p:val>
                                            <p:fltVal val="0"/>
                                          </p:val>
                                        </p:tav>
                                        <p:tav tm="100000">
                                          <p:val>
                                            <p:strVal val="#ppt_w"/>
                                          </p:val>
                                        </p:tav>
                                      </p:tavLst>
                                    </p:anim>
                                    <p:anim calcmode="lin" valueType="num">
                                      <p:cBhvr>
                                        <p:cTn id="78" dur="500" fill="hold"/>
                                        <p:tgtEl>
                                          <p:spTgt spid="31"/>
                                        </p:tgtEl>
                                        <p:attrNameLst>
                                          <p:attrName>ppt_h</p:attrName>
                                        </p:attrNameLst>
                                      </p:cBhvr>
                                      <p:tavLst>
                                        <p:tav tm="0">
                                          <p:val>
                                            <p:fltVal val="0"/>
                                          </p:val>
                                        </p:tav>
                                        <p:tav tm="100000">
                                          <p:val>
                                            <p:strVal val="#ppt_h"/>
                                          </p:val>
                                        </p:tav>
                                      </p:tavLst>
                                    </p:anim>
                                    <p:animEffect transition="in" filter="fade">
                                      <p:cBhvr>
                                        <p:cTn id="79" dur="500"/>
                                        <p:tgtEl>
                                          <p:spTgt spid="31"/>
                                        </p:tgtEl>
                                      </p:cBhvr>
                                    </p:animEffect>
                                  </p:childTnLst>
                                </p:cTn>
                              </p:par>
                              <p:par>
                                <p:cTn id="80" presetID="53" presetClass="entr" presetSubtype="16" fill="hold" nodeType="withEffect">
                                  <p:stCondLst>
                                    <p:cond delay="0"/>
                                  </p:stCondLst>
                                  <p:childTnLst>
                                    <p:set>
                                      <p:cBhvr>
                                        <p:cTn id="81" dur="1" fill="hold">
                                          <p:stCondLst>
                                            <p:cond delay="0"/>
                                          </p:stCondLst>
                                        </p:cTn>
                                        <p:tgtEl>
                                          <p:spTgt spid="32"/>
                                        </p:tgtEl>
                                        <p:attrNameLst>
                                          <p:attrName>style.visibility</p:attrName>
                                        </p:attrNameLst>
                                      </p:cBhvr>
                                      <p:to>
                                        <p:strVal val="visible"/>
                                      </p:to>
                                    </p:set>
                                    <p:anim calcmode="lin" valueType="num">
                                      <p:cBhvr>
                                        <p:cTn id="82" dur="500" fill="hold"/>
                                        <p:tgtEl>
                                          <p:spTgt spid="32"/>
                                        </p:tgtEl>
                                        <p:attrNameLst>
                                          <p:attrName>ppt_w</p:attrName>
                                        </p:attrNameLst>
                                      </p:cBhvr>
                                      <p:tavLst>
                                        <p:tav tm="0">
                                          <p:val>
                                            <p:fltVal val="0"/>
                                          </p:val>
                                        </p:tav>
                                        <p:tav tm="100000">
                                          <p:val>
                                            <p:strVal val="#ppt_w"/>
                                          </p:val>
                                        </p:tav>
                                      </p:tavLst>
                                    </p:anim>
                                    <p:anim calcmode="lin" valueType="num">
                                      <p:cBhvr>
                                        <p:cTn id="83" dur="500" fill="hold"/>
                                        <p:tgtEl>
                                          <p:spTgt spid="32"/>
                                        </p:tgtEl>
                                        <p:attrNameLst>
                                          <p:attrName>ppt_h</p:attrName>
                                        </p:attrNameLst>
                                      </p:cBhvr>
                                      <p:tavLst>
                                        <p:tav tm="0">
                                          <p:val>
                                            <p:fltVal val="0"/>
                                          </p:val>
                                        </p:tav>
                                        <p:tav tm="100000">
                                          <p:val>
                                            <p:strVal val="#ppt_h"/>
                                          </p:val>
                                        </p:tav>
                                      </p:tavLst>
                                    </p:anim>
                                    <p:animEffect transition="in" filter="fade">
                                      <p:cBhvr>
                                        <p:cTn id="84" dur="500"/>
                                        <p:tgtEl>
                                          <p:spTgt spid="32"/>
                                        </p:tgtEl>
                                      </p:cBhvr>
                                    </p:animEffect>
                                  </p:childTnLst>
                                </p:cTn>
                              </p:par>
                              <p:par>
                                <p:cTn id="85" presetID="53" presetClass="entr" presetSubtype="16"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 calcmode="lin" valueType="num">
                                      <p:cBhvr>
                                        <p:cTn id="87" dur="500" fill="hold"/>
                                        <p:tgtEl>
                                          <p:spTgt spid="33"/>
                                        </p:tgtEl>
                                        <p:attrNameLst>
                                          <p:attrName>ppt_w</p:attrName>
                                        </p:attrNameLst>
                                      </p:cBhvr>
                                      <p:tavLst>
                                        <p:tav tm="0">
                                          <p:val>
                                            <p:fltVal val="0"/>
                                          </p:val>
                                        </p:tav>
                                        <p:tav tm="100000">
                                          <p:val>
                                            <p:strVal val="#ppt_w"/>
                                          </p:val>
                                        </p:tav>
                                      </p:tavLst>
                                    </p:anim>
                                    <p:anim calcmode="lin" valueType="num">
                                      <p:cBhvr>
                                        <p:cTn id="88" dur="500" fill="hold"/>
                                        <p:tgtEl>
                                          <p:spTgt spid="33"/>
                                        </p:tgtEl>
                                        <p:attrNameLst>
                                          <p:attrName>ppt_h</p:attrName>
                                        </p:attrNameLst>
                                      </p:cBhvr>
                                      <p:tavLst>
                                        <p:tav tm="0">
                                          <p:val>
                                            <p:fltVal val="0"/>
                                          </p:val>
                                        </p:tav>
                                        <p:tav tm="100000">
                                          <p:val>
                                            <p:strVal val="#ppt_h"/>
                                          </p:val>
                                        </p:tav>
                                      </p:tavLst>
                                    </p:anim>
                                    <p:animEffect transition="in" filter="fade">
                                      <p:cBhvr>
                                        <p:cTn id="89" dur="500"/>
                                        <p:tgtEl>
                                          <p:spTgt spid="33"/>
                                        </p:tgtEl>
                                      </p:cBhvr>
                                    </p:animEffect>
                                  </p:childTnLst>
                                </p:cTn>
                              </p:par>
                              <p:par>
                                <p:cTn id="90" presetID="53" presetClass="entr" presetSubtype="16" fill="hold" nodeType="withEffect">
                                  <p:stCondLst>
                                    <p:cond delay="0"/>
                                  </p:stCondLst>
                                  <p:childTnLst>
                                    <p:set>
                                      <p:cBhvr>
                                        <p:cTn id="91" dur="1" fill="hold">
                                          <p:stCondLst>
                                            <p:cond delay="0"/>
                                          </p:stCondLst>
                                        </p:cTn>
                                        <p:tgtEl>
                                          <p:spTgt spid="34"/>
                                        </p:tgtEl>
                                        <p:attrNameLst>
                                          <p:attrName>style.visibility</p:attrName>
                                        </p:attrNameLst>
                                      </p:cBhvr>
                                      <p:to>
                                        <p:strVal val="visible"/>
                                      </p:to>
                                    </p:set>
                                    <p:anim calcmode="lin" valueType="num">
                                      <p:cBhvr>
                                        <p:cTn id="92" dur="500" fill="hold"/>
                                        <p:tgtEl>
                                          <p:spTgt spid="34"/>
                                        </p:tgtEl>
                                        <p:attrNameLst>
                                          <p:attrName>ppt_w</p:attrName>
                                        </p:attrNameLst>
                                      </p:cBhvr>
                                      <p:tavLst>
                                        <p:tav tm="0">
                                          <p:val>
                                            <p:fltVal val="0"/>
                                          </p:val>
                                        </p:tav>
                                        <p:tav tm="100000">
                                          <p:val>
                                            <p:strVal val="#ppt_w"/>
                                          </p:val>
                                        </p:tav>
                                      </p:tavLst>
                                    </p:anim>
                                    <p:anim calcmode="lin" valueType="num">
                                      <p:cBhvr>
                                        <p:cTn id="93" dur="500" fill="hold"/>
                                        <p:tgtEl>
                                          <p:spTgt spid="34"/>
                                        </p:tgtEl>
                                        <p:attrNameLst>
                                          <p:attrName>ppt_h</p:attrName>
                                        </p:attrNameLst>
                                      </p:cBhvr>
                                      <p:tavLst>
                                        <p:tav tm="0">
                                          <p:val>
                                            <p:fltVal val="0"/>
                                          </p:val>
                                        </p:tav>
                                        <p:tav tm="100000">
                                          <p:val>
                                            <p:strVal val="#ppt_h"/>
                                          </p:val>
                                        </p:tav>
                                      </p:tavLst>
                                    </p:anim>
                                    <p:animEffect transition="in" filter="fade">
                                      <p:cBhvr>
                                        <p:cTn id="94" dur="500"/>
                                        <p:tgtEl>
                                          <p:spTgt spid="34"/>
                                        </p:tgtEl>
                                      </p:cBhvr>
                                    </p:animEffect>
                                  </p:childTnLst>
                                </p:cTn>
                              </p:par>
                              <p:par>
                                <p:cTn id="95" presetID="53" presetClass="entr" presetSubtype="16" fill="hold" nodeType="withEffect">
                                  <p:stCondLst>
                                    <p:cond delay="0"/>
                                  </p:stCondLst>
                                  <p:childTnLst>
                                    <p:set>
                                      <p:cBhvr>
                                        <p:cTn id="96" dur="1" fill="hold">
                                          <p:stCondLst>
                                            <p:cond delay="0"/>
                                          </p:stCondLst>
                                        </p:cTn>
                                        <p:tgtEl>
                                          <p:spTgt spid="35"/>
                                        </p:tgtEl>
                                        <p:attrNameLst>
                                          <p:attrName>style.visibility</p:attrName>
                                        </p:attrNameLst>
                                      </p:cBhvr>
                                      <p:to>
                                        <p:strVal val="visible"/>
                                      </p:to>
                                    </p:set>
                                    <p:anim calcmode="lin" valueType="num">
                                      <p:cBhvr>
                                        <p:cTn id="97" dur="500" fill="hold"/>
                                        <p:tgtEl>
                                          <p:spTgt spid="35"/>
                                        </p:tgtEl>
                                        <p:attrNameLst>
                                          <p:attrName>ppt_w</p:attrName>
                                        </p:attrNameLst>
                                      </p:cBhvr>
                                      <p:tavLst>
                                        <p:tav tm="0">
                                          <p:val>
                                            <p:fltVal val="0"/>
                                          </p:val>
                                        </p:tav>
                                        <p:tav tm="100000">
                                          <p:val>
                                            <p:strVal val="#ppt_w"/>
                                          </p:val>
                                        </p:tav>
                                      </p:tavLst>
                                    </p:anim>
                                    <p:anim calcmode="lin" valueType="num">
                                      <p:cBhvr>
                                        <p:cTn id="98" dur="500" fill="hold"/>
                                        <p:tgtEl>
                                          <p:spTgt spid="35"/>
                                        </p:tgtEl>
                                        <p:attrNameLst>
                                          <p:attrName>ppt_h</p:attrName>
                                        </p:attrNameLst>
                                      </p:cBhvr>
                                      <p:tavLst>
                                        <p:tav tm="0">
                                          <p:val>
                                            <p:fltVal val="0"/>
                                          </p:val>
                                        </p:tav>
                                        <p:tav tm="100000">
                                          <p:val>
                                            <p:strVal val="#ppt_h"/>
                                          </p:val>
                                        </p:tav>
                                      </p:tavLst>
                                    </p:anim>
                                    <p:animEffect transition="in" filter="fade">
                                      <p:cBhvr>
                                        <p:cTn id="99" dur="500"/>
                                        <p:tgtEl>
                                          <p:spTgt spid="35"/>
                                        </p:tgtEl>
                                      </p:cBhvr>
                                    </p:animEffect>
                                  </p:childTnLst>
                                </p:cTn>
                              </p:par>
                              <p:par>
                                <p:cTn id="100" presetID="53" presetClass="entr" presetSubtype="16" fill="hold" nodeType="withEffect">
                                  <p:stCondLst>
                                    <p:cond delay="0"/>
                                  </p:stCondLst>
                                  <p:childTnLst>
                                    <p:set>
                                      <p:cBhvr>
                                        <p:cTn id="101" dur="1" fill="hold">
                                          <p:stCondLst>
                                            <p:cond delay="0"/>
                                          </p:stCondLst>
                                        </p:cTn>
                                        <p:tgtEl>
                                          <p:spTgt spid="36"/>
                                        </p:tgtEl>
                                        <p:attrNameLst>
                                          <p:attrName>style.visibility</p:attrName>
                                        </p:attrNameLst>
                                      </p:cBhvr>
                                      <p:to>
                                        <p:strVal val="visible"/>
                                      </p:to>
                                    </p:set>
                                    <p:anim calcmode="lin" valueType="num">
                                      <p:cBhvr>
                                        <p:cTn id="102" dur="500" fill="hold"/>
                                        <p:tgtEl>
                                          <p:spTgt spid="36"/>
                                        </p:tgtEl>
                                        <p:attrNameLst>
                                          <p:attrName>ppt_w</p:attrName>
                                        </p:attrNameLst>
                                      </p:cBhvr>
                                      <p:tavLst>
                                        <p:tav tm="0">
                                          <p:val>
                                            <p:fltVal val="0"/>
                                          </p:val>
                                        </p:tav>
                                        <p:tav tm="100000">
                                          <p:val>
                                            <p:strVal val="#ppt_w"/>
                                          </p:val>
                                        </p:tav>
                                      </p:tavLst>
                                    </p:anim>
                                    <p:anim calcmode="lin" valueType="num">
                                      <p:cBhvr>
                                        <p:cTn id="103" dur="500" fill="hold"/>
                                        <p:tgtEl>
                                          <p:spTgt spid="36"/>
                                        </p:tgtEl>
                                        <p:attrNameLst>
                                          <p:attrName>ppt_h</p:attrName>
                                        </p:attrNameLst>
                                      </p:cBhvr>
                                      <p:tavLst>
                                        <p:tav tm="0">
                                          <p:val>
                                            <p:fltVal val="0"/>
                                          </p:val>
                                        </p:tav>
                                        <p:tav tm="100000">
                                          <p:val>
                                            <p:strVal val="#ppt_h"/>
                                          </p:val>
                                        </p:tav>
                                      </p:tavLst>
                                    </p:anim>
                                    <p:animEffect transition="in" filter="fade">
                                      <p:cBhvr>
                                        <p:cTn id="104" dur="500"/>
                                        <p:tgtEl>
                                          <p:spTgt spid="36"/>
                                        </p:tgtEl>
                                      </p:cBhvr>
                                    </p:animEffect>
                                  </p:childTnLst>
                                </p:cTn>
                              </p:par>
                              <p:par>
                                <p:cTn id="105" presetID="53" presetClass="entr" presetSubtype="16" fill="hold" nodeType="withEffect">
                                  <p:stCondLst>
                                    <p:cond delay="0"/>
                                  </p:stCondLst>
                                  <p:childTnLst>
                                    <p:set>
                                      <p:cBhvr>
                                        <p:cTn id="106" dur="1" fill="hold">
                                          <p:stCondLst>
                                            <p:cond delay="0"/>
                                          </p:stCondLst>
                                        </p:cTn>
                                        <p:tgtEl>
                                          <p:spTgt spid="37"/>
                                        </p:tgtEl>
                                        <p:attrNameLst>
                                          <p:attrName>style.visibility</p:attrName>
                                        </p:attrNameLst>
                                      </p:cBhvr>
                                      <p:to>
                                        <p:strVal val="visible"/>
                                      </p:to>
                                    </p:set>
                                    <p:anim calcmode="lin" valueType="num">
                                      <p:cBhvr>
                                        <p:cTn id="107" dur="500" fill="hold"/>
                                        <p:tgtEl>
                                          <p:spTgt spid="37"/>
                                        </p:tgtEl>
                                        <p:attrNameLst>
                                          <p:attrName>ppt_w</p:attrName>
                                        </p:attrNameLst>
                                      </p:cBhvr>
                                      <p:tavLst>
                                        <p:tav tm="0">
                                          <p:val>
                                            <p:fltVal val="0"/>
                                          </p:val>
                                        </p:tav>
                                        <p:tav tm="100000">
                                          <p:val>
                                            <p:strVal val="#ppt_w"/>
                                          </p:val>
                                        </p:tav>
                                      </p:tavLst>
                                    </p:anim>
                                    <p:anim calcmode="lin" valueType="num">
                                      <p:cBhvr>
                                        <p:cTn id="108" dur="500" fill="hold"/>
                                        <p:tgtEl>
                                          <p:spTgt spid="37"/>
                                        </p:tgtEl>
                                        <p:attrNameLst>
                                          <p:attrName>ppt_h</p:attrName>
                                        </p:attrNameLst>
                                      </p:cBhvr>
                                      <p:tavLst>
                                        <p:tav tm="0">
                                          <p:val>
                                            <p:fltVal val="0"/>
                                          </p:val>
                                        </p:tav>
                                        <p:tav tm="100000">
                                          <p:val>
                                            <p:strVal val="#ppt_h"/>
                                          </p:val>
                                        </p:tav>
                                      </p:tavLst>
                                    </p:anim>
                                    <p:animEffect transition="in" filter="fade">
                                      <p:cBhvr>
                                        <p:cTn id="109" dur="500"/>
                                        <p:tgtEl>
                                          <p:spTgt spid="37"/>
                                        </p:tgtEl>
                                      </p:cBhvr>
                                    </p:animEffect>
                                  </p:childTnLst>
                                </p:cTn>
                              </p:par>
                              <p:par>
                                <p:cTn id="110" presetID="53" presetClass="entr" presetSubtype="16" fill="hold" nodeType="withEffect">
                                  <p:stCondLst>
                                    <p:cond delay="0"/>
                                  </p:stCondLst>
                                  <p:childTnLst>
                                    <p:set>
                                      <p:cBhvr>
                                        <p:cTn id="111" dur="1" fill="hold">
                                          <p:stCondLst>
                                            <p:cond delay="0"/>
                                          </p:stCondLst>
                                        </p:cTn>
                                        <p:tgtEl>
                                          <p:spTgt spid="38"/>
                                        </p:tgtEl>
                                        <p:attrNameLst>
                                          <p:attrName>style.visibility</p:attrName>
                                        </p:attrNameLst>
                                      </p:cBhvr>
                                      <p:to>
                                        <p:strVal val="visible"/>
                                      </p:to>
                                    </p:set>
                                    <p:anim calcmode="lin" valueType="num">
                                      <p:cBhvr>
                                        <p:cTn id="112" dur="500" fill="hold"/>
                                        <p:tgtEl>
                                          <p:spTgt spid="38"/>
                                        </p:tgtEl>
                                        <p:attrNameLst>
                                          <p:attrName>ppt_w</p:attrName>
                                        </p:attrNameLst>
                                      </p:cBhvr>
                                      <p:tavLst>
                                        <p:tav tm="0">
                                          <p:val>
                                            <p:fltVal val="0"/>
                                          </p:val>
                                        </p:tav>
                                        <p:tav tm="100000">
                                          <p:val>
                                            <p:strVal val="#ppt_w"/>
                                          </p:val>
                                        </p:tav>
                                      </p:tavLst>
                                    </p:anim>
                                    <p:anim calcmode="lin" valueType="num">
                                      <p:cBhvr>
                                        <p:cTn id="113" dur="500" fill="hold"/>
                                        <p:tgtEl>
                                          <p:spTgt spid="38"/>
                                        </p:tgtEl>
                                        <p:attrNameLst>
                                          <p:attrName>ppt_h</p:attrName>
                                        </p:attrNameLst>
                                      </p:cBhvr>
                                      <p:tavLst>
                                        <p:tav tm="0">
                                          <p:val>
                                            <p:fltVal val="0"/>
                                          </p:val>
                                        </p:tav>
                                        <p:tav tm="100000">
                                          <p:val>
                                            <p:strVal val="#ppt_h"/>
                                          </p:val>
                                        </p:tav>
                                      </p:tavLst>
                                    </p:anim>
                                    <p:animEffect transition="in" filter="fade">
                                      <p:cBhvr>
                                        <p:cTn id="114" dur="500"/>
                                        <p:tgtEl>
                                          <p:spTgt spid="38"/>
                                        </p:tgtEl>
                                      </p:cBhvr>
                                    </p:animEffect>
                                  </p:childTnLst>
                                </p:cTn>
                              </p:par>
                            </p:childTnLst>
                          </p:cTn>
                        </p:par>
                      </p:childTnLst>
                    </p:cTn>
                  </p:par>
                  <p:par>
                    <p:cTn id="115" fill="hold">
                      <p:stCondLst>
                        <p:cond delay="indefinite"/>
                      </p:stCondLst>
                      <p:childTnLst>
                        <p:par>
                          <p:cTn id="116" fill="hold">
                            <p:stCondLst>
                              <p:cond delay="0"/>
                            </p:stCondLst>
                            <p:childTnLst>
                              <p:par>
                                <p:cTn id="117" presetID="53" presetClass="entr" presetSubtype="16" fill="hold" nodeType="clickEffect">
                                  <p:stCondLst>
                                    <p:cond delay="0"/>
                                  </p:stCondLst>
                                  <p:childTnLst>
                                    <p:set>
                                      <p:cBhvr>
                                        <p:cTn id="118" dur="1" fill="hold">
                                          <p:stCondLst>
                                            <p:cond delay="0"/>
                                          </p:stCondLst>
                                        </p:cTn>
                                        <p:tgtEl>
                                          <p:spTgt spid="51"/>
                                        </p:tgtEl>
                                        <p:attrNameLst>
                                          <p:attrName>style.visibility</p:attrName>
                                        </p:attrNameLst>
                                      </p:cBhvr>
                                      <p:to>
                                        <p:strVal val="visible"/>
                                      </p:to>
                                    </p:set>
                                    <p:anim calcmode="lin" valueType="num">
                                      <p:cBhvr>
                                        <p:cTn id="119" dur="500" fill="hold"/>
                                        <p:tgtEl>
                                          <p:spTgt spid="51"/>
                                        </p:tgtEl>
                                        <p:attrNameLst>
                                          <p:attrName>ppt_w</p:attrName>
                                        </p:attrNameLst>
                                      </p:cBhvr>
                                      <p:tavLst>
                                        <p:tav tm="0">
                                          <p:val>
                                            <p:fltVal val="0"/>
                                          </p:val>
                                        </p:tav>
                                        <p:tav tm="100000">
                                          <p:val>
                                            <p:strVal val="#ppt_w"/>
                                          </p:val>
                                        </p:tav>
                                      </p:tavLst>
                                    </p:anim>
                                    <p:anim calcmode="lin" valueType="num">
                                      <p:cBhvr>
                                        <p:cTn id="120" dur="500" fill="hold"/>
                                        <p:tgtEl>
                                          <p:spTgt spid="51"/>
                                        </p:tgtEl>
                                        <p:attrNameLst>
                                          <p:attrName>ppt_h</p:attrName>
                                        </p:attrNameLst>
                                      </p:cBhvr>
                                      <p:tavLst>
                                        <p:tav tm="0">
                                          <p:val>
                                            <p:fltVal val="0"/>
                                          </p:val>
                                        </p:tav>
                                        <p:tav tm="100000">
                                          <p:val>
                                            <p:strVal val="#ppt_h"/>
                                          </p:val>
                                        </p:tav>
                                      </p:tavLst>
                                    </p:anim>
                                    <p:animEffect transition="in" filter="fade">
                                      <p:cBhvr>
                                        <p:cTn id="121" dur="500"/>
                                        <p:tgtEl>
                                          <p:spTgt spid="5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2"/>
                                        </p:tgtEl>
                                        <p:attrNameLst>
                                          <p:attrName>style.visibility</p:attrName>
                                        </p:attrNameLst>
                                      </p:cBhvr>
                                      <p:to>
                                        <p:strVal val="visible"/>
                                      </p:to>
                                    </p:set>
                                    <p:animEffect transition="in" filter="fade">
                                      <p:cBhvr>
                                        <p:cTn id="124" dur="500"/>
                                        <p:tgtEl>
                                          <p:spTgt spid="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5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500"/>
                                        <p:tgtEl>
                                          <p:spTgt spid="47"/>
                                        </p:tgtEl>
                                      </p:cBhvr>
                                    </p:animEffect>
                                  </p:childTnLst>
                                </p:cTn>
                              </p:par>
                            </p:childTnLst>
                          </p:cTn>
                        </p:par>
                      </p:childTnLst>
                    </p:cTn>
                  </p:par>
                  <p:par>
                    <p:cTn id="131" fill="hold">
                      <p:stCondLst>
                        <p:cond delay="indefinite"/>
                      </p:stCondLst>
                      <p:childTnLst>
                        <p:par>
                          <p:cTn id="132" fill="hold">
                            <p:stCondLst>
                              <p:cond delay="0"/>
                            </p:stCondLst>
                            <p:childTnLst>
                              <p:par>
                                <p:cTn id="133" presetID="26" presetClass="entr" presetSubtype="0" fill="hold" nodeType="clickEffect">
                                  <p:stCondLst>
                                    <p:cond delay="0"/>
                                  </p:stCondLst>
                                  <p:childTnLst>
                                    <p:set>
                                      <p:cBhvr>
                                        <p:cTn id="134" dur="1" fill="hold">
                                          <p:stCondLst>
                                            <p:cond delay="0"/>
                                          </p:stCondLst>
                                        </p:cTn>
                                        <p:tgtEl>
                                          <p:spTgt spid="22"/>
                                        </p:tgtEl>
                                        <p:attrNameLst>
                                          <p:attrName>style.visibility</p:attrName>
                                        </p:attrNameLst>
                                      </p:cBhvr>
                                      <p:to>
                                        <p:strVal val="visible"/>
                                      </p:to>
                                    </p:set>
                                    <p:animEffect transition="in" filter="wipe(down)">
                                      <p:cBhvr>
                                        <p:cTn id="135" dur="580">
                                          <p:stCondLst>
                                            <p:cond delay="0"/>
                                          </p:stCondLst>
                                        </p:cTn>
                                        <p:tgtEl>
                                          <p:spTgt spid="22"/>
                                        </p:tgtEl>
                                      </p:cBhvr>
                                    </p:animEffect>
                                    <p:anim calcmode="lin" valueType="num">
                                      <p:cBhvr>
                                        <p:cTn id="136"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141" dur="26">
                                          <p:stCondLst>
                                            <p:cond delay="650"/>
                                          </p:stCondLst>
                                        </p:cTn>
                                        <p:tgtEl>
                                          <p:spTgt spid="22"/>
                                        </p:tgtEl>
                                      </p:cBhvr>
                                      <p:to x="100000" y="60000"/>
                                    </p:animScale>
                                    <p:animScale>
                                      <p:cBhvr>
                                        <p:cTn id="142" dur="166" decel="50000">
                                          <p:stCondLst>
                                            <p:cond delay="676"/>
                                          </p:stCondLst>
                                        </p:cTn>
                                        <p:tgtEl>
                                          <p:spTgt spid="22"/>
                                        </p:tgtEl>
                                      </p:cBhvr>
                                      <p:to x="100000" y="100000"/>
                                    </p:animScale>
                                    <p:animScale>
                                      <p:cBhvr>
                                        <p:cTn id="143" dur="26">
                                          <p:stCondLst>
                                            <p:cond delay="1312"/>
                                          </p:stCondLst>
                                        </p:cTn>
                                        <p:tgtEl>
                                          <p:spTgt spid="22"/>
                                        </p:tgtEl>
                                      </p:cBhvr>
                                      <p:to x="100000" y="80000"/>
                                    </p:animScale>
                                    <p:animScale>
                                      <p:cBhvr>
                                        <p:cTn id="144" dur="166" decel="50000">
                                          <p:stCondLst>
                                            <p:cond delay="1338"/>
                                          </p:stCondLst>
                                        </p:cTn>
                                        <p:tgtEl>
                                          <p:spTgt spid="22"/>
                                        </p:tgtEl>
                                      </p:cBhvr>
                                      <p:to x="100000" y="100000"/>
                                    </p:animScale>
                                    <p:animScale>
                                      <p:cBhvr>
                                        <p:cTn id="145" dur="26">
                                          <p:stCondLst>
                                            <p:cond delay="1642"/>
                                          </p:stCondLst>
                                        </p:cTn>
                                        <p:tgtEl>
                                          <p:spTgt spid="22"/>
                                        </p:tgtEl>
                                      </p:cBhvr>
                                      <p:to x="100000" y="90000"/>
                                    </p:animScale>
                                    <p:animScale>
                                      <p:cBhvr>
                                        <p:cTn id="146" dur="166" decel="50000">
                                          <p:stCondLst>
                                            <p:cond delay="1668"/>
                                          </p:stCondLst>
                                        </p:cTn>
                                        <p:tgtEl>
                                          <p:spTgt spid="22"/>
                                        </p:tgtEl>
                                      </p:cBhvr>
                                      <p:to x="100000" y="100000"/>
                                    </p:animScale>
                                    <p:animScale>
                                      <p:cBhvr>
                                        <p:cTn id="147" dur="26">
                                          <p:stCondLst>
                                            <p:cond delay="1808"/>
                                          </p:stCondLst>
                                        </p:cTn>
                                        <p:tgtEl>
                                          <p:spTgt spid="22"/>
                                        </p:tgtEl>
                                      </p:cBhvr>
                                      <p:to x="100000" y="95000"/>
                                    </p:animScale>
                                    <p:animScale>
                                      <p:cBhvr>
                                        <p:cTn id="148" dur="166" decel="50000">
                                          <p:stCondLst>
                                            <p:cond delay="1834"/>
                                          </p:stCondLst>
                                        </p:cTn>
                                        <p:tgtEl>
                                          <p:spTgt spid="22"/>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3"/>
                                        </p:tgtEl>
                                        <p:attrNameLst>
                                          <p:attrName>style.visibility</p:attrName>
                                        </p:attrNameLst>
                                      </p:cBhvr>
                                      <p:to>
                                        <p:strVal val="visible"/>
                                      </p:to>
                                    </p:set>
                                    <p:animEffect transition="in" filter="wipe(down)">
                                      <p:cBhvr>
                                        <p:cTn id="151" dur="580">
                                          <p:stCondLst>
                                            <p:cond delay="0"/>
                                          </p:stCondLst>
                                        </p:cTn>
                                        <p:tgtEl>
                                          <p:spTgt spid="3"/>
                                        </p:tgtEl>
                                      </p:cBhvr>
                                    </p:animEffect>
                                    <p:anim calcmode="lin" valueType="num">
                                      <p:cBhvr>
                                        <p:cTn id="152"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57" dur="26">
                                          <p:stCondLst>
                                            <p:cond delay="650"/>
                                          </p:stCondLst>
                                        </p:cTn>
                                        <p:tgtEl>
                                          <p:spTgt spid="3"/>
                                        </p:tgtEl>
                                      </p:cBhvr>
                                      <p:to x="100000" y="60000"/>
                                    </p:animScale>
                                    <p:animScale>
                                      <p:cBhvr>
                                        <p:cTn id="158" dur="166" decel="50000">
                                          <p:stCondLst>
                                            <p:cond delay="676"/>
                                          </p:stCondLst>
                                        </p:cTn>
                                        <p:tgtEl>
                                          <p:spTgt spid="3"/>
                                        </p:tgtEl>
                                      </p:cBhvr>
                                      <p:to x="100000" y="100000"/>
                                    </p:animScale>
                                    <p:animScale>
                                      <p:cBhvr>
                                        <p:cTn id="159" dur="26">
                                          <p:stCondLst>
                                            <p:cond delay="1312"/>
                                          </p:stCondLst>
                                        </p:cTn>
                                        <p:tgtEl>
                                          <p:spTgt spid="3"/>
                                        </p:tgtEl>
                                      </p:cBhvr>
                                      <p:to x="100000" y="80000"/>
                                    </p:animScale>
                                    <p:animScale>
                                      <p:cBhvr>
                                        <p:cTn id="160" dur="166" decel="50000">
                                          <p:stCondLst>
                                            <p:cond delay="1338"/>
                                          </p:stCondLst>
                                        </p:cTn>
                                        <p:tgtEl>
                                          <p:spTgt spid="3"/>
                                        </p:tgtEl>
                                      </p:cBhvr>
                                      <p:to x="100000" y="100000"/>
                                    </p:animScale>
                                    <p:animScale>
                                      <p:cBhvr>
                                        <p:cTn id="161" dur="26">
                                          <p:stCondLst>
                                            <p:cond delay="1642"/>
                                          </p:stCondLst>
                                        </p:cTn>
                                        <p:tgtEl>
                                          <p:spTgt spid="3"/>
                                        </p:tgtEl>
                                      </p:cBhvr>
                                      <p:to x="100000" y="90000"/>
                                    </p:animScale>
                                    <p:animScale>
                                      <p:cBhvr>
                                        <p:cTn id="162" dur="166" decel="50000">
                                          <p:stCondLst>
                                            <p:cond delay="1668"/>
                                          </p:stCondLst>
                                        </p:cTn>
                                        <p:tgtEl>
                                          <p:spTgt spid="3"/>
                                        </p:tgtEl>
                                      </p:cBhvr>
                                      <p:to x="100000" y="100000"/>
                                    </p:animScale>
                                    <p:animScale>
                                      <p:cBhvr>
                                        <p:cTn id="163" dur="26">
                                          <p:stCondLst>
                                            <p:cond delay="1808"/>
                                          </p:stCondLst>
                                        </p:cTn>
                                        <p:tgtEl>
                                          <p:spTgt spid="3"/>
                                        </p:tgtEl>
                                      </p:cBhvr>
                                      <p:to x="100000" y="95000"/>
                                    </p:animScale>
                                    <p:animScale>
                                      <p:cBhvr>
                                        <p:cTn id="164" dur="166" decel="50000">
                                          <p:stCondLst>
                                            <p:cond delay="1834"/>
                                          </p:stCondLst>
                                        </p:cTn>
                                        <p:tgtEl>
                                          <p:spTgt spid="3"/>
                                        </p:tgtEl>
                                      </p:cBhvr>
                                      <p:to x="100000" y="100000"/>
                                    </p:animScale>
                                  </p:childTnLst>
                                </p:cTn>
                              </p:par>
                            </p:childTnLst>
                          </p:cTn>
                        </p:par>
                      </p:childTnLst>
                    </p:cTn>
                  </p:par>
                  <p:par>
                    <p:cTn id="165" fill="hold">
                      <p:stCondLst>
                        <p:cond delay="indefinite"/>
                      </p:stCondLst>
                      <p:childTnLst>
                        <p:par>
                          <p:cTn id="166" fill="hold">
                            <p:stCondLst>
                              <p:cond delay="0"/>
                            </p:stCondLst>
                            <p:childTnLst>
                              <p:par>
                                <p:cTn id="167" presetID="26" presetClass="entr" presetSubtype="0" fill="hold" nodeType="clickEffect">
                                  <p:stCondLst>
                                    <p:cond delay="0"/>
                                  </p:stCondLst>
                                  <p:childTnLst>
                                    <p:set>
                                      <p:cBhvr>
                                        <p:cTn id="168" dur="1" fill="hold">
                                          <p:stCondLst>
                                            <p:cond delay="0"/>
                                          </p:stCondLst>
                                        </p:cTn>
                                        <p:tgtEl>
                                          <p:spTgt spid="4"/>
                                        </p:tgtEl>
                                        <p:attrNameLst>
                                          <p:attrName>style.visibility</p:attrName>
                                        </p:attrNameLst>
                                      </p:cBhvr>
                                      <p:to>
                                        <p:strVal val="visible"/>
                                      </p:to>
                                    </p:set>
                                    <p:animEffect transition="in" filter="wipe(down)">
                                      <p:cBhvr>
                                        <p:cTn id="169" dur="580">
                                          <p:stCondLst>
                                            <p:cond delay="0"/>
                                          </p:stCondLst>
                                        </p:cTn>
                                        <p:tgtEl>
                                          <p:spTgt spid="4"/>
                                        </p:tgtEl>
                                      </p:cBhvr>
                                    </p:animEffect>
                                    <p:anim calcmode="lin" valueType="num">
                                      <p:cBhvr>
                                        <p:cTn id="17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7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7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7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7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75" dur="26">
                                          <p:stCondLst>
                                            <p:cond delay="650"/>
                                          </p:stCondLst>
                                        </p:cTn>
                                        <p:tgtEl>
                                          <p:spTgt spid="4"/>
                                        </p:tgtEl>
                                      </p:cBhvr>
                                      <p:to x="100000" y="60000"/>
                                    </p:animScale>
                                    <p:animScale>
                                      <p:cBhvr>
                                        <p:cTn id="176" dur="166" decel="50000">
                                          <p:stCondLst>
                                            <p:cond delay="676"/>
                                          </p:stCondLst>
                                        </p:cTn>
                                        <p:tgtEl>
                                          <p:spTgt spid="4"/>
                                        </p:tgtEl>
                                      </p:cBhvr>
                                      <p:to x="100000" y="100000"/>
                                    </p:animScale>
                                    <p:animScale>
                                      <p:cBhvr>
                                        <p:cTn id="177" dur="26">
                                          <p:stCondLst>
                                            <p:cond delay="1312"/>
                                          </p:stCondLst>
                                        </p:cTn>
                                        <p:tgtEl>
                                          <p:spTgt spid="4"/>
                                        </p:tgtEl>
                                      </p:cBhvr>
                                      <p:to x="100000" y="80000"/>
                                    </p:animScale>
                                    <p:animScale>
                                      <p:cBhvr>
                                        <p:cTn id="178" dur="166" decel="50000">
                                          <p:stCondLst>
                                            <p:cond delay="1338"/>
                                          </p:stCondLst>
                                        </p:cTn>
                                        <p:tgtEl>
                                          <p:spTgt spid="4"/>
                                        </p:tgtEl>
                                      </p:cBhvr>
                                      <p:to x="100000" y="100000"/>
                                    </p:animScale>
                                    <p:animScale>
                                      <p:cBhvr>
                                        <p:cTn id="179" dur="26">
                                          <p:stCondLst>
                                            <p:cond delay="1642"/>
                                          </p:stCondLst>
                                        </p:cTn>
                                        <p:tgtEl>
                                          <p:spTgt spid="4"/>
                                        </p:tgtEl>
                                      </p:cBhvr>
                                      <p:to x="100000" y="90000"/>
                                    </p:animScale>
                                    <p:animScale>
                                      <p:cBhvr>
                                        <p:cTn id="180" dur="166" decel="50000">
                                          <p:stCondLst>
                                            <p:cond delay="1668"/>
                                          </p:stCondLst>
                                        </p:cTn>
                                        <p:tgtEl>
                                          <p:spTgt spid="4"/>
                                        </p:tgtEl>
                                      </p:cBhvr>
                                      <p:to x="100000" y="100000"/>
                                    </p:animScale>
                                    <p:animScale>
                                      <p:cBhvr>
                                        <p:cTn id="181" dur="26">
                                          <p:stCondLst>
                                            <p:cond delay="1808"/>
                                          </p:stCondLst>
                                        </p:cTn>
                                        <p:tgtEl>
                                          <p:spTgt spid="4"/>
                                        </p:tgtEl>
                                      </p:cBhvr>
                                      <p:to x="100000" y="95000"/>
                                    </p:animScale>
                                    <p:animScale>
                                      <p:cBhvr>
                                        <p:cTn id="182"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8" grpId="0"/>
      <p:bldP spid="29" grpId="0"/>
      <p:bldP spid="39" grpId="0" animBg="1"/>
      <p:bldP spid="40" grpId="0" animBg="1"/>
      <p:bldP spid="41" grpId="0" animBg="1"/>
      <p:bldP spid="42" grpId="0" animBg="1"/>
      <p:bldP spid="43" grpId="0" animBg="1"/>
      <p:bldP spid="44" grpId="0" animBg="1"/>
      <p:bldP spid="2" grpId="0" animBg="1"/>
      <p:bldP spid="46" grpId="0" animBg="1"/>
      <p:bldP spid="47" grpId="0" animBg="1"/>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rco 6"/>
          <p:cNvSpPr/>
          <p:nvPr/>
        </p:nvSpPr>
        <p:spPr>
          <a:xfrm flipH="1">
            <a:off x="3027293" y="2427413"/>
            <a:ext cx="2157513" cy="4114022"/>
          </a:xfrm>
          <a:prstGeom prst="arc">
            <a:avLst>
              <a:gd name="adj1" fmla="val 16400732"/>
              <a:gd name="adj2" fmla="val 5530688"/>
            </a:avLst>
          </a:prstGeom>
          <a:ln w="76200">
            <a:solidFill>
              <a:srgbClr val="99663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Arco 7"/>
          <p:cNvSpPr/>
          <p:nvPr/>
        </p:nvSpPr>
        <p:spPr>
          <a:xfrm>
            <a:off x="4935320" y="2427414"/>
            <a:ext cx="2157513" cy="4114022"/>
          </a:xfrm>
          <a:prstGeom prst="arc">
            <a:avLst>
              <a:gd name="adj1" fmla="val 16400732"/>
              <a:gd name="adj2" fmla="val 5530688"/>
            </a:avLst>
          </a:prstGeom>
          <a:ln w="76200">
            <a:solidFill>
              <a:srgbClr val="99663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9" name="Immagine 8"/>
          <p:cNvPicPr>
            <a:picLocks noChangeAspect="1"/>
          </p:cNvPicPr>
          <p:nvPr/>
        </p:nvPicPr>
        <p:blipFill>
          <a:blip r:embed="rId2" cstate="print">
            <a:clrChange>
              <a:clrFrom>
                <a:srgbClr val="FFFFFF"/>
              </a:clrFrom>
              <a:clrTo>
                <a:srgbClr val="FFFFFF">
                  <a:alpha val="0"/>
                </a:srgbClr>
              </a:clrTo>
            </a:clrChange>
          </a:blip>
          <a:stretch>
            <a:fillRect/>
          </a:stretch>
        </p:blipFill>
        <p:spPr>
          <a:xfrm>
            <a:off x="3667142" y="5527608"/>
            <a:ext cx="2524125" cy="1428750"/>
          </a:xfrm>
          <a:prstGeom prst="rect">
            <a:avLst/>
          </a:prstGeom>
        </p:spPr>
      </p:pic>
      <p:grpSp>
        <p:nvGrpSpPr>
          <p:cNvPr id="2" name="Gruppo 9"/>
          <p:cNvGrpSpPr/>
          <p:nvPr/>
        </p:nvGrpSpPr>
        <p:grpSpPr>
          <a:xfrm>
            <a:off x="2065870" y="4284495"/>
            <a:ext cx="2233016" cy="2033986"/>
            <a:chOff x="2065870" y="4020335"/>
            <a:chExt cx="2233016" cy="2033986"/>
          </a:xfrm>
        </p:grpSpPr>
        <p:pic>
          <p:nvPicPr>
            <p:cNvPr id="11" name="Immagine 10"/>
            <p:cNvPicPr>
              <a:picLocks noChangeAspect="1"/>
            </p:cNvPicPr>
            <p:nvPr/>
          </p:nvPicPr>
          <p:blipFill rotWithShape="1">
            <a:blip r:embed="rId3" cstate="print"/>
            <a:srcRect l="20006" t="419" r="59528" b="49984"/>
            <a:stretch/>
          </p:blipFill>
          <p:spPr>
            <a:xfrm>
              <a:off x="3324158" y="4020335"/>
              <a:ext cx="974728" cy="1303867"/>
            </a:xfrm>
            <a:prstGeom prst="rect">
              <a:avLst/>
            </a:prstGeom>
          </p:spPr>
        </p:pic>
        <p:pic>
          <p:nvPicPr>
            <p:cNvPr id="12" name="Immagine 11"/>
            <p:cNvPicPr>
              <a:picLocks noChangeAspect="1"/>
            </p:cNvPicPr>
            <p:nvPr/>
          </p:nvPicPr>
          <p:blipFill>
            <a:blip r:embed="rId4" cstate="print">
              <a:clrChange>
                <a:clrFrom>
                  <a:srgbClr val="FFFFFF"/>
                </a:clrFrom>
                <a:clrTo>
                  <a:srgbClr val="FFFFFF">
                    <a:alpha val="0"/>
                  </a:srgbClr>
                </a:clrTo>
              </a:clrChange>
            </a:blip>
            <a:stretch>
              <a:fillRect/>
            </a:stretch>
          </p:blipFill>
          <p:spPr>
            <a:xfrm>
              <a:off x="2065870" y="4816369"/>
              <a:ext cx="1525990" cy="1237952"/>
            </a:xfrm>
            <a:prstGeom prst="rect">
              <a:avLst/>
            </a:prstGeom>
          </p:spPr>
        </p:pic>
      </p:grpSp>
      <p:grpSp>
        <p:nvGrpSpPr>
          <p:cNvPr id="3" name="Gruppo 12"/>
          <p:cNvGrpSpPr/>
          <p:nvPr/>
        </p:nvGrpSpPr>
        <p:grpSpPr>
          <a:xfrm>
            <a:off x="1702807" y="2981478"/>
            <a:ext cx="1841441" cy="1558130"/>
            <a:chOff x="1702807" y="2717318"/>
            <a:chExt cx="1841441" cy="1558130"/>
          </a:xfrm>
        </p:grpSpPr>
        <p:pic>
          <p:nvPicPr>
            <p:cNvPr id="14" name="Immagine 13"/>
            <p:cNvPicPr>
              <a:picLocks noChangeAspect="1"/>
            </p:cNvPicPr>
            <p:nvPr/>
          </p:nvPicPr>
          <p:blipFill rotWithShape="1">
            <a:blip r:embed="rId3" cstate="print">
              <a:clrChange>
                <a:clrFrom>
                  <a:srgbClr val="FFFFFF"/>
                </a:clrFrom>
                <a:clrTo>
                  <a:srgbClr val="FFFFFF">
                    <a:alpha val="0"/>
                  </a:srgbClr>
                </a:clrTo>
              </a:clrChange>
            </a:blip>
            <a:srcRect l="78765" t="50894"/>
            <a:stretch/>
          </p:blipFill>
          <p:spPr>
            <a:xfrm>
              <a:off x="2532938" y="2717318"/>
              <a:ext cx="1011310" cy="1290954"/>
            </a:xfrm>
            <a:prstGeom prst="rect">
              <a:avLst/>
            </a:prstGeom>
          </p:spPr>
        </p:pic>
        <p:pic>
          <p:nvPicPr>
            <p:cNvPr id="15" name="Immagine 14"/>
            <p:cNvPicPr>
              <a:picLocks noChangeAspect="1"/>
            </p:cNvPicPr>
            <p:nvPr/>
          </p:nvPicPr>
          <p:blipFill>
            <a:blip r:embed="rId5" cstate="print">
              <a:clrChange>
                <a:clrFrom>
                  <a:srgbClr val="FFFFFF"/>
                </a:clrFrom>
                <a:clrTo>
                  <a:srgbClr val="FFFFFF">
                    <a:alpha val="0"/>
                  </a:srgbClr>
                </a:clrTo>
              </a:clrChange>
            </a:blip>
            <a:stretch>
              <a:fillRect/>
            </a:stretch>
          </p:blipFill>
          <p:spPr>
            <a:xfrm flipH="1">
              <a:off x="1702807" y="3118953"/>
              <a:ext cx="1197876" cy="1156495"/>
            </a:xfrm>
            <a:prstGeom prst="rect">
              <a:avLst/>
            </a:prstGeom>
          </p:spPr>
        </p:pic>
      </p:grpSp>
      <p:grpSp>
        <p:nvGrpSpPr>
          <p:cNvPr id="6" name="Gruppo 15"/>
          <p:cNvGrpSpPr/>
          <p:nvPr/>
        </p:nvGrpSpPr>
        <p:grpSpPr>
          <a:xfrm>
            <a:off x="5672066" y="4272432"/>
            <a:ext cx="1304205" cy="1454392"/>
            <a:chOff x="5672066" y="4008272"/>
            <a:chExt cx="1304205" cy="1454392"/>
          </a:xfrm>
        </p:grpSpPr>
        <p:pic>
          <p:nvPicPr>
            <p:cNvPr id="17" name="Immagine 16"/>
            <p:cNvPicPr>
              <a:picLocks noChangeAspect="1"/>
            </p:cNvPicPr>
            <p:nvPr/>
          </p:nvPicPr>
          <p:blipFill rotWithShape="1">
            <a:blip r:embed="rId3" cstate="print"/>
            <a:srcRect l="59845" t="48414" r="19889" b="1666"/>
            <a:stretch/>
          </p:blipFill>
          <p:spPr>
            <a:xfrm>
              <a:off x="5672066" y="4008272"/>
              <a:ext cx="965200" cy="1312334"/>
            </a:xfrm>
            <a:prstGeom prst="rect">
              <a:avLst/>
            </a:prstGeom>
          </p:spPr>
        </p:pic>
        <p:pic>
          <p:nvPicPr>
            <p:cNvPr id="18" name="Immagine 17"/>
            <p:cNvPicPr>
              <a:picLocks noChangeAspect="1"/>
            </p:cNvPicPr>
            <p:nvPr/>
          </p:nvPicPr>
          <p:blipFill>
            <a:blip r:embed="rId6" cstate="print">
              <a:duotone>
                <a:prstClr val="black"/>
                <a:schemeClr val="accent3">
                  <a:tint val="45000"/>
                  <a:satMod val="400000"/>
                </a:schemeClr>
              </a:duotone>
              <a:extLst>
                <a:ext uri="{28A0092B-C50C-407E-A947-70E740481C1C}">
                  <a14:useLocalDpi xmlns="" xmlns:a14="http://schemas.microsoft.com/office/drawing/2010/main" val="0"/>
                </a:ext>
              </a:extLst>
            </a:blip>
            <a:stretch>
              <a:fillRect/>
            </a:stretch>
          </p:blipFill>
          <p:spPr>
            <a:xfrm>
              <a:off x="6315193" y="4801586"/>
              <a:ext cx="661078" cy="661078"/>
            </a:xfrm>
            <a:prstGeom prst="rect">
              <a:avLst/>
            </a:prstGeom>
          </p:spPr>
        </p:pic>
      </p:grpSp>
      <p:grpSp>
        <p:nvGrpSpPr>
          <p:cNvPr id="10" name="Gruppo 18"/>
          <p:cNvGrpSpPr/>
          <p:nvPr/>
        </p:nvGrpSpPr>
        <p:grpSpPr>
          <a:xfrm>
            <a:off x="5672066" y="1441852"/>
            <a:ext cx="1366729" cy="1323535"/>
            <a:chOff x="5672066" y="1177692"/>
            <a:chExt cx="1366729" cy="1323535"/>
          </a:xfrm>
        </p:grpSpPr>
        <p:pic>
          <p:nvPicPr>
            <p:cNvPr id="20" name="Immagine 19"/>
            <p:cNvPicPr>
              <a:picLocks noChangeAspect="1"/>
            </p:cNvPicPr>
            <p:nvPr/>
          </p:nvPicPr>
          <p:blipFill rotWithShape="1">
            <a:blip r:embed="rId3" cstate="print">
              <a:clrChange>
                <a:clrFrom>
                  <a:srgbClr val="FFFFFF"/>
                </a:clrFrom>
                <a:clrTo>
                  <a:srgbClr val="FFFFFF">
                    <a:alpha val="0"/>
                  </a:srgbClr>
                </a:clrTo>
              </a:clrChange>
            </a:blip>
            <a:srcRect l="39688" t="48809" r="39867" b="949"/>
            <a:stretch/>
          </p:blipFill>
          <p:spPr>
            <a:xfrm>
              <a:off x="5672066" y="1177692"/>
              <a:ext cx="973666" cy="1320801"/>
            </a:xfrm>
            <a:prstGeom prst="rect">
              <a:avLst/>
            </a:prstGeom>
          </p:spPr>
        </p:pic>
        <p:pic>
          <p:nvPicPr>
            <p:cNvPr id="21" name="Immagine 20"/>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6377717" y="1840149"/>
              <a:ext cx="661078" cy="661078"/>
            </a:xfrm>
            <a:prstGeom prst="rect">
              <a:avLst/>
            </a:prstGeom>
          </p:spPr>
        </p:pic>
      </p:grpSp>
      <p:grpSp>
        <p:nvGrpSpPr>
          <p:cNvPr id="13" name="Gruppo 21"/>
          <p:cNvGrpSpPr/>
          <p:nvPr/>
        </p:nvGrpSpPr>
        <p:grpSpPr>
          <a:xfrm>
            <a:off x="6548648" y="3022079"/>
            <a:ext cx="1287635" cy="1542891"/>
            <a:chOff x="6548648" y="2757919"/>
            <a:chExt cx="1287635" cy="1542891"/>
          </a:xfrm>
        </p:grpSpPr>
        <p:pic>
          <p:nvPicPr>
            <p:cNvPr id="23" name="Immagine 22"/>
            <p:cNvPicPr>
              <a:picLocks noChangeAspect="1"/>
            </p:cNvPicPr>
            <p:nvPr/>
          </p:nvPicPr>
          <p:blipFill rotWithShape="1">
            <a:blip r:embed="rId3" cstate="print">
              <a:clrChange>
                <a:clrFrom>
                  <a:srgbClr val="FFFFFF"/>
                </a:clrFrom>
                <a:clrTo>
                  <a:srgbClr val="FFFFFF">
                    <a:alpha val="0"/>
                  </a:srgbClr>
                </a:clrTo>
              </a:clrChange>
            </a:blip>
            <a:srcRect l="79045" t="-303" b="47807"/>
            <a:stretch/>
          </p:blipFill>
          <p:spPr>
            <a:xfrm>
              <a:off x="6548648" y="2757919"/>
              <a:ext cx="998006" cy="1380066"/>
            </a:xfrm>
            <a:prstGeom prst="rect">
              <a:avLst/>
            </a:prstGeom>
          </p:spPr>
        </p:pic>
        <p:pic>
          <p:nvPicPr>
            <p:cNvPr id="24" name="Immagine 23"/>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7191413" y="3655940"/>
              <a:ext cx="644870" cy="644870"/>
            </a:xfrm>
            <a:prstGeom prst="rect">
              <a:avLst/>
            </a:prstGeom>
          </p:spPr>
        </p:pic>
      </p:grpSp>
      <p:grpSp>
        <p:nvGrpSpPr>
          <p:cNvPr id="16" name="Gruppo 24"/>
          <p:cNvGrpSpPr/>
          <p:nvPr/>
        </p:nvGrpSpPr>
        <p:grpSpPr>
          <a:xfrm>
            <a:off x="2111906" y="1428951"/>
            <a:ext cx="2472410" cy="1331651"/>
            <a:chOff x="2111906" y="1164791"/>
            <a:chExt cx="2472410" cy="1331651"/>
          </a:xfrm>
        </p:grpSpPr>
        <p:pic>
          <p:nvPicPr>
            <p:cNvPr id="26" name="Immagine 25"/>
            <p:cNvPicPr>
              <a:picLocks noChangeAspect="1"/>
            </p:cNvPicPr>
            <p:nvPr/>
          </p:nvPicPr>
          <p:blipFill rotWithShape="1">
            <a:blip r:embed="rId3" cstate="print">
              <a:clrChange>
                <a:clrFrom>
                  <a:srgbClr val="FFFFFF"/>
                </a:clrFrom>
                <a:clrTo>
                  <a:srgbClr val="FFFFFF">
                    <a:alpha val="0"/>
                  </a:srgbClr>
                </a:clrTo>
              </a:clrChange>
            </a:blip>
            <a:srcRect r="78657" b="49346"/>
            <a:stretch/>
          </p:blipFill>
          <p:spPr>
            <a:xfrm>
              <a:off x="3567860" y="1164791"/>
              <a:ext cx="1016456" cy="1331651"/>
            </a:xfrm>
            <a:prstGeom prst="rect">
              <a:avLst/>
            </a:prstGeom>
          </p:spPr>
        </p:pic>
        <p:pic>
          <p:nvPicPr>
            <p:cNvPr id="27" name="Immagine 26"/>
            <p:cNvPicPr>
              <a:picLocks noChangeAspect="1"/>
            </p:cNvPicPr>
            <p:nvPr/>
          </p:nvPicPr>
          <p:blipFill>
            <a:blip r:embed="rId8" cstate="print">
              <a:clrChange>
                <a:clrFrom>
                  <a:srgbClr val="FFFFFF"/>
                </a:clrFrom>
                <a:clrTo>
                  <a:srgbClr val="FFFFFF">
                    <a:alpha val="0"/>
                  </a:srgbClr>
                </a:clrTo>
              </a:clrChange>
            </a:blip>
            <a:stretch>
              <a:fillRect/>
            </a:stretch>
          </p:blipFill>
          <p:spPr>
            <a:xfrm>
              <a:off x="2111906" y="1265888"/>
              <a:ext cx="1577553" cy="1187734"/>
            </a:xfrm>
            <a:prstGeom prst="rect">
              <a:avLst/>
            </a:prstGeom>
          </p:spPr>
        </p:pic>
      </p:grpSp>
      <p:sp>
        <p:nvSpPr>
          <p:cNvPr id="28" name="CasellaDiTesto 27"/>
          <p:cNvSpPr txBox="1"/>
          <p:nvPr/>
        </p:nvSpPr>
        <p:spPr>
          <a:xfrm rot="16200000">
            <a:off x="5401815" y="2694164"/>
            <a:ext cx="5354283" cy="1063315"/>
          </a:xfrm>
          <a:prstGeom prst="rect">
            <a:avLst/>
          </a:prstGeom>
          <a:noFill/>
        </p:spPr>
        <p:txBody>
          <a:bodyPr wrap="none" rtlCol="0">
            <a:prstTxWarp prst="textArchDown">
              <a:avLst>
                <a:gd name="adj" fmla="val 319546"/>
              </a:avLst>
            </a:prstTxWarp>
            <a:spAutoFit/>
          </a:bodyPr>
          <a:lstStyle/>
          <a:p>
            <a:r>
              <a:rPr lang="en-US" sz="4400" dirty="0">
                <a:solidFill>
                  <a:srgbClr val="E64823">
                    <a:lumMod val="75000"/>
                  </a:srgbClr>
                </a:solidFill>
              </a:rPr>
              <a:t>Data  Infrastructures</a:t>
            </a:r>
          </a:p>
        </p:txBody>
      </p:sp>
      <p:sp>
        <p:nvSpPr>
          <p:cNvPr id="29" name="CasellaDiTesto 28"/>
          <p:cNvSpPr txBox="1"/>
          <p:nvPr/>
        </p:nvSpPr>
        <p:spPr>
          <a:xfrm rot="16200000">
            <a:off x="-891264" y="2817059"/>
            <a:ext cx="4879993" cy="1063315"/>
          </a:xfrm>
          <a:prstGeom prst="rect">
            <a:avLst/>
          </a:prstGeom>
          <a:noFill/>
        </p:spPr>
        <p:txBody>
          <a:bodyPr wrap="none" rtlCol="0">
            <a:prstTxWarp prst="textArchUp">
              <a:avLst/>
            </a:prstTxWarp>
            <a:spAutoFit/>
          </a:bodyPr>
          <a:lstStyle/>
          <a:p>
            <a:pPr algn="ctr"/>
            <a:r>
              <a:rPr lang="en-US" sz="4400" dirty="0">
                <a:solidFill>
                  <a:srgbClr val="0070C0"/>
                </a:solidFill>
              </a:rPr>
              <a:t>Data  Applications</a:t>
            </a:r>
          </a:p>
        </p:txBody>
      </p:sp>
      <p:cxnSp>
        <p:nvCxnSpPr>
          <p:cNvPr id="30" name="Connettore 1 29"/>
          <p:cNvCxnSpPr>
            <a:stCxn id="57" idx="6"/>
            <a:endCxn id="52" idx="1"/>
          </p:cNvCxnSpPr>
          <p:nvPr/>
        </p:nvCxnSpPr>
        <p:spPr>
          <a:xfrm>
            <a:off x="4243638" y="2777211"/>
            <a:ext cx="2179991" cy="842237"/>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Connettore 1 30"/>
          <p:cNvCxnSpPr>
            <a:stCxn id="55" idx="6"/>
            <a:endCxn id="52" idx="2"/>
          </p:cNvCxnSpPr>
          <p:nvPr/>
        </p:nvCxnSpPr>
        <p:spPr>
          <a:xfrm>
            <a:off x="3734657" y="3619125"/>
            <a:ext cx="2656984" cy="78400"/>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Connettore 1 31"/>
          <p:cNvCxnSpPr>
            <a:stCxn id="56" idx="7"/>
            <a:endCxn id="54" idx="3"/>
          </p:cNvCxnSpPr>
          <p:nvPr/>
        </p:nvCxnSpPr>
        <p:spPr>
          <a:xfrm flipV="1">
            <a:off x="4412695" y="2861369"/>
            <a:ext cx="1655945" cy="1951225"/>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Connettore 1 32"/>
          <p:cNvCxnSpPr>
            <a:stCxn id="55" idx="5"/>
            <a:endCxn id="53" idx="2"/>
          </p:cNvCxnSpPr>
          <p:nvPr/>
        </p:nvCxnSpPr>
        <p:spPr>
          <a:xfrm>
            <a:off x="3702669" y="3697202"/>
            <a:ext cx="1856853" cy="1209757"/>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ttore 1 33"/>
          <p:cNvCxnSpPr>
            <a:stCxn id="57" idx="5"/>
            <a:endCxn id="53" idx="1"/>
          </p:cNvCxnSpPr>
          <p:nvPr/>
        </p:nvCxnSpPr>
        <p:spPr>
          <a:xfrm>
            <a:off x="4211650" y="2855288"/>
            <a:ext cx="1379860" cy="1973594"/>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Connettore 1 34"/>
          <p:cNvCxnSpPr>
            <a:stCxn id="57" idx="6"/>
            <a:endCxn id="54" idx="2"/>
          </p:cNvCxnSpPr>
          <p:nvPr/>
        </p:nvCxnSpPr>
        <p:spPr>
          <a:xfrm>
            <a:off x="4243638" y="2777211"/>
            <a:ext cx="1793014" cy="6081"/>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ttore 1 35"/>
          <p:cNvCxnSpPr>
            <a:endCxn id="53" idx="2"/>
          </p:cNvCxnSpPr>
          <p:nvPr/>
        </p:nvCxnSpPr>
        <p:spPr>
          <a:xfrm flipV="1">
            <a:off x="4444683" y="4906959"/>
            <a:ext cx="1114839" cy="17010"/>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Connettore 1 36"/>
          <p:cNvCxnSpPr>
            <a:stCxn id="56" idx="6"/>
            <a:endCxn id="52" idx="3"/>
          </p:cNvCxnSpPr>
          <p:nvPr/>
        </p:nvCxnSpPr>
        <p:spPr>
          <a:xfrm flipV="1">
            <a:off x="4444683" y="3775602"/>
            <a:ext cx="1978946" cy="1115069"/>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Connettore 1 37"/>
          <p:cNvCxnSpPr>
            <a:stCxn id="55" idx="7"/>
            <a:endCxn id="54" idx="2"/>
          </p:cNvCxnSpPr>
          <p:nvPr/>
        </p:nvCxnSpPr>
        <p:spPr>
          <a:xfrm flipV="1">
            <a:off x="3702669" y="2783292"/>
            <a:ext cx="2333983" cy="757756"/>
          </a:xfrm>
          <a:prstGeom prst="line">
            <a:avLst/>
          </a:prstGeom>
          <a:ln w="381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nettore 1 38"/>
          <p:cNvCxnSpPr/>
          <p:nvPr/>
        </p:nvCxnSpPr>
        <p:spPr>
          <a:xfrm>
            <a:off x="3528498" y="3815314"/>
            <a:ext cx="770388" cy="0"/>
          </a:xfrm>
          <a:prstGeom prst="line">
            <a:avLst/>
          </a:prstGeom>
          <a:ln w="57150">
            <a:solidFill>
              <a:srgbClr val="996633"/>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40" name="Connettore 1 39"/>
          <p:cNvCxnSpPr/>
          <p:nvPr/>
        </p:nvCxnSpPr>
        <p:spPr>
          <a:xfrm>
            <a:off x="5786287" y="3815314"/>
            <a:ext cx="762361" cy="0"/>
          </a:xfrm>
          <a:prstGeom prst="line">
            <a:avLst/>
          </a:prstGeom>
          <a:ln w="57150">
            <a:solidFill>
              <a:srgbClr val="996633"/>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41" name="Connettore 1 40"/>
          <p:cNvCxnSpPr/>
          <p:nvPr/>
        </p:nvCxnSpPr>
        <p:spPr>
          <a:xfrm>
            <a:off x="3997993" y="2794472"/>
            <a:ext cx="506115" cy="483820"/>
          </a:xfrm>
          <a:prstGeom prst="line">
            <a:avLst/>
          </a:prstGeom>
          <a:ln w="57150">
            <a:solidFill>
              <a:srgbClr val="996633"/>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42" name="Connettore 1 41"/>
          <p:cNvCxnSpPr/>
          <p:nvPr/>
        </p:nvCxnSpPr>
        <p:spPr>
          <a:xfrm flipH="1">
            <a:off x="4193004" y="4242535"/>
            <a:ext cx="397476" cy="367052"/>
          </a:xfrm>
          <a:prstGeom prst="line">
            <a:avLst/>
          </a:prstGeom>
          <a:ln w="57150">
            <a:solidFill>
              <a:srgbClr val="996633"/>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43" name="Connettore 1 42"/>
          <p:cNvCxnSpPr/>
          <p:nvPr/>
        </p:nvCxnSpPr>
        <p:spPr>
          <a:xfrm flipH="1">
            <a:off x="5456124" y="2791965"/>
            <a:ext cx="452290" cy="486327"/>
          </a:xfrm>
          <a:prstGeom prst="line">
            <a:avLst/>
          </a:prstGeom>
          <a:ln w="57150">
            <a:solidFill>
              <a:srgbClr val="996633"/>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44" name="Connettore 1 43"/>
          <p:cNvCxnSpPr/>
          <p:nvPr/>
        </p:nvCxnSpPr>
        <p:spPr>
          <a:xfrm>
            <a:off x="5456124" y="4274202"/>
            <a:ext cx="377455" cy="334648"/>
          </a:xfrm>
          <a:prstGeom prst="line">
            <a:avLst/>
          </a:prstGeom>
          <a:ln w="57150">
            <a:solidFill>
              <a:srgbClr val="996633"/>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45" name="CasellaDiTesto 44"/>
          <p:cNvSpPr txBox="1"/>
          <p:nvPr/>
        </p:nvSpPr>
        <p:spPr>
          <a:xfrm>
            <a:off x="5605453" y="3489189"/>
            <a:ext cx="1067600" cy="338554"/>
          </a:xfrm>
          <a:prstGeom prst="rect">
            <a:avLst/>
          </a:prstGeom>
          <a:noFill/>
        </p:spPr>
        <p:txBody>
          <a:bodyPr wrap="none" rtlCol="0">
            <a:spAutoFit/>
          </a:bodyPr>
          <a:lstStyle/>
          <a:p>
            <a:r>
              <a:rPr lang="en-US" sz="1600" b="1" dirty="0">
                <a:ln w="9525">
                  <a:solidFill>
                    <a:prstClr val="white"/>
                  </a:solidFill>
                  <a:prstDash val="solid"/>
                </a:ln>
                <a:solidFill>
                  <a:srgbClr val="FF0000"/>
                </a:solidFill>
              </a:rPr>
              <a:t>Mediation</a:t>
            </a:r>
          </a:p>
        </p:txBody>
      </p:sp>
      <p:sp>
        <p:nvSpPr>
          <p:cNvPr id="46" name="CasellaDiTesto 45"/>
          <p:cNvSpPr txBox="1"/>
          <p:nvPr/>
        </p:nvSpPr>
        <p:spPr>
          <a:xfrm rot="18814794">
            <a:off x="5071653" y="2707584"/>
            <a:ext cx="1067600" cy="338554"/>
          </a:xfrm>
          <a:prstGeom prst="rect">
            <a:avLst/>
          </a:prstGeom>
          <a:noFill/>
        </p:spPr>
        <p:txBody>
          <a:bodyPr wrap="none" rtlCol="0">
            <a:spAutoFit/>
          </a:bodyPr>
          <a:lstStyle/>
          <a:p>
            <a:r>
              <a:rPr lang="en-US" sz="1600" b="1" dirty="0">
                <a:ln w="9525">
                  <a:solidFill>
                    <a:prstClr val="white"/>
                  </a:solidFill>
                  <a:prstDash val="solid"/>
                </a:ln>
                <a:solidFill>
                  <a:srgbClr val="FF0000"/>
                </a:solidFill>
              </a:rPr>
              <a:t>Mediation</a:t>
            </a:r>
          </a:p>
        </p:txBody>
      </p:sp>
      <p:sp>
        <p:nvSpPr>
          <p:cNvPr id="47" name="CasellaDiTesto 46"/>
          <p:cNvSpPr txBox="1"/>
          <p:nvPr/>
        </p:nvSpPr>
        <p:spPr>
          <a:xfrm rot="2541384">
            <a:off x="5144070" y="4500856"/>
            <a:ext cx="1067600" cy="338554"/>
          </a:xfrm>
          <a:prstGeom prst="rect">
            <a:avLst/>
          </a:prstGeom>
          <a:noFill/>
        </p:spPr>
        <p:txBody>
          <a:bodyPr wrap="none" rtlCol="0">
            <a:spAutoFit/>
          </a:bodyPr>
          <a:lstStyle/>
          <a:p>
            <a:r>
              <a:rPr lang="en-US" sz="1600" b="1" dirty="0">
                <a:ln w="9525">
                  <a:solidFill>
                    <a:prstClr val="white"/>
                  </a:solidFill>
                  <a:prstDash val="solid"/>
                </a:ln>
                <a:solidFill>
                  <a:srgbClr val="FF0000"/>
                </a:solidFill>
              </a:rPr>
              <a:t>Mediation</a:t>
            </a:r>
          </a:p>
        </p:txBody>
      </p:sp>
      <p:sp>
        <p:nvSpPr>
          <p:cNvPr id="48" name="CasellaDiTesto 47"/>
          <p:cNvSpPr txBox="1"/>
          <p:nvPr/>
        </p:nvSpPr>
        <p:spPr>
          <a:xfrm rot="18814794">
            <a:off x="3867594" y="4482202"/>
            <a:ext cx="1067600" cy="338554"/>
          </a:xfrm>
          <a:prstGeom prst="rect">
            <a:avLst/>
          </a:prstGeom>
          <a:noFill/>
        </p:spPr>
        <p:txBody>
          <a:bodyPr wrap="none" rtlCol="0">
            <a:spAutoFit/>
          </a:bodyPr>
          <a:lstStyle/>
          <a:p>
            <a:r>
              <a:rPr lang="en-US" sz="1600" b="1" dirty="0">
                <a:ln w="9525">
                  <a:solidFill>
                    <a:prstClr val="white"/>
                  </a:solidFill>
                  <a:prstDash val="solid"/>
                </a:ln>
                <a:solidFill>
                  <a:srgbClr val="E64823"/>
                </a:solidFill>
                <a:effectLst>
                  <a:outerShdw blurRad="12700" dist="38100" dir="2700000" algn="tl" rotWithShape="0">
                    <a:srgbClr val="E64823">
                      <a:lumMod val="60000"/>
                      <a:lumOff val="40000"/>
                    </a:srgbClr>
                  </a:outerShdw>
                </a:effectLst>
              </a:rPr>
              <a:t>Mediation</a:t>
            </a:r>
          </a:p>
        </p:txBody>
      </p:sp>
      <p:sp>
        <p:nvSpPr>
          <p:cNvPr id="49" name="CasellaDiTesto 48"/>
          <p:cNvSpPr txBox="1"/>
          <p:nvPr/>
        </p:nvSpPr>
        <p:spPr>
          <a:xfrm>
            <a:off x="3311506" y="3467895"/>
            <a:ext cx="1067600" cy="338554"/>
          </a:xfrm>
          <a:prstGeom prst="rect">
            <a:avLst/>
          </a:prstGeom>
          <a:noFill/>
        </p:spPr>
        <p:txBody>
          <a:bodyPr wrap="none" rtlCol="0">
            <a:spAutoFit/>
          </a:bodyPr>
          <a:lstStyle/>
          <a:p>
            <a:r>
              <a:rPr lang="en-US" sz="1600" b="1" dirty="0">
                <a:ln w="9525">
                  <a:solidFill>
                    <a:prstClr val="white"/>
                  </a:solidFill>
                  <a:prstDash val="solid"/>
                </a:ln>
                <a:solidFill>
                  <a:srgbClr val="E64823"/>
                </a:solidFill>
                <a:effectLst>
                  <a:outerShdw blurRad="12700" dist="38100" dir="2700000" algn="tl" rotWithShape="0">
                    <a:srgbClr val="E64823">
                      <a:lumMod val="60000"/>
                      <a:lumOff val="40000"/>
                    </a:srgbClr>
                  </a:outerShdw>
                </a:effectLst>
              </a:rPr>
              <a:t>Mediation</a:t>
            </a:r>
          </a:p>
        </p:txBody>
      </p:sp>
      <p:pic>
        <p:nvPicPr>
          <p:cNvPr id="50" name="Immagine 49"/>
          <p:cNvPicPr>
            <a:picLocks noChangeAspect="1"/>
          </p:cNvPicPr>
          <p:nvPr/>
        </p:nvPicPr>
        <p:blipFill>
          <a:blip r:embed="rId9" cstate="print">
            <a:clrChange>
              <a:clrFrom>
                <a:srgbClr val="FDFDFD"/>
              </a:clrFrom>
              <a:clrTo>
                <a:srgbClr val="FDFDFD">
                  <a:alpha val="0"/>
                </a:srgbClr>
              </a:clrTo>
            </a:clrChange>
            <a:extLst>
              <a:ext uri="{28A0092B-C50C-407E-A947-70E740481C1C}">
                <a14:useLocalDpi xmlns="" xmlns:a14="http://schemas.microsoft.com/office/drawing/2010/main" val="0"/>
              </a:ext>
            </a:extLst>
          </a:blip>
          <a:stretch>
            <a:fillRect/>
          </a:stretch>
        </p:blipFill>
        <p:spPr>
          <a:xfrm>
            <a:off x="4289994" y="3114923"/>
            <a:ext cx="1426859" cy="1383052"/>
          </a:xfrm>
          <a:prstGeom prst="rect">
            <a:avLst/>
          </a:prstGeom>
        </p:spPr>
      </p:pic>
      <p:sp>
        <p:nvSpPr>
          <p:cNvPr id="51" name="CasellaDiTesto 50"/>
          <p:cNvSpPr txBox="1"/>
          <p:nvPr/>
        </p:nvSpPr>
        <p:spPr>
          <a:xfrm rot="2612663">
            <a:off x="3842909" y="2715354"/>
            <a:ext cx="1067600" cy="338554"/>
          </a:xfrm>
          <a:prstGeom prst="rect">
            <a:avLst/>
          </a:prstGeom>
          <a:noFill/>
        </p:spPr>
        <p:txBody>
          <a:bodyPr wrap="none" rtlCol="0">
            <a:spAutoFit/>
          </a:bodyPr>
          <a:lstStyle/>
          <a:p>
            <a:r>
              <a:rPr lang="en-US" sz="1600" b="1" dirty="0">
                <a:ln w="9525">
                  <a:solidFill>
                    <a:prstClr val="white"/>
                  </a:solidFill>
                  <a:prstDash val="solid"/>
                </a:ln>
                <a:solidFill>
                  <a:srgbClr val="E64823"/>
                </a:solidFill>
                <a:effectLst>
                  <a:outerShdw blurRad="12700" dist="38100" dir="2700000" algn="tl" rotWithShape="0">
                    <a:srgbClr val="E64823">
                      <a:lumMod val="60000"/>
                      <a:lumOff val="40000"/>
                    </a:srgbClr>
                  </a:outerShdw>
                </a:effectLst>
              </a:rPr>
              <a:t>Mediation</a:t>
            </a:r>
          </a:p>
        </p:txBody>
      </p:sp>
      <p:sp>
        <p:nvSpPr>
          <p:cNvPr id="52" name="Ovale 51"/>
          <p:cNvSpPr/>
          <p:nvPr/>
        </p:nvSpPr>
        <p:spPr>
          <a:xfrm>
            <a:off x="6391641" y="3587108"/>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Ovale 52"/>
          <p:cNvSpPr/>
          <p:nvPr/>
        </p:nvSpPr>
        <p:spPr>
          <a:xfrm>
            <a:off x="5559522" y="4796542"/>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Ovale 53"/>
          <p:cNvSpPr/>
          <p:nvPr/>
        </p:nvSpPr>
        <p:spPr>
          <a:xfrm>
            <a:off x="6036652" y="2672875"/>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Ovale 54"/>
          <p:cNvSpPr/>
          <p:nvPr/>
        </p:nvSpPr>
        <p:spPr>
          <a:xfrm>
            <a:off x="3516231" y="3508708"/>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Ovale 55"/>
          <p:cNvSpPr/>
          <p:nvPr/>
        </p:nvSpPr>
        <p:spPr>
          <a:xfrm>
            <a:off x="4226257" y="4780254"/>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Ovale 56"/>
          <p:cNvSpPr/>
          <p:nvPr/>
        </p:nvSpPr>
        <p:spPr>
          <a:xfrm>
            <a:off x="4025212" y="2666794"/>
            <a:ext cx="218426" cy="220834"/>
          </a:xfrm>
          <a:prstGeom prst="ellipse">
            <a:avLst/>
          </a:prstGeom>
          <a:solidFill>
            <a:srgbClr val="C00000"/>
          </a:solidFill>
          <a:ln>
            <a:solidFill>
              <a:srgbClr val="C0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61" name="Immagine 60"/>
          <p:cNvPicPr>
            <a:picLocks noChangeAspect="1"/>
          </p:cNvPicPr>
          <p:nvPr/>
        </p:nvPicPr>
        <p:blipFill>
          <a:blip r:embed="rId10" cstate="print"/>
          <a:stretch>
            <a:fillRect/>
          </a:stretch>
        </p:blipFill>
        <p:spPr>
          <a:xfrm>
            <a:off x="1176949" y="1188054"/>
            <a:ext cx="7067298" cy="4967301"/>
          </a:xfrm>
          <a:prstGeom prst="rect">
            <a:avLst/>
          </a:prstGeom>
          <a:effectLst>
            <a:softEdge rad="127000"/>
          </a:effectLst>
        </p:spPr>
      </p:pic>
      <p:sp>
        <p:nvSpPr>
          <p:cNvPr id="59" name="CasellaDiTesto 58"/>
          <p:cNvSpPr txBox="1"/>
          <p:nvPr/>
        </p:nvSpPr>
        <p:spPr>
          <a:xfrm>
            <a:off x="1670591" y="2642028"/>
            <a:ext cx="553998" cy="2371148"/>
          </a:xfrm>
          <a:prstGeom prst="rect">
            <a:avLst/>
          </a:prstGeom>
          <a:solidFill>
            <a:schemeClr val="accent3">
              <a:lumMod val="60000"/>
              <a:lumOff val="40000"/>
            </a:schemeClr>
          </a:solidFill>
          <a:effectLst>
            <a:softEdge rad="127000"/>
          </a:effectLst>
        </p:spPr>
        <p:txBody>
          <a:bodyPr vert="vert270" wrap="square" rtlCol="0">
            <a:spAutoFit/>
          </a:bodyPr>
          <a:lstStyle/>
          <a:p>
            <a:pPr algn="ctr"/>
            <a:r>
              <a:rPr lang="en-US" sz="2400" dirty="0" smtClean="0">
                <a:solidFill>
                  <a:schemeClr val="bg1">
                    <a:lumMod val="50000"/>
                    <a:lumOff val="50000"/>
                  </a:schemeClr>
                </a:solidFill>
              </a:rPr>
              <a:t>Service Users</a:t>
            </a:r>
            <a:endParaRPr lang="en-US" sz="2400" dirty="0">
              <a:solidFill>
                <a:schemeClr val="bg1">
                  <a:lumMod val="50000"/>
                  <a:lumOff val="50000"/>
                </a:schemeClr>
              </a:solidFill>
            </a:endParaRPr>
          </a:p>
        </p:txBody>
      </p:sp>
      <p:sp>
        <p:nvSpPr>
          <p:cNvPr id="60" name="CasellaDiTesto 59"/>
          <p:cNvSpPr txBox="1"/>
          <p:nvPr/>
        </p:nvSpPr>
        <p:spPr>
          <a:xfrm>
            <a:off x="7167990" y="2180302"/>
            <a:ext cx="553998" cy="2832874"/>
          </a:xfrm>
          <a:prstGeom prst="rect">
            <a:avLst/>
          </a:prstGeom>
          <a:solidFill>
            <a:schemeClr val="accent3">
              <a:lumMod val="60000"/>
              <a:lumOff val="40000"/>
            </a:schemeClr>
          </a:solidFill>
          <a:effectLst>
            <a:softEdge rad="127000"/>
          </a:effectLst>
        </p:spPr>
        <p:txBody>
          <a:bodyPr vert="vert270" wrap="square" rtlCol="0">
            <a:spAutoFit/>
          </a:bodyPr>
          <a:lstStyle>
            <a:defPPr>
              <a:defRPr lang="en-US"/>
            </a:defPPr>
            <a:lvl1pPr>
              <a:defRPr sz="2400">
                <a:solidFill>
                  <a:srgbClr val="002060"/>
                </a:solidFill>
              </a:defRPr>
            </a:lvl1pPr>
          </a:lstStyle>
          <a:p>
            <a:pPr algn="ctr"/>
            <a:r>
              <a:rPr lang="en-US" dirty="0">
                <a:solidFill>
                  <a:schemeClr val="bg1">
                    <a:lumMod val="50000"/>
                    <a:lumOff val="50000"/>
                  </a:schemeClr>
                </a:solidFill>
              </a:rPr>
              <a:t>Service Providers</a:t>
            </a:r>
          </a:p>
        </p:txBody>
      </p:sp>
      <p:grpSp>
        <p:nvGrpSpPr>
          <p:cNvPr id="19" name="Gruppo 2"/>
          <p:cNvGrpSpPr/>
          <p:nvPr/>
        </p:nvGrpSpPr>
        <p:grpSpPr>
          <a:xfrm>
            <a:off x="580482" y="3594921"/>
            <a:ext cx="6244374" cy="3067319"/>
            <a:chOff x="1222987" y="3749765"/>
            <a:chExt cx="6244374" cy="3067319"/>
          </a:xfrm>
        </p:grpSpPr>
        <p:grpSp>
          <p:nvGrpSpPr>
            <p:cNvPr id="22" name="Gruppo 61"/>
            <p:cNvGrpSpPr/>
            <p:nvPr/>
          </p:nvGrpSpPr>
          <p:grpSpPr>
            <a:xfrm>
              <a:off x="1222987" y="3749765"/>
              <a:ext cx="6244374" cy="3067319"/>
              <a:chOff x="1302280" y="2896460"/>
              <a:chExt cx="5790553" cy="2570313"/>
            </a:xfrm>
          </p:grpSpPr>
          <p:sp>
            <p:nvSpPr>
              <p:cNvPr id="63" name="Onda 1 62"/>
              <p:cNvSpPr/>
              <p:nvPr/>
            </p:nvSpPr>
            <p:spPr>
              <a:xfrm>
                <a:off x="1302280" y="2896460"/>
                <a:ext cx="5790553" cy="2570313"/>
              </a:xfrm>
              <a:prstGeom prst="wave">
                <a:avLst>
                  <a:gd name="adj1" fmla="val 11709"/>
                  <a:gd name="adj2" fmla="val 0"/>
                </a:avLst>
              </a:prstGeom>
            </p:spPr>
            <p:style>
              <a:lnRef idx="3">
                <a:schemeClr val="lt1"/>
              </a:lnRef>
              <a:fillRef idx="1">
                <a:schemeClr val="accent6"/>
              </a:fillRef>
              <a:effectRef idx="1">
                <a:schemeClr val="accent6"/>
              </a:effectRef>
              <a:fontRef idx="minor">
                <a:schemeClr val="lt1"/>
              </a:fontRef>
            </p:style>
            <p:txBody>
              <a:bodyPr rtlCol="0" anchor="ctr">
                <a:prstTxWarp prst="textWave1">
                  <a:avLst/>
                </a:prstTxWarp>
              </a:bodyPr>
              <a:lstStyle/>
              <a:p>
                <a:pPr algn="ctr"/>
                <a:r>
                  <a:rPr lang="en-US" dirty="0" smtClean="0"/>
                  <a:t>   </a:t>
                </a:r>
                <a:endParaRPr lang="en-US" dirty="0"/>
              </a:p>
            </p:txBody>
          </p:sp>
          <p:sp>
            <p:nvSpPr>
              <p:cNvPr id="64" name="Rettangolo 63"/>
              <p:cNvSpPr/>
              <p:nvPr/>
            </p:nvSpPr>
            <p:spPr>
              <a:xfrm>
                <a:off x="1573303" y="3453192"/>
                <a:ext cx="5305907" cy="1437479"/>
              </a:xfrm>
              <a:prstGeom prst="rect">
                <a:avLst/>
              </a:prstGeom>
            </p:spPr>
            <p:txBody>
              <a:bodyPr>
                <a:prstTxWarp prst="textWave1">
                  <a:avLst>
                    <a:gd name="adj1" fmla="val 12500"/>
                    <a:gd name="adj2" fmla="val -201"/>
                  </a:avLst>
                </a:prstTxWarp>
                <a:spAutoFit/>
              </a:bodyPr>
              <a:lstStyle/>
              <a:p>
                <a:pPr algn="ctr"/>
                <a:r>
                  <a:rPr lang="en-US" sz="2000" b="1" dirty="0" smtClean="0"/>
                  <a:t>Collaborative-Acknowledged </a:t>
                </a:r>
                <a:br>
                  <a:rPr lang="en-US" sz="2000" b="1" dirty="0" smtClean="0"/>
                </a:br>
                <a:r>
                  <a:rPr lang="en-US" sz="2000" b="1" dirty="0" smtClean="0"/>
                  <a:t>Management approach </a:t>
                </a:r>
                <a:endParaRPr lang="en-US" sz="2000" b="1" dirty="0"/>
              </a:p>
            </p:txBody>
          </p:sp>
        </p:grpSp>
        <p:sp>
          <p:nvSpPr>
            <p:cNvPr id="58" name="CasellaDiTesto 57"/>
            <p:cNvSpPr txBox="1"/>
            <p:nvPr/>
          </p:nvSpPr>
          <p:spPr>
            <a:xfrm rot="21086907">
              <a:off x="5615007" y="6331624"/>
              <a:ext cx="1760888" cy="381867"/>
            </a:xfrm>
            <a:prstGeom prst="rect">
              <a:avLst/>
            </a:prstGeom>
            <a:noFill/>
          </p:spPr>
          <p:txBody>
            <a:bodyPr wrap="none" rtlCol="0">
              <a:prstTxWarp prst="textTriangleInverted">
                <a:avLst/>
              </a:prstTxWarp>
              <a:spAutoFit/>
            </a:bodyPr>
            <a:lstStyle/>
            <a:p>
              <a:r>
                <a:rPr lang="en-US"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[Governance]</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grpSp>
      <p:pic>
        <p:nvPicPr>
          <p:cNvPr id="4" name="Immagine 3"/>
          <p:cNvPicPr>
            <a:picLocks noChangeAspect="1"/>
          </p:cNvPicPr>
          <p:nvPr/>
        </p:nvPicPr>
        <p:blipFill>
          <a:blip r:embed="rId11" cstate="print"/>
          <a:stretch>
            <a:fillRect/>
          </a:stretch>
        </p:blipFill>
        <p:spPr>
          <a:xfrm>
            <a:off x="3886279" y="3547129"/>
            <a:ext cx="4851610" cy="1801717"/>
          </a:xfrm>
          <a:prstGeom prst="rect">
            <a:avLst/>
          </a:prstGeom>
        </p:spPr>
      </p:pic>
      <p:sp>
        <p:nvSpPr>
          <p:cNvPr id="65" name="Titolo 5"/>
          <p:cNvSpPr txBox="1">
            <a:spLocks/>
          </p:cNvSpPr>
          <p:nvPr/>
        </p:nvSpPr>
        <p:spPr>
          <a:xfrm>
            <a:off x="579438" y="119063"/>
            <a:ext cx="8564562" cy="973137"/>
          </a:xfrm>
          <a:prstGeom prst="rect">
            <a:avLst/>
          </a:prstGeom>
        </p:spPr>
        <p:txBody>
          <a:bodyPr vert="horz" lIns="0" tIns="0" rIns="0" bIns="0" rtlCol="0" anchor="t">
            <a:no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rgbClr val="00B0F0"/>
                </a:solidFill>
                <a:effectLst/>
                <a:uLnTx/>
                <a:uFillTx/>
                <a:latin typeface="+mj-lt"/>
                <a:ea typeface="+mj-ea"/>
                <a:cs typeface="Avenir LT Std 55 Roman" pitchFamily="34" charset="0"/>
              </a:rPr>
              <a:t>Broker Approach</a:t>
            </a:r>
            <a:endParaRPr kumimoji="0" lang="en-US" sz="4400" b="1" i="0" u="none" strike="noStrike" kern="1200" cap="none" spc="0" normalizeH="0" baseline="0" noProof="0" dirty="0">
              <a:ln>
                <a:noFill/>
              </a:ln>
              <a:solidFill>
                <a:srgbClr val="00B0F0"/>
              </a:solidFill>
              <a:effectLst/>
              <a:uLnTx/>
              <a:uFillTx/>
              <a:latin typeface="+mj-lt"/>
              <a:ea typeface="+mj-ea"/>
              <a:cs typeface="Avenir LT Std 55 Roman" pitchFamily="34" charset="0"/>
            </a:endParaRPr>
          </a:p>
        </p:txBody>
      </p:sp>
    </p:spTree>
    <p:extLst>
      <p:ext uri="{BB962C8B-B14F-4D97-AF65-F5344CB8AC3E}">
        <p14:creationId xmlns="" xmlns:p14="http://schemas.microsoft.com/office/powerpoint/2010/main" val="24269186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3"/>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4"/>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35"/>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6"/>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7"/>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38"/>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57"/>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hidden"/>
                                      </p:to>
                                    </p:set>
                                  </p:childTnLst>
                                </p:cTn>
                              </p:par>
                              <p:par>
                                <p:cTn id="35" presetID="42" presetClass="exit" presetSubtype="0" fill="hold" nodeType="withEffect">
                                  <p:stCondLst>
                                    <p:cond delay="0"/>
                                  </p:stCondLst>
                                  <p:childTnLst>
                                    <p:animEffect transition="out" filter="fade">
                                      <p:cBhvr>
                                        <p:cTn id="36" dur="1000"/>
                                        <p:tgtEl>
                                          <p:spTgt spid="9"/>
                                        </p:tgtEl>
                                      </p:cBhvr>
                                    </p:animEffect>
                                    <p:anim calcmode="lin" valueType="num">
                                      <p:cBhvr>
                                        <p:cTn id="37" dur="1000"/>
                                        <p:tgtEl>
                                          <p:spTgt spid="9"/>
                                        </p:tgtEl>
                                        <p:attrNameLst>
                                          <p:attrName>ppt_x</p:attrName>
                                        </p:attrNameLst>
                                      </p:cBhvr>
                                      <p:tavLst>
                                        <p:tav tm="0">
                                          <p:val>
                                            <p:strVal val="ppt_x"/>
                                          </p:val>
                                        </p:tav>
                                        <p:tav tm="100000">
                                          <p:val>
                                            <p:strVal val="ppt_x"/>
                                          </p:val>
                                        </p:tav>
                                      </p:tavLst>
                                    </p:anim>
                                    <p:anim calcmode="lin" valueType="num">
                                      <p:cBhvr>
                                        <p:cTn id="38" dur="1000"/>
                                        <p:tgtEl>
                                          <p:spTgt spid="9"/>
                                        </p:tgtEl>
                                        <p:attrNameLst>
                                          <p:attrName>ppt_y</p:attrName>
                                        </p:attrNameLst>
                                      </p:cBhvr>
                                      <p:tavLst>
                                        <p:tav tm="0">
                                          <p:val>
                                            <p:strVal val="ppt_y"/>
                                          </p:val>
                                        </p:tav>
                                        <p:tav tm="100000">
                                          <p:val>
                                            <p:strVal val="ppt_y+.1"/>
                                          </p:val>
                                        </p:tav>
                                      </p:tavLst>
                                    </p:anim>
                                    <p:set>
                                      <p:cBhvr>
                                        <p:cTn id="39" dur="1" fill="hold">
                                          <p:stCondLst>
                                            <p:cond delay="999"/>
                                          </p:stCondLst>
                                        </p:cTn>
                                        <p:tgtEl>
                                          <p:spTgt spid="9"/>
                                        </p:tgtEl>
                                        <p:attrNameLst>
                                          <p:attrName>style.visibility</p:attrName>
                                        </p:attrNameLst>
                                      </p:cBhvr>
                                      <p:to>
                                        <p:strVal val="hidden"/>
                                      </p:to>
                                    </p:set>
                                  </p:childTnLst>
                                </p:cTn>
                              </p:par>
                              <p:par>
                                <p:cTn id="40" presetID="42" presetClass="exit" presetSubtype="0" fill="hold" grpId="0" nodeType="withEffect">
                                  <p:stCondLst>
                                    <p:cond delay="0"/>
                                  </p:stCondLst>
                                  <p:childTnLst>
                                    <p:animEffect transition="out" filter="fade">
                                      <p:cBhvr>
                                        <p:cTn id="41" dur="1000"/>
                                        <p:tgtEl>
                                          <p:spTgt spid="7"/>
                                        </p:tgtEl>
                                      </p:cBhvr>
                                    </p:animEffect>
                                    <p:anim calcmode="lin" valueType="num">
                                      <p:cBhvr>
                                        <p:cTn id="42" dur="1000"/>
                                        <p:tgtEl>
                                          <p:spTgt spid="7"/>
                                        </p:tgtEl>
                                        <p:attrNameLst>
                                          <p:attrName>ppt_x</p:attrName>
                                        </p:attrNameLst>
                                      </p:cBhvr>
                                      <p:tavLst>
                                        <p:tav tm="0">
                                          <p:val>
                                            <p:strVal val="ppt_x"/>
                                          </p:val>
                                        </p:tav>
                                        <p:tav tm="100000">
                                          <p:val>
                                            <p:strVal val="ppt_x"/>
                                          </p:val>
                                        </p:tav>
                                      </p:tavLst>
                                    </p:anim>
                                    <p:anim calcmode="lin" valueType="num">
                                      <p:cBhvr>
                                        <p:cTn id="43" dur="1000"/>
                                        <p:tgtEl>
                                          <p:spTgt spid="7"/>
                                        </p:tgtEl>
                                        <p:attrNameLst>
                                          <p:attrName>ppt_y</p:attrName>
                                        </p:attrNameLst>
                                      </p:cBhvr>
                                      <p:tavLst>
                                        <p:tav tm="0">
                                          <p:val>
                                            <p:strVal val="ppt_y"/>
                                          </p:val>
                                        </p:tav>
                                        <p:tav tm="100000">
                                          <p:val>
                                            <p:strVal val="ppt_y+.1"/>
                                          </p:val>
                                        </p:tav>
                                      </p:tavLst>
                                    </p:anim>
                                    <p:set>
                                      <p:cBhvr>
                                        <p:cTn id="44" dur="1" fill="hold">
                                          <p:stCondLst>
                                            <p:cond delay="999"/>
                                          </p:stCondLst>
                                        </p:cTn>
                                        <p:tgtEl>
                                          <p:spTgt spid="7"/>
                                        </p:tgtEl>
                                        <p:attrNameLst>
                                          <p:attrName>style.visibility</p:attrName>
                                        </p:attrNameLst>
                                      </p:cBhvr>
                                      <p:to>
                                        <p:strVal val="hidden"/>
                                      </p:to>
                                    </p:set>
                                  </p:childTnLst>
                                </p:cTn>
                              </p:par>
                              <p:par>
                                <p:cTn id="45" presetID="42" presetClass="exit" presetSubtype="0" fill="hold" grpId="0" nodeType="withEffect">
                                  <p:stCondLst>
                                    <p:cond delay="0"/>
                                  </p:stCondLst>
                                  <p:childTnLst>
                                    <p:animEffect transition="out" filter="fade">
                                      <p:cBhvr>
                                        <p:cTn id="46" dur="1000"/>
                                        <p:tgtEl>
                                          <p:spTgt spid="8"/>
                                        </p:tgtEl>
                                      </p:cBhvr>
                                    </p:animEffect>
                                    <p:anim calcmode="lin" valueType="num">
                                      <p:cBhvr>
                                        <p:cTn id="47" dur="1000"/>
                                        <p:tgtEl>
                                          <p:spTgt spid="8"/>
                                        </p:tgtEl>
                                        <p:attrNameLst>
                                          <p:attrName>ppt_x</p:attrName>
                                        </p:attrNameLst>
                                      </p:cBhvr>
                                      <p:tavLst>
                                        <p:tav tm="0">
                                          <p:val>
                                            <p:strVal val="ppt_x"/>
                                          </p:val>
                                        </p:tav>
                                        <p:tav tm="100000">
                                          <p:val>
                                            <p:strVal val="ppt_x"/>
                                          </p:val>
                                        </p:tav>
                                      </p:tavLst>
                                    </p:anim>
                                    <p:anim calcmode="lin" valueType="num">
                                      <p:cBhvr>
                                        <p:cTn id="48" dur="1000"/>
                                        <p:tgtEl>
                                          <p:spTgt spid="8"/>
                                        </p:tgtEl>
                                        <p:attrNameLst>
                                          <p:attrName>ppt_y</p:attrName>
                                        </p:attrNameLst>
                                      </p:cBhvr>
                                      <p:tavLst>
                                        <p:tav tm="0">
                                          <p:val>
                                            <p:strVal val="ppt_y"/>
                                          </p:val>
                                        </p:tav>
                                        <p:tav tm="100000">
                                          <p:val>
                                            <p:strVal val="ppt_y+.1"/>
                                          </p:val>
                                        </p:tav>
                                      </p:tavLst>
                                    </p:anim>
                                    <p:set>
                                      <p:cBhvr>
                                        <p:cTn id="49" dur="1" fill="hold">
                                          <p:stCondLst>
                                            <p:cond delay="999"/>
                                          </p:stCondLst>
                                        </p:cTn>
                                        <p:tgtEl>
                                          <p:spTgt spid="8"/>
                                        </p:tgtEl>
                                        <p:attrNameLst>
                                          <p:attrName>style.visibility</p:attrName>
                                        </p:attrNameLst>
                                      </p:cBhvr>
                                      <p:to>
                                        <p:strVal val="hidden"/>
                                      </p:to>
                                    </p:set>
                                  </p:childTnLst>
                                </p:cTn>
                              </p:par>
                              <p:par>
                                <p:cTn id="50" presetID="53" presetClass="entr" presetSubtype="16" fill="hold" nodeType="withEffect">
                                  <p:stCondLst>
                                    <p:cond delay="0"/>
                                  </p:stCondLst>
                                  <p:childTnLst>
                                    <p:set>
                                      <p:cBhvr>
                                        <p:cTn id="51" dur="1" fill="hold">
                                          <p:stCondLst>
                                            <p:cond delay="0"/>
                                          </p:stCondLst>
                                        </p:cTn>
                                        <p:tgtEl>
                                          <p:spTgt spid="50"/>
                                        </p:tgtEl>
                                        <p:attrNameLst>
                                          <p:attrName>style.visibility</p:attrName>
                                        </p:attrNameLst>
                                      </p:cBhvr>
                                      <p:to>
                                        <p:strVal val="visible"/>
                                      </p:to>
                                    </p:set>
                                    <p:anim calcmode="lin" valueType="num">
                                      <p:cBhvr>
                                        <p:cTn id="52" dur="500" fill="hold"/>
                                        <p:tgtEl>
                                          <p:spTgt spid="50"/>
                                        </p:tgtEl>
                                        <p:attrNameLst>
                                          <p:attrName>ppt_w</p:attrName>
                                        </p:attrNameLst>
                                      </p:cBhvr>
                                      <p:tavLst>
                                        <p:tav tm="0">
                                          <p:val>
                                            <p:fltVal val="0"/>
                                          </p:val>
                                        </p:tav>
                                        <p:tav tm="100000">
                                          <p:val>
                                            <p:strVal val="#ppt_w"/>
                                          </p:val>
                                        </p:tav>
                                      </p:tavLst>
                                    </p:anim>
                                    <p:anim calcmode="lin" valueType="num">
                                      <p:cBhvr>
                                        <p:cTn id="53" dur="500" fill="hold"/>
                                        <p:tgtEl>
                                          <p:spTgt spid="50"/>
                                        </p:tgtEl>
                                        <p:attrNameLst>
                                          <p:attrName>ppt_h</p:attrName>
                                        </p:attrNameLst>
                                      </p:cBhvr>
                                      <p:tavLst>
                                        <p:tav tm="0">
                                          <p:val>
                                            <p:fltVal val="0"/>
                                          </p:val>
                                        </p:tav>
                                        <p:tav tm="100000">
                                          <p:val>
                                            <p:strVal val="#ppt_h"/>
                                          </p:val>
                                        </p:tav>
                                      </p:tavLst>
                                    </p:anim>
                                    <p:animEffect transition="in" filter="fade">
                                      <p:cBhvr>
                                        <p:cTn id="54" dur="500"/>
                                        <p:tgtEl>
                                          <p:spTgt spid="50"/>
                                        </p:tgtEl>
                                      </p:cBhvr>
                                    </p:animEffect>
                                  </p:childTnLst>
                                </p:cTn>
                              </p:par>
                            </p:childTnLst>
                          </p:cTn>
                        </p:par>
                        <p:par>
                          <p:cTn id="55" fill="hold">
                            <p:stCondLst>
                              <p:cond delay="1000"/>
                            </p:stCondLst>
                            <p:childTnLst>
                              <p:par>
                                <p:cTn id="56" presetID="18" presetClass="entr" presetSubtype="3" fill="hold" nodeType="after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strips(upRight)">
                                      <p:cBhvr>
                                        <p:cTn id="58" dur="500"/>
                                        <p:tgtEl>
                                          <p:spTgt spid="43"/>
                                        </p:tgtEl>
                                      </p:cBhvr>
                                    </p:animEffect>
                                  </p:childTnLst>
                                </p:cTn>
                              </p:par>
                              <p:par>
                                <p:cTn id="59" presetID="18" presetClass="entr" presetSubtype="3" fill="hold"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strips(upRight)">
                                      <p:cBhvr>
                                        <p:cTn id="61" dur="500"/>
                                        <p:tgtEl>
                                          <p:spTgt spid="40"/>
                                        </p:tgtEl>
                                      </p:cBhvr>
                                    </p:animEffect>
                                  </p:childTnLst>
                                </p:cTn>
                              </p:par>
                              <p:par>
                                <p:cTn id="62" presetID="18" presetClass="entr" presetSubtype="6" fill="hold"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strips(downRight)">
                                      <p:cBhvr>
                                        <p:cTn id="64" dur="500"/>
                                        <p:tgtEl>
                                          <p:spTgt spid="44"/>
                                        </p:tgtEl>
                                      </p:cBhvr>
                                    </p:animEffect>
                                  </p:childTnLst>
                                </p:cTn>
                              </p:par>
                            </p:childTnLst>
                          </p:cTn>
                        </p:par>
                        <p:par>
                          <p:cTn id="65" fill="hold">
                            <p:stCondLst>
                              <p:cond delay="1500"/>
                            </p:stCondLst>
                            <p:childTnLst>
                              <p:par>
                                <p:cTn id="66" presetID="10" presetClass="entr" presetSubtype="0" fill="hold" grpId="0" nodeType="after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50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fade">
                                      <p:cBhvr>
                                        <p:cTn id="71" dur="500"/>
                                        <p:tgtEl>
                                          <p:spTgt spid="4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500"/>
                                        <p:tgtEl>
                                          <p:spTgt spid="47"/>
                                        </p:tgtEl>
                                      </p:cBhvr>
                                    </p:animEffect>
                                  </p:childTnLst>
                                </p:cTn>
                              </p:par>
                            </p:childTnLst>
                          </p:cTn>
                        </p:par>
                        <p:par>
                          <p:cTn id="75" fill="hold">
                            <p:stCondLst>
                              <p:cond delay="2000"/>
                            </p:stCondLst>
                            <p:childTnLst>
                              <p:par>
                                <p:cTn id="76" presetID="18" presetClass="entr" presetSubtype="9" fill="hold" nodeType="after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strips(upLeft)">
                                      <p:cBhvr>
                                        <p:cTn id="78" dur="500"/>
                                        <p:tgtEl>
                                          <p:spTgt spid="41"/>
                                        </p:tgtEl>
                                      </p:cBhvr>
                                    </p:animEffect>
                                  </p:childTnLst>
                                </p:cTn>
                              </p:par>
                              <p:par>
                                <p:cTn id="79" presetID="18" presetClass="entr" presetSubtype="12" fill="hold" nodeType="with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strips(downLeft)">
                                      <p:cBhvr>
                                        <p:cTn id="81" dur="500"/>
                                        <p:tgtEl>
                                          <p:spTgt spid="39"/>
                                        </p:tgtEl>
                                      </p:cBhvr>
                                    </p:animEffect>
                                  </p:childTnLst>
                                </p:cTn>
                              </p:par>
                              <p:par>
                                <p:cTn id="82" presetID="18" presetClass="entr" presetSubtype="12" fill="hold"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strips(downLeft)">
                                      <p:cBhvr>
                                        <p:cTn id="84" dur="500"/>
                                        <p:tgtEl>
                                          <p:spTgt spid="42"/>
                                        </p:tgtEl>
                                      </p:cBhvr>
                                    </p:animEffect>
                                  </p:childTnLst>
                                </p:cTn>
                              </p:par>
                            </p:childTnLst>
                          </p:cTn>
                        </p:par>
                        <p:par>
                          <p:cTn id="85" fill="hold">
                            <p:stCondLst>
                              <p:cond delay="2500"/>
                            </p:stCondLst>
                            <p:childTnLst>
                              <p:par>
                                <p:cTn id="86" presetID="10" presetClass="entr" presetSubtype="0" fill="hold" grpId="0" nodeType="afterEffect">
                                  <p:stCondLst>
                                    <p:cond delay="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500"/>
                                        <p:tgtEl>
                                          <p:spTgt spid="4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500"/>
                                        <p:tgtEl>
                                          <p:spTgt spid="4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1"/>
                                        </p:tgtEl>
                                        <p:attrNameLst>
                                          <p:attrName>style.visibility</p:attrName>
                                        </p:attrNameLst>
                                      </p:cBhvr>
                                      <p:to>
                                        <p:strVal val="visible"/>
                                      </p:to>
                                    </p:set>
                                    <p:animEffect transition="in" filter="fade">
                                      <p:cBhvr>
                                        <p:cTn id="94" dur="500"/>
                                        <p:tgtEl>
                                          <p:spTgt spid="51"/>
                                        </p:tgtEl>
                                      </p:cBhvr>
                                    </p:animEffect>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nodeType="clickEffect">
                                  <p:stCondLst>
                                    <p:cond delay="0"/>
                                  </p:stCondLst>
                                  <p:childTnLst>
                                    <p:set>
                                      <p:cBhvr>
                                        <p:cTn id="98" dur="1" fill="hold">
                                          <p:stCondLst>
                                            <p:cond delay="0"/>
                                          </p:stCondLst>
                                        </p:cTn>
                                        <p:tgtEl>
                                          <p:spTgt spid="61"/>
                                        </p:tgtEl>
                                        <p:attrNameLst>
                                          <p:attrName>style.visibility</p:attrName>
                                        </p:attrNameLst>
                                      </p:cBhvr>
                                      <p:to>
                                        <p:strVal val="visible"/>
                                      </p:to>
                                    </p:set>
                                    <p:anim calcmode="lin" valueType="num">
                                      <p:cBhvr>
                                        <p:cTn id="99" dur="500" fill="hold"/>
                                        <p:tgtEl>
                                          <p:spTgt spid="61"/>
                                        </p:tgtEl>
                                        <p:attrNameLst>
                                          <p:attrName>ppt_w</p:attrName>
                                        </p:attrNameLst>
                                      </p:cBhvr>
                                      <p:tavLst>
                                        <p:tav tm="0">
                                          <p:val>
                                            <p:fltVal val="0"/>
                                          </p:val>
                                        </p:tav>
                                        <p:tav tm="100000">
                                          <p:val>
                                            <p:strVal val="#ppt_w"/>
                                          </p:val>
                                        </p:tav>
                                      </p:tavLst>
                                    </p:anim>
                                    <p:anim calcmode="lin" valueType="num">
                                      <p:cBhvr>
                                        <p:cTn id="100" dur="500" fill="hold"/>
                                        <p:tgtEl>
                                          <p:spTgt spid="61"/>
                                        </p:tgtEl>
                                        <p:attrNameLst>
                                          <p:attrName>ppt_h</p:attrName>
                                        </p:attrNameLst>
                                      </p:cBhvr>
                                      <p:tavLst>
                                        <p:tav tm="0">
                                          <p:val>
                                            <p:fltVal val="0"/>
                                          </p:val>
                                        </p:tav>
                                        <p:tav tm="100000">
                                          <p:val>
                                            <p:strVal val="#ppt_h"/>
                                          </p:val>
                                        </p:tav>
                                      </p:tavLst>
                                    </p:anim>
                                    <p:animEffect transition="in" filter="fade">
                                      <p:cBhvr>
                                        <p:cTn id="101" dur="500"/>
                                        <p:tgtEl>
                                          <p:spTgt spid="6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9"/>
                                        </p:tgtEl>
                                        <p:attrNameLst>
                                          <p:attrName>style.visibility</p:attrName>
                                        </p:attrNameLst>
                                      </p:cBhvr>
                                      <p:to>
                                        <p:strVal val="visible"/>
                                      </p:to>
                                    </p:set>
                                    <p:animEffect transition="in" filter="fade">
                                      <p:cBhvr>
                                        <p:cTn id="104" dur="500"/>
                                        <p:tgtEl>
                                          <p:spTgt spid="59"/>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0"/>
                                        </p:tgtEl>
                                        <p:attrNameLst>
                                          <p:attrName>style.visibility</p:attrName>
                                        </p:attrNameLst>
                                      </p:cBhvr>
                                      <p:to>
                                        <p:strVal val="visible"/>
                                      </p:to>
                                    </p:set>
                                    <p:animEffect transition="in" filter="fade">
                                      <p:cBhvr>
                                        <p:cTn id="107" dur="500"/>
                                        <p:tgtEl>
                                          <p:spTgt spid="60"/>
                                        </p:tgtEl>
                                      </p:cBhvr>
                                    </p:animEffect>
                                  </p:childTnLst>
                                </p:cTn>
                              </p:par>
                            </p:childTnLst>
                          </p:cTn>
                        </p:par>
                      </p:childTnLst>
                    </p:cTn>
                  </p:par>
                  <p:par>
                    <p:cTn id="108" fill="hold">
                      <p:stCondLst>
                        <p:cond delay="indefinite"/>
                      </p:stCondLst>
                      <p:childTnLst>
                        <p:par>
                          <p:cTn id="109" fill="hold">
                            <p:stCondLst>
                              <p:cond delay="0"/>
                            </p:stCondLst>
                            <p:childTnLst>
                              <p:par>
                                <p:cTn id="110" presetID="26" presetClass="entr" presetSubtype="0" fill="hold" nodeType="click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wipe(down)">
                                      <p:cBhvr>
                                        <p:cTn id="112" dur="580">
                                          <p:stCondLst>
                                            <p:cond delay="0"/>
                                          </p:stCondLst>
                                        </p:cTn>
                                        <p:tgtEl>
                                          <p:spTgt spid="19"/>
                                        </p:tgtEl>
                                      </p:cBhvr>
                                    </p:animEffect>
                                    <p:anim calcmode="lin" valueType="num">
                                      <p:cBhvr>
                                        <p:cTn id="113"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114"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115"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116"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117"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118" dur="26">
                                          <p:stCondLst>
                                            <p:cond delay="650"/>
                                          </p:stCondLst>
                                        </p:cTn>
                                        <p:tgtEl>
                                          <p:spTgt spid="19"/>
                                        </p:tgtEl>
                                      </p:cBhvr>
                                      <p:to x="100000" y="60000"/>
                                    </p:animScale>
                                    <p:animScale>
                                      <p:cBhvr>
                                        <p:cTn id="119" dur="166" decel="50000">
                                          <p:stCondLst>
                                            <p:cond delay="676"/>
                                          </p:stCondLst>
                                        </p:cTn>
                                        <p:tgtEl>
                                          <p:spTgt spid="19"/>
                                        </p:tgtEl>
                                      </p:cBhvr>
                                      <p:to x="100000" y="100000"/>
                                    </p:animScale>
                                    <p:animScale>
                                      <p:cBhvr>
                                        <p:cTn id="120" dur="26">
                                          <p:stCondLst>
                                            <p:cond delay="1312"/>
                                          </p:stCondLst>
                                        </p:cTn>
                                        <p:tgtEl>
                                          <p:spTgt spid="19"/>
                                        </p:tgtEl>
                                      </p:cBhvr>
                                      <p:to x="100000" y="80000"/>
                                    </p:animScale>
                                    <p:animScale>
                                      <p:cBhvr>
                                        <p:cTn id="121" dur="166" decel="50000">
                                          <p:stCondLst>
                                            <p:cond delay="1338"/>
                                          </p:stCondLst>
                                        </p:cTn>
                                        <p:tgtEl>
                                          <p:spTgt spid="19"/>
                                        </p:tgtEl>
                                      </p:cBhvr>
                                      <p:to x="100000" y="100000"/>
                                    </p:animScale>
                                    <p:animScale>
                                      <p:cBhvr>
                                        <p:cTn id="122" dur="26">
                                          <p:stCondLst>
                                            <p:cond delay="1642"/>
                                          </p:stCondLst>
                                        </p:cTn>
                                        <p:tgtEl>
                                          <p:spTgt spid="19"/>
                                        </p:tgtEl>
                                      </p:cBhvr>
                                      <p:to x="100000" y="90000"/>
                                    </p:animScale>
                                    <p:animScale>
                                      <p:cBhvr>
                                        <p:cTn id="123" dur="166" decel="50000">
                                          <p:stCondLst>
                                            <p:cond delay="1668"/>
                                          </p:stCondLst>
                                        </p:cTn>
                                        <p:tgtEl>
                                          <p:spTgt spid="19"/>
                                        </p:tgtEl>
                                      </p:cBhvr>
                                      <p:to x="100000" y="100000"/>
                                    </p:animScale>
                                    <p:animScale>
                                      <p:cBhvr>
                                        <p:cTn id="124" dur="26">
                                          <p:stCondLst>
                                            <p:cond delay="1808"/>
                                          </p:stCondLst>
                                        </p:cTn>
                                        <p:tgtEl>
                                          <p:spTgt spid="19"/>
                                        </p:tgtEl>
                                      </p:cBhvr>
                                      <p:to x="100000" y="95000"/>
                                    </p:animScale>
                                    <p:animScale>
                                      <p:cBhvr>
                                        <p:cTn id="125" dur="166" decel="50000">
                                          <p:stCondLst>
                                            <p:cond delay="1834"/>
                                          </p:stCondLst>
                                        </p:cTn>
                                        <p:tgtEl>
                                          <p:spTgt spid="19"/>
                                        </p:tgtEl>
                                      </p:cBhvr>
                                      <p:to x="100000" y="100000"/>
                                    </p:animScale>
                                  </p:childTnLst>
                                </p:cTn>
                              </p:par>
                            </p:childTnLst>
                          </p:cTn>
                        </p:par>
                      </p:childTnLst>
                    </p:cTn>
                  </p:par>
                  <p:par>
                    <p:cTn id="126" fill="hold">
                      <p:stCondLst>
                        <p:cond delay="indefinite"/>
                      </p:stCondLst>
                      <p:childTnLst>
                        <p:par>
                          <p:cTn id="127" fill="hold">
                            <p:stCondLst>
                              <p:cond delay="0"/>
                            </p:stCondLst>
                            <p:childTnLst>
                              <p:par>
                                <p:cTn id="128" presetID="26" presetClass="entr" presetSubtype="0" fill="hold" nodeType="clickEffect">
                                  <p:stCondLst>
                                    <p:cond delay="0"/>
                                  </p:stCondLst>
                                  <p:childTnLst>
                                    <p:set>
                                      <p:cBhvr>
                                        <p:cTn id="129" dur="1" fill="hold">
                                          <p:stCondLst>
                                            <p:cond delay="0"/>
                                          </p:stCondLst>
                                        </p:cTn>
                                        <p:tgtEl>
                                          <p:spTgt spid="4"/>
                                        </p:tgtEl>
                                        <p:attrNameLst>
                                          <p:attrName>style.visibility</p:attrName>
                                        </p:attrNameLst>
                                      </p:cBhvr>
                                      <p:to>
                                        <p:strVal val="visible"/>
                                      </p:to>
                                    </p:set>
                                    <p:animEffect transition="in" filter="wipe(down)">
                                      <p:cBhvr>
                                        <p:cTn id="130" dur="580">
                                          <p:stCondLst>
                                            <p:cond delay="0"/>
                                          </p:stCondLst>
                                        </p:cTn>
                                        <p:tgtEl>
                                          <p:spTgt spid="4"/>
                                        </p:tgtEl>
                                      </p:cBhvr>
                                    </p:animEffect>
                                    <p:anim calcmode="lin" valueType="num">
                                      <p:cBhvr>
                                        <p:cTn id="131"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32"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33"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34"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35"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6" dur="26">
                                          <p:stCondLst>
                                            <p:cond delay="650"/>
                                          </p:stCondLst>
                                        </p:cTn>
                                        <p:tgtEl>
                                          <p:spTgt spid="4"/>
                                        </p:tgtEl>
                                      </p:cBhvr>
                                      <p:to x="100000" y="60000"/>
                                    </p:animScale>
                                    <p:animScale>
                                      <p:cBhvr>
                                        <p:cTn id="137" dur="166" decel="50000">
                                          <p:stCondLst>
                                            <p:cond delay="676"/>
                                          </p:stCondLst>
                                        </p:cTn>
                                        <p:tgtEl>
                                          <p:spTgt spid="4"/>
                                        </p:tgtEl>
                                      </p:cBhvr>
                                      <p:to x="100000" y="100000"/>
                                    </p:animScale>
                                    <p:animScale>
                                      <p:cBhvr>
                                        <p:cTn id="138" dur="26">
                                          <p:stCondLst>
                                            <p:cond delay="1312"/>
                                          </p:stCondLst>
                                        </p:cTn>
                                        <p:tgtEl>
                                          <p:spTgt spid="4"/>
                                        </p:tgtEl>
                                      </p:cBhvr>
                                      <p:to x="100000" y="80000"/>
                                    </p:animScale>
                                    <p:animScale>
                                      <p:cBhvr>
                                        <p:cTn id="139" dur="166" decel="50000">
                                          <p:stCondLst>
                                            <p:cond delay="1338"/>
                                          </p:stCondLst>
                                        </p:cTn>
                                        <p:tgtEl>
                                          <p:spTgt spid="4"/>
                                        </p:tgtEl>
                                      </p:cBhvr>
                                      <p:to x="100000" y="100000"/>
                                    </p:animScale>
                                    <p:animScale>
                                      <p:cBhvr>
                                        <p:cTn id="140" dur="26">
                                          <p:stCondLst>
                                            <p:cond delay="1642"/>
                                          </p:stCondLst>
                                        </p:cTn>
                                        <p:tgtEl>
                                          <p:spTgt spid="4"/>
                                        </p:tgtEl>
                                      </p:cBhvr>
                                      <p:to x="100000" y="90000"/>
                                    </p:animScale>
                                    <p:animScale>
                                      <p:cBhvr>
                                        <p:cTn id="141" dur="166" decel="50000">
                                          <p:stCondLst>
                                            <p:cond delay="1668"/>
                                          </p:stCondLst>
                                        </p:cTn>
                                        <p:tgtEl>
                                          <p:spTgt spid="4"/>
                                        </p:tgtEl>
                                      </p:cBhvr>
                                      <p:to x="100000" y="100000"/>
                                    </p:animScale>
                                    <p:animScale>
                                      <p:cBhvr>
                                        <p:cTn id="142" dur="26">
                                          <p:stCondLst>
                                            <p:cond delay="1808"/>
                                          </p:stCondLst>
                                        </p:cTn>
                                        <p:tgtEl>
                                          <p:spTgt spid="4"/>
                                        </p:tgtEl>
                                      </p:cBhvr>
                                      <p:to x="100000" y="95000"/>
                                    </p:animScale>
                                    <p:animScale>
                                      <p:cBhvr>
                                        <p:cTn id="143"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45" grpId="0"/>
      <p:bldP spid="46" grpId="0"/>
      <p:bldP spid="47" grpId="0"/>
      <p:bldP spid="48" grpId="0"/>
      <p:bldP spid="49" grpId="0"/>
      <p:bldP spid="51" grpId="0"/>
      <p:bldP spid="52" grpId="0" animBg="1"/>
      <p:bldP spid="53" grpId="0" animBg="1"/>
      <p:bldP spid="54" grpId="0" animBg="1"/>
      <p:bldP spid="55" grpId="0" animBg="1"/>
      <p:bldP spid="56" grpId="0" animBg="1"/>
      <p:bldP spid="57" grpId="0" animBg="1"/>
      <p:bldP spid="59" grpId="0" animBg="1"/>
      <p:bldP spid="6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cstate="print"/>
          <a:srcRect r="1076"/>
          <a:stretch>
            <a:fillRect/>
          </a:stretch>
        </p:blipFill>
        <p:spPr bwMode="auto">
          <a:xfrm>
            <a:off x="94965" y="548680"/>
            <a:ext cx="8960547" cy="5661248"/>
          </a:xfrm>
          <a:prstGeom prst="rect">
            <a:avLst/>
          </a:prstGeom>
          <a:noFill/>
          <a:ln w="9525">
            <a:noFill/>
            <a:miter lim="800000"/>
            <a:headEnd/>
            <a:tailEnd/>
          </a:ln>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conf.png"/>
          <p:cNvPicPr>
            <a:picLocks noChangeAspect="1"/>
          </p:cNvPicPr>
          <p:nvPr/>
        </p:nvPicPr>
        <p:blipFill>
          <a:blip r:embed="rId3" cstate="print"/>
          <a:stretch>
            <a:fillRect/>
          </a:stretch>
        </p:blipFill>
        <p:spPr>
          <a:xfrm>
            <a:off x="0" y="551877"/>
            <a:ext cx="9144000" cy="5754245"/>
          </a:xfrm>
          <a:prstGeom prst="rect">
            <a:avLst/>
          </a:prstGeom>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60</a:t>
            </a:fld>
            <a:endParaRPr lang="en-US">
              <a:latin typeface="Arial"/>
              <a:ea typeface="ＭＳ Ｐゴシック"/>
              <a:cs typeface="ＭＳ Ｐゴシック"/>
            </a:endParaRPr>
          </a:p>
        </p:txBody>
      </p:sp>
      <p:pic>
        <p:nvPicPr>
          <p:cNvPr id="3" name="Immagine 2" descr="Screenshot 2015-06-01 12.14.26.png"/>
          <p:cNvPicPr>
            <a:picLocks noChangeAspect="1"/>
          </p:cNvPicPr>
          <p:nvPr/>
        </p:nvPicPr>
        <p:blipFill>
          <a:blip r:embed="rId2" cstate="print"/>
          <a:stretch>
            <a:fillRect/>
          </a:stretch>
        </p:blipFill>
        <p:spPr>
          <a:xfrm>
            <a:off x="0" y="773893"/>
            <a:ext cx="9144000" cy="5310213"/>
          </a:xfrm>
          <a:prstGeom prst="rect">
            <a:avLst/>
          </a:prstGeom>
        </p:spPr>
      </p:pic>
    </p:spTree>
  </p:cSld>
  <p:clrMapOvr>
    <a:masterClrMapping/>
  </p:clrMapOvr>
  <p:transition spd="med">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Screenshot 2015-05-29 16.12.25.png"/>
          <p:cNvPicPr>
            <a:picLocks noChangeAspect="1"/>
          </p:cNvPicPr>
          <p:nvPr/>
        </p:nvPicPr>
        <p:blipFill>
          <a:blip r:embed="rId3" cstate="print"/>
          <a:stretch>
            <a:fillRect/>
          </a:stretch>
        </p:blipFill>
        <p:spPr>
          <a:xfrm>
            <a:off x="0" y="0"/>
            <a:ext cx="9144000" cy="5309419"/>
          </a:xfrm>
          <a:prstGeom prst="rect">
            <a:avLst/>
          </a:prstGeom>
        </p:spPr>
      </p:pic>
      <p:pic>
        <p:nvPicPr>
          <p:cNvPr id="3" name="Immagine 2" descr="Screenshot 2015-05-29 16.12.01.png"/>
          <p:cNvPicPr>
            <a:picLocks noChangeAspect="1"/>
          </p:cNvPicPr>
          <p:nvPr/>
        </p:nvPicPr>
        <p:blipFill>
          <a:blip r:embed="rId4" cstate="print"/>
          <a:stretch>
            <a:fillRect/>
          </a:stretch>
        </p:blipFill>
        <p:spPr>
          <a:xfrm>
            <a:off x="0" y="774290"/>
            <a:ext cx="9144000" cy="5309419"/>
          </a:xfrm>
          <a:prstGeom prst="rect">
            <a:avLst/>
          </a:prstGeom>
        </p:spPr>
      </p:pic>
      <p:pic>
        <p:nvPicPr>
          <p:cNvPr id="4" name="Immagine 3" descr="Screenshot 2015-05-29 16.12.42.png"/>
          <p:cNvPicPr>
            <a:picLocks noChangeAspect="1"/>
          </p:cNvPicPr>
          <p:nvPr/>
        </p:nvPicPr>
        <p:blipFill>
          <a:blip r:embed="rId5" cstate="print"/>
          <a:stretch>
            <a:fillRect/>
          </a:stretch>
        </p:blipFill>
        <p:spPr>
          <a:xfrm>
            <a:off x="0" y="1548581"/>
            <a:ext cx="9144000" cy="5309419"/>
          </a:xfrm>
          <a:prstGeom prst="rect">
            <a:avLst/>
          </a:prstGeom>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62</a:t>
            </a:fld>
            <a:endParaRPr lang="en-US">
              <a:latin typeface="Arial"/>
              <a:ea typeface="ＭＳ Ｐゴシック"/>
              <a:cs typeface="ＭＳ Ｐゴシック"/>
            </a:endParaRPr>
          </a:p>
        </p:txBody>
      </p:sp>
      <p:pic>
        <p:nvPicPr>
          <p:cNvPr id="3" name="Immagine 2" descr="canada-52n.png"/>
          <p:cNvPicPr>
            <a:picLocks noChangeAspect="1"/>
          </p:cNvPicPr>
          <p:nvPr/>
        </p:nvPicPr>
        <p:blipFill>
          <a:blip r:embed="rId2" cstate="print"/>
          <a:stretch>
            <a:fillRect/>
          </a:stretch>
        </p:blipFill>
        <p:spPr>
          <a:xfrm>
            <a:off x="0" y="571500"/>
            <a:ext cx="9144000" cy="5715000"/>
          </a:xfrm>
          <a:prstGeom prst="rect">
            <a:avLst/>
          </a:prstGeom>
        </p:spPr>
      </p:pic>
    </p:spTree>
  </p:cSld>
  <p:clrMapOvr>
    <a:masterClrMapping/>
  </p:clrMapOvr>
  <p:transition spd="med">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sweb1.png"/>
          <p:cNvPicPr>
            <a:picLocks noChangeAspect="1"/>
          </p:cNvPicPr>
          <p:nvPr/>
        </p:nvPicPr>
        <p:blipFill>
          <a:blip r:embed="rId3" cstate="print"/>
          <a:stretch>
            <a:fillRect/>
          </a:stretch>
        </p:blipFill>
        <p:spPr>
          <a:xfrm>
            <a:off x="0" y="0"/>
            <a:ext cx="9144000" cy="5114940"/>
          </a:xfrm>
          <a:prstGeom prst="rect">
            <a:avLst/>
          </a:prstGeom>
        </p:spPr>
      </p:pic>
      <p:pic>
        <p:nvPicPr>
          <p:cNvPr id="3" name="Immagine 2" descr="sweb2.png"/>
          <p:cNvPicPr>
            <a:picLocks noChangeAspect="1"/>
          </p:cNvPicPr>
          <p:nvPr/>
        </p:nvPicPr>
        <p:blipFill>
          <a:blip r:embed="rId4" cstate="print"/>
          <a:stretch>
            <a:fillRect/>
          </a:stretch>
        </p:blipFill>
        <p:spPr>
          <a:xfrm>
            <a:off x="0" y="1715115"/>
            <a:ext cx="9144000" cy="5142885"/>
          </a:xfrm>
          <a:prstGeom prst="rect">
            <a:avLst/>
          </a:prstGeom>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61975" y="136525"/>
            <a:ext cx="8582025" cy="685800"/>
          </a:xfrm>
          <a:prstGeom prst="rect">
            <a:avLst/>
          </a:prstGeom>
        </p:spPr>
        <p:txBody>
          <a:bodyPr vert="horz" lIns="0" tIns="0" rIns="0" bIns="0" rtlCol="0" anchor="t">
            <a:no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it-IT" sz="2800" b="1" i="0" u="none" strike="noStrike" kern="1200" cap="none" spc="0" normalizeH="0" baseline="0" noProof="0" dirty="0" err="1" smtClean="0">
                <a:ln>
                  <a:noFill/>
                </a:ln>
                <a:solidFill>
                  <a:schemeClr val="tx2">
                    <a:lumMod val="90000"/>
                    <a:lumOff val="10000"/>
                  </a:schemeClr>
                </a:solidFill>
                <a:effectLst>
                  <a:outerShdw blurRad="38100" dist="38100" dir="2700000" algn="tl">
                    <a:srgbClr val="DDDDDD"/>
                  </a:outerShdw>
                </a:effectLst>
                <a:uLnTx/>
                <a:uFillTx/>
                <a:latin typeface="Arial" charset="0"/>
                <a:ea typeface="MS PGothic" charset="0"/>
                <a:cs typeface="Avenir LT Std 55 Roman" pitchFamily="34" charset="0"/>
              </a:rPr>
              <a:t>Views</a:t>
            </a:r>
            <a:endParaRPr kumimoji="0" lang="en-US" sz="2800" b="1" i="0" u="none" strike="noStrike" kern="1200" cap="none" spc="0" normalizeH="0" baseline="0" noProof="0" dirty="0">
              <a:ln>
                <a:noFill/>
              </a:ln>
              <a:solidFill>
                <a:schemeClr val="tx2">
                  <a:lumMod val="90000"/>
                  <a:lumOff val="10000"/>
                </a:schemeClr>
              </a:solidFill>
              <a:effectLst/>
              <a:uLnTx/>
              <a:uFillTx/>
              <a:latin typeface="+mj-lt"/>
              <a:ea typeface="+mj-ea"/>
              <a:cs typeface="Avenir LT Std 55 Roman" pitchFamily="34" charset="0"/>
            </a:endParaRPr>
          </a:p>
        </p:txBody>
      </p:sp>
      <p:pic>
        <p:nvPicPr>
          <p:cNvPr id="3" name="Immagine 2" descr="view-created.png"/>
          <p:cNvPicPr>
            <a:picLocks noChangeAspect="1"/>
          </p:cNvPicPr>
          <p:nvPr/>
        </p:nvPicPr>
        <p:blipFill>
          <a:blip r:embed="rId3" cstate="print"/>
          <a:stretch>
            <a:fillRect/>
          </a:stretch>
        </p:blipFill>
        <p:spPr>
          <a:xfrm>
            <a:off x="1187624" y="577365"/>
            <a:ext cx="7116674" cy="6180619"/>
          </a:xfrm>
          <a:prstGeom prst="rect">
            <a:avLst/>
          </a:prstGeom>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view-sources.png"/>
          <p:cNvPicPr>
            <a:picLocks noChangeAspect="1"/>
          </p:cNvPicPr>
          <p:nvPr/>
        </p:nvPicPr>
        <p:blipFill>
          <a:blip r:embed="rId3" cstate="print"/>
          <a:stretch>
            <a:fillRect/>
          </a:stretch>
        </p:blipFill>
        <p:spPr>
          <a:xfrm>
            <a:off x="327611" y="0"/>
            <a:ext cx="8488777" cy="6858000"/>
          </a:xfrm>
          <a:prstGeom prst="rect">
            <a:avLst/>
          </a:prstGeom>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view-bbox.png"/>
          <p:cNvPicPr>
            <a:picLocks noChangeAspect="1"/>
          </p:cNvPicPr>
          <p:nvPr/>
        </p:nvPicPr>
        <p:blipFill>
          <a:blip r:embed="rId3" cstate="print"/>
          <a:stretch>
            <a:fillRect/>
          </a:stretch>
        </p:blipFill>
        <p:spPr>
          <a:xfrm>
            <a:off x="320479" y="0"/>
            <a:ext cx="8503042" cy="6858000"/>
          </a:xfrm>
          <a:prstGeom prst="rect">
            <a:avLst/>
          </a:prstGeom>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view-time.png"/>
          <p:cNvPicPr>
            <a:picLocks noChangeAspect="1"/>
          </p:cNvPicPr>
          <p:nvPr/>
        </p:nvPicPr>
        <p:blipFill>
          <a:blip r:embed="rId3" cstate="print"/>
          <a:stretch>
            <a:fillRect/>
          </a:stretch>
        </p:blipFill>
        <p:spPr>
          <a:xfrm>
            <a:off x="303170" y="0"/>
            <a:ext cx="8537660" cy="6858000"/>
          </a:xfrm>
          <a:prstGeom prst="rect">
            <a:avLst/>
          </a:prstGeom>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view-endpoint.png"/>
          <p:cNvPicPr>
            <a:picLocks noChangeAspect="1"/>
          </p:cNvPicPr>
          <p:nvPr/>
        </p:nvPicPr>
        <p:blipFill>
          <a:blip r:embed="rId3" cstate="print"/>
          <a:stretch>
            <a:fillRect/>
          </a:stretch>
        </p:blipFill>
        <p:spPr>
          <a:xfrm>
            <a:off x="0" y="1209782"/>
            <a:ext cx="9144000" cy="4438436"/>
          </a:xfrm>
          <a:prstGeom prst="rect">
            <a:avLst/>
          </a:prstGeom>
        </p:spPr>
      </p:pic>
    </p:spTree>
    <p:extLst>
      <p:ext uri="{BB962C8B-B14F-4D97-AF65-F5344CB8AC3E}">
        <p14:creationId xmlns:p14="http://schemas.microsoft.com/office/powerpoint/2010/main" xmlns="" val="1446090621"/>
      </p:ext>
    </p:extLst>
  </p:cSld>
  <p:clrMapOvr>
    <a:masterClrMapping/>
  </p:clrMapOvr>
  <p:transition spd="med">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51520" y="4005064"/>
            <a:ext cx="8713788" cy="719137"/>
          </a:xfrm>
        </p:spPr>
        <p:txBody>
          <a:bodyPr/>
          <a:lstStyle/>
          <a:p>
            <a:r>
              <a:rPr lang="en-GB" dirty="0"/>
              <a:t>Thank you for your attention</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MO_Powerpoint_template_en">
  <a:themeElements>
    <a:clrScheme name="WMO-Title-SF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WMO-Title-SF">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MO-Title-SF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WMO-Title-SF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WMO-Title-SF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WMO-Title-SF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WMO-Title-SF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WMO-Title-SF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WMO-Title-SF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WMO-Title-SF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WMO-Title-SF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WMO-Title-SF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WMO-Title-SF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WMO-Title-SF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losing slide">
  <a:themeElements>
    <a:clrScheme name="1_SmallLog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mallLogo">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1_SmallLog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mallLog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mallLog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mallLog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mallLog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mallLog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mallLog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mallLog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mallLog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mallLog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mallLog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mallLog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ptional_Corporate_PPT_Template-Arial">
  <a:themeElements>
    <a:clrScheme name="Personalizzato 1">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FF0000"/>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WMO_Powerpoint_template_en.pot</Template>
  <TotalTime>7129</TotalTime>
  <Words>1201</Words>
  <Application>Microsoft Office PowerPoint</Application>
  <PresentationFormat>Presentazione su schermo (4:3)</PresentationFormat>
  <Paragraphs>321</Paragraphs>
  <Slides>69</Slides>
  <Notes>29</Notes>
  <HiddenSlides>0</HiddenSlides>
  <MMClips>0</MMClips>
  <ScaleCrop>false</ScaleCrop>
  <HeadingPairs>
    <vt:vector size="4" baseType="variant">
      <vt:variant>
        <vt:lpstr>Tema</vt:lpstr>
      </vt:variant>
      <vt:variant>
        <vt:i4>3</vt:i4>
      </vt:variant>
      <vt:variant>
        <vt:lpstr>Titoli diapositive</vt:lpstr>
      </vt:variant>
      <vt:variant>
        <vt:i4>69</vt:i4>
      </vt:variant>
    </vt:vector>
  </HeadingPairs>
  <TitlesOfParts>
    <vt:vector size="72" baseType="lpstr">
      <vt:lpstr>WMO_Powerpoint_template_en</vt:lpstr>
      <vt:lpstr>Closing slide</vt:lpstr>
      <vt:lpstr>1_Optional_Corporate_PPT_Template-Arial</vt:lpstr>
      <vt:lpstr>Global initiatives of WMO CHy in hydrological data sharing</vt:lpstr>
      <vt:lpstr>Diapositiva 2</vt:lpstr>
      <vt:lpstr>Diapositiva 3</vt:lpstr>
      <vt:lpstr>Diapositiva 4</vt:lpstr>
      <vt:lpstr>Diapositiva 5</vt:lpstr>
      <vt:lpstr>Diapositiva 6</vt:lpstr>
      <vt:lpstr>Diapositiva 7</vt:lpstr>
      <vt:lpstr>Diapositiva 8</vt:lpstr>
      <vt:lpstr>Diapositiva 9</vt:lpstr>
      <vt:lpstr>The Road Further Ahead</vt:lpstr>
      <vt:lpstr>HIS System Overview</vt:lpstr>
      <vt:lpstr>WaterML and WaterOneFlow</vt:lpstr>
      <vt:lpstr>HIS in the SAVA River Basin</vt:lpstr>
      <vt:lpstr>HIS in the SAVA River Basin</vt:lpstr>
      <vt:lpstr>HIS in China</vt:lpstr>
      <vt:lpstr>Diapositiva 16</vt:lpstr>
      <vt:lpstr>HIS in  Niger River Basin</vt:lpstr>
      <vt:lpstr>Diapositiva 18</vt:lpstr>
      <vt:lpstr>HIS in New Zealand</vt:lpstr>
      <vt:lpstr>Diapositiva 20</vt:lpstr>
      <vt:lpstr>HIS in the SADC</vt:lpstr>
      <vt:lpstr>Diapositiva 22</vt:lpstr>
      <vt:lpstr>HIS in the Ibero-American Countries</vt:lpstr>
      <vt:lpstr>HIS in the Ibero-American Countries</vt:lpstr>
      <vt:lpstr>HIS in the WMO RAIV</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HYDROLOGIC DATA SHARING IN WHOS</vt:lpstr>
      <vt:lpstr>Diapositiva 39</vt:lpstr>
      <vt:lpstr>Diapositiva 40</vt:lpstr>
      <vt:lpstr>Diapositiva 41</vt:lpstr>
      <vt:lpstr>Diapositiva 42</vt:lpstr>
      <vt:lpstr>Diapositiva 43</vt:lpstr>
      <vt:lpstr>Diapositiva 44</vt:lpstr>
      <vt:lpstr>Diapositiva 45</vt:lpstr>
      <vt:lpstr>http://www.hiscentral.isprambiente.gov.it</vt:lpstr>
      <vt:lpstr>WMO STANDARDS IN HYDROLOGY data formats and service types</vt:lpstr>
      <vt:lpstr>Specification to data encoding</vt:lpstr>
      <vt:lpstr>Two standards: Conceptual &amp; Implementation</vt:lpstr>
      <vt:lpstr>Conceptual Model -  based on O&amp;M</vt:lpstr>
      <vt:lpstr>Implementation Model  - Mapping to Concepts</vt:lpstr>
      <vt:lpstr>Metadata – a much abused concept please qualify your use</vt:lpstr>
      <vt:lpstr>Diapositiva 53</vt:lpstr>
      <vt:lpstr>Diapositiva 54</vt:lpstr>
      <vt:lpstr>Hydrologic data exchange revolutions</vt:lpstr>
      <vt:lpstr>Virtual Community Approach</vt:lpstr>
      <vt:lpstr>Diapositiva 57</vt:lpstr>
      <vt:lpstr>Diapositiva 58</vt:lpstr>
      <vt:lpstr>Diapositiva 59</vt:lpstr>
      <vt:lpstr>Diapositiva 60</vt:lpstr>
      <vt:lpstr>Diapositiva 61</vt:lpstr>
      <vt:lpstr>Diapositiva 62</vt:lpstr>
      <vt:lpstr>Diapositiva 63</vt:lpstr>
      <vt:lpstr>Diapositiva 64</vt:lpstr>
      <vt:lpstr>Diapositiva 65</vt:lpstr>
      <vt:lpstr>Diapositiva 66</vt:lpstr>
      <vt:lpstr>Diapositiva 67</vt:lpstr>
      <vt:lpstr>Diapositiva 68</vt:lpstr>
      <vt:lpstr>Thank you for your attention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creator>Harry Lins</dc:creator>
  <cp:lastModifiedBy>User</cp:lastModifiedBy>
  <cp:revision>463</cp:revision>
  <cp:lastPrinted>2014-08-06T07:05:02Z</cp:lastPrinted>
  <dcterms:created xsi:type="dcterms:W3CDTF">2014-02-19T16:01:18Z</dcterms:created>
  <dcterms:modified xsi:type="dcterms:W3CDTF">2015-09-16T17:36:48Z</dcterms:modified>
</cp:coreProperties>
</file>