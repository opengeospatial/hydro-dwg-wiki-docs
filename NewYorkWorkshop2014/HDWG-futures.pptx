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13"/>
  </p:notesMasterIdLst>
  <p:sldIdLst>
    <p:sldId id="262" r:id="rId5"/>
    <p:sldId id="261" r:id="rId6"/>
    <p:sldId id="263" r:id="rId7"/>
    <p:sldId id="259" r:id="rId8"/>
    <p:sldId id="265" r:id="rId9"/>
    <p:sldId id="260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B9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1656" y="1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CC6A2-8EF7-9B4F-AD2A-76BB52E687A6}" type="datetimeFigureOut">
              <a:rPr lang="en-US" smtClean="0"/>
              <a:t>16/08/14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7CB4F-95A1-D04C-BDAD-A36BCB04A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451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GB" dirty="0">
                <a:latin typeface="Times New Roman" charset="0"/>
                <a:ea typeface="MS PGothic" pitchFamily="34" charset="-128"/>
                <a:cs typeface="MS PGothic" charset="0"/>
              </a:rPr>
              <a:t>Using WaterML2, both user an supplier application will conform the rules for application schema (ISO 19109).</a:t>
            </a:r>
          </a:p>
          <a:p>
            <a:pPr defTabSz="907451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GB" baseline="0" noProof="0" dirty="0" smtClean="0"/>
              <a:t>Data request and response may be generated </a:t>
            </a:r>
            <a:r>
              <a:rPr lang="en-GB" noProof="0" dirty="0" smtClean="0"/>
              <a:t>using </a:t>
            </a:r>
            <a:r>
              <a:rPr lang="en-GB" dirty="0" smtClean="0"/>
              <a:t>the specific</a:t>
            </a:r>
            <a:r>
              <a:rPr lang="en-GB" baseline="0" dirty="0" smtClean="0"/>
              <a:t> </a:t>
            </a:r>
            <a:r>
              <a:rPr lang="en-GB" dirty="0" smtClean="0"/>
              <a:t>Hydrology Profile</a:t>
            </a:r>
            <a:r>
              <a:rPr lang="en-GB" baseline="0" dirty="0" smtClean="0"/>
              <a:t> of the SOS2 implementing WaterML2 (under development).</a:t>
            </a: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requires a re-factoring of the WaterML2 Part 1 in terms of a (water) observation model using (special hydrologic) feature model and a (special time-series) coverage model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8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451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endParaRPr lang="en-GB" sz="2000" dirty="0">
              <a:solidFill>
                <a:srgbClr val="092E5C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2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3214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0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3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7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5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20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8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3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1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16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446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886352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05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62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41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401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79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94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05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279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448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83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241004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9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667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171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92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628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25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243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31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063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520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948616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141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3128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3530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938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534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610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121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8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28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03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ea typeface="MS PGothic" pitchFamily="34" charset="-128"/>
              </a:rPr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E725F1A-1E3F-4657-9D4B-5DCBC0B76A54}" type="slidenum">
              <a:rPr lang="en-US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330102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ea typeface="MS PGothic" pitchFamily="34" charset="-128"/>
              </a:rPr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E725F1A-1E3F-4657-9D4B-5DCBC0B76A54}" type="slidenum">
              <a:rPr lang="en-US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6215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ea typeface="MS PGothic" pitchFamily="34" charset="-128"/>
              </a:rPr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E725F1A-1E3F-4657-9D4B-5DCBC0B76A54}" type="slidenum">
              <a:rPr lang="en-US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90103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ea typeface="MS PGothic" pitchFamily="34" charset="-128"/>
              </a:rPr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E725F1A-1E3F-4657-9D4B-5DCBC0B76A54}" type="slidenum">
              <a:rPr lang="en-US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85596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Here we stand in August 2014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9" name="Textfeld 38"/>
          <p:cNvSpPr txBox="1"/>
          <p:nvPr/>
        </p:nvSpPr>
        <p:spPr>
          <a:xfrm>
            <a:off x="5873450" y="5194300"/>
            <a:ext cx="2673350" cy="15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 smtClean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cxnSp>
        <p:nvCxnSpPr>
          <p:cNvPr id="51" name="Gerade Verbindung 50"/>
          <p:cNvCxnSpPr>
            <a:stCxn id="46" idx="1"/>
          </p:cNvCxnSpPr>
          <p:nvPr/>
        </p:nvCxnSpPr>
        <p:spPr bwMode="auto">
          <a:xfrm flipV="1">
            <a:off x="1447800" y="1676400"/>
            <a:ext cx="2314575" cy="444067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Gerade Verbindung 52"/>
          <p:cNvCxnSpPr/>
          <p:nvPr/>
        </p:nvCxnSpPr>
        <p:spPr bwMode="auto">
          <a:xfrm>
            <a:off x="5604510" y="1666875"/>
            <a:ext cx="2401517" cy="453592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5" name="Gruppieren 34"/>
          <p:cNvGrpSpPr/>
          <p:nvPr/>
        </p:nvGrpSpPr>
        <p:grpSpPr>
          <a:xfrm>
            <a:off x="3553431" y="2146075"/>
            <a:ext cx="2291706" cy="1054325"/>
            <a:chOff x="2472047" y="3455517"/>
            <a:chExt cx="2414279" cy="1382095"/>
          </a:xfrm>
        </p:grpSpPr>
        <p:sp>
          <p:nvSpPr>
            <p:cNvPr id="41" name="Abgerundetes Rechteck 40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b="1" i="1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WaterObservation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sz="8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b="1" i="1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b="1" i="1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  <p:grpSp>
          <p:nvGrpSpPr>
            <p:cNvPr id="42" name="Gruppieren 41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3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  <p:sp>
            <p:nvSpPr>
              <p:cNvPr id="6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4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  <p:sp>
            <p:nvSpPr>
              <p:cNvPr id="45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900" b="1" dirty="0" smtClean="0">
                    <a:solidFill>
                      <a:srgbClr val="002060"/>
                    </a:solidFill>
                    <a:latin typeface="CG Times" charset="0"/>
                    <a:ea typeface="MS PGothic" pitchFamily="34" charset="-128"/>
                  </a:rPr>
                  <a:t>WML2</a:t>
                </a:r>
                <a:endParaRPr lang="en-GB" sz="9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endParaRPr>
              </a:p>
            </p:txBody>
          </p:sp>
        </p:grpSp>
      </p:grpSp>
      <p:sp>
        <p:nvSpPr>
          <p:cNvPr id="8" name="Rechteck 7"/>
          <p:cNvSpPr/>
          <p:nvPr/>
        </p:nvSpPr>
        <p:spPr bwMode="auto">
          <a:xfrm>
            <a:off x="1981200" y="2645708"/>
            <a:ext cx="228600" cy="46265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5" name="Rechteck 24"/>
          <p:cNvSpPr/>
          <p:nvPr/>
        </p:nvSpPr>
        <p:spPr bwMode="auto">
          <a:xfrm>
            <a:off x="7086600" y="2641600"/>
            <a:ext cx="228600" cy="46265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cxnSp>
        <p:nvCxnSpPr>
          <p:cNvPr id="11" name="Gerade Verbindung mit Pfeil 10"/>
          <p:cNvCxnSpPr>
            <a:stCxn id="41" idx="3"/>
          </p:cNvCxnSpPr>
          <p:nvPr/>
        </p:nvCxnSpPr>
        <p:spPr bwMode="auto">
          <a:xfrm flipV="1">
            <a:off x="5845137" y="2120467"/>
            <a:ext cx="441363" cy="55277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13" name="Gerade Verbindung mit Pfeil 12"/>
          <p:cNvCxnSpPr>
            <a:stCxn id="41" idx="1"/>
          </p:cNvCxnSpPr>
          <p:nvPr/>
        </p:nvCxnSpPr>
        <p:spPr bwMode="auto">
          <a:xfrm flipH="1" flipV="1">
            <a:off x="2990105" y="2025538"/>
            <a:ext cx="563326" cy="647700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27"/>
          <p:cNvCxnSpPr/>
          <p:nvPr/>
        </p:nvCxnSpPr>
        <p:spPr bwMode="auto">
          <a:xfrm>
            <a:off x="5752230" y="3835400"/>
            <a:ext cx="41997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 Verbindung 23"/>
          <p:cNvCxnSpPr>
            <a:stCxn id="41" idx="0"/>
          </p:cNvCxnSpPr>
          <p:nvPr/>
        </p:nvCxnSpPr>
        <p:spPr bwMode="auto">
          <a:xfrm flipV="1">
            <a:off x="4699284" y="1905001"/>
            <a:ext cx="1587216" cy="241074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Gerade Verbindung 53"/>
          <p:cNvCxnSpPr/>
          <p:nvPr/>
        </p:nvCxnSpPr>
        <p:spPr bwMode="auto">
          <a:xfrm flipH="1" flipV="1">
            <a:off x="2990105" y="1873896"/>
            <a:ext cx="1717095" cy="265183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Gerade Verbindung 30"/>
          <p:cNvCxnSpPr/>
          <p:nvPr/>
        </p:nvCxnSpPr>
        <p:spPr bwMode="auto">
          <a:xfrm>
            <a:off x="3343275" y="1914525"/>
            <a:ext cx="4191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Gerade Verbindung 64"/>
          <p:cNvCxnSpPr/>
          <p:nvPr/>
        </p:nvCxnSpPr>
        <p:spPr bwMode="auto">
          <a:xfrm>
            <a:off x="5583555" y="1914525"/>
            <a:ext cx="512445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 Verbindung 48"/>
          <p:cNvCxnSpPr/>
          <p:nvPr/>
        </p:nvCxnSpPr>
        <p:spPr bwMode="auto">
          <a:xfrm>
            <a:off x="3762375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Gerade Verbindung 65"/>
          <p:cNvCxnSpPr/>
          <p:nvPr/>
        </p:nvCxnSpPr>
        <p:spPr bwMode="auto">
          <a:xfrm>
            <a:off x="5600700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Rechteck 45"/>
          <p:cNvSpPr/>
          <p:nvPr/>
        </p:nvSpPr>
        <p:spPr bwMode="auto">
          <a:xfrm>
            <a:off x="1447800" y="1616075"/>
            <a:ext cx="1219200" cy="100878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47" name="Abgerundetes Rechteck 46"/>
          <p:cNvSpPr/>
          <p:nvPr/>
        </p:nvSpPr>
        <p:spPr bwMode="auto">
          <a:xfrm>
            <a:off x="1371600" y="1362671"/>
            <a:ext cx="1631758" cy="783193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4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HY_Features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400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cxnSp>
        <p:nvCxnSpPr>
          <p:cNvPr id="52" name="Gerade Verbindung mit Pfeil 51"/>
          <p:cNvCxnSpPr/>
          <p:nvPr/>
        </p:nvCxnSpPr>
        <p:spPr bwMode="auto">
          <a:xfrm flipH="1" flipV="1">
            <a:off x="2971800" y="2305049"/>
            <a:ext cx="571240" cy="66675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55" name="Abgerundetes Rechteck 54"/>
          <p:cNvSpPr/>
          <p:nvPr/>
        </p:nvSpPr>
        <p:spPr bwMode="auto">
          <a:xfrm>
            <a:off x="1371601" y="2160616"/>
            <a:ext cx="1631758" cy="59544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chemeClr val="tx2">
                <a:lumMod val="25000"/>
                <a:lumOff val="75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Property </a:t>
            </a:r>
            <a:r>
              <a:rPr lang="en-GB" sz="1400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(Variable)</a:t>
            </a:r>
            <a:endParaRPr lang="en-GB" sz="1400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286500" y="1616075"/>
            <a:ext cx="1719527" cy="100878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rgbClr val="B2B2B2"/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TimeSeriesML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" name="Abgerundetes Rechteck 4"/>
          <p:cNvSpPr/>
          <p:nvPr/>
        </p:nvSpPr>
        <p:spPr bwMode="auto">
          <a:xfrm>
            <a:off x="65532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dirty="0" smtClean="0">
                <a:solidFill>
                  <a:srgbClr val="000000"/>
                </a:solidFill>
                <a:latin typeface="CG Times" charset="0"/>
                <a:ea typeface="MS PGothic" pitchFamily="34" charset="-128"/>
              </a:rPr>
              <a:t>Requesting Service</a:t>
            </a:r>
            <a:endParaRPr lang="en-GB" sz="14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14478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dirty="0" smtClean="0">
                <a:solidFill>
                  <a:srgbClr val="000000"/>
                </a:solidFill>
                <a:latin typeface="CG Times" charset="0"/>
                <a:ea typeface="MS PGothic" pitchFamily="34" charset="-128"/>
              </a:rPr>
              <a:t>Supplying Service</a:t>
            </a:r>
            <a:endParaRPr lang="en-GB" sz="14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grpSp>
        <p:nvGrpSpPr>
          <p:cNvPr id="59" name="Gruppieren 58"/>
          <p:cNvGrpSpPr/>
          <p:nvPr/>
        </p:nvGrpSpPr>
        <p:grpSpPr>
          <a:xfrm>
            <a:off x="3478209" y="3429000"/>
            <a:ext cx="2404826" cy="1524000"/>
            <a:chOff x="3468684" y="3429000"/>
            <a:chExt cx="2404826" cy="1524000"/>
          </a:xfrm>
        </p:grpSpPr>
        <p:sp>
          <p:nvSpPr>
            <p:cNvPr id="61" name="Rechteck 60"/>
            <p:cNvSpPr/>
            <p:nvPr/>
          </p:nvSpPr>
          <p:spPr>
            <a:xfrm rot="1996562">
              <a:off x="3468684" y="4063500"/>
              <a:ext cx="2404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b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SOS 2.0 Hydrology Profile</a:t>
              </a:r>
            </a:p>
          </p:txBody>
        </p:sp>
        <p:sp>
          <p:nvSpPr>
            <p:cNvPr id="60" name="Abgerundetes Rechteck 59"/>
            <p:cNvSpPr/>
            <p:nvPr/>
          </p:nvSpPr>
          <p:spPr bwMode="auto">
            <a:xfrm>
              <a:off x="3505200" y="3429000"/>
              <a:ext cx="2235769" cy="1524000"/>
            </a:xfrm>
            <a:prstGeom prst="roundRect">
              <a:avLst/>
            </a:prstGeom>
            <a:noFill/>
            <a:ln w="571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sz="1000" b="1" dirty="0">
                <a:solidFill>
                  <a:srgbClr val="000000"/>
                </a:solidFill>
                <a:latin typeface="CG Times" charset="0"/>
                <a:ea typeface="MS PGothic" pitchFamily="34" charset="-128"/>
              </a:endParaRPr>
            </a:p>
          </p:txBody>
        </p:sp>
      </p:grpSp>
      <p:sp>
        <p:nvSpPr>
          <p:cNvPr id="72" name="Textfeld 71"/>
          <p:cNvSpPr txBox="1"/>
          <p:nvPr/>
        </p:nvSpPr>
        <p:spPr>
          <a:xfrm>
            <a:off x="596900" y="5156200"/>
            <a:ext cx="8152516" cy="93980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1050" b="1" dirty="0" smtClean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1050" b="1" dirty="0" smtClean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50" dirty="0" smtClean="0">
                <a:solidFill>
                  <a:srgbClr val="000000"/>
                </a:solidFill>
                <a:latin typeface="CG Times" charset="0"/>
                <a:ea typeface="MS PGothic" pitchFamily="34" charset="-128"/>
              </a:rPr>
              <a:t>NOTE: Blue dashed  lines  denote  the  import  relationship  to  the application  schema  whose  concepts  are  to  </a:t>
            </a:r>
            <a:r>
              <a:rPr lang="en-GB" sz="1050" dirty="0">
                <a:solidFill>
                  <a:srgbClr val="000000"/>
                </a:solidFill>
                <a:latin typeface="CG Times" charset="0"/>
                <a:ea typeface="MS PGothic" pitchFamily="34" charset="-128"/>
              </a:rPr>
              <a:t>be </a:t>
            </a:r>
            <a:r>
              <a:rPr lang="en-GB" sz="1050" dirty="0" smtClean="0">
                <a:solidFill>
                  <a:srgbClr val="000000"/>
                </a:solidFill>
                <a:latin typeface="CG Times" charset="0"/>
                <a:ea typeface="MS PGothic" pitchFamily="34" charset="-128"/>
              </a:rPr>
              <a:t>imported.</a:t>
            </a:r>
          </a:p>
        </p:txBody>
      </p:sp>
      <p:cxnSp>
        <p:nvCxnSpPr>
          <p:cNvPr id="73" name="Gerade Verbindung mit Pfeil 72"/>
          <p:cNvCxnSpPr/>
          <p:nvPr/>
        </p:nvCxnSpPr>
        <p:spPr bwMode="auto">
          <a:xfrm flipV="1">
            <a:off x="4559657" y="2986805"/>
            <a:ext cx="142237" cy="43412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75" name="Gerade Verbindung 74"/>
          <p:cNvCxnSpPr/>
          <p:nvPr/>
        </p:nvCxnSpPr>
        <p:spPr bwMode="auto">
          <a:xfrm>
            <a:off x="2927249" y="455295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Gerade Verbindung mit Pfeil 75"/>
          <p:cNvCxnSpPr/>
          <p:nvPr/>
        </p:nvCxnSpPr>
        <p:spPr bwMode="auto">
          <a:xfrm flipV="1">
            <a:off x="2927249" y="3220988"/>
            <a:ext cx="671996" cy="493761"/>
          </a:xfrm>
          <a:prstGeom prst="straightConnector1">
            <a:avLst/>
          </a:prstGeom>
          <a:noFill/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Gerade Verbindung mit Pfeil 76"/>
          <p:cNvCxnSpPr/>
          <p:nvPr/>
        </p:nvCxnSpPr>
        <p:spPr bwMode="auto">
          <a:xfrm flipH="1" flipV="1">
            <a:off x="5583555" y="3220988"/>
            <a:ext cx="750743" cy="1078315"/>
          </a:xfrm>
          <a:prstGeom prst="straightConnector1">
            <a:avLst/>
          </a:prstGeom>
          <a:noFill/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Gerade Verbindung 73"/>
          <p:cNvCxnSpPr/>
          <p:nvPr/>
        </p:nvCxnSpPr>
        <p:spPr bwMode="auto">
          <a:xfrm>
            <a:off x="5784842" y="383540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8" name="Rechteck 47"/>
          <p:cNvSpPr/>
          <p:nvPr/>
        </p:nvSpPr>
        <p:spPr>
          <a:xfrm>
            <a:off x="3703786" y="1295400"/>
            <a:ext cx="2007363" cy="584775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ISO19109: </a:t>
            </a:r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Rules for application schema.</a:t>
            </a:r>
          </a:p>
        </p:txBody>
      </p:sp>
    </p:spTree>
    <p:extLst>
      <p:ext uri="{BB962C8B-B14F-4D97-AF65-F5344CB8AC3E}">
        <p14:creationId xmlns:p14="http://schemas.microsoft.com/office/powerpoint/2010/main" val="274256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22603" y="991140"/>
            <a:ext cx="8250609" cy="5274721"/>
            <a:chOff x="540965" y="2209800"/>
            <a:chExt cx="8250609" cy="3135325"/>
          </a:xfrm>
        </p:grpSpPr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3034679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b="1" i="1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59328" y="5062984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000" b="1" i="1" dirty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A</a:t>
              </a:r>
              <a:r>
                <a:rPr lang="en-GB" sz="1000" b="1" i="1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pplication level</a:t>
              </a:r>
              <a:endParaRPr lang="en-GB" sz="1000" b="1" i="1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 sz="10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Application schemas conform to ISO 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73817" y="1143000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Hydrology-specific application schemas,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i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u</a:t>
            </a:r>
            <a:r>
              <a:rPr lang="en-GB" sz="16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sing GFM and applying a conceptual schema language </a:t>
            </a:r>
          </a:p>
        </p:txBody>
      </p:sp>
      <p:sp>
        <p:nvSpPr>
          <p:cNvPr id="83" name="Abgerundetes Rechteck 82"/>
          <p:cNvSpPr/>
          <p:nvPr/>
        </p:nvSpPr>
        <p:spPr bwMode="auto">
          <a:xfrm>
            <a:off x="2444083" y="2286920"/>
            <a:ext cx="4485067" cy="3572288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i="1" dirty="0" err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WaterObservation</a:t>
            </a: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endParaRPr lang="en-GB" sz="16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cxnSp>
        <p:nvCxnSpPr>
          <p:cNvPr id="36" name="Gerade Verbindung 35"/>
          <p:cNvCxnSpPr>
            <a:stCxn id="66" idx="2"/>
            <a:endCxn id="83" idx="0"/>
          </p:cNvCxnSpPr>
          <p:nvPr/>
        </p:nvCxnSpPr>
        <p:spPr bwMode="auto">
          <a:xfrm>
            <a:off x="4683710" y="1981199"/>
            <a:ext cx="2907" cy="305721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Gerade Verbindung 40"/>
          <p:cNvCxnSpPr/>
          <p:nvPr/>
        </p:nvCxnSpPr>
        <p:spPr bwMode="auto">
          <a:xfrm>
            <a:off x="1460107" y="2020218"/>
            <a:ext cx="0" cy="1567936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Gerade Verbindung 43"/>
          <p:cNvCxnSpPr/>
          <p:nvPr/>
        </p:nvCxnSpPr>
        <p:spPr bwMode="auto">
          <a:xfrm>
            <a:off x="7835642" y="1981199"/>
            <a:ext cx="0" cy="1474319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2667000" y="3617008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RiverML: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channel geometry </a:t>
            </a: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observation</a:t>
            </a:r>
            <a:endParaRPr lang="en-GB" sz="1000" b="1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36535" y="362268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GWML2: </a:t>
            </a: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groundwater</a:t>
            </a: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 observation</a:t>
            </a:r>
            <a:endParaRPr lang="en-GB" sz="1000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0" name="File"/>
          <p:cNvSpPr>
            <a:spLocks noEditPoints="1" noChangeArrowheads="1"/>
          </p:cNvSpPr>
          <p:nvPr/>
        </p:nvSpPr>
        <p:spPr bwMode="auto">
          <a:xfrm>
            <a:off x="2667000" y="4700882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“SoilML”: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 component ?</a:t>
            </a:r>
            <a:endParaRPr lang="en-GB" sz="1000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1" name="File"/>
          <p:cNvSpPr>
            <a:spLocks noEditPoints="1" noChangeArrowheads="1"/>
          </p:cNvSpPr>
          <p:nvPr/>
        </p:nvSpPr>
        <p:spPr bwMode="auto">
          <a:xfrm>
            <a:off x="4036535" y="4706563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CSML3: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</a:t>
            </a: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component ?</a:t>
            </a:r>
            <a:endParaRPr lang="en-GB" sz="1000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2" name="File"/>
          <p:cNvSpPr>
            <a:spLocks noEditPoints="1" noChangeArrowheads="1"/>
          </p:cNvSpPr>
          <p:nvPr/>
        </p:nvSpPr>
        <p:spPr bwMode="auto">
          <a:xfrm>
            <a:off x="5399181" y="4724963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Forecasting observation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CG Times" charset="0"/>
                <a:ea typeface="MS PGothic" pitchFamily="34" charset="-128"/>
              </a:rPr>
              <a:t>(re-initiated ?)</a:t>
            </a:r>
            <a:endParaRPr lang="en-GB" sz="1000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grpSp>
        <p:nvGrpSpPr>
          <p:cNvPr id="54" name="Gruppieren 53"/>
          <p:cNvGrpSpPr/>
          <p:nvPr/>
        </p:nvGrpSpPr>
        <p:grpSpPr>
          <a:xfrm>
            <a:off x="5410200" y="3600369"/>
            <a:ext cx="1222185" cy="1018477"/>
            <a:chOff x="5528401" y="3523250"/>
            <a:chExt cx="1222185" cy="1018477"/>
          </a:xfrm>
        </p:grpSpPr>
        <p:sp>
          <p:nvSpPr>
            <p:cNvPr id="38" name="File"/>
            <p:cNvSpPr>
              <a:spLocks noEditPoints="1" noChangeArrowheads="1"/>
            </p:cNvSpPr>
            <p:nvPr/>
          </p:nvSpPr>
          <p:spPr bwMode="auto">
            <a:xfrm>
              <a:off x="5528401" y="3523250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…..</a:t>
              </a:r>
              <a:endPara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  <p:sp>
          <p:nvSpPr>
            <p:cNvPr id="62" name="File"/>
            <p:cNvSpPr>
              <a:spLocks noEditPoints="1" noChangeArrowheads="1"/>
            </p:cNvSpPr>
            <p:nvPr/>
          </p:nvSpPr>
          <p:spPr bwMode="auto">
            <a:xfrm>
              <a:off x="6206168" y="3523250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…..</a:t>
              </a:r>
              <a:endPara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  <p:sp>
          <p:nvSpPr>
            <p:cNvPr id="63" name="File"/>
            <p:cNvSpPr>
              <a:spLocks noEditPoints="1" noChangeArrowheads="1"/>
            </p:cNvSpPr>
            <p:nvPr/>
          </p:nvSpPr>
          <p:spPr bwMode="auto">
            <a:xfrm>
              <a:off x="5528401" y="4054809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…..</a:t>
              </a:r>
              <a:endPara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  <p:sp>
          <p:nvSpPr>
            <p:cNvPr id="65" name="File"/>
            <p:cNvSpPr>
              <a:spLocks noEditPoints="1" noChangeArrowheads="1"/>
            </p:cNvSpPr>
            <p:nvPr/>
          </p:nvSpPr>
          <p:spPr bwMode="auto">
            <a:xfrm>
              <a:off x="6206168" y="4054809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2060"/>
                  </a:solidFill>
                  <a:latin typeface="CG Times" charset="0"/>
                  <a:ea typeface="MS PGothic" pitchFamily="34" charset="-128"/>
                </a:rPr>
                <a:t>…..</a:t>
              </a:r>
              <a:endPara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endParaRPr>
            </a:p>
          </p:txBody>
        </p:sp>
      </p:grp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2667000" y="251551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chemeClr val="tx2"/>
                </a:solidFill>
                <a:latin typeface="CG Times" charset="0"/>
                <a:ea typeface="MS PGothic" pitchFamily="34" charset="-128"/>
              </a:rPr>
              <a:t>WML2P1: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chemeClr val="tx2"/>
                </a:solidFill>
                <a:latin typeface="CG Times" charset="0"/>
                <a:ea typeface="MS PGothic" pitchFamily="34" charset="-128"/>
              </a:rPr>
              <a:t>Water Quantity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</a:t>
            </a:r>
            <a:r>
              <a:rPr lang="en-GB" sz="10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OGC10-126rX)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036535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WML2P2: Gauging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</a:t>
            </a: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OGC13-021rX)</a:t>
            </a:r>
            <a:endParaRPr lang="en-GB" sz="1000" b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5399181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WML2P3:</a:t>
            </a:r>
            <a:b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</a:b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 Quality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</a:t>
            </a:r>
            <a:r>
              <a:rPr lang="en-GB" sz="10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OGC14-003rX)</a:t>
            </a:r>
            <a:endParaRPr lang="en-GB" sz="1000" b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3" name="Abgerundetes Rechteck 52"/>
          <p:cNvSpPr/>
          <p:nvPr/>
        </p:nvSpPr>
        <p:spPr bwMode="auto">
          <a:xfrm>
            <a:off x="7124701" y="3493200"/>
            <a:ext cx="1468901" cy="131167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ISO19123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b="1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5" name="File"/>
          <p:cNvSpPr>
            <a:spLocks noEditPoints="1" noChangeArrowheads="1"/>
          </p:cNvSpPr>
          <p:nvPr/>
        </p:nvSpPr>
        <p:spPr bwMode="auto">
          <a:xfrm>
            <a:off x="7239000" y="3676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36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i="1" dirty="0" err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TimeSeriesML</a:t>
            </a:r>
            <a:endParaRPr lang="en-GB" sz="1200" b="1" i="1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200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(under development)</a:t>
            </a:r>
            <a:endParaRPr lang="en-GB" sz="1200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56" name="File"/>
          <p:cNvSpPr>
            <a:spLocks noEditPoints="1" noChangeArrowheads="1"/>
          </p:cNvSpPr>
          <p:nvPr/>
        </p:nvSpPr>
        <p:spPr bwMode="auto">
          <a:xfrm>
            <a:off x="764897" y="3298715"/>
            <a:ext cx="1429953" cy="120978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3DBF9"/>
          </a:solidFill>
          <a:ln w="9525">
            <a:solidFill>
              <a:schemeClr val="accent4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HY_Features</a:t>
            </a:r>
            <a:r>
              <a:rPr lang="en-GB" sz="12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, common hydrol. feature model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(OGC11-039r3)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200" b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0" name="Pfeil nach unten 29"/>
          <p:cNvSpPr/>
          <p:nvPr/>
        </p:nvSpPr>
        <p:spPr bwMode="auto">
          <a:xfrm rot="13964207">
            <a:off x="6747480" y="4595868"/>
            <a:ext cx="402564" cy="304800"/>
          </a:xfrm>
          <a:prstGeom prst="downArrow">
            <a:avLst/>
          </a:prstGeom>
          <a:solidFill>
            <a:srgbClr val="FFCCCC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1" name="Pfeil nach unten 30"/>
          <p:cNvSpPr/>
          <p:nvPr/>
        </p:nvSpPr>
        <p:spPr bwMode="auto">
          <a:xfrm rot="7746293">
            <a:off x="2253737" y="4597259"/>
            <a:ext cx="402564" cy="304800"/>
          </a:xfrm>
          <a:prstGeom prst="downArrow">
            <a:avLst/>
          </a:prstGeom>
          <a:solidFill>
            <a:srgbClr val="FFCCCC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2" name="Abgerundetes Rechteck 31"/>
          <p:cNvSpPr/>
          <p:nvPr/>
        </p:nvSpPr>
        <p:spPr bwMode="auto">
          <a:xfrm>
            <a:off x="773817" y="4561196"/>
            <a:ext cx="1421033" cy="607425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chemeClr val="tx2">
                <a:lumMod val="25000"/>
                <a:lumOff val="75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400" b="1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Property </a:t>
            </a:r>
            <a:r>
              <a:rPr lang="en-GB" sz="1400" i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(Variable)</a:t>
            </a:r>
            <a:endParaRPr lang="en-GB" sz="1400" i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96495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Suite of Water Information Standards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14400" y="1472148"/>
            <a:ext cx="7848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W</a:t>
            </a:r>
            <a:r>
              <a:rPr lang="en-US" altLang="en-US" sz="2000" b="1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hat do we hope to get from the water </a:t>
            </a:r>
            <a:r>
              <a:rPr lang="en-US" altLang="en-US" sz="2000" b="1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suite of standards ?</a:t>
            </a:r>
            <a:endParaRPr lang="en-GB" sz="2000" b="1" dirty="0" smtClean="0">
              <a:solidFill>
                <a:srgbClr val="092E5C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2000" b="1" dirty="0">
              <a:solidFill>
                <a:srgbClr val="092E5C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000" b="1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D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-Suite </a:t>
            </a:r>
            <a:r>
              <a:rPr lang="en-GB" sz="2000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(Data): Tools and services for the exchange of hydrologic data using Web services 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(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  <a:sym typeface="Wingdings" panose="05000000000000000000" pitchFamily="2" charset="2"/>
              </a:rPr>
              <a:t>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 </a:t>
            </a:r>
            <a:r>
              <a:rPr lang="en-GB" sz="2000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technical 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interoperability)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2000" b="1" dirty="0" smtClean="0">
              <a:solidFill>
                <a:srgbClr val="092E5C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000" b="1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F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-Suite </a:t>
            </a:r>
            <a:r>
              <a:rPr lang="en-GB" sz="2000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(Features): Tools and services for referencing hydrologic features, for the “mapping” of semantic concepts to preserve context and meaning across applications and domains 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(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  <a:sym typeface="Wingdings" panose="05000000000000000000" pitchFamily="2" charset="2"/>
              </a:rPr>
              <a:t> 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mediation</a:t>
            </a:r>
            <a:r>
              <a:rPr lang="en-GB" sz="2000" dirty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92E5C"/>
              </a:solidFill>
              <a:latin typeface="CG Times" charset="0"/>
              <a:ea typeface="MS PGothic" pitchFamily="34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000" b="1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G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-Suite (Geographic Water Information): Tools and services to share water-related geographic information using Web services    (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  <a:sym typeface="Wingdings" panose="05000000000000000000" pitchFamily="2" charset="2"/>
              </a:rPr>
              <a:t></a:t>
            </a:r>
            <a:r>
              <a:rPr lang="en-GB" sz="2000" dirty="0" smtClean="0">
                <a:solidFill>
                  <a:srgbClr val="092E5C"/>
                </a:solidFill>
                <a:latin typeface="CG Times" charset="0"/>
                <a:ea typeface="MS PGothic" pitchFamily="34" charset="-128"/>
              </a:rPr>
              <a:t> semantic interoperability)</a:t>
            </a:r>
          </a:p>
        </p:txBody>
      </p:sp>
    </p:spTree>
    <p:extLst>
      <p:ext uri="{BB962C8B-B14F-4D97-AF65-F5344CB8AC3E}">
        <p14:creationId xmlns:p14="http://schemas.microsoft.com/office/powerpoint/2010/main" val="1322843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lipse 40"/>
          <p:cNvSpPr/>
          <p:nvPr/>
        </p:nvSpPr>
        <p:spPr bwMode="auto">
          <a:xfrm>
            <a:off x="934404" y="1573378"/>
            <a:ext cx="7285351" cy="47246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19" y="136525"/>
            <a:ext cx="8582925" cy="685800"/>
          </a:xfrm>
        </p:spPr>
        <p:txBody>
          <a:bodyPr/>
          <a:lstStyle/>
          <a:p>
            <a:r>
              <a:rPr lang="en-GB" sz="2800" dirty="0" smtClean="0"/>
              <a:t>Suite of Water Information Standards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471775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12" name="File"/>
          <p:cNvSpPr>
            <a:spLocks noEditPoints="1" noChangeArrowheads="1"/>
          </p:cNvSpPr>
          <p:nvPr/>
        </p:nvSpPr>
        <p:spPr bwMode="auto">
          <a:xfrm>
            <a:off x="7388622" y="4051490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solidFill>
                  <a:schemeClr val="tx2"/>
                </a:solidFill>
              </a:rPr>
              <a:t>WaterML2Part5: </a:t>
            </a:r>
            <a:r>
              <a:rPr lang="en-US" sz="1100" b="1" dirty="0" smtClean="0">
                <a:solidFill>
                  <a:schemeClr val="tx2"/>
                </a:solidFill>
              </a:rPr>
              <a:t>River Channel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solidFill>
                  <a:schemeClr val="tx2"/>
                </a:solidFill>
              </a:rPr>
              <a:t>(</a:t>
            </a:r>
            <a:r>
              <a:rPr lang="en-US" sz="1100" dirty="0" err="1" smtClean="0">
                <a:solidFill>
                  <a:schemeClr val="tx2"/>
                </a:solidFill>
              </a:rPr>
              <a:t>RiverML</a:t>
            </a:r>
            <a:r>
              <a:rPr lang="en-US" sz="1100" dirty="0" smtClean="0">
                <a:solidFill>
                  <a:schemeClr val="tx2"/>
                </a:solidFill>
              </a:rPr>
              <a:t>, under development)</a:t>
            </a:r>
            <a:r>
              <a:rPr lang="en-AU" sz="1100" dirty="0" smtClean="0">
                <a:solidFill>
                  <a:schemeClr val="tx2"/>
                </a:solidFill>
              </a:rPr>
              <a:t> </a:t>
            </a:r>
            <a:endParaRPr lang="en-GB" sz="1100" dirty="0">
              <a:solidFill>
                <a:schemeClr val="tx2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1607359" y="173110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WaterML2Part1</a:t>
            </a: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b="1" dirty="0">
                <a:solidFill>
                  <a:schemeClr val="tx2"/>
                </a:solidFill>
                <a:latin typeface="CG Times" charset="0"/>
                <a:ea typeface="MS PGothic" pitchFamily="34" charset="-128"/>
              </a:rPr>
              <a:t>Water Quantity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(OGC10-126r4)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19" name="File"/>
          <p:cNvSpPr>
            <a:spLocks noEditPoints="1" noChangeArrowheads="1"/>
          </p:cNvSpPr>
          <p:nvPr/>
        </p:nvSpPr>
        <p:spPr bwMode="auto">
          <a:xfrm>
            <a:off x="3547924" y="1199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WaterML2Part2</a:t>
            </a:r>
            <a:r>
              <a: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</a:t>
            </a: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Gauging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(OGC13-021rX)</a:t>
            </a:r>
          </a:p>
        </p:txBody>
      </p:sp>
      <p:sp>
        <p:nvSpPr>
          <p:cNvPr id="20" name="File"/>
          <p:cNvSpPr>
            <a:spLocks noEditPoints="1" noChangeArrowheads="1"/>
          </p:cNvSpPr>
          <p:nvPr/>
        </p:nvSpPr>
        <p:spPr bwMode="auto">
          <a:xfrm>
            <a:off x="5579817" y="133158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WaterML2Part3</a:t>
            </a: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</a:t>
            </a:r>
            <a:b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</a:b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 Quality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(OGC14-003rX</a:t>
            </a: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)</a:t>
            </a:r>
          </a:p>
        </p:txBody>
      </p:sp>
      <p:sp>
        <p:nvSpPr>
          <p:cNvPr id="21" name="File"/>
          <p:cNvSpPr>
            <a:spLocks noEditPoints="1" noChangeArrowheads="1"/>
          </p:cNvSpPr>
          <p:nvPr/>
        </p:nvSpPr>
        <p:spPr bwMode="auto">
          <a:xfrm>
            <a:off x="5579816" y="5063908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CSML3:</a:t>
            </a:r>
          </a:p>
          <a:p>
            <a:pPr algn="ctr"/>
            <a:r>
              <a:rPr lang="en-GB" sz="1100" b="1" dirty="0" smtClean="0">
                <a:solidFill>
                  <a:srgbClr val="002060"/>
                </a:solidFill>
              </a:rPr>
              <a:t>Atmospheric-water</a:t>
            </a:r>
            <a:r>
              <a:rPr lang="en-GB" sz="11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component </a:t>
            </a:r>
            <a:endParaRPr lang="en-GB" sz="1100" b="1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8" name="File"/>
          <p:cNvSpPr>
            <a:spLocks noEditPoints="1" noChangeArrowheads="1"/>
          </p:cNvSpPr>
          <p:nvPr/>
        </p:nvSpPr>
        <p:spPr bwMode="auto">
          <a:xfrm>
            <a:off x="3547923" y="519479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err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SoilML</a:t>
            </a: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b="1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Soil-water</a:t>
            </a: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</a:t>
            </a:r>
            <a:r>
              <a: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component </a:t>
            </a: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</a:t>
            </a:r>
          </a:p>
        </p:txBody>
      </p:sp>
      <p:sp>
        <p:nvSpPr>
          <p:cNvPr id="29" name="File"/>
          <p:cNvSpPr>
            <a:spLocks noEditPoints="1" noChangeArrowheads="1"/>
          </p:cNvSpPr>
          <p:nvPr/>
        </p:nvSpPr>
        <p:spPr bwMode="auto">
          <a:xfrm>
            <a:off x="1607359" y="4698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 smtClean="0">
                <a:solidFill>
                  <a:schemeClr val="tx2"/>
                </a:solidFill>
              </a:rPr>
              <a:t>WaterML2Part4: </a:t>
            </a:r>
            <a:r>
              <a:rPr lang="en-US" sz="1100" b="1" dirty="0" smtClean="0">
                <a:solidFill>
                  <a:schemeClr val="tx2"/>
                </a:solidFill>
              </a:rPr>
              <a:t>Groundwater</a:t>
            </a:r>
            <a:r>
              <a:rPr lang="en-US" sz="1100" dirty="0" smtClean="0">
                <a:solidFill>
                  <a:schemeClr val="tx2"/>
                </a:solidFill>
              </a:rPr>
              <a:t> </a:t>
            </a:r>
            <a:endParaRPr lang="en-AU" sz="11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(</a:t>
            </a:r>
            <a:r>
              <a:rPr lang="en-US" sz="1100" dirty="0" smtClean="0">
                <a:solidFill>
                  <a:schemeClr val="tx2"/>
                </a:solidFill>
              </a:rPr>
              <a:t>GWML2, under development</a:t>
            </a:r>
            <a:r>
              <a:rPr lang="en-AU" sz="1100" dirty="0" smtClean="0">
                <a:solidFill>
                  <a:schemeClr val="tx2"/>
                </a:solidFill>
              </a:rPr>
              <a:t>)</a:t>
            </a:r>
            <a:endParaRPr lang="en-GB" sz="1100" dirty="0">
              <a:solidFill>
                <a:schemeClr val="tx2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7388622" y="24205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100" dirty="0" smtClean="0">
              <a:solidFill>
                <a:srgbClr val="002060"/>
              </a:solidFill>
            </a:endParaRPr>
          </a:p>
          <a:p>
            <a:pPr algn="ctr"/>
            <a:r>
              <a:rPr lang="en-GB" sz="1100" b="1" dirty="0" err="1" smtClean="0">
                <a:solidFill>
                  <a:srgbClr val="002060"/>
                </a:solidFill>
              </a:rPr>
              <a:t>TimeSeriesML</a:t>
            </a:r>
            <a:r>
              <a:rPr lang="en-GB" sz="1100" b="1" dirty="0" smtClean="0">
                <a:solidFill>
                  <a:srgbClr val="002060"/>
                </a:solidFill>
              </a:rPr>
              <a:t> </a:t>
            </a:r>
            <a:r>
              <a:rPr lang="en-GB" sz="1100" dirty="0" smtClean="0">
                <a:solidFill>
                  <a:srgbClr val="002060"/>
                </a:solidFill>
              </a:rPr>
              <a:t>(under development)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885696" y="3177529"/>
            <a:ext cx="5453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u="sng" dirty="0" smtClean="0">
                <a:solidFill>
                  <a:srgbClr val="002060"/>
                </a:solidFill>
              </a:rPr>
              <a:t>Suite </a:t>
            </a:r>
            <a:r>
              <a:rPr lang="de-DE" sz="2400" u="sng" dirty="0" err="1" smtClean="0">
                <a:solidFill>
                  <a:srgbClr val="002060"/>
                </a:solidFill>
              </a:rPr>
              <a:t>of</a:t>
            </a:r>
            <a:r>
              <a:rPr lang="de-DE" sz="2400" u="sng" dirty="0" smtClean="0">
                <a:solidFill>
                  <a:srgbClr val="002060"/>
                </a:solidFill>
              </a:rPr>
              <a:t> </a:t>
            </a:r>
            <a:r>
              <a:rPr lang="de-DE" sz="2400" u="sng" dirty="0" err="1" smtClean="0">
                <a:solidFill>
                  <a:srgbClr val="002060"/>
                </a:solidFill>
              </a:rPr>
              <a:t>Water</a:t>
            </a:r>
            <a:r>
              <a:rPr lang="de-DE" sz="2400" u="sng" dirty="0" smtClean="0">
                <a:solidFill>
                  <a:srgbClr val="002060"/>
                </a:solidFill>
              </a:rPr>
              <a:t> Information Standards</a:t>
            </a:r>
            <a:r>
              <a:rPr lang="de-DE" sz="2400" dirty="0" smtClean="0">
                <a:solidFill>
                  <a:srgbClr val="002060"/>
                </a:solidFill>
              </a:rPr>
              <a:t>: </a:t>
            </a:r>
            <a:r>
              <a:rPr lang="de-DE" sz="2400" dirty="0" err="1" smtClean="0">
                <a:solidFill>
                  <a:srgbClr val="002060"/>
                </a:solidFill>
              </a:rPr>
              <a:t>towards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the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identification</a:t>
            </a:r>
            <a:r>
              <a:rPr lang="de-DE" sz="2400" dirty="0" smtClean="0">
                <a:solidFill>
                  <a:srgbClr val="002060"/>
                </a:solidFill>
              </a:rPr>
              <a:t>, </a:t>
            </a:r>
            <a:r>
              <a:rPr lang="de-DE" sz="2400" dirty="0" err="1" smtClean="0">
                <a:solidFill>
                  <a:srgbClr val="002060"/>
                </a:solidFill>
              </a:rPr>
              <a:t>observation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and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representation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of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hydrologic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features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using</a:t>
            </a:r>
            <a:r>
              <a:rPr lang="de-DE" sz="2400" dirty="0" smtClean="0">
                <a:solidFill>
                  <a:srgbClr val="002060"/>
                </a:solidFill>
              </a:rPr>
              <a:t> </a:t>
            </a:r>
            <a:r>
              <a:rPr lang="de-DE" sz="2400" dirty="0" err="1" smtClean="0">
                <a:solidFill>
                  <a:srgbClr val="002060"/>
                </a:solidFill>
              </a:rPr>
              <a:t>standards</a:t>
            </a:r>
            <a:endParaRPr lang="en-US" sz="2400" dirty="0" err="1" smtClean="0">
              <a:solidFill>
                <a:srgbClr val="002060"/>
              </a:solidFill>
            </a:endParaRPr>
          </a:p>
        </p:txBody>
      </p:sp>
      <p:sp>
        <p:nvSpPr>
          <p:cNvPr id="33" name="File"/>
          <p:cNvSpPr>
            <a:spLocks noEditPoints="1" noChangeArrowheads="1"/>
          </p:cNvSpPr>
          <p:nvPr/>
        </p:nvSpPr>
        <p:spPr bwMode="auto">
          <a:xfrm>
            <a:off x="388219" y="32193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1" dirty="0" err="1" smtClean="0">
                <a:solidFill>
                  <a:srgbClr val="002060"/>
                </a:solidFill>
              </a:rPr>
              <a:t>HY_Features</a:t>
            </a:r>
            <a:r>
              <a:rPr lang="en-GB" sz="1100" b="1" dirty="0" smtClean="0">
                <a:solidFill>
                  <a:srgbClr val="002060"/>
                </a:solidFill>
              </a:rPr>
              <a:t>, </a:t>
            </a:r>
            <a:r>
              <a:rPr lang="en-GB" sz="1100" dirty="0" smtClean="0">
                <a:solidFill>
                  <a:srgbClr val="002060"/>
                </a:solidFill>
              </a:rPr>
              <a:t>common hydrologic  feature model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 </a:t>
            </a:r>
            <a:r>
              <a:rPr lang="en-US" sz="1100" dirty="0">
                <a:solidFill>
                  <a:schemeClr val="tx2"/>
                </a:solidFill>
              </a:rPr>
              <a:t>(</a:t>
            </a:r>
            <a:r>
              <a:rPr lang="en-US" sz="1100" dirty="0" smtClean="0">
                <a:solidFill>
                  <a:schemeClr val="tx2"/>
                </a:solidFill>
              </a:rPr>
              <a:t>OGC11-039r3</a:t>
            </a:r>
            <a:r>
              <a:rPr lang="en-US" sz="1100" dirty="0" smtClean="0"/>
              <a:t>)</a:t>
            </a:r>
            <a:endParaRPr lang="en-GB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906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 Are </a:t>
            </a:r>
            <a:r>
              <a:rPr lang="de-DE" dirty="0" err="1" smtClean="0"/>
              <a:t>there</a:t>
            </a:r>
            <a:r>
              <a:rPr lang="de-DE" dirty="0" smtClean="0"/>
              <a:t> </a:t>
            </a:r>
            <a:r>
              <a:rPr lang="de-DE" dirty="0" err="1" smtClean="0"/>
              <a:t>common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cases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D, F, G ?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672439" y="1310640"/>
            <a:ext cx="824296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/>
              <a:t>Data-Suite:</a:t>
            </a:r>
          </a:p>
          <a:p>
            <a:endParaRPr lang="de-DE" sz="2000" dirty="0" smtClean="0"/>
          </a:p>
          <a:p>
            <a:endParaRPr lang="de-DE" sz="2000" dirty="0"/>
          </a:p>
          <a:p>
            <a:endParaRPr lang="de-DE" sz="2000" dirty="0" smtClean="0"/>
          </a:p>
          <a:p>
            <a:r>
              <a:rPr lang="de-DE" sz="2000" dirty="0" smtClean="0"/>
              <a:t>Feature-Suite:</a:t>
            </a:r>
          </a:p>
          <a:p>
            <a:endParaRPr lang="de-DE" sz="2000" dirty="0" smtClean="0"/>
          </a:p>
          <a:p>
            <a:endParaRPr lang="de-DE" sz="2000" dirty="0"/>
          </a:p>
          <a:p>
            <a:endParaRPr lang="de-DE" sz="2000" dirty="0" smtClean="0"/>
          </a:p>
          <a:p>
            <a:r>
              <a:rPr lang="de-DE" sz="2000" dirty="0"/>
              <a:t>G</a:t>
            </a:r>
            <a:r>
              <a:rPr lang="de-DE" sz="2000" dirty="0" smtClean="0"/>
              <a:t>-Suite: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err="1" smtClean="0"/>
          </a:p>
        </p:txBody>
      </p:sp>
    </p:spTree>
    <p:extLst>
      <p:ext uri="{BB962C8B-B14F-4D97-AF65-F5344CB8AC3E}">
        <p14:creationId xmlns:p14="http://schemas.microsoft.com/office/powerpoint/2010/main" val="3934987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Possible</a:t>
            </a:r>
            <a:r>
              <a:rPr lang="de-DE" dirty="0" smtClean="0"/>
              <a:t> </a:t>
            </a:r>
            <a:r>
              <a:rPr lang="de-DE" dirty="0" err="1" smtClean="0"/>
              <a:t>common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cases</a:t>
            </a:r>
            <a:r>
              <a:rPr lang="de-DE" dirty="0" smtClean="0"/>
              <a:t> ?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672439" y="1310640"/>
            <a:ext cx="82429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/>
              <a:t>Data-Suite: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SOS2.0 </a:t>
            </a:r>
            <a:r>
              <a:rPr lang="de-DE" sz="2000" dirty="0" err="1" smtClean="0"/>
              <a:t>Hydro</a:t>
            </a:r>
            <a:r>
              <a:rPr lang="de-DE" sz="2000" dirty="0" smtClean="0"/>
              <a:t> Profil (UC: ………………….)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 smtClean="0"/>
              <a:t>Convert</a:t>
            </a:r>
            <a:r>
              <a:rPr lang="de-DE" sz="2000" dirty="0" smtClean="0"/>
              <a:t> Waterml2-exports </a:t>
            </a:r>
            <a:r>
              <a:rPr lang="de-DE" sz="2000" dirty="0" err="1" smtClean="0"/>
              <a:t>into</a:t>
            </a:r>
            <a:r>
              <a:rPr lang="de-DE" sz="2000" dirty="0" smtClean="0"/>
              <a:t> </a:t>
            </a:r>
            <a:r>
              <a:rPr lang="de-DE" sz="2000" dirty="0" err="1" smtClean="0"/>
              <a:t>netCDF</a:t>
            </a:r>
            <a:r>
              <a:rPr lang="de-DE" sz="2000" dirty="0" smtClean="0"/>
              <a:t> (UC: ………………….)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 smtClean="0"/>
              <a:t>Convert</a:t>
            </a:r>
            <a:r>
              <a:rPr lang="de-DE" sz="2000" dirty="0" smtClean="0"/>
              <a:t> waterML2-exports </a:t>
            </a:r>
            <a:r>
              <a:rPr lang="de-DE" sz="2000" dirty="0" err="1" smtClean="0"/>
              <a:t>into</a:t>
            </a:r>
            <a:r>
              <a:rPr lang="de-DE" sz="2000" dirty="0" smtClean="0"/>
              <a:t> JSON (UC: ………………….)</a:t>
            </a:r>
          </a:p>
          <a:p>
            <a:endParaRPr lang="de-DE" sz="2000" dirty="0" smtClean="0"/>
          </a:p>
          <a:p>
            <a:r>
              <a:rPr lang="de-DE" sz="2000" dirty="0" smtClean="0"/>
              <a:t>Feature-Suite: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F</a:t>
            </a:r>
            <a:r>
              <a:rPr lang="de-DE" sz="2000" dirty="0" smtClean="0"/>
              <a:t>ormal </a:t>
            </a:r>
            <a:r>
              <a:rPr lang="de-DE" sz="2000" dirty="0" err="1" smtClean="0"/>
              <a:t>mapping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r>
              <a:rPr lang="de-DE" sz="2000" dirty="0" err="1" smtClean="0"/>
              <a:t>information</a:t>
            </a:r>
            <a:r>
              <a:rPr lang="de-DE" sz="2000" dirty="0" smtClean="0"/>
              <a:t> </a:t>
            </a:r>
            <a:r>
              <a:rPr lang="de-DE" sz="2000" dirty="0" err="1" smtClean="0"/>
              <a:t>models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„</a:t>
            </a:r>
            <a:r>
              <a:rPr lang="de-DE" sz="2000" dirty="0" err="1" smtClean="0"/>
              <a:t>WaterMLs</a:t>
            </a:r>
            <a:r>
              <a:rPr lang="de-DE" sz="2000" dirty="0" smtClean="0"/>
              <a:t>“ </a:t>
            </a:r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HY_Features</a:t>
            </a:r>
            <a:r>
              <a:rPr lang="de-DE" sz="2000" dirty="0" smtClean="0"/>
              <a:t> </a:t>
            </a:r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assist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r>
              <a:rPr lang="de-DE" sz="2000" dirty="0" err="1" smtClean="0"/>
              <a:t>generation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/>
              <a:t>resolvable</a:t>
            </a:r>
            <a:r>
              <a:rPr lang="de-DE" sz="2000" dirty="0" smtClean="0"/>
              <a:t> </a:t>
            </a:r>
            <a:r>
              <a:rPr lang="de-DE" sz="2000" dirty="0" err="1" smtClean="0"/>
              <a:t>uris</a:t>
            </a:r>
            <a:endParaRPr lang="de-DE" sz="2000" dirty="0" smtClean="0"/>
          </a:p>
          <a:p>
            <a:r>
              <a:rPr lang="de-DE" sz="2000" dirty="0" smtClean="0"/>
              <a:t>	(UC: </a:t>
            </a:r>
            <a:r>
              <a:rPr lang="de-DE" sz="2000" dirty="0" err="1" smtClean="0"/>
              <a:t>continue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Mediation UC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OWS10)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Mapping </a:t>
            </a:r>
            <a:r>
              <a:rPr lang="de-DE" sz="2000" dirty="0" err="1" smtClean="0"/>
              <a:t>of</a:t>
            </a:r>
            <a:r>
              <a:rPr lang="de-DE" sz="2000" dirty="0" smtClean="0"/>
              <a:t> „</a:t>
            </a:r>
            <a:r>
              <a:rPr lang="de-DE" sz="2000" dirty="0" err="1" smtClean="0"/>
              <a:t>WaterMLs</a:t>
            </a:r>
            <a:r>
              <a:rPr lang="de-DE" sz="2000" dirty="0" smtClean="0"/>
              <a:t>“ </a:t>
            </a:r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r>
              <a:rPr lang="de-DE" sz="2000" dirty="0" err="1" smtClean="0"/>
              <a:t>TimeseriesML</a:t>
            </a:r>
            <a:endParaRPr lang="de-DE" sz="2000" dirty="0" smtClean="0"/>
          </a:p>
          <a:p>
            <a:endParaRPr lang="de-DE" sz="2000" dirty="0" smtClean="0"/>
          </a:p>
          <a:p>
            <a:r>
              <a:rPr lang="de-DE" sz="2000" dirty="0"/>
              <a:t>G</a:t>
            </a:r>
            <a:r>
              <a:rPr lang="de-DE" sz="2000" dirty="0" smtClean="0"/>
              <a:t>-Suite: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Feature type </a:t>
            </a:r>
            <a:r>
              <a:rPr lang="de-DE" sz="2000" dirty="0" err="1"/>
              <a:t>c</a:t>
            </a:r>
            <a:r>
              <a:rPr lang="de-DE" sz="2000" dirty="0" err="1" smtClean="0"/>
              <a:t>atalogues</a:t>
            </a:r>
            <a:r>
              <a:rPr lang="de-DE" sz="2000" dirty="0" smtClean="0"/>
              <a:t> / </a:t>
            </a:r>
            <a:r>
              <a:rPr lang="de-DE" sz="2000" dirty="0" err="1" smtClean="0"/>
              <a:t>hydro</a:t>
            </a:r>
            <a:r>
              <a:rPr lang="de-DE" sz="2000" dirty="0" smtClean="0"/>
              <a:t> </a:t>
            </a:r>
            <a:r>
              <a:rPr lang="de-DE" sz="2000" dirty="0" err="1" smtClean="0"/>
              <a:t>ontology</a:t>
            </a:r>
            <a:r>
              <a:rPr lang="de-DE" sz="2000" dirty="0" smtClean="0"/>
              <a:t> </a:t>
            </a:r>
            <a:r>
              <a:rPr lang="de-DE" sz="2000" dirty="0" err="1" smtClean="0"/>
              <a:t>based</a:t>
            </a:r>
            <a:r>
              <a:rPr lang="de-DE" sz="2000" dirty="0" smtClean="0"/>
              <a:t> on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r>
              <a:rPr lang="de-DE" sz="2000" dirty="0" err="1" smtClean="0"/>
              <a:t>HY_Features</a:t>
            </a:r>
            <a:r>
              <a:rPr lang="de-DE" sz="2000" dirty="0" smtClean="0"/>
              <a:t> </a:t>
            </a:r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assist</a:t>
            </a:r>
            <a:r>
              <a:rPr lang="de-DE" sz="2000" dirty="0" smtClean="0"/>
              <a:t> </a:t>
            </a:r>
            <a:r>
              <a:rPr lang="de-DE" sz="2000" dirty="0" err="1" smtClean="0"/>
              <a:t>model</a:t>
            </a:r>
            <a:r>
              <a:rPr lang="de-DE" sz="2000" dirty="0" smtClean="0"/>
              <a:t> </a:t>
            </a:r>
            <a:r>
              <a:rPr lang="de-DE" sz="2000" dirty="0" err="1" smtClean="0"/>
              <a:t>mapping</a:t>
            </a:r>
            <a:endParaRPr lang="de-DE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 smtClean="0"/>
              <a:t>Linked</a:t>
            </a:r>
            <a:r>
              <a:rPr lang="de-DE" sz="2000" dirty="0" smtClean="0"/>
              <a:t> Data, </a:t>
            </a:r>
            <a:r>
              <a:rPr lang="de-DE" sz="2000" dirty="0" err="1" smtClean="0"/>
              <a:t>Referencing</a:t>
            </a:r>
            <a:r>
              <a:rPr lang="de-DE" sz="2000" dirty="0" smtClean="0"/>
              <a:t> </a:t>
            </a:r>
            <a:r>
              <a:rPr lang="de-DE" sz="2000" dirty="0" err="1" smtClean="0"/>
              <a:t>hydrologic</a:t>
            </a:r>
            <a:r>
              <a:rPr lang="de-DE" sz="2000" dirty="0" smtClean="0"/>
              <a:t> </a:t>
            </a:r>
            <a:r>
              <a:rPr lang="de-DE" sz="2000" dirty="0" err="1" smtClean="0"/>
              <a:t>features</a:t>
            </a:r>
            <a:r>
              <a:rPr lang="de-DE" sz="2000" dirty="0" smtClean="0"/>
              <a:t> (UC: </a:t>
            </a:r>
            <a:r>
              <a:rPr lang="de-DE" sz="2000" dirty="0" err="1" smtClean="0"/>
              <a:t>Hydro</a:t>
            </a:r>
            <a:r>
              <a:rPr lang="de-DE" sz="2000" dirty="0" smtClean="0"/>
              <a:t> </a:t>
            </a:r>
            <a:r>
              <a:rPr lang="de-DE" sz="2000" dirty="0" err="1" smtClean="0"/>
              <a:t>Geofabric</a:t>
            </a:r>
            <a:r>
              <a:rPr lang="de-DE" sz="2000" dirty="0" smtClean="0"/>
              <a:t>)</a:t>
            </a:r>
            <a:endParaRPr lang="en-US" sz="2000" dirty="0" err="1" smtClean="0"/>
          </a:p>
        </p:txBody>
      </p:sp>
    </p:spTree>
    <p:extLst>
      <p:ext uri="{BB962C8B-B14F-4D97-AF65-F5344CB8AC3E}">
        <p14:creationId xmlns:p14="http://schemas.microsoft.com/office/powerpoint/2010/main" val="2324627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/>
          <p:cNvSpPr>
            <a:spLocks noGrp="1" noChangeArrowheads="1"/>
          </p:cNvSpPr>
          <p:nvPr>
            <p:ph type="title"/>
          </p:nvPr>
        </p:nvSpPr>
        <p:spPr>
          <a:xfrm>
            <a:off x="1175509" y="40530"/>
            <a:ext cx="7860395" cy="980380"/>
          </a:xfrm>
          <a:noFill/>
          <a:ln/>
        </p:spPr>
        <p:txBody>
          <a:bodyPr/>
          <a:lstStyle/>
          <a:p>
            <a:pPr algn="l"/>
            <a:r>
              <a:rPr lang="en-US" sz="32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A couple of challenges for the HDWG</a:t>
            </a:r>
            <a:endParaRPr lang="en-US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520" y="1628800"/>
            <a:ext cx="857256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Does HDWG have a framework for future standards development?</a:t>
            </a: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marL="800100" lvl="1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What does our suite of water data standards look like in a few years time?</a:t>
            </a: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marL="1257300" lvl="2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WaterML2: Part 1, 2, 3, …N?</a:t>
            </a:r>
          </a:p>
          <a:p>
            <a:pPr defTabSz="914400" fontAlgn="base">
              <a:spcAft>
                <a:spcPct val="0"/>
              </a:spcAft>
              <a:buClr>
                <a:srgbClr val="FF9900"/>
              </a:buClr>
              <a:buFont typeface="Wingdings" charset="2"/>
              <a:buNone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How can HDWG influence take-up of developed standards?</a:t>
            </a: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marL="800100" lvl="1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Can we assist with capacity building and implementation of standards-compliant technologies for hydrological data sharing in countries around the world?</a:t>
            </a:r>
          </a:p>
          <a:p>
            <a:pPr defTabSz="914400" fontAlgn="base">
              <a:spcAft>
                <a:spcPct val="0"/>
              </a:spcAft>
              <a:buClr>
                <a:srgbClr val="FF9900"/>
              </a:buClr>
              <a:buFont typeface="Wingdings" charset="2"/>
              <a:buNone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defTabSz="914400" fontAlgn="base">
              <a:spcAft>
                <a:spcPct val="0"/>
              </a:spcAft>
              <a:buClr>
                <a:srgbClr val="FF9900"/>
              </a:buClr>
              <a:buFont typeface="Wingdings" charset="2"/>
              <a:buNone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 Narrow"/>
              </a:rPr>
              <a:t>For discussion during the workshop…</a:t>
            </a:r>
          </a:p>
          <a:p>
            <a:pPr marL="342900" indent="-342900" defTabSz="914400" fontAlgn="base">
              <a:spcAft>
                <a:spcPct val="0"/>
              </a:spcAft>
              <a:buClr>
                <a:srgbClr val="FF9900"/>
              </a:buClr>
              <a:buFont typeface="Arial"/>
              <a:buChar char="•"/>
            </a:pPr>
            <a:endParaRPr lang="en-US" sz="2000" kern="0" dirty="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540952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HydroDWG</a:t>
            </a:r>
            <a:r>
              <a:rPr lang="en-US" dirty="0" smtClean="0"/>
              <a:t> 2015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Suggested timing: September 2015</a:t>
            </a:r>
          </a:p>
          <a:p>
            <a:r>
              <a:rPr lang="en-US" dirty="0" smtClean="0"/>
              <a:t>Suggested location: Europe</a:t>
            </a:r>
          </a:p>
          <a:p>
            <a:pPr lvl="1"/>
            <a:r>
              <a:rPr lang="en-US" dirty="0" smtClean="0"/>
              <a:t>Rome, Italy</a:t>
            </a:r>
          </a:p>
          <a:p>
            <a:pPr lvl="2"/>
            <a:r>
              <a:rPr lang="en-US" dirty="0" smtClean="0"/>
              <a:t>Host: </a:t>
            </a:r>
            <a:r>
              <a:rPr lang="en-US" dirty="0" err="1" smtClean="0"/>
              <a:t>Silvano</a:t>
            </a:r>
            <a:r>
              <a:rPr lang="en-US" dirty="0" smtClean="0"/>
              <a:t> </a:t>
            </a:r>
            <a:r>
              <a:rPr lang="en-US" dirty="0" err="1" smtClean="0"/>
              <a:t>Pecora</a:t>
            </a:r>
            <a:endParaRPr lang="en-US" dirty="0" smtClean="0"/>
          </a:p>
          <a:p>
            <a:pPr lvl="2"/>
            <a:r>
              <a:rPr lang="en-US" dirty="0" smtClean="0"/>
              <a:t>Venue: ?</a:t>
            </a:r>
          </a:p>
          <a:p>
            <a:pPr marL="684213" lvl="2" indent="0">
              <a:buNone/>
            </a:pPr>
            <a:endParaRPr lang="en-US" dirty="0"/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Orléans</a:t>
            </a:r>
            <a:r>
              <a:rPr lang="en-US" dirty="0" smtClean="0"/>
              <a:t>, </a:t>
            </a:r>
            <a:r>
              <a:rPr lang="en-US" dirty="0" smtClean="0"/>
              <a:t>France </a:t>
            </a:r>
          </a:p>
          <a:p>
            <a:pPr lvl="2"/>
            <a:r>
              <a:rPr lang="en-US" dirty="0" smtClean="0"/>
              <a:t>Host:</a:t>
            </a:r>
            <a:r>
              <a:rPr lang="en-US" dirty="0"/>
              <a:t> Sylvain </a:t>
            </a:r>
            <a:r>
              <a:rPr lang="en-US" dirty="0" err="1" smtClean="0"/>
              <a:t>Grellet</a:t>
            </a:r>
            <a:endParaRPr lang="en-US" dirty="0" smtClean="0"/>
          </a:p>
          <a:p>
            <a:pPr lvl="2"/>
            <a:r>
              <a:rPr lang="en-US" dirty="0" smtClean="0"/>
              <a:t>Venue</a:t>
            </a:r>
            <a:r>
              <a:rPr lang="en-US" dirty="0"/>
              <a:t>: Bureau of Geological and Mining Research (BRGM</a:t>
            </a:r>
            <a:r>
              <a:rPr lang="en-US" dirty="0" smtClean="0"/>
              <a:t>)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Aarchen</a:t>
            </a:r>
            <a:r>
              <a:rPr lang="en-US" dirty="0"/>
              <a:t>, </a:t>
            </a:r>
            <a:r>
              <a:rPr lang="en-US" dirty="0" smtClean="0"/>
              <a:t>Germany</a:t>
            </a:r>
          </a:p>
          <a:p>
            <a:pPr lvl="2"/>
            <a:r>
              <a:rPr lang="en-US" dirty="0" smtClean="0"/>
              <a:t>Host:</a:t>
            </a:r>
            <a:r>
              <a:rPr lang="en-US" dirty="0"/>
              <a:t> Michael </a:t>
            </a:r>
            <a:r>
              <a:rPr lang="en-US" dirty="0" err="1" smtClean="0"/>
              <a:t>Natschke</a:t>
            </a:r>
            <a:endParaRPr lang="en-US" dirty="0" smtClean="0"/>
          </a:p>
          <a:p>
            <a:pPr lvl="2"/>
            <a:r>
              <a:rPr lang="en-US" dirty="0" smtClean="0"/>
              <a:t>Venue</a:t>
            </a:r>
            <a:r>
              <a:rPr lang="en-US" dirty="0"/>
              <a:t>: </a:t>
            </a:r>
            <a:r>
              <a:rPr lang="en-US" dirty="0" err="1"/>
              <a:t>Kisters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52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716</Words>
  <Application>Microsoft Macintosh PowerPoint</Application>
  <PresentationFormat>On-screen Show (4:3)</PresentationFormat>
  <Paragraphs>162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OGC_PowerPoint_Template</vt:lpstr>
      <vt:lpstr>1_OGC_PowerPoint_Template</vt:lpstr>
      <vt:lpstr>2_OGC_PowerPoint_Template</vt:lpstr>
      <vt:lpstr>3_OGC_PowerPoint_Template</vt:lpstr>
      <vt:lpstr>Here we stand in August 2014</vt:lpstr>
      <vt:lpstr>Application schemas conform to ISO 19109</vt:lpstr>
      <vt:lpstr>Suite of Water Information Standards</vt:lpstr>
      <vt:lpstr>Suite of Water Information Standards</vt:lpstr>
      <vt:lpstr> Are there common use cases for D, F, G ?</vt:lpstr>
      <vt:lpstr>Possible common use cases ?</vt:lpstr>
      <vt:lpstr>A couple of challenges for the HDWG</vt:lpstr>
      <vt:lpstr>HydroDWG 2015 workshop</vt:lpstr>
    </vt:vector>
  </TitlesOfParts>
  <Company>Australian Bureau of Meteorology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 Information in terms of ISO19109</dc:title>
  <dc:creator>Tony Boston</dc:creator>
  <cp:lastModifiedBy>Tony Boston</cp:lastModifiedBy>
  <cp:revision>51</cp:revision>
  <dcterms:created xsi:type="dcterms:W3CDTF">2014-08-12T15:04:52Z</dcterms:created>
  <dcterms:modified xsi:type="dcterms:W3CDTF">2014-08-16T14:14:42Z</dcterms:modified>
</cp:coreProperties>
</file>