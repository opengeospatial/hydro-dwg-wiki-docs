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2" r:id="rId3"/>
    <p:sldId id="303" r:id="rId4"/>
    <p:sldId id="304" r:id="rId5"/>
    <p:sldId id="267" r:id="rId6"/>
    <p:sldId id="263" r:id="rId7"/>
    <p:sldId id="306" r:id="rId8"/>
    <p:sldId id="316" r:id="rId9"/>
    <p:sldId id="270" r:id="rId10"/>
    <p:sldId id="307" r:id="rId11"/>
    <p:sldId id="318" r:id="rId12"/>
    <p:sldId id="272" r:id="rId13"/>
    <p:sldId id="285" r:id="rId14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F81BD"/>
    <a:srgbClr val="CC6600"/>
    <a:srgbClr val="993300"/>
    <a:srgbClr val="B4D800"/>
    <a:srgbClr val="99CCFF"/>
    <a:srgbClr val="FFE1E1"/>
    <a:srgbClr val="ECD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5066" autoAdjust="0"/>
  </p:normalViewPr>
  <p:slideViewPr>
    <p:cSldViewPr showGuides="1">
      <p:cViewPr>
        <p:scale>
          <a:sx n="100" d="100"/>
          <a:sy n="100" d="100"/>
        </p:scale>
        <p:origin x="-984" y="-6"/>
      </p:cViewPr>
      <p:guideLst>
        <p:guide orient="horz" pos="22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77021638-3C02-4643-9BFF-2C81BA4A25DE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054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673A4D44-CCBB-4FAD-91B4-0198B5FEF224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69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3505200" y="1219200"/>
            <a:ext cx="8540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Sponsored by</a:t>
            </a:r>
          </a:p>
        </p:txBody>
      </p:sp>
      <p:pic>
        <p:nvPicPr>
          <p:cNvPr id="8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00200"/>
            <a:ext cx="2763838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163" y="1681163"/>
            <a:ext cx="833437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 userDrawn="1"/>
        </p:nvSpPr>
        <p:spPr bwMode="auto">
          <a:xfrm>
            <a:off x="6350000" y="1219200"/>
            <a:ext cx="61912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Hosted by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95852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D3477-BBE0-48F7-9F4E-12F5E1DA366E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25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CF3C-1B19-4E76-A99B-F1292C334C0F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16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2ECA3-4CEB-4978-82D5-6FA182F08D60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50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675EB-82D6-4344-9A11-AA5405CD45AC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89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579CA-4F31-447A-A9D0-A3B69A81D2BC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141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B9EEB-1845-488B-B8CF-734A2C920481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96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868CC-F2E2-473F-BD0B-6C0348F677A8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56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CD406-4A36-40DD-999D-EB5823D419D1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212FD-7FC2-4D4E-AA2A-7368E9161ACE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33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40E5F-F6DE-4CD0-ABAE-FF423D7806DF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79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  <a:ea typeface="MS PGothic" charset="-128"/>
              </a:defRPr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CAE4B967-18E6-40AA-973E-0B74396EB37F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de-DE" altLang="en-US" sz="2800" dirty="0" err="1" smtClean="0">
                <a:latin typeface="Arial Black" charset="0"/>
                <a:ea typeface="MS PGothic" charset="-128"/>
              </a:rPr>
              <a:t>Catchment</a:t>
            </a:r>
            <a:r>
              <a:rPr lang="de-DE" altLang="en-US" sz="2800" dirty="0" smtClean="0">
                <a:latin typeface="Arial Black" charset="0"/>
                <a:ea typeface="MS PGothic" charset="-128"/>
              </a:rPr>
              <a:t> </a:t>
            </a:r>
            <a:r>
              <a:rPr lang="de-DE" altLang="en-US" sz="2800" dirty="0" err="1" smtClean="0">
                <a:latin typeface="Arial Black" charset="0"/>
                <a:ea typeface="MS PGothic" charset="-128"/>
              </a:rPr>
              <a:t>topology</a:t>
            </a:r>
            <a:r>
              <a:rPr lang="de-DE" altLang="en-US" sz="2800" dirty="0" smtClean="0">
                <a:latin typeface="Arial Black" charset="0"/>
                <a:ea typeface="MS PGothic" charset="-128"/>
              </a:rPr>
              <a:t> </a:t>
            </a:r>
            <a:r>
              <a:rPr lang="de-DE" altLang="en-US" sz="2800" dirty="0" err="1" smtClean="0">
                <a:latin typeface="Arial Black" charset="0"/>
                <a:ea typeface="MS PGothic" charset="-128"/>
              </a:rPr>
              <a:t>pattern</a:t>
            </a:r>
            <a:r>
              <a:rPr lang="de-DE" altLang="en-US" sz="2800" dirty="0" smtClean="0">
                <a:latin typeface="Arial Black" charset="0"/>
                <a:ea typeface="MS PGothic" charset="-128"/>
              </a:rPr>
              <a:t> in </a:t>
            </a:r>
            <a:r>
              <a:rPr lang="de-DE" altLang="en-US" sz="2800" dirty="0" err="1" smtClean="0">
                <a:latin typeface="Arial Black" charset="0"/>
                <a:ea typeface="MS PGothic" charset="-128"/>
              </a:rPr>
              <a:t>the</a:t>
            </a:r>
            <a:r>
              <a:rPr lang="de-DE" altLang="en-US" sz="2800" dirty="0" smtClean="0">
                <a:latin typeface="Arial Black" charset="0"/>
                <a:ea typeface="MS PGothic" charset="-128"/>
              </a:rPr>
              <a:t> </a:t>
            </a:r>
            <a:r>
              <a:rPr lang="de-DE" altLang="en-US" sz="2800" dirty="0" err="1" smtClean="0">
                <a:latin typeface="Arial Black" charset="0"/>
                <a:ea typeface="MS PGothic" charset="-128"/>
              </a:rPr>
              <a:t>HY_Features</a:t>
            </a:r>
            <a:r>
              <a:rPr lang="de-DE" altLang="en-US" sz="2800" dirty="0" smtClean="0">
                <a:latin typeface="Arial Black" charset="0"/>
                <a:ea typeface="MS PGothic" charset="-128"/>
              </a:rPr>
              <a:t> </a:t>
            </a:r>
            <a:r>
              <a:rPr lang="de-DE" altLang="en-US" sz="2800" dirty="0" err="1" smtClean="0">
                <a:latin typeface="Arial Black" charset="0"/>
                <a:ea typeface="MS PGothic" charset="-128"/>
              </a:rPr>
              <a:t>conceptual</a:t>
            </a:r>
            <a:r>
              <a:rPr lang="de-DE" altLang="en-US" sz="2800" dirty="0" smtClean="0">
                <a:latin typeface="Arial Black" charset="0"/>
                <a:ea typeface="MS PGothic" charset="-128"/>
              </a:rPr>
              <a:t> </a:t>
            </a:r>
            <a:r>
              <a:rPr lang="de-DE" altLang="en-US" sz="2800" dirty="0" err="1" smtClean="0">
                <a:latin typeface="Arial Black" charset="0"/>
                <a:ea typeface="MS PGothic" charset="-128"/>
              </a:rPr>
              <a:t>model</a:t>
            </a:r>
            <a:endParaRPr lang="en-US" altLang="en-US" sz="2800" dirty="0">
              <a:latin typeface="Arial Black" charset="0"/>
              <a:ea typeface="MS PGothic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000" dirty="0" smtClean="0"/>
              <a:t>HDWG Annual Meeting, Koblenz, Germany</a:t>
            </a:r>
          </a:p>
          <a:p>
            <a:r>
              <a:rPr lang="en-US" altLang="en-US" sz="2000" dirty="0" smtClean="0"/>
              <a:t>Irina </a:t>
            </a:r>
            <a:r>
              <a:rPr lang="en-US" altLang="en-US" sz="2000" dirty="0" err="1" smtClean="0"/>
              <a:t>Dornblut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HydroFeatures</a:t>
            </a:r>
            <a:r>
              <a:rPr lang="en-US" altLang="en-US" sz="2000" dirty="0" smtClean="0"/>
              <a:t> SWG</a:t>
            </a:r>
          </a:p>
          <a:p>
            <a:r>
              <a:rPr lang="en-US" altLang="en-US" sz="2000" dirty="0" smtClean="0"/>
              <a:t>14 June 2016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900" b="0" dirty="0" smtClean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sp>
        <p:nvSpPr>
          <p:cNvPr id="5" name="Rechteck 4"/>
          <p:cNvSpPr/>
          <p:nvPr/>
        </p:nvSpPr>
        <p:spPr bwMode="auto">
          <a:xfrm>
            <a:off x="2133600" y="1066800"/>
            <a:ext cx="6400800" cy="2209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topology pattern ?</a:t>
            </a:r>
            <a:endParaRPr lang="en-GB" dirty="0" smtClean="0"/>
          </a:p>
        </p:txBody>
      </p:sp>
      <p:sp>
        <p:nvSpPr>
          <p:cNvPr id="5124" name="Inhaltsplatzhalter 2"/>
          <p:cNvSpPr>
            <a:spLocks noGrp="1"/>
          </p:cNvSpPr>
          <p:nvPr>
            <p:ph idx="1"/>
          </p:nvPr>
        </p:nvSpPr>
        <p:spPr>
          <a:xfrm>
            <a:off x="609600" y="1192213"/>
            <a:ext cx="8305800" cy="4446587"/>
          </a:xfrm>
        </p:spPr>
        <p:txBody>
          <a:bodyPr/>
          <a:lstStyle/>
          <a:p>
            <a:pPr marL="0" indent="0">
              <a:defRPr/>
            </a:pPr>
            <a:r>
              <a:rPr lang="en-GB" dirty="0" smtClean="0"/>
              <a:t>  scale-independent, consistent pattern that</a:t>
            </a:r>
          </a:p>
          <a:p>
            <a:pPr marL="538163" lvl="1" indent="-266700">
              <a:defRPr/>
            </a:pPr>
            <a:r>
              <a:rPr lang="en-GB" dirty="0" smtClean="0"/>
              <a:t>is derived from hydrologic determination, governed by physical laws (unit having a common outlet to which all waters flow from within a bounding watershed)</a:t>
            </a:r>
          </a:p>
          <a:p>
            <a:pPr marL="538163" lvl="1" indent="-266700">
              <a:defRPr/>
            </a:pPr>
            <a:r>
              <a:rPr lang="en-GB" dirty="0"/>
              <a:t>c</a:t>
            </a:r>
            <a:r>
              <a:rPr lang="en-GB" dirty="0" smtClean="0"/>
              <a:t>an be ‘transferred’ to parallel interpretations of the conceptual catchment</a:t>
            </a:r>
          </a:p>
          <a:p>
            <a:pPr marL="538163" lvl="1" indent="-266700">
              <a:defRPr/>
            </a:pPr>
            <a:r>
              <a:rPr lang="en-GB" dirty="0" smtClean="0"/>
              <a:t>can be applied to present the catchment interpretation representing the conceptual catchment</a:t>
            </a:r>
          </a:p>
          <a:p>
            <a:pPr marL="201613" indent="-266700">
              <a:defRPr/>
            </a:pPr>
            <a:r>
              <a:rPr lang="en-GB" dirty="0" smtClean="0"/>
              <a:t>‘hydro </a:t>
            </a:r>
            <a:r>
              <a:rPr lang="en-GB" dirty="0" err="1" smtClean="0"/>
              <a:t>topo</a:t>
            </a:r>
            <a:r>
              <a:rPr lang="en-GB" dirty="0" smtClean="0"/>
              <a:t>’ comparable to the ISO topology model </a:t>
            </a:r>
          </a:p>
          <a:p>
            <a:pPr marL="538163" lvl="1" indent="-266700">
              <a:defRPr/>
            </a:pPr>
            <a:r>
              <a:rPr lang="en-GB" dirty="0" smtClean="0"/>
              <a:t>‘transfer’ core topology of 19107 to catchment and catchment interpretation, ignoring the geometric representation </a:t>
            </a:r>
          </a:p>
          <a:p>
            <a:pPr marL="538163" lvl="1" indent="-266700">
              <a:defRPr/>
            </a:pPr>
            <a:r>
              <a:rPr lang="en-GB" dirty="0" smtClean="0"/>
              <a:t>to support ‘realization’ of hydro </a:t>
            </a:r>
            <a:r>
              <a:rPr lang="en-GB" dirty="0" err="1" smtClean="0"/>
              <a:t>topo</a:t>
            </a:r>
            <a:r>
              <a:rPr lang="en-GB" dirty="0" smtClean="0"/>
              <a:t> using ISO geometry, when using the </a:t>
            </a:r>
            <a:r>
              <a:rPr lang="en-GB" dirty="0" err="1" smtClean="0"/>
              <a:t>HY_Features</a:t>
            </a:r>
            <a:r>
              <a:rPr lang="en-GB" dirty="0" smtClean="0"/>
              <a:t> model</a:t>
            </a:r>
          </a:p>
        </p:txBody>
      </p:sp>
      <p:sp>
        <p:nvSpPr>
          <p:cNvPr id="3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smtClean="0">
                <a:solidFill>
                  <a:srgbClr val="092E5C"/>
                </a:solidFill>
              </a:rPr>
              <a:t>Copyright © 2016 Open Geospatial Consortium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and outfall – a topological closure</a:t>
            </a:r>
            <a:endParaRPr lang="en-GB" dirty="0" smtClean="0"/>
          </a:p>
        </p:txBody>
      </p:sp>
      <p:sp>
        <p:nvSpPr>
          <p:cNvPr id="5124" name="Inhaltsplatzhalter 2"/>
          <p:cNvSpPr>
            <a:spLocks noGrp="1"/>
          </p:cNvSpPr>
          <p:nvPr>
            <p:ph idx="1"/>
          </p:nvPr>
        </p:nvSpPr>
        <p:spPr>
          <a:xfrm>
            <a:off x="736600" y="1173956"/>
            <a:ext cx="8382000" cy="4814887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GB" altLang="en-US" dirty="0"/>
              <a:t>Catchment </a:t>
            </a:r>
            <a:r>
              <a:rPr lang="en-GB" altLang="en-US" dirty="0" smtClean="0"/>
              <a:t>implies </a:t>
            </a:r>
            <a:r>
              <a:rPr lang="en-GB" altLang="en-US" dirty="0"/>
              <a:t>the </a:t>
            </a:r>
            <a:r>
              <a:rPr lang="en-GB" altLang="en-US" u="sng" dirty="0" smtClean="0"/>
              <a:t>occurrence </a:t>
            </a:r>
            <a:r>
              <a:rPr lang="en-GB" altLang="en-US" u="sng" dirty="0"/>
              <a:t>of water inside of a </a:t>
            </a:r>
            <a:r>
              <a:rPr lang="en-GB" altLang="en-US" u="sng" dirty="0" smtClean="0"/>
              <a:t>boundary</a:t>
            </a:r>
            <a:r>
              <a:rPr lang="en-GB" altLang="en-US" dirty="0" smtClean="0"/>
              <a:t> formed by inflow and outflow locations</a:t>
            </a:r>
            <a:endParaRPr lang="en-GB" altLang="en-US" dirty="0"/>
          </a:p>
          <a:p>
            <a:pPr>
              <a:defRPr/>
            </a:pPr>
            <a:r>
              <a:rPr lang="en-GB" altLang="en-US" dirty="0" smtClean="0"/>
              <a:t>‘directed’ catchment (inside) </a:t>
            </a:r>
          </a:p>
          <a:p>
            <a:pPr lvl="1">
              <a:defRPr/>
            </a:pPr>
            <a:r>
              <a:rPr lang="en-GB" altLang="en-US" dirty="0" smtClean="0"/>
              <a:t>proxy for an interpretation of catchment in a particular perspective</a:t>
            </a:r>
          </a:p>
          <a:p>
            <a:pPr>
              <a:defRPr/>
            </a:pPr>
            <a:r>
              <a:rPr lang="en-GB" altLang="en-US" dirty="0" smtClean="0"/>
              <a:t>‘directed’ outfall (boundary) </a:t>
            </a:r>
          </a:p>
          <a:p>
            <a:pPr lvl="1">
              <a:defRPr/>
            </a:pPr>
            <a:r>
              <a:rPr lang="en-GB" altLang="en-US" dirty="0" smtClean="0"/>
              <a:t>proxy for an arbitrary location referenced as common outlet </a:t>
            </a:r>
          </a:p>
          <a:p>
            <a:pPr lvl="1">
              <a:defRPr/>
            </a:pPr>
            <a:r>
              <a:rPr lang="en-GB" altLang="en-US" dirty="0" smtClean="0"/>
              <a:t>orientation with the catchment (</a:t>
            </a:r>
            <a:r>
              <a:rPr lang="en-GB" altLang="en-US" dirty="0" err="1" smtClean="0"/>
              <a:t>positiv</a:t>
            </a:r>
            <a:r>
              <a:rPr lang="en-GB" altLang="en-US" dirty="0" smtClean="0"/>
              <a:t> in natural flow direction): </a:t>
            </a:r>
          </a:p>
          <a:p>
            <a:pPr lvl="2">
              <a:defRPr/>
            </a:pPr>
            <a:r>
              <a:rPr lang="en-GB" altLang="en-US" dirty="0" smtClean="0"/>
              <a:t>from inflow location of receiving catchment </a:t>
            </a:r>
          </a:p>
          <a:p>
            <a:pPr lvl="2">
              <a:defRPr/>
            </a:pPr>
            <a:r>
              <a:rPr lang="en-GB" altLang="en-US" dirty="0" smtClean="0"/>
              <a:t>to outflow location of contributing </a:t>
            </a:r>
            <a:r>
              <a:rPr lang="en-GB" altLang="en-US" dirty="0"/>
              <a:t>catchment </a:t>
            </a:r>
            <a:endParaRPr lang="en-GB" altLang="en-US" dirty="0" smtClean="0"/>
          </a:p>
          <a:p>
            <a:pPr lvl="1">
              <a:defRPr/>
            </a:pPr>
            <a:r>
              <a:rPr lang="en-GB" altLang="en-US" dirty="0" smtClean="0"/>
              <a:t>lower dimension than that of catchment (inside), such as</a:t>
            </a:r>
          </a:p>
          <a:p>
            <a:pPr marL="958850" lvl="1" indent="-311150">
              <a:defRPr/>
            </a:pPr>
            <a:r>
              <a:rPr lang="en-GB" altLang="en-US" sz="1600" dirty="0" smtClean="0"/>
              <a:t>Edge </a:t>
            </a:r>
            <a:r>
              <a:rPr lang="en-GB" altLang="en-US" sz="1600" dirty="0"/>
              <a:t>(catchment) bounded by inflow and outflow nodes</a:t>
            </a:r>
          </a:p>
          <a:p>
            <a:pPr marL="958850" lvl="1" indent="-311150">
              <a:defRPr/>
            </a:pPr>
            <a:r>
              <a:rPr lang="en-GB" altLang="en-US" sz="1600" dirty="0" smtClean="0"/>
              <a:t>Face </a:t>
            </a:r>
            <a:r>
              <a:rPr lang="en-GB" altLang="en-US" sz="1600" dirty="0"/>
              <a:t>(catchment) bounded by inflow and outflow edges </a:t>
            </a:r>
          </a:p>
          <a:p>
            <a:pPr marL="958850" lvl="1" indent="-311150">
              <a:defRPr/>
            </a:pPr>
            <a:r>
              <a:rPr lang="en-GB" altLang="en-US" sz="1600" dirty="0" smtClean="0"/>
              <a:t>Solid </a:t>
            </a:r>
            <a:r>
              <a:rPr lang="en-GB" altLang="en-US" sz="1600" dirty="0"/>
              <a:t>(catchment) bounded by inflow and outflow </a:t>
            </a:r>
            <a:r>
              <a:rPr lang="en-GB" altLang="en-US" sz="1600" dirty="0" smtClean="0"/>
              <a:t>faces</a:t>
            </a:r>
            <a:endParaRPr lang="en-GB" altLang="en-US" sz="1600" dirty="0"/>
          </a:p>
          <a:p>
            <a:pPr lvl="1">
              <a:defRPr/>
            </a:pPr>
            <a:r>
              <a:rPr lang="en-GB" altLang="en-US" dirty="0" smtClean="0"/>
              <a:t>interaction with upper and lower catchment </a:t>
            </a:r>
          </a:p>
        </p:txBody>
      </p:sp>
      <p:sp>
        <p:nvSpPr>
          <p:cNvPr id="6148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smtClean="0">
                <a:solidFill>
                  <a:srgbClr val="092E5C"/>
                </a:solidFill>
              </a:rPr>
              <a:t>Copyright © 2016 Open Geospatial Consortium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and outfall – a topological closure</a:t>
            </a:r>
            <a:endParaRPr lang="en-GB" dirty="0" smtClean="0"/>
          </a:p>
        </p:txBody>
      </p:sp>
      <p:sp>
        <p:nvSpPr>
          <p:cNvPr id="5124" name="Inhaltsplatzhalter 2"/>
          <p:cNvSpPr>
            <a:spLocks noGrp="1"/>
          </p:cNvSpPr>
          <p:nvPr>
            <p:ph idx="1"/>
          </p:nvPr>
        </p:nvSpPr>
        <p:spPr>
          <a:xfrm>
            <a:off x="609600" y="1128713"/>
            <a:ext cx="8194675" cy="4448175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GB" altLang="en-US" dirty="0" smtClean="0"/>
              <a:t>Catchment implies the </a:t>
            </a:r>
            <a:r>
              <a:rPr lang="en-GB" altLang="en-US" u="sng" dirty="0" smtClean="0"/>
              <a:t>occurrence of water inside of a boundary</a:t>
            </a:r>
            <a:r>
              <a:rPr lang="en-GB" altLang="en-US" dirty="0" smtClean="0"/>
              <a:t> </a:t>
            </a:r>
            <a:r>
              <a:rPr lang="en-GB" altLang="en-US" dirty="0"/>
              <a:t>determined by inflow and outflow </a:t>
            </a:r>
            <a:r>
              <a:rPr lang="en-GB" altLang="en-US" dirty="0" smtClean="0"/>
              <a:t>location</a:t>
            </a:r>
          </a:p>
          <a:p>
            <a:pPr>
              <a:defRPr/>
            </a:pPr>
            <a:r>
              <a:rPr lang="en-GB" altLang="en-US" dirty="0" smtClean="0"/>
              <a:t>comparable with </a:t>
            </a:r>
            <a:r>
              <a:rPr lang="en-US" altLang="en-US" dirty="0" smtClean="0"/>
              <a:t>ISO 19107 topology concepts</a:t>
            </a:r>
          </a:p>
          <a:p>
            <a:pPr lvl="1">
              <a:defRPr/>
            </a:pPr>
            <a:r>
              <a:rPr lang="en-US" altLang="en-US" u="sng" dirty="0" smtClean="0"/>
              <a:t>Boundary</a:t>
            </a:r>
            <a:r>
              <a:rPr lang="en-US" altLang="en-US" dirty="0" smtClean="0"/>
              <a:t>: modelled as </a:t>
            </a:r>
            <a:r>
              <a:rPr lang="en-US" altLang="en-US" i="1" dirty="0" err="1" smtClean="0"/>
              <a:t>inflowNode</a:t>
            </a:r>
            <a:r>
              <a:rPr lang="en-US" altLang="en-US" dirty="0" smtClean="0"/>
              <a:t> and </a:t>
            </a:r>
            <a:r>
              <a:rPr lang="en-US" altLang="en-US" i="1" dirty="0" err="1" smtClean="0"/>
              <a:t>outflowNode</a:t>
            </a:r>
            <a:r>
              <a:rPr lang="en-US" altLang="en-US" dirty="0" smtClean="0"/>
              <a:t> – relating the Outfall to the corresponding Catchment </a:t>
            </a:r>
          </a:p>
          <a:p>
            <a:pPr lvl="1">
              <a:defRPr/>
            </a:pPr>
            <a:r>
              <a:rPr lang="en-US" altLang="en-US" u="sng" dirty="0" err="1" smtClean="0"/>
              <a:t>Coboundary</a:t>
            </a:r>
            <a:r>
              <a:rPr lang="en-US" altLang="en-US" dirty="0" smtClean="0"/>
              <a:t>: </a:t>
            </a:r>
            <a:r>
              <a:rPr lang="en-US" altLang="en-US" dirty="0"/>
              <a:t>modelled as </a:t>
            </a:r>
            <a:r>
              <a:rPr lang="en-US" altLang="en-US" i="1" dirty="0" err="1" smtClean="0"/>
              <a:t>receivingCatchment</a:t>
            </a:r>
            <a:r>
              <a:rPr lang="en-US" altLang="en-US" dirty="0" smtClean="0"/>
              <a:t> </a:t>
            </a:r>
            <a:r>
              <a:rPr lang="en-US" altLang="en-US" dirty="0"/>
              <a:t>and </a:t>
            </a:r>
            <a:r>
              <a:rPr lang="en-US" altLang="en-US" i="1" dirty="0" err="1" smtClean="0"/>
              <a:t>contributingCatchment</a:t>
            </a:r>
            <a:r>
              <a:rPr lang="en-US" altLang="en-US" i="1" dirty="0" smtClean="0"/>
              <a:t> – </a:t>
            </a:r>
            <a:r>
              <a:rPr lang="en-US" altLang="en-US" dirty="0" smtClean="0"/>
              <a:t>relating a Catchment to its Outfall </a:t>
            </a:r>
          </a:p>
          <a:p>
            <a:pPr lvl="1">
              <a:defRPr/>
            </a:pPr>
            <a:r>
              <a:rPr lang="en-US" altLang="en-US" u="sng" dirty="0" smtClean="0"/>
              <a:t>Center</a:t>
            </a:r>
            <a:r>
              <a:rPr lang="en-US" altLang="en-US" dirty="0" smtClean="0"/>
              <a:t>: modelled as </a:t>
            </a:r>
            <a:r>
              <a:rPr lang="en-US" altLang="en-US" i="1" dirty="0" err="1" smtClean="0"/>
              <a:t>networkLocation</a:t>
            </a:r>
            <a:r>
              <a:rPr lang="en-US" altLang="en-US" i="1" dirty="0"/>
              <a:t> </a:t>
            </a:r>
            <a:r>
              <a:rPr lang="en-US" altLang="en-US" dirty="0" smtClean="0"/>
              <a:t>understanding the Outfall as proxy for an arbitrary reference location that is boundary of a catchment</a:t>
            </a:r>
          </a:p>
        </p:txBody>
      </p:sp>
      <p:sp>
        <p:nvSpPr>
          <p:cNvPr id="7172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smtClean="0">
                <a:solidFill>
                  <a:srgbClr val="092E5C"/>
                </a:solidFill>
              </a:rPr>
              <a:t>Copyright © 2016 Open Geospatial Consortium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- inside and boundaries</a:t>
            </a:r>
            <a:endParaRPr lang="en-GB" dirty="0"/>
          </a:p>
        </p:txBody>
      </p:sp>
      <p:sp>
        <p:nvSpPr>
          <p:cNvPr id="11267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itchFamily="34" charset="0"/>
              </a:rPr>
              <a:t>Copyright © 2016 Open Geospatial Consortium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63756"/>
              </p:ext>
            </p:extLst>
          </p:nvPr>
        </p:nvGraphicFramePr>
        <p:xfrm>
          <a:off x="827088" y="1447800"/>
          <a:ext cx="7632700" cy="3214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540"/>
                <a:gridCol w="2552080"/>
                <a:gridCol w="2552080"/>
              </a:tblGrid>
              <a:tr h="640011">
                <a:tc>
                  <a:txBody>
                    <a:bodyPr/>
                    <a:lstStyle/>
                    <a:p>
                      <a:pPr algn="ctr"/>
                      <a:r>
                        <a:rPr lang="en-GB" sz="1800" smtClean="0"/>
                        <a:t>Inflow </a:t>
                      </a:r>
                    </a:p>
                    <a:p>
                      <a:pPr algn="ctr"/>
                      <a:r>
                        <a:rPr lang="en-GB" sz="1800" smtClean="0"/>
                        <a:t>(</a:t>
                      </a:r>
                      <a:r>
                        <a:rPr lang="en-GB" sz="1800" dirty="0" smtClean="0"/>
                        <a:t>boundary)</a:t>
                      </a:r>
                    </a:p>
                  </a:txBody>
                  <a:tcPr marL="91438" marR="91438" marT="45715" marB="4571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smtClean="0"/>
                        <a:t>Catchment</a:t>
                      </a:r>
                      <a:r>
                        <a:rPr lang="en-GB" sz="1800" baseline="0" smtClean="0"/>
                        <a:t> </a:t>
                      </a:r>
                    </a:p>
                    <a:p>
                      <a:pPr algn="ctr"/>
                      <a:r>
                        <a:rPr lang="en-GB" sz="1800" smtClean="0"/>
                        <a:t> </a:t>
                      </a:r>
                      <a:r>
                        <a:rPr lang="en-GB" sz="1800" dirty="0" smtClean="0"/>
                        <a:t>(inside)</a:t>
                      </a:r>
                      <a:endParaRPr lang="en-GB" sz="1800" dirty="0"/>
                    </a:p>
                  </a:txBody>
                  <a:tcPr marL="91438" marR="91438" marT="45715" marB="4571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smtClean="0"/>
                        <a:t>Outflow</a:t>
                      </a:r>
                    </a:p>
                    <a:p>
                      <a:pPr algn="ctr"/>
                      <a:r>
                        <a:rPr lang="en-GB" sz="1800" smtClean="0"/>
                        <a:t> (boundary)</a:t>
                      </a:r>
                      <a:endParaRPr lang="en-GB" sz="1800"/>
                    </a:p>
                  </a:txBody>
                  <a:tcPr marL="91438" marR="91438" marT="45715" marB="45715" anchor="ctr">
                    <a:solidFill>
                      <a:srgbClr val="4F81BD"/>
                    </a:solidFill>
                  </a:tcPr>
                </a:tc>
              </a:tr>
              <a:tr h="836732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Node</a:t>
                      </a:r>
                      <a:endParaRPr lang="en-GB" sz="1600" dirty="0"/>
                    </a:p>
                  </a:txBody>
                  <a:tcPr marL="91438" marR="91438" marT="45715" marB="45715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Edge</a:t>
                      </a:r>
                      <a:endParaRPr lang="en-GB" sz="1600"/>
                    </a:p>
                  </a:txBody>
                  <a:tcPr marL="91438" marR="91438" marT="45715" marB="45715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Node</a:t>
                      </a:r>
                    </a:p>
                    <a:p>
                      <a:endParaRPr lang="en-GB" sz="1600"/>
                    </a:p>
                  </a:txBody>
                  <a:tcPr marL="91438" marR="91438" marT="45715" marB="45715"/>
                </a:tc>
              </a:tr>
              <a:tr h="841022">
                <a:tc>
                  <a:txBody>
                    <a:bodyPr/>
                    <a:lstStyle/>
                    <a:p>
                      <a:r>
                        <a:rPr lang="en-GB" sz="1600" smtClean="0"/>
                        <a:t>Edge</a:t>
                      </a:r>
                      <a:endParaRPr lang="en-GB" sz="1600"/>
                    </a:p>
                  </a:txBody>
                  <a:tcPr marL="91438" marR="91438" marT="45715" marB="45715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Face</a:t>
                      </a:r>
                    </a:p>
                  </a:txBody>
                  <a:tcPr marL="91438" marR="91438" marT="45715" marB="45715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Edge</a:t>
                      </a:r>
                      <a:endParaRPr lang="en-GB" sz="1600"/>
                    </a:p>
                  </a:txBody>
                  <a:tcPr marL="91438" marR="91438" marT="45715" marB="45715"/>
                </a:tc>
              </a:tr>
              <a:tr h="896804">
                <a:tc>
                  <a:txBody>
                    <a:bodyPr/>
                    <a:lstStyle/>
                    <a:p>
                      <a:r>
                        <a:rPr lang="en-GB" sz="1600" smtClean="0"/>
                        <a:t>Face</a:t>
                      </a:r>
                      <a:endParaRPr lang="en-GB" sz="1600"/>
                    </a:p>
                  </a:txBody>
                  <a:tcPr marL="91438" marR="91438" marT="45715" marB="45715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Solid</a:t>
                      </a:r>
                    </a:p>
                  </a:txBody>
                  <a:tcPr marL="91438" marR="91438" marT="45715" marB="45715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Face</a:t>
                      </a:r>
                      <a:endParaRPr lang="en-GB" sz="1600" dirty="0"/>
                    </a:p>
                  </a:txBody>
                  <a:tcPr marL="91438" marR="91438" marT="45715" marB="45715"/>
                </a:tc>
              </a:tr>
            </a:tbl>
          </a:graphicData>
        </a:graphic>
      </p:graphicFrame>
      <p:grpSp>
        <p:nvGrpSpPr>
          <p:cNvPr id="11294" name="Gruppieren 5"/>
          <p:cNvGrpSpPr>
            <a:grpSpLocks/>
          </p:cNvGrpSpPr>
          <p:nvPr/>
        </p:nvGrpSpPr>
        <p:grpSpPr bwMode="auto">
          <a:xfrm>
            <a:off x="1763713" y="2097028"/>
            <a:ext cx="6264275" cy="2551113"/>
            <a:chOff x="1763688" y="2564904"/>
            <a:chExt cx="6264696" cy="2551261"/>
          </a:xfrm>
        </p:grpSpPr>
        <p:pic>
          <p:nvPicPr>
            <p:cNvPr id="11296" name="Grafik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088" y="4350979"/>
              <a:ext cx="1080000" cy="739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7" name="Grafik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3334593"/>
              <a:ext cx="1306800" cy="976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Ellipse 8"/>
            <p:cNvSpPr/>
            <p:nvPr/>
          </p:nvSpPr>
          <p:spPr>
            <a:xfrm>
              <a:off x="7561628" y="2780817"/>
              <a:ext cx="80967" cy="635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pic>
          <p:nvPicPr>
            <p:cNvPr id="11299" name="Grafik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384" y="4376379"/>
              <a:ext cx="1080000" cy="739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ihandform 10"/>
            <p:cNvSpPr/>
            <p:nvPr/>
          </p:nvSpPr>
          <p:spPr>
            <a:xfrm>
              <a:off x="7380640" y="3480945"/>
              <a:ext cx="215915" cy="684252"/>
            </a:xfrm>
            <a:custGeom>
              <a:avLst/>
              <a:gdLst>
                <a:gd name="connsiteX0" fmla="*/ 0 w 179109"/>
                <a:gd name="connsiteY0" fmla="*/ 0 h 565608"/>
                <a:gd name="connsiteX1" fmla="*/ 169682 w 179109"/>
                <a:gd name="connsiteY1" fmla="*/ 141402 h 565608"/>
                <a:gd name="connsiteX2" fmla="*/ 37707 w 179109"/>
                <a:gd name="connsiteY2" fmla="*/ 282804 h 565608"/>
                <a:gd name="connsiteX3" fmla="*/ 179109 w 179109"/>
                <a:gd name="connsiteY3" fmla="*/ 565608 h 565608"/>
                <a:gd name="connsiteX4" fmla="*/ 179109 w 179109"/>
                <a:gd name="connsiteY4" fmla="*/ 565608 h 56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09" h="565608">
                  <a:moveTo>
                    <a:pt x="0" y="0"/>
                  </a:moveTo>
                  <a:cubicBezTo>
                    <a:pt x="81699" y="47134"/>
                    <a:pt x="163398" y="94268"/>
                    <a:pt x="169682" y="141402"/>
                  </a:cubicBezTo>
                  <a:cubicBezTo>
                    <a:pt x="175967" y="188536"/>
                    <a:pt x="36136" y="212103"/>
                    <a:pt x="37707" y="282804"/>
                  </a:cubicBezTo>
                  <a:cubicBezTo>
                    <a:pt x="39278" y="353505"/>
                    <a:pt x="179109" y="565608"/>
                    <a:pt x="179109" y="565608"/>
                  </a:cubicBezTo>
                  <a:lnTo>
                    <a:pt x="179109" y="565608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pic>
          <p:nvPicPr>
            <p:cNvPr id="11301" name="Grafik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8104" y="3429522"/>
              <a:ext cx="1080000" cy="739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692" y="4314430"/>
              <a:ext cx="1081160" cy="739818"/>
            </a:xfrm>
            <a:prstGeom prst="rect">
              <a:avLst/>
            </a:prstGeom>
            <a:effectLst>
              <a:outerShdw blurRad="50800" dist="88900" dir="5400000" algn="t" rotWithShape="0">
                <a:srgbClr val="CC6600">
                  <a:alpha val="40000"/>
                </a:srgbClr>
              </a:outerShdw>
            </a:effectLst>
          </p:spPr>
        </p:pic>
        <p:sp>
          <p:nvSpPr>
            <p:cNvPr id="14" name="Freihandform 13"/>
            <p:cNvSpPr/>
            <p:nvPr/>
          </p:nvSpPr>
          <p:spPr>
            <a:xfrm>
              <a:off x="4859521" y="2564904"/>
              <a:ext cx="217502" cy="684253"/>
            </a:xfrm>
            <a:custGeom>
              <a:avLst/>
              <a:gdLst>
                <a:gd name="connsiteX0" fmla="*/ 0 w 179109"/>
                <a:gd name="connsiteY0" fmla="*/ 0 h 565608"/>
                <a:gd name="connsiteX1" fmla="*/ 169682 w 179109"/>
                <a:gd name="connsiteY1" fmla="*/ 141402 h 565608"/>
                <a:gd name="connsiteX2" fmla="*/ 37707 w 179109"/>
                <a:gd name="connsiteY2" fmla="*/ 282804 h 565608"/>
                <a:gd name="connsiteX3" fmla="*/ 179109 w 179109"/>
                <a:gd name="connsiteY3" fmla="*/ 565608 h 565608"/>
                <a:gd name="connsiteX4" fmla="*/ 179109 w 179109"/>
                <a:gd name="connsiteY4" fmla="*/ 565608 h 56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09" h="565608">
                  <a:moveTo>
                    <a:pt x="0" y="0"/>
                  </a:moveTo>
                  <a:cubicBezTo>
                    <a:pt x="81699" y="47134"/>
                    <a:pt x="163398" y="94268"/>
                    <a:pt x="169682" y="141402"/>
                  </a:cubicBezTo>
                  <a:cubicBezTo>
                    <a:pt x="175967" y="188536"/>
                    <a:pt x="36136" y="212103"/>
                    <a:pt x="37707" y="282804"/>
                  </a:cubicBezTo>
                  <a:cubicBezTo>
                    <a:pt x="39278" y="353505"/>
                    <a:pt x="179109" y="565608"/>
                    <a:pt x="179109" y="565608"/>
                  </a:cubicBezTo>
                  <a:lnTo>
                    <a:pt x="179109" y="565608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" name="Ellipse 14"/>
            <p:cNvSpPr/>
            <p:nvPr/>
          </p:nvSpPr>
          <p:spPr>
            <a:xfrm>
              <a:off x="2271722" y="2780817"/>
              <a:ext cx="73030" cy="635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3400" y="1154113"/>
            <a:ext cx="8234363" cy="444658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en-US" sz="2000">
                <a:sym typeface="Wingdings" panose="05000000000000000000" pitchFamily="2" charset="2"/>
              </a:rPr>
              <a:t>b</a:t>
            </a:r>
            <a:r>
              <a:rPr lang="en-GB" altLang="en-US" sz="2000" smtClean="0">
                <a:sym typeface="Wingdings" panose="05000000000000000000" pitchFamily="2" charset="2"/>
              </a:rPr>
              <a:t>ounded by directed outfalls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en-US" sz="1600" smtClean="0">
                <a:sym typeface="Wingdings" panose="05000000000000000000" pitchFamily="2" charset="2"/>
              </a:rPr>
              <a:t>inflow node of a receiving (inside) catchment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en-US" sz="1600" smtClean="0">
                <a:sym typeface="Wingdings" panose="05000000000000000000" pitchFamily="2" charset="2"/>
              </a:rPr>
              <a:t>outflow node of a contributing (inside) catchment </a:t>
            </a:r>
          </a:p>
          <a:p>
            <a:pPr marL="233363" lvl="1" indent="-233363">
              <a:spcBef>
                <a:spcPts val="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altLang="en-US"/>
              <a:t>inflow node of a receiving </a:t>
            </a:r>
            <a:r>
              <a:rPr lang="en-GB" altLang="en-US" smtClean="0"/>
              <a:t>catchment </a:t>
            </a:r>
            <a:endParaRPr lang="en-GB" altLang="en-US"/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en-US" sz="1600"/>
              <a:t>is on boundary of </a:t>
            </a:r>
            <a:r>
              <a:rPr lang="en-GB" altLang="en-US" sz="1600" smtClean="0"/>
              <a:t>another upper catchment contributing to this node                                                                                        </a:t>
            </a:r>
            <a:r>
              <a:rPr lang="en-GB" altLang="en-US" sz="1600" smtClean="0">
                <a:sym typeface="Wingdings" panose="05000000000000000000" pitchFamily="2" charset="2"/>
              </a:rPr>
              <a:t> </a:t>
            </a:r>
            <a:r>
              <a:rPr lang="en-GB" altLang="en-US" sz="1600" smtClean="0"/>
              <a:t>outflow </a:t>
            </a:r>
            <a:r>
              <a:rPr lang="en-GB" altLang="en-US" sz="1600"/>
              <a:t>node of </a:t>
            </a:r>
            <a:r>
              <a:rPr lang="en-GB" altLang="en-US" sz="1600" smtClean="0"/>
              <a:t>the upper catchment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altLang="en-US" sz="1600" smtClean="0"/>
              <a:t>may be considered ‘0’, to allow for                                                                        aggregation of multiple inflow</a:t>
            </a:r>
          </a:p>
          <a:p>
            <a:pPr marL="233363" lvl="1" indent="-233363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mtClean="0"/>
              <a:t>outflow node of a contributing catchment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GB" altLang="en-US" sz="1600"/>
              <a:t>is on boundary of </a:t>
            </a:r>
            <a:r>
              <a:rPr lang="en-GB" altLang="en-US" sz="1600" smtClean="0"/>
              <a:t>another lower catchment receiving                                                                        flow from </a:t>
            </a:r>
            <a:r>
              <a:rPr lang="en-GB" altLang="en-US" sz="1600"/>
              <a:t>this </a:t>
            </a:r>
            <a:r>
              <a:rPr lang="en-GB" altLang="en-US" sz="1600" smtClean="0"/>
              <a:t>node                                                                                                                        </a:t>
            </a:r>
            <a:r>
              <a:rPr lang="en-GB" altLang="en-US" sz="1600" smtClean="0">
                <a:sym typeface="Wingdings" panose="05000000000000000000" pitchFamily="2" charset="2"/>
              </a:rPr>
              <a:t> </a:t>
            </a:r>
            <a:r>
              <a:rPr lang="en-GB" altLang="en-US" sz="1600" smtClean="0"/>
              <a:t>inflow node of the lower catchment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GB" altLang="en-US" sz="1600" smtClean="0"/>
              <a:t>may be considered ‘0’ to allow for                                                                           interior catchments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GB" altLang="en-US"/>
          </a:p>
          <a:p>
            <a:pPr marL="0" indent="0">
              <a:defRPr/>
            </a:pPr>
            <a:endParaRPr lang="en-US" altLang="en-US" smtClean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– edge</a:t>
            </a:r>
            <a:r>
              <a:rPr lang="en-GB"/>
              <a:t> </a:t>
            </a:r>
            <a:r>
              <a:rPr lang="en-GB" smtClean="0"/>
              <a:t>bounded by node</a:t>
            </a:r>
          </a:p>
        </p:txBody>
      </p:sp>
      <p:sp>
        <p:nvSpPr>
          <p:cNvPr id="8196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smtClean="0">
                <a:solidFill>
                  <a:srgbClr val="092E5C"/>
                </a:solidFill>
              </a:rPr>
              <a:t>Copyright © 2016 Open Geospatial Consortium</a:t>
            </a:r>
          </a:p>
        </p:txBody>
      </p:sp>
      <p:grpSp>
        <p:nvGrpSpPr>
          <p:cNvPr id="8197" name="Gruppieren 3"/>
          <p:cNvGrpSpPr>
            <a:grpSpLocks/>
          </p:cNvGrpSpPr>
          <p:nvPr/>
        </p:nvGrpSpPr>
        <p:grpSpPr bwMode="auto">
          <a:xfrm>
            <a:off x="4953000" y="2959100"/>
            <a:ext cx="4057650" cy="3594100"/>
            <a:chOff x="4953000" y="2959100"/>
            <a:chExt cx="4057650" cy="3594100"/>
          </a:xfrm>
        </p:grpSpPr>
        <p:pic>
          <p:nvPicPr>
            <p:cNvPr id="8198" name="Grafik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3306763"/>
              <a:ext cx="4057650" cy="287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9" name="Textfeld 23"/>
            <p:cNvSpPr txBox="1">
              <a:spLocks noChangeArrowheads="1"/>
            </p:cNvSpPr>
            <p:nvPr/>
          </p:nvSpPr>
          <p:spPr bwMode="auto">
            <a:xfrm>
              <a:off x="6550025" y="6245225"/>
              <a:ext cx="15144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/>
                <a:t>receiving catchment</a:t>
              </a:r>
            </a:p>
          </p:txBody>
        </p:sp>
        <p:sp>
          <p:nvSpPr>
            <p:cNvPr id="8200" name="Rechteck 2"/>
            <p:cNvSpPr>
              <a:spLocks noChangeArrowheads="1"/>
            </p:cNvSpPr>
            <p:nvPr/>
          </p:nvSpPr>
          <p:spPr bwMode="auto">
            <a:xfrm>
              <a:off x="5802313" y="4306888"/>
              <a:ext cx="174625" cy="182562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pPr algn="ctr"/>
              <a:endParaRPr lang="en-GB" altLang="en-US"/>
            </a:p>
          </p:txBody>
        </p:sp>
        <p:sp>
          <p:nvSpPr>
            <p:cNvPr id="8201" name="Textfeld 18"/>
            <p:cNvSpPr txBox="1">
              <a:spLocks noChangeArrowheads="1"/>
            </p:cNvSpPr>
            <p:nvPr/>
          </p:nvSpPr>
          <p:spPr bwMode="auto">
            <a:xfrm>
              <a:off x="6096000" y="3883025"/>
              <a:ext cx="9144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GB" altLang="en-US"/>
                <a:t>inflow node </a:t>
              </a:r>
            </a:p>
            <a:p>
              <a:pPr algn="ctr"/>
              <a:r>
                <a:rPr lang="en-GB" altLang="en-US"/>
                <a:t>‘from’ </a:t>
              </a:r>
            </a:p>
          </p:txBody>
        </p:sp>
        <p:sp>
          <p:nvSpPr>
            <p:cNvPr id="8202" name="Textfeld 22"/>
            <p:cNvSpPr txBox="1">
              <a:spLocks noChangeArrowheads="1"/>
            </p:cNvSpPr>
            <p:nvPr/>
          </p:nvSpPr>
          <p:spPr bwMode="auto">
            <a:xfrm>
              <a:off x="6477000" y="5410200"/>
              <a:ext cx="9144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GB" altLang="en-US"/>
                <a:t>‘to’ </a:t>
              </a:r>
            </a:p>
            <a:p>
              <a:pPr algn="ctr"/>
              <a:r>
                <a:rPr lang="en-GB" altLang="en-US"/>
                <a:t>outflow node</a:t>
              </a:r>
            </a:p>
          </p:txBody>
        </p:sp>
        <p:sp>
          <p:nvSpPr>
            <p:cNvPr id="8203" name="Textfeld 23"/>
            <p:cNvSpPr txBox="1">
              <a:spLocks noChangeArrowheads="1"/>
            </p:cNvSpPr>
            <p:nvPr/>
          </p:nvSpPr>
          <p:spPr bwMode="auto">
            <a:xfrm>
              <a:off x="5800725" y="4264025"/>
              <a:ext cx="15144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pPr algn="r"/>
              <a:r>
                <a:rPr lang="en-GB" altLang="en-US"/>
                <a:t>receiving catchment</a:t>
              </a:r>
            </a:p>
          </p:txBody>
        </p:sp>
        <p:cxnSp>
          <p:nvCxnSpPr>
            <p:cNvPr id="8204" name="Gerade Verbindung mit Pfeil 20"/>
            <p:cNvCxnSpPr>
              <a:cxnSpLocks noChangeShapeType="1"/>
            </p:cNvCxnSpPr>
            <p:nvPr/>
          </p:nvCxnSpPr>
          <p:spPr bwMode="auto">
            <a:xfrm>
              <a:off x="6999288" y="3824288"/>
              <a:ext cx="163512" cy="460375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5" name="Gerade Verbindung mit Pfeil 25"/>
            <p:cNvCxnSpPr>
              <a:cxnSpLocks noChangeShapeType="1"/>
            </p:cNvCxnSpPr>
            <p:nvPr/>
          </p:nvCxnSpPr>
          <p:spPr bwMode="auto">
            <a:xfrm flipV="1">
              <a:off x="7000875" y="3376613"/>
              <a:ext cx="204788" cy="454025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6" name="Textfeld 23"/>
            <p:cNvSpPr txBox="1">
              <a:spLocks noChangeArrowheads="1"/>
            </p:cNvSpPr>
            <p:nvPr/>
          </p:nvSpPr>
          <p:spPr bwMode="auto">
            <a:xfrm>
              <a:off x="6550025" y="2959100"/>
              <a:ext cx="15144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/>
                <a:t>contributing catchment</a:t>
              </a:r>
            </a:p>
          </p:txBody>
        </p:sp>
        <p:cxnSp>
          <p:nvCxnSpPr>
            <p:cNvPr id="8207" name="Gerade Verbindung mit Pfeil 20"/>
            <p:cNvCxnSpPr>
              <a:cxnSpLocks noChangeShapeType="1"/>
            </p:cNvCxnSpPr>
            <p:nvPr/>
          </p:nvCxnSpPr>
          <p:spPr bwMode="auto">
            <a:xfrm>
              <a:off x="7370763" y="5292725"/>
              <a:ext cx="163512" cy="460375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8" name="Gerade Verbindung mit Pfeil 25"/>
            <p:cNvCxnSpPr>
              <a:cxnSpLocks noChangeShapeType="1"/>
            </p:cNvCxnSpPr>
            <p:nvPr/>
          </p:nvCxnSpPr>
          <p:spPr bwMode="auto">
            <a:xfrm flipV="1">
              <a:off x="7335838" y="5759450"/>
              <a:ext cx="204787" cy="454025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9" name="Textfeld 23"/>
            <p:cNvSpPr txBox="1">
              <a:spLocks noChangeArrowheads="1"/>
            </p:cNvSpPr>
            <p:nvPr/>
          </p:nvSpPr>
          <p:spPr bwMode="auto">
            <a:xfrm>
              <a:off x="5800725" y="5029200"/>
              <a:ext cx="15144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pPr algn="r"/>
              <a:r>
                <a:rPr lang="en-GB" altLang="en-US"/>
                <a:t>contributing catchment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Special catchment types in HYF</a:t>
            </a:r>
            <a:endParaRPr lang="en-GB" dirty="0"/>
          </a:p>
        </p:txBody>
      </p:sp>
      <p:sp>
        <p:nvSpPr>
          <p:cNvPr id="12291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itchFamily="34" charset="0"/>
              </a:rPr>
              <a:t>Copyright © 2016 Open Geospatial Consortium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/>
        </p:nvGraphicFramePr>
        <p:xfrm>
          <a:off x="762000" y="1241425"/>
          <a:ext cx="7696200" cy="3440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258"/>
                <a:gridCol w="1499443"/>
                <a:gridCol w="1499443"/>
                <a:gridCol w="1478867"/>
                <a:gridCol w="1549189"/>
              </a:tblGrid>
              <a:tr h="639994">
                <a:tc>
                  <a:txBody>
                    <a:bodyPr/>
                    <a:lstStyle/>
                    <a:p>
                      <a:pPr algn="ctr"/>
                      <a:r>
                        <a:rPr lang="en-GB" sz="1800" smtClean="0"/>
                        <a:t>Catchment</a:t>
                      </a:r>
                    </a:p>
                    <a:p>
                      <a:pPr algn="ctr"/>
                      <a:r>
                        <a:rPr lang="en-GB" sz="1800" smtClean="0"/>
                        <a:t>type</a:t>
                      </a:r>
                      <a:endParaRPr lang="en-GB" sz="1800" dirty="0"/>
                    </a:p>
                  </a:txBody>
                  <a:tcPr marT="45714" marB="45714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 smtClean="0"/>
                    </a:p>
                  </a:txBody>
                  <a:tcPr marT="45714" marB="45714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Inflow (boundary)</a:t>
                      </a:r>
                    </a:p>
                  </a:txBody>
                  <a:tcPr marT="45714" marB="45714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smtClean="0"/>
                        <a:t>Catchment</a:t>
                      </a:r>
                    </a:p>
                    <a:p>
                      <a:pPr algn="ctr"/>
                      <a:r>
                        <a:rPr lang="en-GB" sz="1800" smtClean="0"/>
                        <a:t> (inside)</a:t>
                      </a:r>
                      <a:endParaRPr lang="en-GB" sz="1800"/>
                    </a:p>
                  </a:txBody>
                  <a:tcPr marT="45714" marB="45714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smtClean="0"/>
                        <a:t>Outflow (boundary)</a:t>
                      </a:r>
                      <a:endParaRPr lang="en-GB" sz="1800"/>
                    </a:p>
                  </a:txBody>
                  <a:tcPr marT="45714" marB="45714" anchor="ctr">
                    <a:solidFill>
                      <a:srgbClr val="4F81BD"/>
                    </a:solidFill>
                  </a:tcPr>
                </a:tc>
              </a:tr>
              <a:tr h="655232">
                <a:tc>
                  <a:txBody>
                    <a:bodyPr/>
                    <a:lstStyle/>
                    <a:p>
                      <a:pPr marL="0">
                        <a:spcBef>
                          <a:spcPts val="600"/>
                        </a:spcBef>
                      </a:pPr>
                      <a:r>
                        <a:rPr lang="en-GB" sz="1600" baseline="0" smtClean="0"/>
                        <a:t>Dendritic</a:t>
                      </a:r>
                    </a:p>
                    <a:p>
                      <a:pPr marL="0">
                        <a:spcBef>
                          <a:spcPts val="600"/>
                        </a:spcBef>
                      </a:pPr>
                      <a:r>
                        <a:rPr lang="en-GB" sz="1600" baseline="0" smtClean="0"/>
                        <a:t>Catchment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0..1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1..1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1..1</a:t>
                      </a:r>
                      <a:endParaRPr lang="en-GB" sz="1600"/>
                    </a:p>
                  </a:txBody>
                  <a:tcPr marT="45714" marB="45714"/>
                </a:tc>
              </a:tr>
              <a:tr h="630863">
                <a:tc>
                  <a:txBody>
                    <a:bodyPr/>
                    <a:lstStyle/>
                    <a:p>
                      <a:pPr marL="0">
                        <a:spcBef>
                          <a:spcPts val="600"/>
                        </a:spcBef>
                      </a:pPr>
                      <a:r>
                        <a:rPr lang="en-GB" sz="1600" smtClean="0"/>
                        <a:t>Interior catchment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1..1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1..1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0</a:t>
                      </a:r>
                      <a:endParaRPr lang="en-GB" sz="1600"/>
                    </a:p>
                  </a:txBody>
                  <a:tcPr marT="45714" marB="45714"/>
                </a:tc>
              </a:tr>
              <a:tr h="630863">
                <a:tc>
                  <a:txBody>
                    <a:bodyPr/>
                    <a:lstStyle/>
                    <a:p>
                      <a:pPr marL="0">
                        <a:spcBef>
                          <a:spcPts val="600"/>
                        </a:spcBef>
                      </a:pPr>
                      <a:r>
                        <a:rPr lang="en-GB" sz="1600" i="1" smtClean="0"/>
                        <a:t>does not exist by</a:t>
                      </a:r>
                      <a:r>
                        <a:rPr lang="en-GB" sz="1600" i="1" baseline="0" smtClean="0"/>
                        <a:t> definition</a:t>
                      </a:r>
                      <a:endParaRPr lang="en-GB" sz="1600" i="1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GB" sz="1600" i="1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i="1" dirty="0" smtClean="0"/>
                        <a:t>0</a:t>
                      </a:r>
                      <a:endParaRPr lang="en-GB" sz="1600" i="1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i="1" smtClean="0"/>
                        <a:t>1..1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i="1" smtClean="0"/>
                        <a:t>1..1</a:t>
                      </a:r>
                      <a:endParaRPr lang="en-GB" sz="1600" i="1"/>
                    </a:p>
                  </a:txBody>
                  <a:tcPr marT="45714" marB="45714"/>
                </a:tc>
              </a:tr>
              <a:tr h="883161">
                <a:tc>
                  <a:txBody>
                    <a:bodyPr/>
                    <a:lstStyle/>
                    <a:p>
                      <a:pPr marL="0">
                        <a:spcBef>
                          <a:spcPts val="600"/>
                        </a:spcBef>
                      </a:pPr>
                      <a:r>
                        <a:rPr lang="en-GB" sz="1600" smtClean="0"/>
                        <a:t>Catchment aggregate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smtClean="0"/>
                        <a:t>0</a:t>
                      </a:r>
                      <a:endParaRPr lang="en-GB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1..n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0..1</a:t>
                      </a:r>
                      <a:endParaRPr lang="en-GB" sz="1600" dirty="0"/>
                    </a:p>
                  </a:txBody>
                  <a:tcPr marT="45714" marB="45714"/>
                </a:tc>
              </a:tr>
            </a:tbl>
          </a:graphicData>
        </a:graphic>
      </p:graphicFrame>
      <p:grpSp>
        <p:nvGrpSpPr>
          <p:cNvPr id="12331" name="Gruppieren 6"/>
          <p:cNvGrpSpPr>
            <a:grpSpLocks/>
          </p:cNvGrpSpPr>
          <p:nvPr/>
        </p:nvGrpSpPr>
        <p:grpSpPr bwMode="auto">
          <a:xfrm>
            <a:off x="2743200" y="3999340"/>
            <a:ext cx="806450" cy="620285"/>
            <a:chOff x="2979997" y="3925436"/>
            <a:chExt cx="806495" cy="620281"/>
          </a:xfrm>
        </p:grpSpPr>
        <p:grpSp>
          <p:nvGrpSpPr>
            <p:cNvPr id="12341" name="Gruppieren 16"/>
            <p:cNvGrpSpPr>
              <a:grpSpLocks/>
            </p:cNvGrpSpPr>
            <p:nvPr/>
          </p:nvGrpSpPr>
          <p:grpSpPr bwMode="auto">
            <a:xfrm>
              <a:off x="2979997" y="3925436"/>
              <a:ext cx="806495" cy="620281"/>
              <a:chOff x="2964757" y="3915998"/>
              <a:chExt cx="806495" cy="620281"/>
            </a:xfrm>
          </p:grpSpPr>
          <p:sp>
            <p:nvSpPr>
              <p:cNvPr id="22" name="Regelmäßiges Fünfeck 21"/>
              <p:cNvSpPr/>
              <p:nvPr/>
            </p:nvSpPr>
            <p:spPr>
              <a:xfrm rot="8940000">
                <a:off x="2964757" y="3915571"/>
                <a:ext cx="806495" cy="620708"/>
              </a:xfrm>
              <a:prstGeom prst="pentagon">
                <a:avLst/>
              </a:prstGeom>
              <a:solidFill>
                <a:srgbClr val="B4D800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23" name="Freihandform 22"/>
              <p:cNvSpPr/>
              <p:nvPr/>
            </p:nvSpPr>
            <p:spPr>
              <a:xfrm>
                <a:off x="3523588" y="4033045"/>
                <a:ext cx="152409" cy="444497"/>
              </a:xfrm>
              <a:custGeom>
                <a:avLst/>
                <a:gdLst>
                  <a:gd name="connsiteX0" fmla="*/ 149225 w 151781"/>
                  <a:gd name="connsiteY0" fmla="*/ 0 h 444500"/>
                  <a:gd name="connsiteX1" fmla="*/ 142875 w 151781"/>
                  <a:gd name="connsiteY1" fmla="*/ 76200 h 444500"/>
                  <a:gd name="connsiteX2" fmla="*/ 76200 w 151781"/>
                  <a:gd name="connsiteY2" fmla="*/ 107950 h 444500"/>
                  <a:gd name="connsiteX3" fmla="*/ 63500 w 151781"/>
                  <a:gd name="connsiteY3" fmla="*/ 241300 h 444500"/>
                  <a:gd name="connsiteX4" fmla="*/ 0 w 151781"/>
                  <a:gd name="connsiteY4" fmla="*/ 444500 h 444500"/>
                  <a:gd name="connsiteX5" fmla="*/ 0 w 151781"/>
                  <a:gd name="connsiteY5" fmla="*/ 444500 h 44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81" h="444500">
                    <a:moveTo>
                      <a:pt x="149225" y="0"/>
                    </a:moveTo>
                    <a:cubicBezTo>
                      <a:pt x="152135" y="29104"/>
                      <a:pt x="155046" y="58208"/>
                      <a:pt x="142875" y="76200"/>
                    </a:cubicBezTo>
                    <a:cubicBezTo>
                      <a:pt x="130704" y="94192"/>
                      <a:pt x="89429" y="80433"/>
                      <a:pt x="76200" y="107950"/>
                    </a:cubicBezTo>
                    <a:cubicBezTo>
                      <a:pt x="62971" y="135467"/>
                      <a:pt x="76200" y="185208"/>
                      <a:pt x="63500" y="241300"/>
                    </a:cubicBezTo>
                    <a:cubicBezTo>
                      <a:pt x="50800" y="297392"/>
                      <a:pt x="0" y="444500"/>
                      <a:pt x="0" y="444500"/>
                    </a:cubicBezTo>
                    <a:lnTo>
                      <a:pt x="0" y="444500"/>
                    </a:lnTo>
                  </a:path>
                </a:pathLst>
              </a:cu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24" name="Freihandform 23"/>
              <p:cNvSpPr/>
              <p:nvPr/>
            </p:nvSpPr>
            <p:spPr>
              <a:xfrm>
                <a:off x="3163206" y="3993358"/>
                <a:ext cx="357207" cy="488947"/>
              </a:xfrm>
              <a:custGeom>
                <a:avLst/>
                <a:gdLst>
                  <a:gd name="connsiteX0" fmla="*/ 15763 w 358663"/>
                  <a:gd name="connsiteY0" fmla="*/ 0 h 488950"/>
                  <a:gd name="connsiteX1" fmla="*/ 9413 w 358663"/>
                  <a:gd name="connsiteY1" fmla="*/ 139700 h 488950"/>
                  <a:gd name="connsiteX2" fmla="*/ 126888 w 358663"/>
                  <a:gd name="connsiteY2" fmla="*/ 196850 h 488950"/>
                  <a:gd name="connsiteX3" fmla="*/ 222138 w 358663"/>
                  <a:gd name="connsiteY3" fmla="*/ 231775 h 488950"/>
                  <a:gd name="connsiteX4" fmla="*/ 257063 w 358663"/>
                  <a:gd name="connsiteY4" fmla="*/ 269875 h 488950"/>
                  <a:gd name="connsiteX5" fmla="*/ 276113 w 358663"/>
                  <a:gd name="connsiteY5" fmla="*/ 330200 h 488950"/>
                  <a:gd name="connsiteX6" fmla="*/ 320563 w 358663"/>
                  <a:gd name="connsiteY6" fmla="*/ 374650 h 488950"/>
                  <a:gd name="connsiteX7" fmla="*/ 358663 w 358663"/>
                  <a:gd name="connsiteY7" fmla="*/ 488950 h 488950"/>
                  <a:gd name="connsiteX8" fmla="*/ 358663 w 358663"/>
                  <a:gd name="connsiteY8" fmla="*/ 488950 h 488950"/>
                  <a:gd name="connsiteX9" fmla="*/ 358663 w 358663"/>
                  <a:gd name="connsiteY9" fmla="*/ 488950 h 488950"/>
                  <a:gd name="connsiteX10" fmla="*/ 358663 w 358663"/>
                  <a:gd name="connsiteY10" fmla="*/ 488950 h 488950"/>
                  <a:gd name="connsiteX11" fmla="*/ 358663 w 358663"/>
                  <a:gd name="connsiteY11" fmla="*/ 488950 h 488950"/>
                  <a:gd name="connsiteX12" fmla="*/ 358663 w 358663"/>
                  <a:gd name="connsiteY12" fmla="*/ 488950 h 488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8663" h="488950">
                    <a:moveTo>
                      <a:pt x="15763" y="0"/>
                    </a:moveTo>
                    <a:cubicBezTo>
                      <a:pt x="3327" y="53446"/>
                      <a:pt x="-9108" y="106892"/>
                      <a:pt x="9413" y="139700"/>
                    </a:cubicBezTo>
                    <a:cubicBezTo>
                      <a:pt x="27934" y="172508"/>
                      <a:pt x="91434" y="181504"/>
                      <a:pt x="126888" y="196850"/>
                    </a:cubicBezTo>
                    <a:cubicBezTo>
                      <a:pt x="162342" y="212196"/>
                      <a:pt x="200442" y="219604"/>
                      <a:pt x="222138" y="231775"/>
                    </a:cubicBezTo>
                    <a:cubicBezTo>
                      <a:pt x="243834" y="243946"/>
                      <a:pt x="248067" y="253471"/>
                      <a:pt x="257063" y="269875"/>
                    </a:cubicBezTo>
                    <a:cubicBezTo>
                      <a:pt x="266059" y="286279"/>
                      <a:pt x="265530" y="312738"/>
                      <a:pt x="276113" y="330200"/>
                    </a:cubicBezTo>
                    <a:cubicBezTo>
                      <a:pt x="286696" y="347663"/>
                      <a:pt x="306805" y="348192"/>
                      <a:pt x="320563" y="374650"/>
                    </a:cubicBezTo>
                    <a:cubicBezTo>
                      <a:pt x="334321" y="401108"/>
                      <a:pt x="358663" y="488950"/>
                      <a:pt x="358663" y="488950"/>
                    </a:cubicBezTo>
                    <a:lnTo>
                      <a:pt x="358663" y="488950"/>
                    </a:lnTo>
                    <a:lnTo>
                      <a:pt x="358663" y="488950"/>
                    </a:lnTo>
                    <a:lnTo>
                      <a:pt x="358663" y="488950"/>
                    </a:lnTo>
                    <a:lnTo>
                      <a:pt x="358663" y="488950"/>
                    </a:lnTo>
                    <a:lnTo>
                      <a:pt x="358663" y="488950"/>
                    </a:lnTo>
                  </a:path>
                </a:pathLst>
              </a:cu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25" name="Freihandform 24"/>
              <p:cNvSpPr/>
              <p:nvPr/>
            </p:nvSpPr>
            <p:spPr>
              <a:xfrm>
                <a:off x="3021910" y="4294981"/>
                <a:ext cx="504853" cy="184149"/>
              </a:xfrm>
              <a:custGeom>
                <a:avLst/>
                <a:gdLst>
                  <a:gd name="connsiteX0" fmla="*/ 0 w 504825"/>
                  <a:gd name="connsiteY0" fmla="*/ 634 h 184784"/>
                  <a:gd name="connsiteX1" fmla="*/ 146050 w 504825"/>
                  <a:gd name="connsiteY1" fmla="*/ 19684 h 184784"/>
                  <a:gd name="connsiteX2" fmla="*/ 209550 w 504825"/>
                  <a:gd name="connsiteY2" fmla="*/ 130809 h 184784"/>
                  <a:gd name="connsiteX3" fmla="*/ 320675 w 504825"/>
                  <a:gd name="connsiteY3" fmla="*/ 146684 h 184784"/>
                  <a:gd name="connsiteX4" fmla="*/ 504825 w 504825"/>
                  <a:gd name="connsiteY4" fmla="*/ 184784 h 184784"/>
                  <a:gd name="connsiteX5" fmla="*/ 504825 w 504825"/>
                  <a:gd name="connsiteY5" fmla="*/ 184784 h 184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4825" h="184784">
                    <a:moveTo>
                      <a:pt x="0" y="634"/>
                    </a:moveTo>
                    <a:cubicBezTo>
                      <a:pt x="55562" y="-689"/>
                      <a:pt x="111125" y="-2012"/>
                      <a:pt x="146050" y="19684"/>
                    </a:cubicBezTo>
                    <a:cubicBezTo>
                      <a:pt x="180975" y="41380"/>
                      <a:pt x="180446" y="109642"/>
                      <a:pt x="209550" y="130809"/>
                    </a:cubicBezTo>
                    <a:cubicBezTo>
                      <a:pt x="238654" y="151976"/>
                      <a:pt x="271463" y="137688"/>
                      <a:pt x="320675" y="146684"/>
                    </a:cubicBezTo>
                    <a:cubicBezTo>
                      <a:pt x="369887" y="155680"/>
                      <a:pt x="504825" y="184784"/>
                      <a:pt x="504825" y="184784"/>
                    </a:cubicBezTo>
                    <a:lnTo>
                      <a:pt x="504825" y="184784"/>
                    </a:lnTo>
                  </a:path>
                </a:pathLst>
              </a:cu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cxnSp>
            <p:nvCxnSpPr>
              <p:cNvPr id="26" name="Gerade Verbindung 25"/>
              <p:cNvCxnSpPr/>
              <p:nvPr/>
            </p:nvCxnSpPr>
            <p:spPr>
              <a:xfrm>
                <a:off x="2994922" y="4088607"/>
                <a:ext cx="533430" cy="403222"/>
              </a:xfrm>
              <a:prstGeom prst="line">
                <a:avLst/>
              </a:prstGeom>
              <a:ln w="285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 Verbindung 26"/>
              <p:cNvCxnSpPr/>
              <p:nvPr/>
            </p:nvCxnSpPr>
            <p:spPr>
              <a:xfrm flipH="1">
                <a:off x="3528351" y="3953671"/>
                <a:ext cx="55565" cy="538159"/>
              </a:xfrm>
              <a:prstGeom prst="line">
                <a:avLst/>
              </a:prstGeom>
              <a:ln w="285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Ellipse 27"/>
              <p:cNvSpPr/>
              <p:nvPr/>
            </p:nvSpPr>
            <p:spPr>
              <a:xfrm flipH="1" flipV="1">
                <a:off x="3018735" y="4275931"/>
                <a:ext cx="41277" cy="460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29" name="Ellipse 28"/>
              <p:cNvSpPr/>
              <p:nvPr/>
            </p:nvSpPr>
            <p:spPr>
              <a:xfrm>
                <a:off x="3153681" y="3971133"/>
                <a:ext cx="46040" cy="4286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30" name="Ellipse 29"/>
              <p:cNvSpPr/>
              <p:nvPr/>
            </p:nvSpPr>
            <p:spPr>
              <a:xfrm>
                <a:off x="3653770" y="4018757"/>
                <a:ext cx="47628" cy="4445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</p:grpSp>
        <p:sp>
          <p:nvSpPr>
            <p:cNvPr id="18" name="Ellipse 17"/>
            <p:cNvSpPr/>
            <p:nvPr/>
          </p:nvSpPr>
          <p:spPr>
            <a:xfrm>
              <a:off x="3480088" y="4431418"/>
              <a:ext cx="76204" cy="7778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grpSp>
          <p:nvGrpSpPr>
            <p:cNvPr id="12343" name="Gruppieren 18"/>
            <p:cNvGrpSpPr>
              <a:grpSpLocks/>
            </p:cNvGrpSpPr>
            <p:nvPr/>
          </p:nvGrpSpPr>
          <p:grpSpPr bwMode="auto">
            <a:xfrm>
              <a:off x="3331536" y="3933056"/>
              <a:ext cx="205193" cy="160834"/>
              <a:chOff x="3150890" y="2648867"/>
              <a:chExt cx="585437" cy="417163"/>
            </a:xfrm>
          </p:grpSpPr>
          <p:sp>
            <p:nvSpPr>
              <p:cNvPr id="20" name="Regelmäßiges Fünfeck 19"/>
              <p:cNvSpPr/>
              <p:nvPr/>
            </p:nvSpPr>
            <p:spPr>
              <a:xfrm rot="9041521">
                <a:off x="3148947" y="2648582"/>
                <a:ext cx="588841" cy="415874"/>
              </a:xfrm>
              <a:prstGeom prst="pentagon">
                <a:avLst/>
              </a:prstGeom>
              <a:solidFill>
                <a:srgbClr val="4F81BD">
                  <a:alpha val="82000"/>
                </a:srgb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21" name="Ellipse 20"/>
              <p:cNvSpPr/>
              <p:nvPr/>
            </p:nvSpPr>
            <p:spPr>
              <a:xfrm>
                <a:off x="3148947" y="2726816"/>
                <a:ext cx="77001" cy="7823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</p:grpSp>
      </p:grpSp>
      <p:grpSp>
        <p:nvGrpSpPr>
          <p:cNvPr id="12332" name="Gruppieren 7"/>
          <p:cNvGrpSpPr>
            <a:grpSpLocks/>
          </p:cNvGrpSpPr>
          <p:nvPr/>
        </p:nvGrpSpPr>
        <p:grpSpPr bwMode="auto">
          <a:xfrm>
            <a:off x="2893706" y="1981200"/>
            <a:ext cx="583995" cy="493199"/>
            <a:chOff x="3130511" y="1907307"/>
            <a:chExt cx="584028" cy="493196"/>
          </a:xfrm>
        </p:grpSpPr>
        <p:sp>
          <p:nvSpPr>
            <p:cNvPr id="13" name="Regelmäßiges Fünfeck 12"/>
            <p:cNvSpPr/>
            <p:nvPr/>
          </p:nvSpPr>
          <p:spPr>
            <a:xfrm rot="8976007">
              <a:off x="3130818" y="1962870"/>
              <a:ext cx="584233" cy="438147"/>
            </a:xfrm>
            <a:prstGeom prst="pentagon">
              <a:avLst/>
            </a:prstGeom>
            <a:solidFill>
              <a:srgbClr val="B4D800"/>
            </a:solidFill>
            <a:ln>
              <a:solidFill>
                <a:schemeClr val="accent5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" name="Freihandform 13"/>
            <p:cNvSpPr/>
            <p:nvPr/>
          </p:nvSpPr>
          <p:spPr>
            <a:xfrm>
              <a:off x="3376894" y="1920007"/>
              <a:ext cx="155584" cy="434972"/>
            </a:xfrm>
            <a:custGeom>
              <a:avLst/>
              <a:gdLst>
                <a:gd name="connsiteX0" fmla="*/ 63374 w 155100"/>
                <a:gd name="connsiteY0" fmla="*/ 0 h 434566"/>
                <a:gd name="connsiteX1" fmla="*/ 0 w 155100"/>
                <a:gd name="connsiteY1" fmla="*/ 135802 h 434566"/>
                <a:gd name="connsiteX2" fmla="*/ 63374 w 155100"/>
                <a:gd name="connsiteY2" fmla="*/ 253497 h 434566"/>
                <a:gd name="connsiteX3" fmla="*/ 144855 w 155100"/>
                <a:gd name="connsiteY3" fmla="*/ 325924 h 434566"/>
                <a:gd name="connsiteX4" fmla="*/ 153909 w 155100"/>
                <a:gd name="connsiteY4" fmla="*/ 434566 h 434566"/>
                <a:gd name="connsiteX5" fmla="*/ 153909 w 155100"/>
                <a:gd name="connsiteY5" fmla="*/ 434566 h 434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100" h="434566">
                  <a:moveTo>
                    <a:pt x="63374" y="0"/>
                  </a:moveTo>
                  <a:cubicBezTo>
                    <a:pt x="31687" y="46776"/>
                    <a:pt x="0" y="93553"/>
                    <a:pt x="0" y="135802"/>
                  </a:cubicBezTo>
                  <a:cubicBezTo>
                    <a:pt x="0" y="178051"/>
                    <a:pt x="39232" y="221810"/>
                    <a:pt x="63374" y="253497"/>
                  </a:cubicBezTo>
                  <a:cubicBezTo>
                    <a:pt x="87516" y="285184"/>
                    <a:pt x="129766" y="295746"/>
                    <a:pt x="144855" y="325924"/>
                  </a:cubicBezTo>
                  <a:cubicBezTo>
                    <a:pt x="159944" y="356102"/>
                    <a:pt x="153909" y="434566"/>
                    <a:pt x="153909" y="434566"/>
                  </a:cubicBezTo>
                  <a:lnTo>
                    <a:pt x="153909" y="434566"/>
                  </a:lnTo>
                </a:path>
              </a:pathLst>
            </a:cu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" name="Ellipse 14"/>
            <p:cNvSpPr/>
            <p:nvPr/>
          </p:nvSpPr>
          <p:spPr>
            <a:xfrm>
              <a:off x="3494376" y="2301005"/>
              <a:ext cx="76204" cy="777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" name="Ellipse 15"/>
            <p:cNvSpPr/>
            <p:nvPr/>
          </p:nvSpPr>
          <p:spPr>
            <a:xfrm>
              <a:off x="3410234" y="1907307"/>
              <a:ext cx="47628" cy="444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grpSp>
        <p:nvGrpSpPr>
          <p:cNvPr id="12333" name="Gruppieren 8"/>
          <p:cNvGrpSpPr>
            <a:grpSpLocks/>
          </p:cNvGrpSpPr>
          <p:nvPr/>
        </p:nvGrpSpPr>
        <p:grpSpPr bwMode="auto">
          <a:xfrm>
            <a:off x="2887071" y="2688948"/>
            <a:ext cx="583995" cy="433183"/>
            <a:chOff x="3123876" y="2615051"/>
            <a:chExt cx="584028" cy="433181"/>
          </a:xfrm>
        </p:grpSpPr>
        <p:sp>
          <p:nvSpPr>
            <p:cNvPr id="10" name="Regelmäßiges Fünfeck 9"/>
            <p:cNvSpPr/>
            <p:nvPr/>
          </p:nvSpPr>
          <p:spPr>
            <a:xfrm rot="9041521">
              <a:off x="3124468" y="2631203"/>
              <a:ext cx="582645" cy="417511"/>
            </a:xfrm>
            <a:prstGeom prst="pentagon">
              <a:avLst/>
            </a:prstGeom>
            <a:solidFill>
              <a:srgbClr val="4F81BD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1" name="Freihandform 10"/>
            <p:cNvSpPr/>
            <p:nvPr/>
          </p:nvSpPr>
          <p:spPr>
            <a:xfrm>
              <a:off x="3386420" y="2651841"/>
              <a:ext cx="106369" cy="268286"/>
            </a:xfrm>
            <a:custGeom>
              <a:avLst/>
              <a:gdLst>
                <a:gd name="connsiteX0" fmla="*/ 0 w 128602"/>
                <a:gd name="connsiteY0" fmla="*/ 0 h 285750"/>
                <a:gd name="connsiteX1" fmla="*/ 76200 w 128602"/>
                <a:gd name="connsiteY1" fmla="*/ 57150 h 285750"/>
                <a:gd name="connsiteX2" fmla="*/ 128588 w 128602"/>
                <a:gd name="connsiteY2" fmla="*/ 138112 h 285750"/>
                <a:gd name="connsiteX3" fmla="*/ 71438 w 128602"/>
                <a:gd name="connsiteY3" fmla="*/ 247650 h 285750"/>
                <a:gd name="connsiteX4" fmla="*/ 76200 w 128602"/>
                <a:gd name="connsiteY4" fmla="*/ 285750 h 285750"/>
                <a:gd name="connsiteX5" fmla="*/ 76200 w 128602"/>
                <a:gd name="connsiteY5" fmla="*/ 285750 h 285750"/>
                <a:gd name="connsiteX6" fmla="*/ 76200 w 128602"/>
                <a:gd name="connsiteY6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02" h="285750">
                  <a:moveTo>
                    <a:pt x="0" y="0"/>
                  </a:moveTo>
                  <a:cubicBezTo>
                    <a:pt x="27384" y="17065"/>
                    <a:pt x="54769" y="34131"/>
                    <a:pt x="76200" y="57150"/>
                  </a:cubicBezTo>
                  <a:cubicBezTo>
                    <a:pt x="97631" y="80169"/>
                    <a:pt x="129382" y="106362"/>
                    <a:pt x="128588" y="138112"/>
                  </a:cubicBezTo>
                  <a:cubicBezTo>
                    <a:pt x="127794" y="169862"/>
                    <a:pt x="80169" y="223044"/>
                    <a:pt x="71438" y="247650"/>
                  </a:cubicBezTo>
                  <a:cubicBezTo>
                    <a:pt x="62707" y="272256"/>
                    <a:pt x="76200" y="285750"/>
                    <a:pt x="76200" y="285750"/>
                  </a:cubicBezTo>
                  <a:lnTo>
                    <a:pt x="76200" y="285750"/>
                  </a:lnTo>
                  <a:lnTo>
                    <a:pt x="76200" y="285750"/>
                  </a:lnTo>
                </a:path>
              </a:pathLst>
            </a:custGeom>
            <a:solidFill>
              <a:srgbClr val="4F81BD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" name="Ellipse 11"/>
            <p:cNvSpPr/>
            <p:nvPr/>
          </p:nvSpPr>
          <p:spPr>
            <a:xfrm>
              <a:off x="3357843" y="2615328"/>
              <a:ext cx="46041" cy="444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relationships in HYF</a:t>
            </a:r>
            <a:endParaRPr lang="en-GB"/>
          </a:p>
        </p:txBody>
      </p:sp>
      <p:sp>
        <p:nvSpPr>
          <p:cNvPr id="14339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itchFamily="34" charset="0"/>
              </a:rPr>
              <a:t>Copyright © 2016 Open Geospatial Consortium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833075"/>
              </p:ext>
            </p:extLst>
          </p:nvPr>
        </p:nvGraphicFramePr>
        <p:xfrm>
          <a:off x="685800" y="838200"/>
          <a:ext cx="8001000" cy="563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57400"/>
                <a:gridCol w="1600200"/>
                <a:gridCol w="2514600"/>
              </a:tblGrid>
              <a:tr h="63092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Catchment A</a:t>
                      </a:r>
                      <a:endParaRPr lang="en-GB" sz="1600" dirty="0"/>
                    </a:p>
                  </a:txBody>
                  <a:tcPr marT="45719" marB="45719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A ∩ B </a:t>
                      </a:r>
                      <a:endParaRPr lang="en-GB" sz="1600"/>
                    </a:p>
                  </a:txBody>
                  <a:tcPr marT="45719" marB="45719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Catchment B</a:t>
                      </a:r>
                      <a:endParaRPr lang="en-GB" sz="1600"/>
                    </a:p>
                  </a:txBody>
                  <a:tcPr marT="45719" marB="45719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smtClean="0"/>
                        <a:t>Catchment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smtClean="0"/>
                        <a:t>Interactions </a:t>
                      </a:r>
                    </a:p>
                  </a:txBody>
                  <a:tcPr marT="45719" marB="45719">
                    <a:solidFill>
                      <a:srgbClr val="4F81BD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GB" sz="1100" smtClean="0"/>
                        <a:t>Feature type</a:t>
                      </a:r>
                      <a:endParaRPr lang="en-GB" sz="11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smtClean="0"/>
                        <a:t>Feature association</a:t>
                      </a:r>
                      <a:endParaRPr lang="en-GB" sz="11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endParaRPr lang="en-GB" sz="1100" i="1">
                        <a:solidFill>
                          <a:srgbClr val="FF0000"/>
                        </a:solidFill>
                      </a:endParaRPr>
                    </a:p>
                  </a:txBody>
                  <a:tcPr marT="45719" marB="45719"/>
                </a:tc>
              </a:tr>
              <a:tr h="630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smtClean="0"/>
                        <a:t>Any catchment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upper</a:t>
                      </a:r>
                    </a:p>
                    <a:p>
                      <a:pPr algn="ctr"/>
                      <a:r>
                        <a:rPr lang="en-GB" sz="1600" smtClean="0"/>
                        <a:t>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inflow A meets </a:t>
                      </a:r>
                      <a:r>
                        <a:rPr lang="en-GB" sz="1600" dirty="0" smtClean="0"/>
                        <a:t>outflow </a:t>
                      </a:r>
                      <a:r>
                        <a:rPr lang="en-GB" sz="1600" dirty="0" smtClean="0"/>
                        <a:t>B</a:t>
                      </a:r>
                      <a:endParaRPr lang="en-GB" sz="1600" dirty="0"/>
                    </a:p>
                  </a:txBody>
                  <a:tcPr marT="45719" marB="45719"/>
                </a:tc>
              </a:tr>
              <a:tr h="630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smtClean="0"/>
                        <a:t>Any catchment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lower </a:t>
                      </a:r>
                    </a:p>
                    <a:p>
                      <a:pPr algn="ctr"/>
                      <a:r>
                        <a:rPr lang="en-GB" sz="1600" smtClean="0"/>
                        <a:t>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outflow A meets inflow B</a:t>
                      </a:r>
                      <a:endParaRPr lang="en-GB" sz="1600"/>
                    </a:p>
                  </a:txBody>
                  <a:tcPr marT="45719" marB="45719"/>
                </a:tc>
              </a:tr>
              <a:tr h="630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smtClean="0"/>
                        <a:t>Any catchment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conjoint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inflow A meets catch</a:t>
                      </a:r>
                      <a:r>
                        <a:rPr lang="en-GB" sz="1600" baseline="0" smtClean="0"/>
                        <a:t> B catch A meets catch B outflow A meets outflow B</a:t>
                      </a:r>
                      <a:endParaRPr lang="en-GB" sz="1600"/>
                    </a:p>
                  </a:txBody>
                  <a:tcPr marT="45719" marB="45719"/>
                </a:tc>
              </a:tr>
              <a:tr h="579110">
                <a:tc>
                  <a:txBody>
                    <a:bodyPr/>
                    <a:lstStyle/>
                    <a:p>
                      <a:pPr algn="ctr"/>
                      <a:r>
                        <a:rPr lang="en-GB" sz="160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Any catchment</a:t>
                      </a:r>
                      <a:endParaRPr lang="en-GB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endParaRPr lang="en-GB" sz="16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distant  catchment</a:t>
                      </a:r>
                      <a:endParaRPr lang="en-GB" sz="1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no interaction</a:t>
                      </a:r>
                      <a:endParaRPr lang="en-GB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T="45719" marB="45719"/>
                </a:tc>
              </a:tr>
              <a:tr h="630920"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Any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containing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inflow A meets</a:t>
                      </a:r>
                      <a:r>
                        <a:rPr lang="en-GB" sz="1600" baseline="0" smtClean="0"/>
                        <a:t> catch B catch A meets catch B outflow A meets catch B</a:t>
                      </a:r>
                      <a:endParaRPr lang="en-GB" sz="1600" smtClean="0"/>
                    </a:p>
                  </a:txBody>
                  <a:tcPr marT="45719" marB="45719"/>
                </a:tc>
              </a:tr>
              <a:tr h="630920"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Dendritic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encompassing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 smtClean="0"/>
                        <a:t>outflow </a:t>
                      </a:r>
                      <a:r>
                        <a:rPr lang="en-GB" sz="1600" baseline="0" dirty="0" smtClean="0"/>
                        <a:t>A meets outflow B</a:t>
                      </a:r>
                      <a:endParaRPr lang="en-GB" sz="1600" dirty="0"/>
                    </a:p>
                  </a:txBody>
                  <a:tcPr marT="45719" marB="45719"/>
                </a:tc>
              </a:tr>
              <a:tr h="630920"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Interior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enveloping catchment</a:t>
                      </a:r>
                      <a:endParaRPr lang="en-GB" sz="16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inflow A meets </a:t>
                      </a:r>
                      <a:r>
                        <a:rPr lang="en-GB" sz="1600" dirty="0" smtClean="0"/>
                        <a:t>inflow</a:t>
                      </a:r>
                      <a:r>
                        <a:rPr lang="en-GB" sz="1600" baseline="0" dirty="0" smtClean="0"/>
                        <a:t> </a:t>
                      </a:r>
                      <a:r>
                        <a:rPr lang="en-GB" sz="1600" baseline="0" dirty="0" smtClean="0"/>
                        <a:t>B</a:t>
                      </a:r>
                    </a:p>
                  </a:txBody>
                  <a:tcPr marT="45719" marB="45719"/>
                </a:tc>
              </a:tr>
            </a:tbl>
          </a:graphicData>
        </a:graphic>
      </p:graphicFrame>
      <p:cxnSp>
        <p:nvCxnSpPr>
          <p:cNvPr id="6" name="Gerade Verbindung 5"/>
          <p:cNvCxnSpPr>
            <a:stCxn id="23" idx="4"/>
            <a:endCxn id="23" idx="4"/>
          </p:cNvCxnSpPr>
          <p:nvPr/>
        </p:nvCxnSpPr>
        <p:spPr>
          <a:xfrm>
            <a:off x="3586679" y="363219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93" name="Gruppieren 6"/>
          <p:cNvGrpSpPr>
            <a:grpSpLocks/>
          </p:cNvGrpSpPr>
          <p:nvPr/>
        </p:nvGrpSpPr>
        <p:grpSpPr bwMode="auto">
          <a:xfrm>
            <a:off x="3000375" y="1752600"/>
            <a:ext cx="1179513" cy="509588"/>
            <a:chOff x="3123876" y="1766843"/>
            <a:chExt cx="1109797" cy="509734"/>
          </a:xfrm>
        </p:grpSpPr>
        <p:sp>
          <p:nvSpPr>
            <p:cNvPr id="8" name="Regelmäßiges Fünfeck 7"/>
            <p:cNvSpPr/>
            <p:nvPr/>
          </p:nvSpPr>
          <p:spPr>
            <a:xfrm>
              <a:off x="3123876" y="1766843"/>
              <a:ext cx="584025" cy="438276"/>
            </a:xfrm>
            <a:prstGeom prst="pentagon">
              <a:avLst/>
            </a:prstGeom>
            <a:solidFill>
              <a:srgbClr val="B4D800"/>
            </a:solidFill>
            <a:ln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" name="Ellipse 8"/>
            <p:cNvSpPr/>
            <p:nvPr/>
          </p:nvSpPr>
          <p:spPr>
            <a:xfrm>
              <a:off x="3664584" y="1911347"/>
              <a:ext cx="59747" cy="635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0" name="Regelmäßiges Fünfeck 9"/>
            <p:cNvSpPr/>
            <p:nvPr/>
          </p:nvSpPr>
          <p:spPr>
            <a:xfrm rot="10740000">
              <a:off x="3639192" y="1858944"/>
              <a:ext cx="584024" cy="417633"/>
            </a:xfrm>
            <a:prstGeom prst="pentagon">
              <a:avLst/>
            </a:prstGeom>
            <a:solidFill>
              <a:srgbClr val="4F81BD">
                <a:alpha val="82000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1" name="Ellipse 10"/>
            <p:cNvSpPr/>
            <p:nvPr/>
          </p:nvSpPr>
          <p:spPr>
            <a:xfrm>
              <a:off x="4173926" y="2071730"/>
              <a:ext cx="59747" cy="635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42" name="Textfeld 11"/>
            <p:cNvSpPr txBox="1">
              <a:spLocks noChangeArrowheads="1"/>
            </p:cNvSpPr>
            <p:nvPr/>
          </p:nvSpPr>
          <p:spPr bwMode="auto">
            <a:xfrm>
              <a:off x="3275856" y="1844824"/>
              <a:ext cx="2712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  <p:sp>
          <p:nvSpPr>
            <p:cNvPr id="14443" name="Textfeld 12"/>
            <p:cNvSpPr txBox="1">
              <a:spLocks noChangeArrowheads="1"/>
            </p:cNvSpPr>
            <p:nvPr/>
          </p:nvSpPr>
          <p:spPr bwMode="auto">
            <a:xfrm>
              <a:off x="3789437" y="1873399"/>
              <a:ext cx="2776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</p:grpSp>
      <p:grpSp>
        <p:nvGrpSpPr>
          <p:cNvPr id="14394" name="Gruppieren 13"/>
          <p:cNvGrpSpPr>
            <a:grpSpLocks/>
          </p:cNvGrpSpPr>
          <p:nvPr/>
        </p:nvGrpSpPr>
        <p:grpSpPr bwMode="auto">
          <a:xfrm>
            <a:off x="2743200" y="2362200"/>
            <a:ext cx="1095375" cy="601663"/>
            <a:chOff x="2864501" y="2396803"/>
            <a:chExt cx="1031737" cy="600149"/>
          </a:xfrm>
        </p:grpSpPr>
        <p:sp>
          <p:nvSpPr>
            <p:cNvPr id="15" name="Regelmäßiges Fünfeck 14"/>
            <p:cNvSpPr/>
            <p:nvPr/>
          </p:nvSpPr>
          <p:spPr>
            <a:xfrm>
              <a:off x="3301120" y="2558321"/>
              <a:ext cx="584651" cy="438631"/>
            </a:xfrm>
            <a:prstGeom prst="pentagon">
              <a:avLst/>
            </a:prstGeom>
            <a:solidFill>
              <a:srgbClr val="B4D800"/>
            </a:solidFill>
            <a:ln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" name="Regelmäßiges Fünfeck 15"/>
            <p:cNvSpPr/>
            <p:nvPr/>
          </p:nvSpPr>
          <p:spPr>
            <a:xfrm rot="10740000">
              <a:off x="2864501" y="2396803"/>
              <a:ext cx="584651" cy="416462"/>
            </a:xfrm>
            <a:prstGeom prst="pentagon">
              <a:avLst/>
            </a:prstGeom>
            <a:solidFill>
              <a:srgbClr val="4F81BD">
                <a:alpha val="82000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" name="Ellipse 16"/>
            <p:cNvSpPr/>
            <p:nvPr/>
          </p:nvSpPr>
          <p:spPr>
            <a:xfrm>
              <a:off x="3410275" y="2610577"/>
              <a:ext cx="59811" cy="633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" name="Ellipse 17"/>
            <p:cNvSpPr/>
            <p:nvPr/>
          </p:nvSpPr>
          <p:spPr>
            <a:xfrm>
              <a:off x="3836427" y="2708754"/>
              <a:ext cx="59811" cy="633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36" name="Textfeld 18"/>
            <p:cNvSpPr txBox="1">
              <a:spLocks noChangeArrowheads="1"/>
            </p:cNvSpPr>
            <p:nvPr/>
          </p:nvSpPr>
          <p:spPr bwMode="auto">
            <a:xfrm>
              <a:off x="3024164" y="2463535"/>
              <a:ext cx="2776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  <p:sp>
          <p:nvSpPr>
            <p:cNvPr id="14437" name="Textfeld 19"/>
            <p:cNvSpPr txBox="1">
              <a:spLocks noChangeArrowheads="1"/>
            </p:cNvSpPr>
            <p:nvPr/>
          </p:nvSpPr>
          <p:spPr bwMode="auto">
            <a:xfrm>
              <a:off x="3467629" y="2661428"/>
              <a:ext cx="2712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</p:grpSp>
      <p:grpSp>
        <p:nvGrpSpPr>
          <p:cNvPr id="14395" name="Gruppieren 20"/>
          <p:cNvGrpSpPr>
            <a:grpSpLocks/>
          </p:cNvGrpSpPr>
          <p:nvPr/>
        </p:nvGrpSpPr>
        <p:grpSpPr bwMode="auto">
          <a:xfrm>
            <a:off x="3084513" y="3200400"/>
            <a:ext cx="1011237" cy="449262"/>
            <a:chOff x="3203848" y="3090167"/>
            <a:chExt cx="952032" cy="449513"/>
          </a:xfrm>
        </p:grpSpPr>
        <p:sp>
          <p:nvSpPr>
            <p:cNvPr id="22" name="Regelmäßiges Fünfeck 21"/>
            <p:cNvSpPr/>
            <p:nvPr/>
          </p:nvSpPr>
          <p:spPr>
            <a:xfrm rot="10740000">
              <a:off x="3571509" y="3098108"/>
              <a:ext cx="584371" cy="417746"/>
            </a:xfrm>
            <a:prstGeom prst="pentagon">
              <a:avLst/>
            </a:prstGeom>
            <a:solidFill>
              <a:srgbClr val="B4D8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" name="Regelmäßiges Fünfeck 22"/>
            <p:cNvSpPr/>
            <p:nvPr/>
          </p:nvSpPr>
          <p:spPr>
            <a:xfrm>
              <a:off x="3203848" y="3090167"/>
              <a:ext cx="584371" cy="432041"/>
            </a:xfrm>
            <a:prstGeom prst="pentagon">
              <a:avLst/>
            </a:prstGeom>
            <a:solidFill>
              <a:srgbClr val="4F81BD">
                <a:alpha val="82000"/>
              </a:srgbClr>
            </a:solidFill>
            <a:ln>
              <a:solidFill>
                <a:srgbClr val="00206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4" name="Gerade Verbindung 23"/>
            <p:cNvCxnSpPr/>
            <p:nvPr/>
          </p:nvCxnSpPr>
          <p:spPr>
            <a:xfrm rot="600000">
              <a:off x="3656698" y="3196588"/>
              <a:ext cx="131521" cy="44475"/>
            </a:xfrm>
            <a:prstGeom prst="line">
              <a:avLst/>
            </a:prstGeom>
            <a:ln w="28575">
              <a:solidFill>
                <a:srgbClr val="B4D8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/>
            <p:cNvCxnSpPr/>
            <p:nvPr/>
          </p:nvCxnSpPr>
          <p:spPr>
            <a:xfrm rot="600000">
              <a:off x="3567025" y="3368134"/>
              <a:ext cx="131521" cy="44475"/>
            </a:xfrm>
            <a:prstGeom prst="line">
              <a:avLst/>
            </a:prstGeom>
            <a:ln w="28575">
              <a:solidFill>
                <a:srgbClr val="B4D8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25"/>
            <p:cNvCxnSpPr/>
            <p:nvPr/>
          </p:nvCxnSpPr>
          <p:spPr>
            <a:xfrm rot="-660000" flipV="1">
              <a:off x="3704524" y="3258536"/>
              <a:ext cx="109103" cy="157250"/>
            </a:xfrm>
            <a:prstGeom prst="line">
              <a:avLst/>
            </a:prstGeom>
            <a:ln w="28575">
              <a:solidFill>
                <a:srgbClr val="B4D8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26"/>
            <p:cNvCxnSpPr/>
            <p:nvPr/>
          </p:nvCxnSpPr>
          <p:spPr>
            <a:xfrm rot="-1140000" flipV="1">
              <a:off x="3543112" y="3209296"/>
              <a:ext cx="130027" cy="144544"/>
            </a:xfrm>
            <a:prstGeom prst="line">
              <a:avLst/>
            </a:prstGeom>
            <a:ln w="28575">
              <a:solidFill>
                <a:srgbClr val="B4D8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Ellipse 28"/>
            <p:cNvSpPr/>
            <p:nvPr/>
          </p:nvSpPr>
          <p:spPr>
            <a:xfrm>
              <a:off x="3659687" y="3476145"/>
              <a:ext cx="59782" cy="6353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30" name="Textfeld 29"/>
            <p:cNvSpPr txBox="1">
              <a:spLocks noChangeArrowheads="1"/>
            </p:cNvSpPr>
            <p:nvPr/>
          </p:nvSpPr>
          <p:spPr bwMode="auto">
            <a:xfrm>
              <a:off x="3275856" y="3185211"/>
              <a:ext cx="2776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  <p:sp>
          <p:nvSpPr>
            <p:cNvPr id="14431" name="Textfeld 30"/>
            <p:cNvSpPr txBox="1">
              <a:spLocks noChangeArrowheads="1"/>
            </p:cNvSpPr>
            <p:nvPr/>
          </p:nvSpPr>
          <p:spPr bwMode="auto">
            <a:xfrm>
              <a:off x="3791457" y="3111031"/>
              <a:ext cx="2712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</p:grpSp>
      <p:grpSp>
        <p:nvGrpSpPr>
          <p:cNvPr id="14396" name="Gruppieren 31"/>
          <p:cNvGrpSpPr>
            <a:grpSpLocks/>
          </p:cNvGrpSpPr>
          <p:nvPr/>
        </p:nvGrpSpPr>
        <p:grpSpPr bwMode="auto">
          <a:xfrm>
            <a:off x="2820988" y="3860800"/>
            <a:ext cx="1435100" cy="555625"/>
            <a:chOff x="2947838" y="3650274"/>
            <a:chExt cx="1351759" cy="555526"/>
          </a:xfrm>
        </p:grpSpPr>
        <p:sp>
          <p:nvSpPr>
            <p:cNvPr id="33" name="Regelmäßiges Fünfeck 32"/>
            <p:cNvSpPr/>
            <p:nvPr/>
          </p:nvSpPr>
          <p:spPr>
            <a:xfrm>
              <a:off x="2947838" y="3650274"/>
              <a:ext cx="584665" cy="438072"/>
            </a:xfrm>
            <a:prstGeom prst="pentagon">
              <a:avLst/>
            </a:prstGeom>
            <a:solidFill>
              <a:srgbClr val="4F81BD">
                <a:alpha val="82000"/>
              </a:srgbClr>
            </a:solidFill>
            <a:ln>
              <a:solidFill>
                <a:srgbClr val="00206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" name="Regelmäßiges Fünfeck 33"/>
            <p:cNvSpPr/>
            <p:nvPr/>
          </p:nvSpPr>
          <p:spPr>
            <a:xfrm rot="12000000">
              <a:off x="3714931" y="3788362"/>
              <a:ext cx="584666" cy="417438"/>
            </a:xfrm>
            <a:prstGeom prst="pentagon">
              <a:avLst/>
            </a:prstGeom>
            <a:solidFill>
              <a:srgbClr val="B4D80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5" name="Ellipse 34"/>
            <p:cNvSpPr/>
            <p:nvPr/>
          </p:nvSpPr>
          <p:spPr>
            <a:xfrm>
              <a:off x="3478672" y="3789949"/>
              <a:ext cx="61308" cy="6348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6" name="Ellipse 35"/>
            <p:cNvSpPr/>
            <p:nvPr/>
          </p:nvSpPr>
          <p:spPr>
            <a:xfrm>
              <a:off x="4215860" y="4089934"/>
              <a:ext cx="61307" cy="6348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20" name="Textfeld 36"/>
            <p:cNvSpPr txBox="1">
              <a:spLocks noChangeArrowheads="1"/>
            </p:cNvSpPr>
            <p:nvPr/>
          </p:nvSpPr>
          <p:spPr bwMode="auto">
            <a:xfrm>
              <a:off x="3101032" y="3771452"/>
              <a:ext cx="2776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  <p:sp>
          <p:nvSpPr>
            <p:cNvPr id="14421" name="Textfeld 37"/>
            <p:cNvSpPr txBox="1">
              <a:spLocks noChangeArrowheads="1"/>
            </p:cNvSpPr>
            <p:nvPr/>
          </p:nvSpPr>
          <p:spPr bwMode="auto">
            <a:xfrm>
              <a:off x="3878805" y="3844782"/>
              <a:ext cx="2712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</p:grpSp>
      <p:grpSp>
        <p:nvGrpSpPr>
          <p:cNvPr id="14397" name="Gruppieren 38"/>
          <p:cNvGrpSpPr>
            <a:grpSpLocks/>
          </p:cNvGrpSpPr>
          <p:nvPr/>
        </p:nvGrpSpPr>
        <p:grpSpPr bwMode="auto">
          <a:xfrm>
            <a:off x="2870200" y="4625975"/>
            <a:ext cx="846138" cy="555625"/>
            <a:chOff x="3003276" y="5560989"/>
            <a:chExt cx="796064" cy="555244"/>
          </a:xfrm>
        </p:grpSpPr>
        <p:sp>
          <p:nvSpPr>
            <p:cNvPr id="40" name="Regelmäßiges Fünfeck 39"/>
            <p:cNvSpPr/>
            <p:nvPr/>
          </p:nvSpPr>
          <p:spPr>
            <a:xfrm rot="10740000">
              <a:off x="3003276" y="5560989"/>
              <a:ext cx="781128" cy="555244"/>
            </a:xfrm>
            <a:prstGeom prst="pentagon">
              <a:avLst/>
            </a:prstGeom>
            <a:solidFill>
              <a:srgbClr val="B4D80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1" name="Regelmäßiges Fünfeck 40"/>
            <p:cNvSpPr/>
            <p:nvPr/>
          </p:nvSpPr>
          <p:spPr>
            <a:xfrm rot="-2520000">
              <a:off x="3206399" y="5592717"/>
              <a:ext cx="398779" cy="363288"/>
            </a:xfrm>
            <a:prstGeom prst="pentagon">
              <a:avLst/>
            </a:prstGeom>
            <a:solidFill>
              <a:srgbClr val="4F81BD">
                <a:alpha val="82000"/>
              </a:srgbClr>
            </a:solidFill>
            <a:ln>
              <a:solidFill>
                <a:srgbClr val="00206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2" name="Ellipse 41"/>
            <p:cNvSpPr/>
            <p:nvPr/>
          </p:nvSpPr>
          <p:spPr>
            <a:xfrm>
              <a:off x="3572320" y="5784673"/>
              <a:ext cx="61235" cy="6187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3" name="Ellipse 42"/>
            <p:cNvSpPr/>
            <p:nvPr/>
          </p:nvSpPr>
          <p:spPr>
            <a:xfrm>
              <a:off x="3739598" y="5860820"/>
              <a:ext cx="59742" cy="6187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14" name="Textfeld 43"/>
            <p:cNvSpPr txBox="1">
              <a:spLocks noChangeArrowheads="1"/>
            </p:cNvSpPr>
            <p:nvPr/>
          </p:nvSpPr>
          <p:spPr bwMode="auto">
            <a:xfrm>
              <a:off x="3286248" y="5635867"/>
              <a:ext cx="2776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  <p:sp>
          <p:nvSpPr>
            <p:cNvPr id="14415" name="Textfeld 44"/>
            <p:cNvSpPr txBox="1">
              <a:spLocks noChangeArrowheads="1"/>
            </p:cNvSpPr>
            <p:nvPr/>
          </p:nvSpPr>
          <p:spPr bwMode="auto">
            <a:xfrm>
              <a:off x="3014785" y="5701997"/>
              <a:ext cx="2712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</p:grpSp>
      <p:grpSp>
        <p:nvGrpSpPr>
          <p:cNvPr id="14398" name="Gruppieren 45"/>
          <p:cNvGrpSpPr>
            <a:grpSpLocks/>
          </p:cNvGrpSpPr>
          <p:nvPr/>
        </p:nvGrpSpPr>
        <p:grpSpPr bwMode="auto">
          <a:xfrm>
            <a:off x="2819400" y="5921375"/>
            <a:ext cx="841375" cy="555625"/>
            <a:chOff x="3595750" y="5532121"/>
            <a:chExt cx="791756" cy="554400"/>
          </a:xfrm>
        </p:grpSpPr>
        <p:sp>
          <p:nvSpPr>
            <p:cNvPr id="47" name="Regelmäßiges Fünfeck 46"/>
            <p:cNvSpPr/>
            <p:nvPr/>
          </p:nvSpPr>
          <p:spPr>
            <a:xfrm rot="10740000">
              <a:off x="3595750" y="5532121"/>
              <a:ext cx="781299" cy="554400"/>
            </a:xfrm>
            <a:prstGeom prst="pentagon">
              <a:avLst/>
            </a:prstGeom>
            <a:solidFill>
              <a:srgbClr val="B4D800"/>
            </a:solidFill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8" name="Regelmäßiges Fünfeck 47"/>
            <p:cNvSpPr/>
            <p:nvPr/>
          </p:nvSpPr>
          <p:spPr>
            <a:xfrm rot="-2280000">
              <a:off x="3958763" y="5619241"/>
              <a:ext cx="204661" cy="186912"/>
            </a:xfrm>
            <a:prstGeom prst="pentagon">
              <a:avLst/>
            </a:prstGeom>
            <a:solidFill>
              <a:srgbClr val="4F81BD">
                <a:alpha val="81961"/>
              </a:srgbClr>
            </a:solidFill>
            <a:ln>
              <a:solidFill>
                <a:srgbClr val="00206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9" name="Ellipse 48"/>
            <p:cNvSpPr/>
            <p:nvPr/>
          </p:nvSpPr>
          <p:spPr>
            <a:xfrm>
              <a:off x="4327751" y="5821993"/>
              <a:ext cx="59755" cy="6336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08" name="Textfeld 49"/>
            <p:cNvSpPr txBox="1">
              <a:spLocks noChangeArrowheads="1"/>
            </p:cNvSpPr>
            <p:nvPr/>
          </p:nvSpPr>
          <p:spPr bwMode="auto">
            <a:xfrm>
              <a:off x="3683854" y="5626992"/>
              <a:ext cx="2712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  <p:sp>
          <p:nvSpPr>
            <p:cNvPr id="14409" name="Textfeld 50"/>
            <p:cNvSpPr txBox="1">
              <a:spLocks noChangeArrowheads="1"/>
            </p:cNvSpPr>
            <p:nvPr/>
          </p:nvSpPr>
          <p:spPr bwMode="auto">
            <a:xfrm>
              <a:off x="3909465" y="5566017"/>
              <a:ext cx="2776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</p:grpSp>
      <p:grpSp>
        <p:nvGrpSpPr>
          <p:cNvPr id="14399" name="Gruppieren 51"/>
          <p:cNvGrpSpPr>
            <a:grpSpLocks/>
          </p:cNvGrpSpPr>
          <p:nvPr/>
        </p:nvGrpSpPr>
        <p:grpSpPr bwMode="auto">
          <a:xfrm>
            <a:off x="3608388" y="5375275"/>
            <a:ext cx="747712" cy="568325"/>
            <a:chOff x="3003917" y="4309080"/>
            <a:chExt cx="704505" cy="567210"/>
          </a:xfrm>
        </p:grpSpPr>
        <p:sp>
          <p:nvSpPr>
            <p:cNvPr id="53" name="Regelmäßiges Fünfeck 52"/>
            <p:cNvSpPr/>
            <p:nvPr/>
          </p:nvSpPr>
          <p:spPr>
            <a:xfrm rot="8940000">
              <a:off x="3003917" y="4321755"/>
              <a:ext cx="704505" cy="554535"/>
            </a:xfrm>
            <a:prstGeom prst="pentagon">
              <a:avLst/>
            </a:prstGeom>
            <a:solidFill>
              <a:srgbClr val="B4D800"/>
            </a:solidFill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4" name="Gleichschenkliges Dreieck 53"/>
            <p:cNvSpPr/>
            <p:nvPr/>
          </p:nvSpPr>
          <p:spPr>
            <a:xfrm rot="8940000">
              <a:off x="3204350" y="4313833"/>
              <a:ext cx="332060" cy="552951"/>
            </a:xfrm>
            <a:prstGeom prst="triangle">
              <a:avLst/>
            </a:prstGeom>
            <a:solidFill>
              <a:srgbClr val="4F81BD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02" name="Textfeld 54"/>
            <p:cNvSpPr txBox="1">
              <a:spLocks noChangeArrowheads="1"/>
            </p:cNvSpPr>
            <p:nvPr/>
          </p:nvSpPr>
          <p:spPr bwMode="auto">
            <a:xfrm>
              <a:off x="3176140" y="4309080"/>
              <a:ext cx="25024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A</a:t>
              </a:r>
            </a:p>
          </p:txBody>
        </p:sp>
        <p:sp>
          <p:nvSpPr>
            <p:cNvPr id="14403" name="Textfeld 55"/>
            <p:cNvSpPr txBox="1">
              <a:spLocks noChangeArrowheads="1"/>
            </p:cNvSpPr>
            <p:nvPr/>
          </p:nvSpPr>
          <p:spPr bwMode="auto">
            <a:xfrm>
              <a:off x="3052253" y="4574237"/>
              <a:ext cx="24446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CG Times" charset="0"/>
                  <a:ea typeface="MS PGothic" pitchFamily="34" charset="-128"/>
                </a:defRPr>
              </a:lvl9pPr>
            </a:lstStyle>
            <a:p>
              <a:r>
                <a:rPr lang="en-GB" altLang="en-US" sz="1200"/>
                <a:t>B</a:t>
              </a:r>
            </a:p>
          </p:txBody>
        </p:sp>
        <p:sp>
          <p:nvSpPr>
            <p:cNvPr id="57" name="Ellipse 56"/>
            <p:cNvSpPr/>
            <p:nvPr/>
          </p:nvSpPr>
          <p:spPr>
            <a:xfrm>
              <a:off x="3478074" y="4779642"/>
              <a:ext cx="59831" cy="633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4621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975" y="914400"/>
            <a:ext cx="6759575" cy="360838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pattern replicated as necessary </a:t>
            </a:r>
            <a:endParaRPr lang="en-GB"/>
          </a:p>
        </p:txBody>
      </p:sp>
      <p:sp>
        <p:nvSpPr>
          <p:cNvPr id="15364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itchFamily="34" charset="0"/>
              </a:rPr>
              <a:t>Copyright © 2016 Open Geospatial Consortium</a:t>
            </a:r>
          </a:p>
        </p:txBody>
      </p:sp>
      <p:sp>
        <p:nvSpPr>
          <p:cNvPr id="7" name="Inhaltsplatzhalter 6"/>
          <p:cNvSpPr txBox="1">
            <a:spLocks noGrp="1"/>
          </p:cNvSpPr>
          <p:nvPr>
            <p:ph idx="1"/>
          </p:nvPr>
        </p:nvSpPr>
        <p:spPr>
          <a:xfrm>
            <a:off x="730250" y="1279525"/>
            <a:ext cx="7956550" cy="4894263"/>
          </a:xfrm>
          <a:ln w="12700"/>
        </p:spPr>
        <p:txBody>
          <a:bodyPr rtlCol="0">
            <a:spAutoFit/>
          </a:bodyPr>
          <a:lstStyle/>
          <a:p>
            <a:pPr marL="285750" indent="-285750">
              <a:buFont typeface="Wingdings"/>
              <a:buChar char="à"/>
              <a:defRPr/>
            </a:pPr>
            <a:endParaRPr lang="en-GB" smtClean="0"/>
          </a:p>
          <a:p>
            <a:pPr marL="285750" indent="-285750">
              <a:buFont typeface="Wingdings"/>
              <a:buChar char="à"/>
              <a:defRPr/>
            </a:pPr>
            <a:endParaRPr lang="en-GB"/>
          </a:p>
          <a:p>
            <a:pPr marL="285750" indent="-285750">
              <a:buFont typeface="Wingdings"/>
              <a:buChar char="à"/>
              <a:defRPr/>
            </a:pPr>
            <a:endParaRPr lang="en-GB" smtClean="0"/>
          </a:p>
          <a:p>
            <a:pPr marL="285750" indent="-285750">
              <a:buFont typeface="Wingdings"/>
              <a:buChar char="à"/>
              <a:defRPr/>
            </a:pPr>
            <a:endParaRPr lang="en-GB"/>
          </a:p>
          <a:p>
            <a:pPr marL="285750" indent="-285750">
              <a:buFont typeface="Wingdings"/>
              <a:buChar char="à"/>
              <a:defRPr/>
            </a:pPr>
            <a:endParaRPr lang="en-GB" smtClean="0"/>
          </a:p>
          <a:p>
            <a:pPr marL="285750" indent="-285750">
              <a:buFont typeface="Wingdings"/>
              <a:buChar char="à"/>
              <a:defRPr/>
            </a:pPr>
            <a:endParaRPr lang="en-GB"/>
          </a:p>
          <a:p>
            <a:pPr marL="285750" indent="-285750">
              <a:buFont typeface="Wingdings"/>
              <a:buChar char="à"/>
              <a:defRPr/>
            </a:pPr>
            <a:endParaRPr lang="en-GB" smtClean="0"/>
          </a:p>
          <a:p>
            <a:pPr marL="542925" indent="-542925">
              <a:buFont typeface="Wingdings"/>
              <a:buChar char="à"/>
              <a:defRPr/>
            </a:pPr>
            <a:r>
              <a:rPr lang="en-GB" smtClean="0"/>
              <a:t>Hierarchical network of </a:t>
            </a:r>
            <a:r>
              <a:rPr lang="en-GB" dirty="0" smtClean="0"/>
              <a:t>catchments </a:t>
            </a:r>
          </a:p>
          <a:p>
            <a:pPr marL="893763" indent="-550863">
              <a:buFont typeface="Wingdings"/>
              <a:buChar char="à"/>
              <a:defRPr/>
            </a:pPr>
            <a:r>
              <a:rPr lang="de-DE" smtClean="0"/>
              <a:t>Network </a:t>
            </a:r>
            <a:r>
              <a:rPr lang="de-DE" dirty="0" err="1" smtClean="0"/>
              <a:t>of</a:t>
            </a:r>
            <a:r>
              <a:rPr lang="de-DE" dirty="0" smtClean="0"/>
              <a:t> catchment </a:t>
            </a:r>
            <a:r>
              <a:rPr lang="de-DE" dirty="0" err="1" smtClean="0"/>
              <a:t>interpretations</a:t>
            </a:r>
            <a:endParaRPr lang="de-DE" dirty="0" smtClean="0"/>
          </a:p>
          <a:p>
            <a:pPr marL="1255713" indent="-550863">
              <a:buFont typeface="Wingdings"/>
              <a:buChar char="à"/>
              <a:defRPr/>
            </a:pPr>
            <a:r>
              <a:rPr lang="de-DE" smtClean="0"/>
              <a:t>Network </a:t>
            </a:r>
            <a:r>
              <a:rPr lang="de-DE" dirty="0" err="1" smtClean="0"/>
              <a:t>of</a:t>
            </a:r>
            <a:r>
              <a:rPr lang="de-DE" dirty="0" smtClean="0"/>
              <a:t> catchment </a:t>
            </a:r>
            <a:r>
              <a:rPr lang="de-DE" dirty="0" err="1" smtClean="0"/>
              <a:t>representations</a:t>
            </a:r>
            <a:endParaRPr lang="de-DE" dirty="0" smtClean="0"/>
          </a:p>
          <a:p>
            <a:pPr marL="1708150" indent="-560388">
              <a:buFont typeface="Wingdings"/>
              <a:buChar char="à"/>
              <a:defRPr/>
            </a:pPr>
            <a:r>
              <a:rPr lang="de-DE" smtClean="0"/>
              <a:t>Link multiple representations via topology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Catchment – interpretation and representation</a:t>
            </a:r>
            <a:endParaRPr lang="en-GB" dirty="0" smtClean="0"/>
          </a:p>
        </p:txBody>
      </p:sp>
      <p:sp>
        <p:nvSpPr>
          <p:cNvPr id="5124" name="Inhaltsplatzhalter 2"/>
          <p:cNvSpPr>
            <a:spLocks noGrp="1"/>
          </p:cNvSpPr>
          <p:nvPr>
            <p:ph idx="1"/>
          </p:nvPr>
        </p:nvSpPr>
        <p:spPr>
          <a:xfrm>
            <a:off x="381000" y="1433513"/>
            <a:ext cx="8534400" cy="4738687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  <a:defRPr/>
            </a:pPr>
            <a:r>
              <a:rPr lang="en-US" altLang="en-US" dirty="0" smtClean="0"/>
              <a:t>conceptual </a:t>
            </a:r>
            <a:r>
              <a:rPr lang="en-US" altLang="en-US" b="1" dirty="0"/>
              <a:t>catchment </a:t>
            </a:r>
            <a:r>
              <a:rPr lang="en-US" altLang="en-US" b="1" dirty="0" smtClean="0"/>
              <a:t>as proxy for a interpretation</a:t>
            </a:r>
            <a:r>
              <a:rPr lang="en-US" altLang="en-US" dirty="0" smtClean="0"/>
              <a:t> in the perspective of a particular study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/>
              <a:t> catchment </a:t>
            </a:r>
            <a:r>
              <a:rPr lang="en-US" altLang="en-US" dirty="0"/>
              <a:t>pattern </a:t>
            </a:r>
            <a:r>
              <a:rPr lang="en-US" altLang="en-US" dirty="0" smtClean="0"/>
              <a:t>may </a:t>
            </a:r>
            <a:r>
              <a:rPr lang="en-US" altLang="en-US" dirty="0"/>
              <a:t>be ‘transferred’ </a:t>
            </a:r>
            <a:r>
              <a:rPr lang="en-US" altLang="en-US" dirty="0" smtClean="0"/>
              <a:t>to</a:t>
            </a:r>
          </a:p>
          <a:p>
            <a:pPr lvl="1">
              <a:defRPr/>
            </a:pPr>
            <a:r>
              <a:rPr lang="en-US" altLang="en-US" dirty="0" smtClean="0"/>
              <a:t>Water </a:t>
            </a:r>
            <a:r>
              <a:rPr lang="en-US" altLang="en-US" dirty="0"/>
              <a:t>body </a:t>
            </a:r>
            <a:r>
              <a:rPr lang="en-US" altLang="en-US" dirty="0" smtClean="0"/>
              <a:t>‘bounded</a:t>
            </a:r>
            <a:r>
              <a:rPr lang="en-US" altLang="en-US" dirty="0"/>
              <a:t>’ </a:t>
            </a:r>
            <a:r>
              <a:rPr lang="en-US" altLang="en-US" dirty="0" smtClean="0"/>
              <a:t>by a typical reference location, e. g. fixed landmark, etc. </a:t>
            </a:r>
            <a:endParaRPr lang="en-US" altLang="en-US" dirty="0"/>
          </a:p>
          <a:p>
            <a:pPr lvl="1">
              <a:defRPr/>
            </a:pPr>
            <a:r>
              <a:rPr lang="en-US" altLang="en-US" dirty="0" smtClean="0"/>
              <a:t>Channel ‘bounded</a:t>
            </a:r>
            <a:r>
              <a:rPr lang="en-US" altLang="en-US" dirty="0"/>
              <a:t>’ </a:t>
            </a:r>
            <a:r>
              <a:rPr lang="en-US" altLang="en-US" dirty="0" smtClean="0"/>
              <a:t>… by cross section, etc.</a:t>
            </a:r>
            <a:endParaRPr lang="en-US" altLang="en-US" dirty="0"/>
          </a:p>
          <a:p>
            <a:pPr lvl="1">
              <a:defRPr/>
            </a:pPr>
            <a:r>
              <a:rPr lang="en-US" altLang="en-US" dirty="0" smtClean="0"/>
              <a:t>Station on river that forms boundary of a catchment</a:t>
            </a:r>
          </a:p>
          <a:p>
            <a:pPr lvl="1">
              <a:defRPr/>
            </a:pPr>
            <a:r>
              <a:rPr lang="de-DE" altLang="en-US" dirty="0" err="1" smtClean="0"/>
              <a:t>Hydrographic</a:t>
            </a:r>
            <a:r>
              <a:rPr lang="de-DE" altLang="en-US" dirty="0" smtClean="0"/>
              <a:t> </a:t>
            </a:r>
            <a:r>
              <a:rPr lang="de-DE" altLang="en-US" dirty="0" err="1" smtClean="0"/>
              <a:t>network</a:t>
            </a:r>
            <a:r>
              <a:rPr lang="de-DE" altLang="en-US" dirty="0" smtClean="0"/>
              <a:t> </a:t>
            </a:r>
            <a:r>
              <a:rPr lang="de-DE" altLang="en-US" dirty="0" err="1" smtClean="0"/>
              <a:t>interpretation</a:t>
            </a:r>
            <a:r>
              <a:rPr lang="de-DE" altLang="en-US" dirty="0" smtClean="0"/>
              <a:t> </a:t>
            </a:r>
            <a:r>
              <a:rPr lang="de-DE" altLang="en-US" dirty="0" err="1" smtClean="0"/>
              <a:t>of</a:t>
            </a:r>
            <a:r>
              <a:rPr lang="de-DE" altLang="en-US" dirty="0" smtClean="0"/>
              <a:t> </a:t>
            </a:r>
            <a:r>
              <a:rPr lang="de-DE" altLang="en-US" dirty="0" err="1" smtClean="0"/>
              <a:t>catchment</a:t>
            </a:r>
            <a:r>
              <a:rPr lang="de-DE" altLang="en-US" dirty="0" smtClean="0"/>
              <a:t> </a:t>
            </a:r>
            <a:r>
              <a:rPr lang="de-DE" altLang="en-US" dirty="0" err="1" smtClean="0"/>
              <a:t>network</a:t>
            </a:r>
            <a:endParaRPr lang="en-US" altLang="en-US" dirty="0" smtClean="0"/>
          </a:p>
          <a:p>
            <a:pPr lvl="1">
              <a:defRPr/>
            </a:pPr>
            <a:r>
              <a:rPr lang="en-US" altLang="en-US" dirty="0" smtClean="0"/>
              <a:t>…</a:t>
            </a:r>
          </a:p>
          <a:p>
            <a:pPr lvl="1">
              <a:defRPr/>
            </a:pPr>
            <a:endParaRPr lang="en-US" altLang="en-US" dirty="0" smtClean="0"/>
          </a:p>
          <a:p>
            <a:pPr marL="0" indent="0">
              <a:buNone/>
              <a:defRPr/>
            </a:pPr>
            <a:endParaRPr lang="en-US" altLang="en-US" dirty="0" smtClean="0"/>
          </a:p>
        </p:txBody>
      </p:sp>
      <p:sp>
        <p:nvSpPr>
          <p:cNvPr id="7172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smtClean="0">
                <a:solidFill>
                  <a:srgbClr val="092E5C"/>
                </a:solidFill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289518379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Catchment – interpretation and representation</a:t>
            </a:r>
            <a:endParaRPr lang="en-GB" dirty="0" smtClean="0"/>
          </a:p>
        </p:txBody>
      </p:sp>
      <p:sp>
        <p:nvSpPr>
          <p:cNvPr id="5124" name="Inhaltsplatzhalter 2"/>
          <p:cNvSpPr>
            <a:spLocks noGrp="1"/>
          </p:cNvSpPr>
          <p:nvPr>
            <p:ph idx="1"/>
          </p:nvPr>
        </p:nvSpPr>
        <p:spPr>
          <a:xfrm>
            <a:off x="381000" y="1433513"/>
            <a:ext cx="8534400" cy="4738687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  <a:defRPr/>
            </a:pPr>
            <a:r>
              <a:rPr lang="en-US" altLang="en-US" dirty="0"/>
              <a:t>conceptual </a:t>
            </a:r>
            <a:r>
              <a:rPr lang="en-US" altLang="en-US" b="1" dirty="0"/>
              <a:t>catchment as proxy for </a:t>
            </a:r>
            <a:r>
              <a:rPr lang="en-US" altLang="en-US" b="1" dirty="0" smtClean="0"/>
              <a:t>a representation</a:t>
            </a:r>
            <a:r>
              <a:rPr lang="en-US" altLang="en-US" dirty="0" smtClean="0"/>
              <a:t> in </a:t>
            </a:r>
            <a:r>
              <a:rPr lang="en-US" altLang="en-US" dirty="0"/>
              <a:t>the perspective </a:t>
            </a:r>
            <a:r>
              <a:rPr lang="en-US" altLang="en-US" dirty="0" smtClean="0"/>
              <a:t>of particular reporting </a:t>
            </a:r>
            <a:endParaRPr lang="en-US" altLang="en-US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/>
              <a:t> catchment </a:t>
            </a:r>
            <a:r>
              <a:rPr lang="en-US" altLang="en-US" dirty="0"/>
              <a:t>pattern </a:t>
            </a:r>
            <a:r>
              <a:rPr lang="en-US" altLang="en-US" dirty="0" smtClean="0"/>
              <a:t>may </a:t>
            </a:r>
            <a:r>
              <a:rPr lang="en-US" altLang="en-US" dirty="0"/>
              <a:t>be ‘transferred’ to</a:t>
            </a:r>
          </a:p>
          <a:p>
            <a:pPr lvl="1">
              <a:defRPr/>
            </a:pPr>
            <a:r>
              <a:rPr lang="en-US" altLang="en-US" dirty="0" err="1" smtClean="0"/>
              <a:t>Flowpath</a:t>
            </a:r>
            <a:r>
              <a:rPr lang="en-US" altLang="en-US" dirty="0" smtClean="0"/>
              <a:t> bounded by typical start and end such as ‘from-to’</a:t>
            </a:r>
          </a:p>
          <a:p>
            <a:pPr lvl="1">
              <a:defRPr/>
            </a:pPr>
            <a:r>
              <a:rPr lang="en-US" altLang="en-US" dirty="0" smtClean="0"/>
              <a:t>Catchment area bounded by a summit line </a:t>
            </a:r>
          </a:p>
          <a:p>
            <a:pPr lvl="1">
              <a:defRPr/>
            </a:pPr>
            <a:r>
              <a:rPr lang="en-US" altLang="en-US" dirty="0" smtClean="0"/>
              <a:t>Cartographic </a:t>
            </a:r>
            <a:r>
              <a:rPr lang="en-US" altLang="en-US" smtClean="0"/>
              <a:t>visualisation</a:t>
            </a:r>
            <a:r>
              <a:rPr lang="en-US" altLang="en-US" dirty="0" smtClean="0"/>
              <a:t> representing the catchment </a:t>
            </a:r>
          </a:p>
          <a:p>
            <a:pPr lvl="1">
              <a:defRPr/>
            </a:pPr>
            <a:r>
              <a:rPr lang="en-US" altLang="en-US" dirty="0" smtClean="0"/>
              <a:t>… </a:t>
            </a:r>
            <a:endParaRPr lang="en-US" altLang="en-US" dirty="0"/>
          </a:p>
          <a:p>
            <a:pPr lvl="1">
              <a:defRPr/>
            </a:pPr>
            <a:endParaRPr lang="de-DE" altLang="en-US" dirty="0" smtClean="0"/>
          </a:p>
          <a:p>
            <a:pPr marL="347663" lvl="1" indent="0">
              <a:buNone/>
              <a:defRPr/>
            </a:pPr>
            <a:endParaRPr lang="en-US" altLang="en-US" dirty="0" smtClean="0"/>
          </a:p>
        </p:txBody>
      </p:sp>
      <p:sp>
        <p:nvSpPr>
          <p:cNvPr id="7172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smtClean="0">
                <a:solidFill>
                  <a:srgbClr val="092E5C"/>
                </a:solidFill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22056816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Catchment – interpretation and representation  </a:t>
            </a:r>
            <a:endParaRPr lang="en-GB"/>
          </a:p>
        </p:txBody>
      </p:sp>
      <p:sp>
        <p:nvSpPr>
          <p:cNvPr id="16387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itchFamily="34" charset="0"/>
              </a:rPr>
              <a:t>Copyright © 2016 Open Geospatial Consortium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86945"/>
              </p:ext>
            </p:extLst>
          </p:nvPr>
        </p:nvGraphicFramePr>
        <p:xfrm>
          <a:off x="250825" y="1066800"/>
          <a:ext cx="8642351" cy="507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171"/>
                <a:gridCol w="1600458"/>
                <a:gridCol w="1676670"/>
                <a:gridCol w="1828676"/>
                <a:gridCol w="1730376"/>
              </a:tblGrid>
              <a:tr h="57915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Catchment </a:t>
                      </a:r>
                    </a:p>
                    <a:p>
                      <a:pPr algn="ctr"/>
                      <a:r>
                        <a:rPr lang="en-GB" sz="1400" dirty="0" smtClean="0"/>
                        <a:t>(hydrology)</a:t>
                      </a:r>
                      <a:endParaRPr lang="en-GB" sz="1400" dirty="0"/>
                    </a:p>
                  </a:txBody>
                  <a:tcPr marL="91455" marR="91455" marT="45723" marB="45723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Catchment </a:t>
                      </a:r>
                      <a:r>
                        <a:rPr lang="en-GB" sz="1400" smtClean="0"/>
                        <a:t>(topology)</a:t>
                      </a:r>
                      <a:endParaRPr lang="en-GB" sz="1400" dirty="0"/>
                    </a:p>
                  </a:txBody>
                  <a:tcPr marL="91455" marR="91455" marT="45723" marB="45723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Interpretation</a:t>
                      </a:r>
                    </a:p>
                    <a:p>
                      <a:pPr algn="ctr"/>
                      <a:r>
                        <a:rPr lang="en-GB" sz="1400" dirty="0" smtClean="0"/>
                        <a:t>(hydrography,</a:t>
                      </a:r>
                      <a:r>
                        <a:rPr lang="en-GB" sz="1400" baseline="0" dirty="0" smtClean="0"/>
                        <a:t> …)</a:t>
                      </a:r>
                      <a:endParaRPr lang="en-GB" sz="1400" dirty="0"/>
                    </a:p>
                  </a:txBody>
                  <a:tcPr marL="91455" marR="91455" marT="45723" marB="45723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Representation</a:t>
                      </a:r>
                    </a:p>
                    <a:p>
                      <a:pPr algn="ctr"/>
                      <a:r>
                        <a:rPr lang="en-GB" sz="1400" smtClean="0"/>
                        <a:t>(data</a:t>
                      </a:r>
                      <a:r>
                        <a:rPr lang="en-GB" sz="1400" baseline="0" smtClean="0"/>
                        <a:t> product)</a:t>
                      </a:r>
                      <a:endParaRPr lang="en-GB" sz="1400" smtClean="0"/>
                    </a:p>
                  </a:txBody>
                  <a:tcPr marL="91455" marR="91455" marT="45723" marB="45723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Expression</a:t>
                      </a:r>
                      <a:endParaRPr lang="en-GB" sz="1400" smtClean="0"/>
                    </a:p>
                    <a:p>
                      <a:pPr algn="ctr"/>
                      <a:r>
                        <a:rPr lang="en-GB" sz="1400" smtClean="0"/>
                        <a:t>(geometry)</a:t>
                      </a:r>
                      <a:endParaRPr lang="en-GB" sz="1400"/>
                    </a:p>
                  </a:txBody>
                  <a:tcPr marL="91455" marR="91455" marT="45723" marB="45723" anchor="ctr">
                    <a:solidFill>
                      <a:srgbClr val="4F81BD"/>
                    </a:solidFill>
                  </a:tcPr>
                </a:tc>
              </a:tr>
              <a:tr h="457229">
                <a:tc>
                  <a:txBody>
                    <a:bodyPr/>
                    <a:lstStyle/>
                    <a:p>
                      <a:r>
                        <a:rPr lang="en-GB" sz="1200" i="1" smtClean="0">
                          <a:solidFill>
                            <a:srgbClr val="FF0000"/>
                          </a:solidFill>
                        </a:rPr>
                        <a:t>unit of study where “hydro” takes place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smtClean="0">
                          <a:solidFill>
                            <a:srgbClr val="FF0000"/>
                          </a:solidFill>
                        </a:rPr>
                        <a:t>occurrence of water inside</a:t>
                      </a:r>
                      <a:r>
                        <a:rPr lang="en-GB" sz="1200" i="1" baseline="0" smtClean="0">
                          <a:solidFill>
                            <a:srgbClr val="FF0000"/>
                          </a:solidFill>
                        </a:rPr>
                        <a:t> of a boundary</a:t>
                      </a:r>
                      <a:endParaRPr lang="en-GB" sz="1200" i="1" smtClean="0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200" i="1" smtClean="0">
                          <a:solidFill>
                            <a:srgbClr val="FF0000"/>
                          </a:solidFill>
                        </a:rPr>
                        <a:t>catchment</a:t>
                      </a:r>
                      <a:r>
                        <a:rPr lang="en-GB" sz="1200" i="1" baseline="0" smtClean="0">
                          <a:solidFill>
                            <a:srgbClr val="FF0000"/>
                          </a:solidFill>
                        </a:rPr>
                        <a:t> in the </a:t>
                      </a:r>
                      <a:r>
                        <a:rPr lang="en-GB" sz="1200" i="1" smtClean="0">
                          <a:solidFill>
                            <a:srgbClr val="FF0000"/>
                          </a:solidFill>
                        </a:rPr>
                        <a:t>perspective of a study</a:t>
                      </a:r>
                      <a:endParaRPr lang="en-GB" sz="1200" i="1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200" i="1" smtClean="0">
                          <a:solidFill>
                            <a:srgbClr val="FF0000"/>
                          </a:solidFill>
                        </a:rPr>
                        <a:t>presentation</a:t>
                      </a:r>
                      <a:r>
                        <a:rPr lang="en-GB" sz="1200" i="1" baseline="0" smtClean="0">
                          <a:solidFill>
                            <a:srgbClr val="FF0000"/>
                          </a:solidFill>
                        </a:rPr>
                        <a:t> in the perspective of reporting</a:t>
                      </a:r>
                      <a:endParaRPr lang="en-GB" sz="1200" i="1" dirty="0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200" i="1" dirty="0" smtClean="0">
                          <a:solidFill>
                            <a:srgbClr val="FF0000"/>
                          </a:solidFill>
                        </a:rPr>
                        <a:t>using  ISO 19107</a:t>
                      </a:r>
                      <a:endParaRPr lang="en-GB" sz="1200" i="1" dirty="0">
                        <a:solidFill>
                          <a:srgbClr val="FF0000"/>
                        </a:solidFill>
                      </a:endParaRPr>
                    </a:p>
                  </a:txBody>
                  <a:tcPr marL="91455" marR="91455" marT="45723" marB="45723"/>
                </a:tc>
              </a:tr>
              <a:tr h="7315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mtClean="0"/>
                        <a:t>Dendritic catchment,</a:t>
                      </a:r>
                      <a:r>
                        <a:rPr lang="en-GB" sz="1400" baseline="0" smtClean="0"/>
                        <a:t> Interior catchment</a:t>
                      </a:r>
                      <a:endParaRPr lang="en-GB" sz="1400" smtClean="0"/>
                    </a:p>
                    <a:p>
                      <a:endParaRPr lang="en-GB" sz="140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Node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e.g.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smtClean="0"/>
                        <a:t>Station</a:t>
                      </a:r>
                    </a:p>
                    <a:p>
                      <a:endParaRPr lang="en-GB" sz="1400" dirty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i="1" smtClean="0"/>
                        <a:t>as part of network</a:t>
                      </a:r>
                      <a:endParaRPr lang="en-GB" sz="1400" i="1" dirty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as Point </a:t>
                      </a:r>
                      <a:endParaRPr lang="en-GB" sz="1400" dirty="0"/>
                    </a:p>
                  </a:txBody>
                  <a:tcPr marL="91455" marR="91455" marT="45723" marB="45723"/>
                </a:tc>
              </a:tr>
              <a:tr h="1158313">
                <a:tc>
                  <a:txBody>
                    <a:bodyPr/>
                    <a:lstStyle/>
                    <a:p>
                      <a:r>
                        <a:rPr lang="en-GB" sz="1400" smtClean="0"/>
                        <a:t>Dendritic catchment,</a:t>
                      </a:r>
                      <a:r>
                        <a:rPr lang="en-GB" sz="1400" baseline="0" smtClean="0"/>
                        <a:t> Interior catchment</a:t>
                      </a:r>
                      <a:endParaRPr lang="en-GB" sz="140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Edge</a:t>
                      </a:r>
                      <a:r>
                        <a:rPr lang="en-GB" sz="1400" baseline="0" smtClean="0"/>
                        <a:t> </a:t>
                      </a:r>
                      <a:endParaRPr lang="en-GB" sz="140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aseline="0" dirty="0" smtClean="0"/>
                        <a:t>e. g. Water body  </a:t>
                      </a:r>
                      <a:endParaRPr lang="en-GB" sz="1400" dirty="0" smtClean="0"/>
                    </a:p>
                    <a:p>
                      <a:r>
                        <a:rPr lang="en-GB" sz="1400" dirty="0" smtClean="0"/>
                        <a:t>Channel</a:t>
                      </a:r>
                      <a:r>
                        <a:rPr lang="en-GB" sz="1400" baseline="0" dirty="0" smtClean="0"/>
                        <a:t>  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Flowpath</a:t>
                      </a:r>
                      <a:endParaRPr lang="en-GB" sz="1400" dirty="0" smtClean="0"/>
                    </a:p>
                    <a:p>
                      <a:r>
                        <a:rPr lang="en-GB" sz="1400" dirty="0" smtClean="0"/>
                        <a:t> 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as Curve </a:t>
                      </a:r>
                      <a:endParaRPr lang="en-GB" sz="1400" dirty="0"/>
                    </a:p>
                  </a:txBody>
                  <a:tcPr marL="91455" marR="91455" marT="45723" marB="45723"/>
                </a:tc>
              </a:tr>
              <a:tr h="685843">
                <a:tc>
                  <a:txBody>
                    <a:bodyPr/>
                    <a:lstStyle/>
                    <a:p>
                      <a:r>
                        <a:rPr lang="en-GB" sz="1400" smtClean="0"/>
                        <a:t>Dendritic catchment,</a:t>
                      </a:r>
                      <a:r>
                        <a:rPr lang="en-GB" sz="1400" baseline="0" smtClean="0"/>
                        <a:t> Interior catchment</a:t>
                      </a:r>
                      <a:endParaRPr lang="en-GB" sz="140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Face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e.g. Drainage basin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CatchmentArea</a:t>
                      </a:r>
                      <a:endParaRPr lang="en-GB" sz="1400" dirty="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as Surface </a:t>
                      </a:r>
                    </a:p>
                  </a:txBody>
                  <a:tcPr marL="91455" marR="91455" marT="45723" marB="45723"/>
                </a:tc>
              </a:tr>
              <a:tr h="518192">
                <a:tc>
                  <a:txBody>
                    <a:bodyPr/>
                    <a:lstStyle/>
                    <a:p>
                      <a:r>
                        <a:rPr lang="en-GB" sz="1400" smtClean="0"/>
                        <a:t>Dendritic catchment,</a:t>
                      </a:r>
                      <a:r>
                        <a:rPr lang="en-GB" sz="1400" baseline="0" smtClean="0"/>
                        <a:t> Interior catchment</a:t>
                      </a:r>
                      <a:endParaRPr lang="en-GB" sz="140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baseline="0" smtClean="0"/>
                        <a:t>Solid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baseline="0" dirty="0" smtClean="0"/>
                        <a:t>e.g. Hydro-</a:t>
                      </a:r>
                      <a:r>
                        <a:rPr lang="en-GB" sz="1400" baseline="0" dirty="0" err="1" smtClean="0"/>
                        <a:t>Meteo</a:t>
                      </a:r>
                      <a:r>
                        <a:rPr lang="en-GB" sz="1400" baseline="0" dirty="0" smtClean="0"/>
                        <a:t>,  Hydro-Geo unit</a:t>
                      </a:r>
                      <a:endParaRPr lang="en-GB" sz="1400" dirty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i="1" dirty="0" smtClean="0"/>
                        <a:t>not in HYF</a:t>
                      </a:r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i="0" smtClean="0"/>
                        <a:t>as Solid </a:t>
                      </a:r>
                    </a:p>
                  </a:txBody>
                  <a:tcPr marL="91455" marR="91455" marT="45723" marB="45723"/>
                </a:tc>
              </a:tr>
              <a:tr h="944939">
                <a:tc>
                  <a:txBody>
                    <a:bodyPr/>
                    <a:lstStyle/>
                    <a:p>
                      <a:r>
                        <a:rPr lang="en-GB" sz="1400" smtClean="0"/>
                        <a:t>Catchment aggregate</a:t>
                      </a:r>
                      <a:endParaRPr lang="en-GB" sz="140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smtClean="0"/>
                        <a:t>Tree network</a:t>
                      </a:r>
                      <a:endParaRPr lang="en-GB" sz="140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e.g. Hydrographic /</a:t>
                      </a:r>
                      <a:r>
                        <a:rPr lang="en-GB" sz="1400" baseline="0" dirty="0" smtClean="0"/>
                        <a:t> Channel / Station network</a:t>
                      </a:r>
                      <a:endParaRPr lang="en-GB" sz="1400" dirty="0" smtClean="0"/>
                    </a:p>
                    <a:p>
                      <a:endParaRPr lang="en-GB" sz="1400" dirty="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i="0" dirty="0" smtClean="0"/>
                        <a:t>Cartographic</a:t>
                      </a:r>
                      <a:r>
                        <a:rPr lang="en-GB" sz="1400" i="0" baseline="0" dirty="0" smtClean="0"/>
                        <a:t> representation</a:t>
                      </a:r>
                      <a:endParaRPr lang="en-GB" sz="1400" i="0" dirty="0" smtClean="0"/>
                    </a:p>
                  </a:txBody>
                  <a:tcPr marL="91455" marR="91455" marT="45723" marB="45723"/>
                </a:tc>
                <a:tc>
                  <a:txBody>
                    <a:bodyPr/>
                    <a:lstStyle/>
                    <a:p>
                      <a:r>
                        <a:rPr lang="en-GB" sz="1400" i="0" dirty="0" smtClean="0"/>
                        <a:t>as Composite </a:t>
                      </a:r>
                    </a:p>
                  </a:txBody>
                  <a:tcPr marL="91455" marR="91455" marT="45723" marB="45723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Q</a:t>
            </a:r>
            <a:r>
              <a:rPr lang="en-GB" smtClean="0"/>
              <a:t>uestions</a:t>
            </a:r>
            <a:endParaRPr lang="en-GB"/>
          </a:p>
        </p:txBody>
      </p:sp>
      <p:sp>
        <p:nvSpPr>
          <p:cNvPr id="3789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altLang="en-US" sz="4000" smtClean="0"/>
          </a:p>
          <a:p>
            <a:pPr marL="0" indent="0">
              <a:buFontTx/>
              <a:buNone/>
            </a:pPr>
            <a:endParaRPr lang="en-GB" altLang="en-US" sz="4000" smtClean="0"/>
          </a:p>
        </p:txBody>
      </p:sp>
      <p:sp>
        <p:nvSpPr>
          <p:cNvPr id="37892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itchFamily="34" charset="0"/>
              </a:rPr>
              <a:t>Copyright © 2016 Open Geospatial Consortium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1017</Words>
  <Application>Microsoft Office PowerPoint</Application>
  <PresentationFormat>Bildschirmpräsentation (4:3)</PresentationFormat>
  <Paragraphs>218</Paragraphs>
  <Slides>13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OGC_PowerPoint_Template</vt:lpstr>
      <vt:lpstr>Catchment topology pattern in the HY_Features conceptual model</vt:lpstr>
      <vt:lpstr>Catchment topology pattern ?</vt:lpstr>
      <vt:lpstr>Catchment and outfall – a topological closure</vt:lpstr>
      <vt:lpstr>Catchment and outfall – a topological closure</vt:lpstr>
      <vt:lpstr>Catchment - inside and boundaries</vt:lpstr>
      <vt:lpstr>Catchment – edge bounded by node</vt:lpstr>
      <vt:lpstr>Special catchment types in HYF</vt:lpstr>
      <vt:lpstr>Catchment relationships in HYF</vt:lpstr>
      <vt:lpstr>Catchment pattern replicated as necessary </vt:lpstr>
      <vt:lpstr>Catchment – interpretation and representation</vt:lpstr>
      <vt:lpstr>Catchment – interpretation and representation</vt:lpstr>
      <vt:lpstr>Catchment – interpretation and representation  </vt:lpstr>
      <vt:lpstr>Questions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OGC TC/PC</dc:subject>
  <dc:creator>Scott Simmons</dc:creator>
  <cp:lastModifiedBy>iche</cp:lastModifiedBy>
  <cp:revision>226</cp:revision>
  <cp:lastPrinted>2003-02-03T21:59:32Z</cp:lastPrinted>
  <dcterms:created xsi:type="dcterms:W3CDTF">2016-01-15T20:11:27Z</dcterms:created>
  <dcterms:modified xsi:type="dcterms:W3CDTF">2016-06-18T14:46:56Z</dcterms:modified>
</cp:coreProperties>
</file>