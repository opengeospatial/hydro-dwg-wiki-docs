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21"/>
  </p:notesMasterIdLst>
  <p:handoutMasterIdLst>
    <p:handoutMasterId r:id="rId22"/>
  </p:handout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58" r:id="rId20"/>
  </p:sldIdLst>
  <p:sldSz cx="9144000" cy="6858000" type="screen4x3"/>
  <p:notesSz cx="6904038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00"/>
    <a:srgbClr val="000066"/>
    <a:srgbClr val="FFFF99"/>
    <a:srgbClr val="969696"/>
    <a:srgbClr val="CCFFFF"/>
    <a:srgbClr val="5C09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71"/>
  </p:normalViewPr>
  <p:slideViewPr>
    <p:cSldViewPr>
      <p:cViewPr varScale="1">
        <p:scale>
          <a:sx n="129" d="100"/>
          <a:sy n="129" d="100"/>
        </p:scale>
        <p:origin x="1104" y="90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3D35F818-8F95-4D4B-8511-C68E4BFDA9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334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ED3BBFB6-EA16-814E-8BA7-170BD94223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2113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66763" indent="-2921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81100" indent="-2333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55763" indent="-2333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30425" indent="-23336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87625" indent="-2333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44825" indent="-2333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02025" indent="-2333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59225" indent="-2333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978F31F-8ABA-4C5E-9C71-C291D2705FAA}" type="slidenum">
              <a:rPr lang="en-CA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C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185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z="800">
                <a:solidFill>
                  <a:srgbClr val="FFFFFF"/>
                </a:solidFill>
                <a:latin typeface="Arial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13" descr="wmologo.jpeg">
            <a:extLst>
              <a:ext uri="{FF2B5EF4-FFF2-40B4-BE49-F238E27FC236}">
                <a16:creationId xmlns:a16="http://schemas.microsoft.com/office/drawing/2014/main" id="{24D8539B-81A7-4A4C-A17B-C3801694FE2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78274" y="5949280"/>
            <a:ext cx="826527" cy="864096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12F867E-F46D-B640-9878-89A092BEB4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352800" y="6423991"/>
            <a:ext cx="3200400" cy="281609"/>
          </a:xfrm>
          <a:prstGeom prst="rect">
            <a:avLst/>
          </a:prstGeom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176693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wmologo.jpeg">
            <a:extLst>
              <a:ext uri="{FF2B5EF4-FFF2-40B4-BE49-F238E27FC236}">
                <a16:creationId xmlns:a16="http://schemas.microsoft.com/office/drawing/2014/main" id="{339DB870-604C-FB4B-87C5-C8674B9547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78274" y="5949280"/>
            <a:ext cx="826527" cy="86409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D8CEE-31C7-534C-80D7-E976BD52BBE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352800" y="6423991"/>
            <a:ext cx="3200400" cy="281609"/>
          </a:xfrm>
          <a:prstGeom prst="rect">
            <a:avLst/>
          </a:prstGeom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77508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96FCB-D23A-A24C-9D82-3F41F4AC5D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7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66CF4-B06C-C644-947A-3193A300C1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16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6F97B-9CFF-B245-85B9-914B1C89C3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1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45999-4989-CE46-9052-5F6CD8C2D6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E257F-3AC2-0942-956E-433F540C01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6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35DC85-1E39-6F45-8D26-88CB57EE5C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51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941DA-054F-A74C-AF1A-5876988B7C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98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F5C08-9863-464B-8ADE-A89BC4109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56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3E5D2-22FF-DE40-BB45-5904AFD691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65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fld id="{27D0F9EB-4EAC-1044-9312-C01285DE5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>
                <a:solidFill>
                  <a:schemeClr val="tx2"/>
                </a:solidFill>
                <a:latin typeface="Arial" charset="0"/>
              </a:rPr>
              <a:t>®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A24E4B-45EF-BC42-BA52-972986B1E7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423991"/>
            <a:ext cx="3200400" cy="281609"/>
          </a:xfrm>
          <a:prstGeom prst="rect">
            <a:avLst/>
          </a:prstGeom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3.jpe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wateroffice.ec.gc.ca/" TargetMode="External"/><Relationship Id="rId5" Type="http://schemas.openxmlformats.org/officeDocument/2006/relationships/hyperlink" Target="http://www.geobase.ca/" TargetMode="External"/><Relationship Id="rId4" Type="http://schemas.openxmlformats.org/officeDocument/2006/relationships/hyperlink" Target="http://www.gw-info.net/" TargetMode="External"/><Relationship Id="rId9" Type="http://schemas.openxmlformats.org/officeDocument/2006/relationships/hyperlink" Target="http://www.http/climate.weather.gc.ca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eoconnex.ca/id/waterbody/60c56a06be4911d892e2080020a0f4c9" TargetMode="Externa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eoconnex.ca/gsip/app/index.html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1200150" y="2743200"/>
            <a:ext cx="6858000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r>
              <a:rPr lang="en-CA" altLang="en-US" dirty="0" smtClean="0"/>
              <a:t>Linked Data:</a:t>
            </a:r>
            <a:br>
              <a:rPr lang="en-CA" altLang="en-US" dirty="0" smtClean="0"/>
            </a:br>
            <a:r>
              <a:rPr lang="en-CA" altLang="en-US" b="0" dirty="0" smtClean="0"/>
              <a:t>Google-like connection and discovery of hydrological data on the web 	</a:t>
            </a:r>
            <a:br>
              <a:rPr lang="en-CA" altLang="en-US" b="0" dirty="0" smtClean="0"/>
            </a:br>
            <a:endParaRPr lang="en-CA" alt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838200" y="4914900"/>
            <a:ext cx="733425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CA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Boyan Brodaric, Eric Boisvert, Marie-Eve Martin, Mark Sondheim &amp; Mike Major </a:t>
            </a:r>
            <a:endParaRPr lang="en-CA" sz="1500" dirty="0"/>
          </a:p>
          <a:p>
            <a:pPr algn="ctr" eaLnBrk="1" hangingPunct="1">
              <a:defRPr/>
            </a:pPr>
            <a:r>
              <a:rPr lang="en-CA" sz="1800" dirty="0">
                <a:latin typeface="+mj-lt"/>
                <a:ea typeface="+mj-ea"/>
                <a:cs typeface="+mj-cs"/>
              </a:rPr>
              <a:t>Natural Resources Canada</a:t>
            </a:r>
          </a:p>
        </p:txBody>
      </p:sp>
      <p:pic>
        <p:nvPicPr>
          <p:cNvPr id="5124" name="Picture 23" descr="nrcan_fip_f_2c_5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5642372"/>
            <a:ext cx="25717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12" descr="Canada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5586413"/>
            <a:ext cx="1200150" cy="308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8503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43558AA-37C0-4EB3-A6C0-22701AC9F6CF}" type="slidenum">
              <a:rPr lang="en-US" altLang="en-US" smtClean="0"/>
              <a:pPr/>
              <a:t>2</a:t>
            </a:fld>
            <a:endParaRPr lang="en-US" altLang="en-US" smtClean="0"/>
          </a:p>
        </p:txBody>
      </p:sp>
      <p:grpSp>
        <p:nvGrpSpPr>
          <p:cNvPr id="7171" name="Group 25"/>
          <p:cNvGrpSpPr>
            <a:grpSpLocks/>
          </p:cNvGrpSpPr>
          <p:nvPr/>
        </p:nvGrpSpPr>
        <p:grpSpPr bwMode="auto">
          <a:xfrm>
            <a:off x="2118122" y="2386013"/>
            <a:ext cx="4504134" cy="3333750"/>
            <a:chOff x="2824048" y="2037972"/>
            <a:chExt cx="6006022" cy="4445634"/>
          </a:xfrm>
        </p:grpSpPr>
        <p:pic>
          <p:nvPicPr>
            <p:cNvPr id="7179" name="Picture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4048" y="2037972"/>
              <a:ext cx="6006022" cy="4445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180" name="Group 19"/>
            <p:cNvGrpSpPr>
              <a:grpSpLocks/>
            </p:cNvGrpSpPr>
            <p:nvPr/>
          </p:nvGrpSpPr>
          <p:grpSpPr bwMode="auto">
            <a:xfrm>
              <a:off x="3454339" y="2667000"/>
              <a:ext cx="4928018" cy="2362609"/>
              <a:chOff x="3423859" y="2229228"/>
              <a:chExt cx="4928018" cy="2362609"/>
            </a:xfrm>
          </p:grpSpPr>
          <p:sp>
            <p:nvSpPr>
              <p:cNvPr id="7181" name="TextBox 10"/>
              <p:cNvSpPr txBox="1">
                <a:spLocks noChangeArrowheads="1"/>
              </p:cNvSpPr>
              <p:nvPr/>
            </p:nvSpPr>
            <p:spPr bwMode="auto">
              <a:xfrm>
                <a:off x="4996479" y="2229228"/>
                <a:ext cx="1272421" cy="4309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CA" altLang="en-US" sz="1500" dirty="0">
                    <a:solidFill>
                      <a:schemeClr val="bg1"/>
                    </a:solidFill>
                  </a:rPr>
                  <a:t>streams</a:t>
                </a:r>
              </a:p>
            </p:txBody>
          </p:sp>
          <p:sp>
            <p:nvSpPr>
              <p:cNvPr id="7182" name="TextBox 11"/>
              <p:cNvSpPr txBox="1">
                <a:spLocks noChangeArrowheads="1"/>
              </p:cNvSpPr>
              <p:nvPr/>
            </p:nvSpPr>
            <p:spPr bwMode="auto">
              <a:xfrm>
                <a:off x="3423859" y="3133634"/>
                <a:ext cx="1803461" cy="4309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CA" altLang="en-US" sz="1500" dirty="0">
                    <a:solidFill>
                      <a:schemeClr val="bg1"/>
                    </a:solidFill>
                  </a:rPr>
                  <a:t>watersheds</a:t>
                </a:r>
              </a:p>
            </p:txBody>
          </p:sp>
          <p:sp>
            <p:nvSpPr>
              <p:cNvPr id="7183" name="TextBox 12"/>
              <p:cNvSpPr txBox="1">
                <a:spLocks noChangeArrowheads="1"/>
              </p:cNvSpPr>
              <p:nvPr/>
            </p:nvSpPr>
            <p:spPr bwMode="auto">
              <a:xfrm>
                <a:off x="6825278" y="2979747"/>
                <a:ext cx="1526599" cy="738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CA" altLang="en-US" sz="1500" dirty="0">
                    <a:solidFill>
                      <a:schemeClr val="bg1"/>
                    </a:solidFill>
                  </a:rPr>
                  <a:t>gauges</a:t>
                </a:r>
              </a:p>
              <a:p>
                <a:r>
                  <a:rPr lang="en-CA" altLang="en-US" sz="1500" dirty="0">
                    <a:solidFill>
                      <a:schemeClr val="bg1"/>
                    </a:solidFill>
                  </a:rPr>
                  <a:t>    models</a:t>
                </a:r>
              </a:p>
            </p:txBody>
          </p:sp>
          <p:sp>
            <p:nvSpPr>
              <p:cNvPr id="7184" name="TextBox 13"/>
              <p:cNvSpPr txBox="1">
                <a:spLocks noChangeArrowheads="1"/>
              </p:cNvSpPr>
              <p:nvPr/>
            </p:nvSpPr>
            <p:spPr bwMode="auto">
              <a:xfrm>
                <a:off x="5377479" y="3853068"/>
                <a:ext cx="1255059" cy="7387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CA" altLang="en-US" sz="1500">
                    <a:solidFill>
                      <a:schemeClr val="bg1"/>
                    </a:solidFill>
                  </a:rPr>
                  <a:t>aquifers wells</a:t>
                </a:r>
              </a:p>
            </p:txBody>
          </p:sp>
        </p:grpSp>
      </p:grpSp>
      <p:sp>
        <p:nvSpPr>
          <p:cNvPr id="16" name="Content Placeholder 2"/>
          <p:cNvSpPr txBox="1">
            <a:spLocks/>
          </p:cNvSpPr>
          <p:nvPr/>
        </p:nvSpPr>
        <p:spPr>
          <a:xfrm>
            <a:off x="0" y="1150144"/>
            <a:ext cx="9144000" cy="96440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ct val="0"/>
              </a:spcBef>
              <a:buNone/>
              <a:defRPr/>
            </a:pPr>
            <a:r>
              <a:rPr lang="en-CA" altLang="en-US" sz="2700" kern="0" dirty="0">
                <a:solidFill>
                  <a:srgbClr val="557D55"/>
                </a:solidFill>
              </a:rPr>
              <a:t>Toward a National Hydro Data Infrastructure</a:t>
            </a:r>
            <a:endParaRPr lang="en-CA" altLang="en-US" sz="2700" kern="0" dirty="0">
              <a:solidFill>
                <a:srgbClr val="557D55"/>
              </a:solidFill>
            </a:endParaRPr>
          </a:p>
          <a:p>
            <a:pPr algn="ctr">
              <a:spcBef>
                <a:spcPct val="0"/>
              </a:spcBef>
              <a:defRPr/>
            </a:pPr>
            <a:r>
              <a:rPr lang="en-CA" altLang="en-US" sz="2100" kern="0" dirty="0">
                <a:solidFill>
                  <a:srgbClr val="FF0000"/>
                </a:solidFill>
              </a:rPr>
              <a:t>c</a:t>
            </a:r>
            <a:r>
              <a:rPr lang="en-CA" altLang="en-US" sz="2100" kern="0" dirty="0">
                <a:solidFill>
                  <a:srgbClr val="FF0000"/>
                </a:solidFill>
              </a:rPr>
              <a:t>onnect</a:t>
            </a:r>
            <a:r>
              <a:rPr lang="en-CA" altLang="en-US" sz="2100" kern="0" dirty="0"/>
              <a:t>, find, retrieve any data for CAN hydro features</a:t>
            </a:r>
            <a:endParaRPr lang="en-CA" altLang="en-US" sz="2100" kern="0" dirty="0"/>
          </a:p>
          <a:p>
            <a:pPr marL="0" indent="0">
              <a:spcBef>
                <a:spcPct val="0"/>
              </a:spcBef>
              <a:buNone/>
              <a:defRPr/>
            </a:pPr>
            <a:endParaRPr lang="en-CA" altLang="en-US" sz="2100" kern="0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857250" y="1964531"/>
            <a:ext cx="7486650" cy="0"/>
          </a:xfrm>
          <a:prstGeom prst="line">
            <a:avLst/>
          </a:prstGeom>
          <a:ln>
            <a:solidFill>
              <a:srgbClr val="557D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4" name="Picture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123" y="2703910"/>
            <a:ext cx="967978" cy="410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310" y="2393157"/>
            <a:ext cx="1144190" cy="411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6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4581" y="4800601"/>
            <a:ext cx="447675" cy="411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7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7" y="5143500"/>
            <a:ext cx="78581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8" name="Picture 3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3262" y="5143500"/>
            <a:ext cx="24288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7392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B73C2A-C6A8-4364-9B38-5D3F9F9FA5F6}" type="slidenum">
              <a:rPr lang="en-US" altLang="en-US" smtClean="0"/>
              <a:pPr/>
              <a:t>3</a:t>
            </a:fld>
            <a:endParaRPr lang="en-US" altLang="en-US" smtClean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43001" y="1150144"/>
            <a:ext cx="7238999" cy="96440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ct val="0"/>
              </a:spcBef>
              <a:buNone/>
              <a:defRPr/>
            </a:pPr>
            <a:r>
              <a:rPr lang="en-CA" altLang="en-US" sz="2700" kern="0" dirty="0">
                <a:solidFill>
                  <a:srgbClr val="557D55"/>
                </a:solidFill>
              </a:rPr>
              <a:t>Motivation</a:t>
            </a:r>
          </a:p>
          <a:p>
            <a:pPr algn="ctr">
              <a:spcBef>
                <a:spcPct val="0"/>
              </a:spcBef>
              <a:defRPr/>
            </a:pPr>
            <a:r>
              <a:rPr lang="en-CA" altLang="en-US" sz="2100" kern="0" dirty="0"/>
              <a:t>Integrated </a:t>
            </a:r>
            <a:r>
              <a:rPr lang="en-CA" altLang="en-US" sz="2100" kern="0" dirty="0"/>
              <a:t>resource management </a:t>
            </a:r>
            <a:r>
              <a:rPr lang="en-CA" altLang="en-US" sz="2100" kern="0" dirty="0">
                <a:sym typeface="Wingdings" panose="05000000000000000000" pitchFamily="2" charset="2"/>
              </a:rPr>
              <a:t></a:t>
            </a:r>
            <a:r>
              <a:rPr lang="en-CA" altLang="en-US" sz="2100" kern="0" dirty="0"/>
              <a:t> integrated data</a:t>
            </a:r>
            <a:endParaRPr lang="en-CA" altLang="en-US" sz="2100" kern="0" dirty="0"/>
          </a:p>
          <a:p>
            <a:pPr marL="0" indent="0">
              <a:spcBef>
                <a:spcPct val="0"/>
              </a:spcBef>
              <a:buNone/>
              <a:defRPr/>
            </a:pPr>
            <a:endParaRPr lang="en-CA" altLang="en-US" sz="2100" kern="0" dirty="0"/>
          </a:p>
        </p:txBody>
      </p:sp>
      <p:pic>
        <p:nvPicPr>
          <p:cNvPr id="8196" name="Picture 2" descr="Image result for water cyc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156223"/>
            <a:ext cx="5198269" cy="3615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1138238" y="1970485"/>
            <a:ext cx="6860381" cy="0"/>
          </a:xfrm>
          <a:prstGeom prst="line">
            <a:avLst/>
          </a:prstGeom>
          <a:ln>
            <a:solidFill>
              <a:srgbClr val="557D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lowchart: Magnetic Disk 1"/>
          <p:cNvSpPr/>
          <p:nvPr/>
        </p:nvSpPr>
        <p:spPr>
          <a:xfrm>
            <a:off x="4045744" y="5114925"/>
            <a:ext cx="571500" cy="400050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750"/>
          </a:p>
        </p:txBody>
      </p:sp>
      <p:sp>
        <p:nvSpPr>
          <p:cNvPr id="8" name="Flowchart: Magnetic Disk 7"/>
          <p:cNvSpPr/>
          <p:nvPr/>
        </p:nvSpPr>
        <p:spPr>
          <a:xfrm>
            <a:off x="4573191" y="3028950"/>
            <a:ext cx="571500" cy="400050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750"/>
          </a:p>
        </p:txBody>
      </p:sp>
      <p:sp>
        <p:nvSpPr>
          <p:cNvPr id="9" name="Flowchart: Magnetic Disk 8"/>
          <p:cNvSpPr/>
          <p:nvPr/>
        </p:nvSpPr>
        <p:spPr>
          <a:xfrm>
            <a:off x="3629025" y="3800475"/>
            <a:ext cx="571500" cy="400050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750"/>
          </a:p>
        </p:txBody>
      </p:sp>
      <p:sp>
        <p:nvSpPr>
          <p:cNvPr id="10" name="Flowchart: Magnetic Disk 9"/>
          <p:cNvSpPr/>
          <p:nvPr/>
        </p:nvSpPr>
        <p:spPr>
          <a:xfrm>
            <a:off x="5657850" y="4754166"/>
            <a:ext cx="571500" cy="400050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750"/>
          </a:p>
        </p:txBody>
      </p:sp>
      <p:sp>
        <p:nvSpPr>
          <p:cNvPr id="11" name="Flowchart: Magnetic Disk 10"/>
          <p:cNvSpPr/>
          <p:nvPr/>
        </p:nvSpPr>
        <p:spPr>
          <a:xfrm>
            <a:off x="5731669" y="3764756"/>
            <a:ext cx="571500" cy="400050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750"/>
          </a:p>
        </p:txBody>
      </p:sp>
      <p:cxnSp>
        <p:nvCxnSpPr>
          <p:cNvPr id="4" name="Straight Connector 3"/>
          <p:cNvCxnSpPr>
            <a:stCxn id="9" idx="1"/>
          </p:cNvCxnSpPr>
          <p:nvPr/>
        </p:nvCxnSpPr>
        <p:spPr>
          <a:xfrm flipV="1">
            <a:off x="3914775" y="3400425"/>
            <a:ext cx="658416" cy="4000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9" idx="3"/>
            <a:endCxn id="2" idx="1"/>
          </p:cNvCxnSpPr>
          <p:nvPr/>
        </p:nvCxnSpPr>
        <p:spPr>
          <a:xfrm>
            <a:off x="3914775" y="4200525"/>
            <a:ext cx="416719" cy="914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2" idx="4"/>
            <a:endCxn id="10" idx="2"/>
          </p:cNvCxnSpPr>
          <p:nvPr/>
        </p:nvCxnSpPr>
        <p:spPr>
          <a:xfrm flipV="1">
            <a:off x="4617244" y="4954191"/>
            <a:ext cx="1040606" cy="3607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0" idx="1"/>
            <a:endCxn id="11" idx="3"/>
          </p:cNvCxnSpPr>
          <p:nvPr/>
        </p:nvCxnSpPr>
        <p:spPr>
          <a:xfrm flipV="1">
            <a:off x="5943600" y="4164807"/>
            <a:ext cx="73819" cy="5893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1" idx="1"/>
          </p:cNvCxnSpPr>
          <p:nvPr/>
        </p:nvCxnSpPr>
        <p:spPr>
          <a:xfrm flipH="1" flipV="1">
            <a:off x="5137547" y="3389710"/>
            <a:ext cx="879872" cy="3750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95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6401991" y="5657850"/>
            <a:ext cx="1600200" cy="228600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E33122-C07E-4035-937F-64FA9CD73F1F}" type="slidenum">
              <a:rPr lang="en-US" altLang="en-US" smtClean="0"/>
              <a:pPr/>
              <a:t>4</a:t>
            </a:fld>
            <a:endParaRPr lang="en-US" altLang="en-US" smtClean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85801" y="1150144"/>
            <a:ext cx="7317582" cy="96440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ct val="0"/>
              </a:spcBef>
              <a:buNone/>
              <a:defRPr/>
            </a:pPr>
            <a:r>
              <a:rPr lang="en-CA" altLang="en-US" sz="2700" kern="0" dirty="0">
                <a:solidFill>
                  <a:srgbClr val="557D55"/>
                </a:solidFill>
              </a:rPr>
              <a:t>Problem</a:t>
            </a:r>
            <a:endParaRPr lang="en-CA" altLang="en-US" sz="2700" kern="0" dirty="0">
              <a:solidFill>
                <a:srgbClr val="557D55"/>
              </a:solidFill>
            </a:endParaRPr>
          </a:p>
          <a:p>
            <a:pPr algn="ctr">
              <a:spcBef>
                <a:spcPct val="0"/>
              </a:spcBef>
              <a:defRPr/>
            </a:pPr>
            <a:r>
              <a:rPr lang="en-CA" altLang="en-US" sz="2100" kern="0" dirty="0"/>
              <a:t>Surface, subsurface, atmospheric hydro data silos</a:t>
            </a:r>
          </a:p>
          <a:p>
            <a:pPr marL="0" indent="0">
              <a:spcBef>
                <a:spcPct val="0"/>
              </a:spcBef>
              <a:buNone/>
              <a:defRPr/>
            </a:pPr>
            <a:endParaRPr lang="en-CA" altLang="en-US" sz="2100" kern="0" dirty="0"/>
          </a:p>
        </p:txBody>
      </p:sp>
      <p:grpSp>
        <p:nvGrpSpPr>
          <p:cNvPr id="9220" name="Group 1"/>
          <p:cNvGrpSpPr>
            <a:grpSpLocks/>
          </p:cNvGrpSpPr>
          <p:nvPr/>
        </p:nvGrpSpPr>
        <p:grpSpPr bwMode="auto">
          <a:xfrm>
            <a:off x="1400175" y="2739628"/>
            <a:ext cx="6421041" cy="3100945"/>
            <a:chOff x="404813" y="2279650"/>
            <a:chExt cx="8561387" cy="4134523"/>
          </a:xfrm>
        </p:grpSpPr>
        <p:pic>
          <p:nvPicPr>
            <p:cNvPr id="9243" name="Picture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24688" y="2279650"/>
              <a:ext cx="1828800" cy="262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4" name="Picture 6" descr="http://gin.gw-info.net/service/api_ngwds:gin2/en/images/gin/MiroNastev/11-1_crop_w216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813" y="2286000"/>
              <a:ext cx="1828800" cy="2619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45" name="TextBox 1"/>
            <p:cNvSpPr txBox="1">
              <a:spLocks noChangeArrowheads="1"/>
            </p:cNvSpPr>
            <p:nvPr/>
          </p:nvSpPr>
          <p:spPr bwMode="auto">
            <a:xfrm>
              <a:off x="523513" y="5059298"/>
              <a:ext cx="1905000" cy="1169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CA" altLang="en-US" sz="900" dirty="0"/>
                <a:t>groundwater</a:t>
              </a:r>
            </a:p>
            <a:p>
              <a:r>
                <a:rPr lang="en-CA" altLang="en-US" sz="1050" dirty="0"/>
                <a:t>aquifers, wells, gauges…</a:t>
              </a:r>
            </a:p>
            <a:p>
              <a:r>
                <a:rPr lang="en-CA" altLang="en-US" sz="1050" dirty="0">
                  <a:solidFill>
                    <a:srgbClr val="557D55"/>
                  </a:solidFill>
                </a:rPr>
                <a:t>GW Info Network</a:t>
              </a:r>
            </a:p>
            <a:p>
              <a:r>
                <a:rPr lang="en-CA" altLang="en-US" sz="1050" dirty="0">
                  <a:solidFill>
                    <a:srgbClr val="557D55"/>
                  </a:solidFill>
                </a:rPr>
                <a:t>(</a:t>
              </a:r>
              <a:r>
                <a:rPr lang="en-CA" altLang="en-US" sz="1050" dirty="0">
                  <a:solidFill>
                    <a:srgbClr val="557D55"/>
                  </a:solidFill>
                  <a:hlinkClick r:id="rId4"/>
                </a:rPr>
                <a:t>www.gw-info.net</a:t>
              </a:r>
              <a:r>
                <a:rPr lang="en-CA" altLang="en-US" sz="1050" dirty="0">
                  <a:solidFill>
                    <a:srgbClr val="557D55"/>
                  </a:solidFill>
                </a:rPr>
                <a:t>)</a:t>
              </a:r>
            </a:p>
          </p:txBody>
        </p:sp>
        <p:sp>
          <p:nvSpPr>
            <p:cNvPr id="9246" name="TextBox 7"/>
            <p:cNvSpPr txBox="1">
              <a:spLocks noChangeArrowheads="1"/>
            </p:cNvSpPr>
            <p:nvPr/>
          </p:nvSpPr>
          <p:spPr bwMode="auto">
            <a:xfrm>
              <a:off x="2610027" y="5040001"/>
              <a:ext cx="2057400" cy="1169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CA" altLang="en-US" sz="900"/>
                <a:t>surface water</a:t>
              </a:r>
            </a:p>
            <a:p>
              <a:r>
                <a:rPr lang="en-CA" altLang="en-US" sz="1050"/>
                <a:t>rivers, lakes, watersheds,… </a:t>
              </a:r>
            </a:p>
            <a:p>
              <a:r>
                <a:rPr lang="en-CA" altLang="en-US" sz="1050">
                  <a:solidFill>
                    <a:srgbClr val="557D55"/>
                  </a:solidFill>
                </a:rPr>
                <a:t>Nat’l Hydro Network</a:t>
              </a:r>
            </a:p>
            <a:p>
              <a:r>
                <a:rPr lang="en-CA" altLang="en-US" sz="1050">
                  <a:solidFill>
                    <a:srgbClr val="557D55"/>
                  </a:solidFill>
                </a:rPr>
                <a:t>(</a:t>
              </a:r>
              <a:r>
                <a:rPr lang="en-CA" altLang="en-US" sz="1050">
                  <a:solidFill>
                    <a:srgbClr val="557D55"/>
                  </a:solidFill>
                  <a:hlinkClick r:id="rId5"/>
                </a:rPr>
                <a:t>www.geobase.ca</a:t>
              </a:r>
              <a:r>
                <a:rPr lang="en-CA" altLang="en-US" sz="1050">
                  <a:solidFill>
                    <a:srgbClr val="557D55"/>
                  </a:solidFill>
                </a:rPr>
                <a:t>)</a:t>
              </a:r>
            </a:p>
          </p:txBody>
        </p:sp>
        <p:sp>
          <p:nvSpPr>
            <p:cNvPr id="9247" name="TextBox 8"/>
            <p:cNvSpPr txBox="1">
              <a:spLocks noChangeArrowheads="1"/>
            </p:cNvSpPr>
            <p:nvPr/>
          </p:nvSpPr>
          <p:spPr bwMode="auto">
            <a:xfrm>
              <a:off x="4816475" y="5029202"/>
              <a:ext cx="2041525" cy="1384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CA" altLang="en-US" sz="900"/>
                <a:t>surface water</a:t>
              </a:r>
            </a:p>
            <a:p>
              <a:r>
                <a:rPr lang="en-CA" altLang="en-US" sz="1050"/>
                <a:t>gauges,… </a:t>
              </a:r>
            </a:p>
            <a:p>
              <a:r>
                <a:rPr lang="en-CA" altLang="en-US" sz="1050">
                  <a:solidFill>
                    <a:srgbClr val="557D55"/>
                  </a:solidFill>
                </a:rPr>
                <a:t>Nat’l Hydrometric Network</a:t>
              </a:r>
            </a:p>
            <a:p>
              <a:r>
                <a:rPr lang="en-CA" altLang="en-US" sz="1050">
                  <a:solidFill>
                    <a:srgbClr val="557D55"/>
                  </a:solidFill>
                </a:rPr>
                <a:t>(</a:t>
              </a:r>
              <a:r>
                <a:rPr lang="en-CA" altLang="en-US" sz="1050">
                  <a:solidFill>
                    <a:srgbClr val="557D55"/>
                  </a:solidFill>
                  <a:hlinkClick r:id="rId6"/>
                </a:rPr>
                <a:t>www.wateroffice.ec.gc.ca</a:t>
              </a:r>
              <a:r>
                <a:rPr lang="en-CA" altLang="en-US" sz="1050">
                  <a:solidFill>
                    <a:srgbClr val="557D55"/>
                  </a:solidFill>
                </a:rPr>
                <a:t>)  </a:t>
              </a:r>
            </a:p>
          </p:txBody>
        </p:sp>
        <p:pic>
          <p:nvPicPr>
            <p:cNvPr id="9248" name="Picture 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0800" y="2286000"/>
              <a:ext cx="1828800" cy="2619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49" name="TextBox 6"/>
            <p:cNvSpPr txBox="1">
              <a:spLocks noChangeArrowheads="1"/>
            </p:cNvSpPr>
            <p:nvPr/>
          </p:nvSpPr>
          <p:spPr bwMode="auto">
            <a:xfrm>
              <a:off x="3505201" y="2279650"/>
              <a:ext cx="914400" cy="400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CA" altLang="en-US" sz="675">
                  <a:solidFill>
                    <a:schemeClr val="bg1"/>
                  </a:solidFill>
                </a:rPr>
                <a:t>geonames.org</a:t>
              </a:r>
            </a:p>
          </p:txBody>
        </p:sp>
        <p:pic>
          <p:nvPicPr>
            <p:cNvPr id="9250" name="Picture 4" descr="Image result for river gauge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6475" y="2279650"/>
              <a:ext cx="1816100" cy="262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51" name="TextBox 12"/>
            <p:cNvSpPr txBox="1">
              <a:spLocks noChangeArrowheads="1"/>
            </p:cNvSpPr>
            <p:nvPr/>
          </p:nvSpPr>
          <p:spPr bwMode="auto">
            <a:xfrm>
              <a:off x="6924675" y="5029201"/>
              <a:ext cx="2041525" cy="1292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CA" altLang="en-US" sz="900"/>
                <a:t>atmospheric </a:t>
              </a:r>
              <a:r>
                <a:rPr lang="en-CA" altLang="en-US" sz="1600"/>
                <a:t>water</a:t>
              </a:r>
            </a:p>
            <a:p>
              <a:r>
                <a:rPr lang="en-CA" altLang="en-US" sz="1050"/>
                <a:t>gauges,… </a:t>
              </a:r>
            </a:p>
            <a:p>
              <a:r>
                <a:rPr lang="en-CA" altLang="en-US" sz="1050">
                  <a:solidFill>
                    <a:srgbClr val="557D55"/>
                  </a:solidFill>
                </a:rPr>
                <a:t>Climate data</a:t>
              </a:r>
            </a:p>
            <a:p>
              <a:r>
                <a:rPr lang="en-CA" altLang="en-US" sz="900">
                  <a:solidFill>
                    <a:srgbClr val="557D55"/>
                  </a:solidFill>
                </a:rPr>
                <a:t>(</a:t>
              </a:r>
              <a:r>
                <a:rPr lang="en-CA" altLang="en-US" sz="900">
                  <a:solidFill>
                    <a:srgbClr val="557D55"/>
                  </a:solidFill>
                  <a:hlinkClick r:id="rId9"/>
                </a:rPr>
                <a:t>www.http://climate.weather.gc.ca</a:t>
              </a:r>
              <a:r>
                <a:rPr lang="en-CA" altLang="en-US" sz="900">
                  <a:solidFill>
                    <a:srgbClr val="557D55"/>
                  </a:solidFill>
                </a:rPr>
                <a:t>)  </a:t>
              </a:r>
            </a:p>
          </p:txBody>
        </p:sp>
        <p:sp>
          <p:nvSpPr>
            <p:cNvPr id="9252" name="TextBox 10"/>
            <p:cNvSpPr txBox="1">
              <a:spLocks noChangeArrowheads="1"/>
            </p:cNvSpPr>
            <p:nvPr/>
          </p:nvSpPr>
          <p:spPr bwMode="auto">
            <a:xfrm>
              <a:off x="7505700" y="4670425"/>
              <a:ext cx="1460500" cy="400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CA" altLang="en-US" sz="450">
                  <a:solidFill>
                    <a:schemeClr val="bg1"/>
                  </a:solidFill>
                </a:rPr>
                <a:t>http://www.summitpost.org/environment-canada-weather-station/349643</a:t>
              </a:r>
            </a:p>
          </p:txBody>
        </p:sp>
      </p:grp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1828800" y="2071688"/>
            <a:ext cx="5475685" cy="619125"/>
            <a:chOff x="914399" y="1618785"/>
            <a:chExt cx="7300914" cy="825966"/>
          </a:xfrm>
        </p:grpSpPr>
        <p:sp>
          <p:nvSpPr>
            <p:cNvPr id="20" name="Down Arrow 19"/>
            <p:cNvSpPr/>
            <p:nvPr/>
          </p:nvSpPr>
          <p:spPr bwMode="auto">
            <a:xfrm>
              <a:off x="1025524" y="1996823"/>
              <a:ext cx="425450" cy="447928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 sz="1050"/>
            </a:p>
          </p:txBody>
        </p:sp>
        <p:sp>
          <p:nvSpPr>
            <p:cNvPr id="9236" name="TextBox 14"/>
            <p:cNvSpPr txBox="1">
              <a:spLocks noChangeArrowheads="1"/>
            </p:cNvSpPr>
            <p:nvPr/>
          </p:nvSpPr>
          <p:spPr bwMode="auto">
            <a:xfrm>
              <a:off x="914399" y="1633755"/>
              <a:ext cx="1212979" cy="338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CA" altLang="en-US" sz="1050" dirty="0"/>
                <a:t>SDI</a:t>
              </a:r>
            </a:p>
          </p:txBody>
        </p:sp>
        <p:sp>
          <p:nvSpPr>
            <p:cNvPr id="22" name="Down Arrow 21"/>
            <p:cNvSpPr/>
            <p:nvPr/>
          </p:nvSpPr>
          <p:spPr bwMode="auto">
            <a:xfrm>
              <a:off x="5521325" y="1993646"/>
              <a:ext cx="425450" cy="447928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 sz="1050"/>
            </a:p>
          </p:txBody>
        </p:sp>
        <p:sp>
          <p:nvSpPr>
            <p:cNvPr id="9238" name="TextBox 21"/>
            <p:cNvSpPr txBox="1">
              <a:spLocks noChangeArrowheads="1"/>
            </p:cNvSpPr>
            <p:nvPr/>
          </p:nvSpPr>
          <p:spPr bwMode="auto">
            <a:xfrm>
              <a:off x="5438283" y="1627994"/>
              <a:ext cx="601596" cy="338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CA" altLang="en-US" sz="1050"/>
                <a:t>SDI</a:t>
              </a:r>
            </a:p>
          </p:txBody>
        </p:sp>
        <p:sp>
          <p:nvSpPr>
            <p:cNvPr id="24" name="Down Arrow 23"/>
            <p:cNvSpPr/>
            <p:nvPr/>
          </p:nvSpPr>
          <p:spPr bwMode="auto">
            <a:xfrm>
              <a:off x="7696200" y="1984116"/>
              <a:ext cx="425450" cy="447928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 sz="1050"/>
            </a:p>
          </p:txBody>
        </p:sp>
        <p:sp>
          <p:nvSpPr>
            <p:cNvPr id="9240" name="TextBox 24"/>
            <p:cNvSpPr txBox="1">
              <a:spLocks noChangeArrowheads="1"/>
            </p:cNvSpPr>
            <p:nvPr/>
          </p:nvSpPr>
          <p:spPr bwMode="auto">
            <a:xfrm>
              <a:off x="7613717" y="1618785"/>
              <a:ext cx="601596" cy="338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CA" altLang="en-US" sz="1050"/>
                <a:t>SDI</a:t>
              </a:r>
            </a:p>
          </p:txBody>
        </p:sp>
        <p:sp>
          <p:nvSpPr>
            <p:cNvPr id="26" name="Down Arrow 25"/>
            <p:cNvSpPr/>
            <p:nvPr/>
          </p:nvSpPr>
          <p:spPr bwMode="auto">
            <a:xfrm>
              <a:off x="3290887" y="1984116"/>
              <a:ext cx="425450" cy="447928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 sz="1050"/>
            </a:p>
          </p:txBody>
        </p:sp>
        <p:sp>
          <p:nvSpPr>
            <p:cNvPr id="9242" name="TextBox 34"/>
            <p:cNvSpPr txBox="1">
              <a:spLocks noChangeArrowheads="1"/>
            </p:cNvSpPr>
            <p:nvPr/>
          </p:nvSpPr>
          <p:spPr bwMode="auto">
            <a:xfrm>
              <a:off x="3208090" y="1618785"/>
              <a:ext cx="601596" cy="338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CA" altLang="en-US" sz="1050"/>
                <a:t>SDI</a:t>
              </a:r>
            </a:p>
          </p:txBody>
        </p:sp>
      </p:grpSp>
      <p:grpSp>
        <p:nvGrpSpPr>
          <p:cNvPr id="29" name="Group 36"/>
          <p:cNvGrpSpPr>
            <a:grpSpLocks/>
          </p:cNvGrpSpPr>
          <p:nvPr/>
        </p:nvGrpSpPr>
        <p:grpSpPr bwMode="auto">
          <a:xfrm>
            <a:off x="2481263" y="3155158"/>
            <a:ext cx="4276725" cy="577081"/>
            <a:chOff x="1712056" y="2438400"/>
            <a:chExt cx="5701569" cy="769705"/>
          </a:xfrm>
        </p:grpSpPr>
        <p:sp>
          <p:nvSpPr>
            <p:cNvPr id="9228" name="TextBox 6"/>
            <p:cNvSpPr txBox="1">
              <a:spLocks noChangeArrowheads="1"/>
            </p:cNvSpPr>
            <p:nvPr/>
          </p:nvSpPr>
          <p:spPr bwMode="auto">
            <a:xfrm>
              <a:off x="3413125" y="2438400"/>
              <a:ext cx="914400" cy="769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CA" altLang="en-US" sz="1050">
                  <a:solidFill>
                    <a:schemeClr val="bg1"/>
                  </a:solidFill>
                </a:rPr>
                <a:t>geonames.org</a:t>
              </a:r>
            </a:p>
          </p:txBody>
        </p:sp>
        <p:sp>
          <p:nvSpPr>
            <p:cNvPr id="31" name="Left-Right Arrow 30"/>
            <p:cNvSpPr/>
            <p:nvPr/>
          </p:nvSpPr>
          <p:spPr>
            <a:xfrm>
              <a:off x="1712056" y="2600381"/>
              <a:ext cx="1215869" cy="484354"/>
            </a:xfrm>
            <a:prstGeom prst="left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 sz="1050"/>
            </a:p>
          </p:txBody>
        </p:sp>
        <p:sp>
          <p:nvSpPr>
            <p:cNvPr id="32" name="Left-Right Arrow 31"/>
            <p:cNvSpPr/>
            <p:nvPr/>
          </p:nvSpPr>
          <p:spPr>
            <a:xfrm>
              <a:off x="3935859" y="2600381"/>
              <a:ext cx="1215869" cy="484354"/>
            </a:xfrm>
            <a:prstGeom prst="left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 sz="1050"/>
            </a:p>
          </p:txBody>
        </p:sp>
        <p:sp>
          <p:nvSpPr>
            <p:cNvPr id="33" name="Left-Right Arrow 32"/>
            <p:cNvSpPr/>
            <p:nvPr/>
          </p:nvSpPr>
          <p:spPr>
            <a:xfrm>
              <a:off x="6197756" y="2600381"/>
              <a:ext cx="1215869" cy="484354"/>
            </a:xfrm>
            <a:prstGeom prst="leftRightArrow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 sz="1050"/>
            </a:p>
          </p:txBody>
        </p:sp>
        <p:sp>
          <p:nvSpPr>
            <p:cNvPr id="9232" name="TextBox 29"/>
            <p:cNvSpPr txBox="1">
              <a:spLocks noChangeArrowheads="1"/>
            </p:cNvSpPr>
            <p:nvPr/>
          </p:nvSpPr>
          <p:spPr bwMode="auto">
            <a:xfrm>
              <a:off x="2051772" y="2646369"/>
              <a:ext cx="484916" cy="338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CA" altLang="en-US" sz="1050"/>
                <a:t>LD</a:t>
              </a:r>
            </a:p>
          </p:txBody>
        </p:sp>
        <p:sp>
          <p:nvSpPr>
            <p:cNvPr id="9233" name="TextBox 30"/>
            <p:cNvSpPr txBox="1">
              <a:spLocks noChangeArrowheads="1"/>
            </p:cNvSpPr>
            <p:nvPr/>
          </p:nvSpPr>
          <p:spPr bwMode="auto">
            <a:xfrm>
              <a:off x="4285771" y="2657891"/>
              <a:ext cx="484916" cy="338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CA" altLang="en-US" sz="1050"/>
                <a:t>LD</a:t>
              </a:r>
            </a:p>
          </p:txBody>
        </p:sp>
        <p:sp>
          <p:nvSpPr>
            <p:cNvPr id="9234" name="TextBox 31"/>
            <p:cNvSpPr txBox="1">
              <a:spLocks noChangeArrowheads="1"/>
            </p:cNvSpPr>
            <p:nvPr/>
          </p:nvSpPr>
          <p:spPr bwMode="auto">
            <a:xfrm>
              <a:off x="6481117" y="2659799"/>
              <a:ext cx="484916" cy="338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CA" altLang="en-US" sz="1050"/>
                <a:t>LD</a:t>
              </a:r>
            </a:p>
          </p:txBody>
        </p:sp>
      </p:grpSp>
      <p:cxnSp>
        <p:nvCxnSpPr>
          <p:cNvPr id="39" name="Straight Connector 38"/>
          <p:cNvCxnSpPr/>
          <p:nvPr/>
        </p:nvCxnSpPr>
        <p:spPr>
          <a:xfrm>
            <a:off x="1138238" y="1970485"/>
            <a:ext cx="6860381" cy="0"/>
          </a:xfrm>
          <a:prstGeom prst="line">
            <a:avLst/>
          </a:prstGeom>
          <a:ln>
            <a:solidFill>
              <a:srgbClr val="557D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lowchart: Magnetic Disk 34"/>
          <p:cNvSpPr/>
          <p:nvPr/>
        </p:nvSpPr>
        <p:spPr>
          <a:xfrm>
            <a:off x="3439716" y="4401741"/>
            <a:ext cx="571500" cy="400050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750"/>
          </a:p>
        </p:txBody>
      </p:sp>
      <p:sp>
        <p:nvSpPr>
          <p:cNvPr id="36" name="Flowchart: Magnetic Disk 35"/>
          <p:cNvSpPr/>
          <p:nvPr/>
        </p:nvSpPr>
        <p:spPr>
          <a:xfrm>
            <a:off x="5157788" y="4401741"/>
            <a:ext cx="571500" cy="400050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750"/>
          </a:p>
        </p:txBody>
      </p:sp>
      <p:sp>
        <p:nvSpPr>
          <p:cNvPr id="37" name="Flowchart: Magnetic Disk 36"/>
          <p:cNvSpPr/>
          <p:nvPr/>
        </p:nvSpPr>
        <p:spPr>
          <a:xfrm>
            <a:off x="6765131" y="4370785"/>
            <a:ext cx="571500" cy="400050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750"/>
          </a:p>
        </p:txBody>
      </p:sp>
      <p:sp>
        <p:nvSpPr>
          <p:cNvPr id="38" name="Flowchart: Magnetic Disk 37"/>
          <p:cNvSpPr/>
          <p:nvPr/>
        </p:nvSpPr>
        <p:spPr>
          <a:xfrm>
            <a:off x="1852613" y="4429125"/>
            <a:ext cx="571500" cy="400050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750"/>
          </a:p>
        </p:txBody>
      </p:sp>
    </p:spTree>
    <p:extLst>
      <p:ext uri="{BB962C8B-B14F-4D97-AF65-F5344CB8AC3E}">
        <p14:creationId xmlns:p14="http://schemas.microsoft.com/office/powerpoint/2010/main" val="759010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7467600" y="6526978"/>
            <a:ext cx="1600200" cy="228600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C45BBE-41E1-4073-BE7F-F9FA276A7312}" type="slidenum">
              <a:rPr lang="en-US" altLang="en-US" smtClean="0"/>
              <a:pPr/>
              <a:t>5</a:t>
            </a:fld>
            <a:endParaRPr lang="en-US" altLang="en-US" dirty="0" smtClean="0"/>
          </a:p>
        </p:txBody>
      </p:sp>
      <p:cxnSp>
        <p:nvCxnSpPr>
          <p:cNvPr id="45" name="Straight Connector 44"/>
          <p:cNvCxnSpPr/>
          <p:nvPr/>
        </p:nvCxnSpPr>
        <p:spPr>
          <a:xfrm>
            <a:off x="1138238" y="1970485"/>
            <a:ext cx="6860381" cy="0"/>
          </a:xfrm>
          <a:prstGeom prst="line">
            <a:avLst/>
          </a:prstGeom>
          <a:ln>
            <a:solidFill>
              <a:srgbClr val="557D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owchart: Document 25"/>
          <p:cNvSpPr/>
          <p:nvPr/>
        </p:nvSpPr>
        <p:spPr>
          <a:xfrm>
            <a:off x="2994422" y="2411016"/>
            <a:ext cx="628650" cy="857250"/>
          </a:xfrm>
          <a:prstGeom prst="flowChartDocument">
            <a:avLst/>
          </a:prstGeom>
          <a:solidFill>
            <a:schemeClr val="accent1">
              <a:alpha val="6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CA" sz="900" i="1" dirty="0">
                <a:solidFill>
                  <a:schemeClr val="tx1"/>
                </a:solidFill>
              </a:rPr>
              <a:t>HTML</a:t>
            </a:r>
          </a:p>
          <a:p>
            <a:pPr algn="ctr" eaLnBrk="1" hangingPunct="1">
              <a:defRPr/>
            </a:pPr>
            <a:endParaRPr lang="en-CA" sz="1050" i="1" dirty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r>
              <a:rPr lang="en-CA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gauges</a:t>
            </a:r>
          </a:p>
        </p:txBody>
      </p:sp>
      <p:sp>
        <p:nvSpPr>
          <p:cNvPr id="27" name="Flowchart: Document 26"/>
          <p:cNvSpPr/>
          <p:nvPr/>
        </p:nvSpPr>
        <p:spPr>
          <a:xfrm>
            <a:off x="5869781" y="2432447"/>
            <a:ext cx="628650" cy="857250"/>
          </a:xfrm>
          <a:prstGeom prst="flowChartDocument">
            <a:avLst/>
          </a:prstGeom>
          <a:solidFill>
            <a:schemeClr val="accent1">
              <a:alpha val="6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CA" sz="900" i="1" dirty="0">
                <a:solidFill>
                  <a:schemeClr val="bg1">
                    <a:lumMod val="65000"/>
                  </a:schemeClr>
                </a:solidFill>
              </a:rPr>
              <a:t>HTML</a:t>
            </a:r>
          </a:p>
          <a:p>
            <a:pPr algn="ctr" eaLnBrk="1" hangingPunct="1">
              <a:defRPr/>
            </a:pPr>
            <a:endParaRPr lang="en-CA" sz="1050" i="1" dirty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r>
              <a:rPr lang="en-CA" sz="1050" i="1" dirty="0">
                <a:solidFill>
                  <a:schemeClr val="tx1"/>
                </a:solidFill>
              </a:rPr>
              <a:t>Richelieu</a:t>
            </a:r>
          </a:p>
        </p:txBody>
      </p:sp>
      <p:cxnSp>
        <p:nvCxnSpPr>
          <p:cNvPr id="28" name="Straight Arrow Connector 27"/>
          <p:cNvCxnSpPr>
            <a:stCxn id="26" idx="3"/>
            <a:endCxn id="27" idx="1"/>
          </p:cNvCxnSpPr>
          <p:nvPr/>
        </p:nvCxnSpPr>
        <p:spPr>
          <a:xfrm>
            <a:off x="3623072" y="2839642"/>
            <a:ext cx="2246709" cy="21431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7" name="TextBox 8"/>
          <p:cNvSpPr txBox="1">
            <a:spLocks noChangeArrowheads="1"/>
          </p:cNvSpPr>
          <p:nvPr/>
        </p:nvSpPr>
        <p:spPr bwMode="auto">
          <a:xfrm>
            <a:off x="4189810" y="2486025"/>
            <a:ext cx="978694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900" dirty="0"/>
              <a:t>hyperlink</a:t>
            </a:r>
          </a:p>
        </p:txBody>
      </p:sp>
      <p:pic>
        <p:nvPicPr>
          <p:cNvPr id="10248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022" y="4087416"/>
            <a:ext cx="941784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9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8098" y="4057650"/>
            <a:ext cx="1044178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0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098" y="4061223"/>
            <a:ext cx="834628" cy="573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9" name="Straight Arrow Connector 38"/>
          <p:cNvCxnSpPr/>
          <p:nvPr/>
        </p:nvCxnSpPr>
        <p:spPr>
          <a:xfrm flipH="1">
            <a:off x="5575697" y="3365898"/>
            <a:ext cx="522684" cy="663178"/>
          </a:xfrm>
          <a:prstGeom prst="straightConnector1">
            <a:avLst/>
          </a:prstGeom>
          <a:ln>
            <a:solidFill>
              <a:schemeClr val="tx2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6249591" y="3365898"/>
            <a:ext cx="23813" cy="582215"/>
          </a:xfrm>
          <a:prstGeom prst="straightConnector1">
            <a:avLst/>
          </a:prstGeom>
          <a:ln>
            <a:solidFill>
              <a:schemeClr val="tx2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6436519" y="3371850"/>
            <a:ext cx="434579" cy="501254"/>
          </a:xfrm>
          <a:prstGeom prst="straightConnector1">
            <a:avLst/>
          </a:prstGeom>
          <a:ln>
            <a:solidFill>
              <a:schemeClr val="tx2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54" name="Picture 2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3519" y="3849291"/>
            <a:ext cx="957263" cy="1102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5" name="Picture 2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850" y="3849291"/>
            <a:ext cx="80843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Box 46"/>
          <p:cNvSpPr txBox="1"/>
          <p:nvPr/>
        </p:nvSpPr>
        <p:spPr>
          <a:xfrm>
            <a:off x="4877991" y="4748213"/>
            <a:ext cx="628650" cy="20774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CA" sz="750" i="1" dirty="0">
                <a:solidFill>
                  <a:schemeClr val="bg1">
                    <a:lumMod val="50000"/>
                  </a:schemeClr>
                </a:solidFill>
              </a:rPr>
              <a:t>river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59079" y="4761310"/>
            <a:ext cx="628650" cy="20774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CA" sz="750" i="1" dirty="0">
                <a:solidFill>
                  <a:schemeClr val="bg1">
                    <a:lumMod val="50000"/>
                  </a:schemeClr>
                </a:solidFill>
              </a:rPr>
              <a:t>city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71098" y="4761310"/>
            <a:ext cx="888206" cy="20774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CA" sz="750" i="1" dirty="0">
                <a:solidFill>
                  <a:schemeClr val="bg1">
                    <a:lumMod val="50000"/>
                  </a:schemeClr>
                </a:solidFill>
              </a:rPr>
              <a:t>company</a:t>
            </a:r>
          </a:p>
        </p:txBody>
      </p:sp>
      <p:pic>
        <p:nvPicPr>
          <p:cNvPr id="10259" name="Picture 3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657" y="3875485"/>
            <a:ext cx="70366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TextBox 50"/>
          <p:cNvSpPr txBox="1"/>
          <p:nvPr/>
        </p:nvSpPr>
        <p:spPr>
          <a:xfrm>
            <a:off x="1647825" y="5094685"/>
            <a:ext cx="628650" cy="20774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CA" sz="750" i="1" dirty="0">
                <a:solidFill>
                  <a:schemeClr val="bg1">
                    <a:lumMod val="50000"/>
                  </a:schemeClr>
                </a:solidFill>
              </a:rPr>
              <a:t>nails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83656" y="5104210"/>
            <a:ext cx="709613" cy="20774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CA" sz="750" i="1" dirty="0">
                <a:solidFill>
                  <a:schemeClr val="bg1">
                    <a:lumMod val="50000"/>
                  </a:schemeClr>
                </a:solidFill>
              </a:rPr>
              <a:t>drilling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69482" y="5024438"/>
            <a:ext cx="888206" cy="20774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CA" sz="750" i="1" dirty="0">
                <a:solidFill>
                  <a:schemeClr val="bg1">
                    <a:lumMod val="50000"/>
                  </a:schemeClr>
                </a:solidFill>
              </a:rPr>
              <a:t>river gauge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2166938" y="3289697"/>
            <a:ext cx="673894" cy="513159"/>
          </a:xfrm>
          <a:prstGeom prst="straightConnector1">
            <a:avLst/>
          </a:prstGeom>
          <a:ln>
            <a:solidFill>
              <a:schemeClr val="tx2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3037285" y="3331369"/>
            <a:ext cx="53578" cy="471488"/>
          </a:xfrm>
          <a:prstGeom prst="straightConnector1">
            <a:avLst/>
          </a:prstGeom>
          <a:ln>
            <a:solidFill>
              <a:schemeClr val="tx2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405188" y="3315891"/>
            <a:ext cx="435769" cy="502444"/>
          </a:xfrm>
          <a:prstGeom prst="straightConnector1">
            <a:avLst/>
          </a:prstGeom>
          <a:ln>
            <a:solidFill>
              <a:schemeClr val="tx2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793331" y="2934891"/>
            <a:ext cx="1934766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CA" sz="900" i="1" dirty="0">
                <a:solidFill>
                  <a:schemeClr val="bg1">
                    <a:lumMod val="50000"/>
                  </a:schemeClr>
                </a:solidFill>
              </a:rPr>
              <a:t>?? on, beside, near ?? </a:t>
            </a:r>
          </a:p>
        </p:txBody>
      </p:sp>
      <p:sp>
        <p:nvSpPr>
          <p:cNvPr id="58" name="Content Placeholder 2"/>
          <p:cNvSpPr txBox="1">
            <a:spLocks/>
          </p:cNvSpPr>
          <p:nvPr/>
        </p:nvSpPr>
        <p:spPr>
          <a:xfrm>
            <a:off x="1143001" y="1150144"/>
            <a:ext cx="6860381" cy="75842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ct val="0"/>
              </a:spcBef>
              <a:buNone/>
              <a:defRPr/>
            </a:pPr>
            <a:r>
              <a:rPr lang="en-CA" altLang="en-US" sz="2700" kern="0" dirty="0">
                <a:solidFill>
                  <a:srgbClr val="557D55"/>
                </a:solidFill>
              </a:rPr>
              <a:t>The Web</a:t>
            </a:r>
          </a:p>
          <a:p>
            <a:pPr algn="ctr">
              <a:spcBef>
                <a:spcPct val="0"/>
              </a:spcBef>
              <a:defRPr/>
            </a:pPr>
            <a:r>
              <a:rPr lang="en-CA" altLang="en-US" sz="2100" kern="0" dirty="0"/>
              <a:t>“</a:t>
            </a:r>
            <a:r>
              <a:rPr lang="en-CA" altLang="en-US" sz="2100" kern="0" dirty="0"/>
              <a:t>gauges </a:t>
            </a:r>
            <a:r>
              <a:rPr lang="en-CA" altLang="en-US" sz="2100" kern="0" dirty="0"/>
              <a:t>on </a:t>
            </a:r>
            <a:r>
              <a:rPr lang="en-CA" altLang="en-US" sz="2100" kern="0" dirty="0"/>
              <a:t>the </a:t>
            </a:r>
            <a:r>
              <a:rPr lang="en-CA" altLang="en-US" sz="2100" kern="0" dirty="0"/>
              <a:t>Richelieu”</a:t>
            </a:r>
            <a:endParaRPr lang="en-CA" altLang="en-US" sz="2100" kern="0" dirty="0">
              <a:solidFill>
                <a:srgbClr val="557D55"/>
              </a:solidFill>
            </a:endParaRPr>
          </a:p>
          <a:p>
            <a:pPr marL="0" indent="0" algn="ctr">
              <a:spcBef>
                <a:spcPct val="0"/>
              </a:spcBef>
              <a:buNone/>
              <a:defRPr/>
            </a:pPr>
            <a:endParaRPr lang="en-CA" altLang="en-US" sz="2100" kern="0" dirty="0"/>
          </a:p>
          <a:p>
            <a:pPr marL="0" indent="0">
              <a:spcBef>
                <a:spcPct val="0"/>
              </a:spcBef>
              <a:buNone/>
              <a:defRPr/>
            </a:pPr>
            <a:endParaRPr lang="en-CA" altLang="en-US" sz="2100" b="0" kern="0" dirty="0"/>
          </a:p>
        </p:txBody>
      </p:sp>
    </p:spTree>
    <p:extLst>
      <p:ext uri="{BB962C8B-B14F-4D97-AF65-F5344CB8AC3E}">
        <p14:creationId xmlns:p14="http://schemas.microsoft.com/office/powerpoint/2010/main" val="116444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488759-04F6-4663-B0F0-5F91A2AFB372}" type="slidenum">
              <a:rPr lang="en-US" altLang="en-US" smtClean="0"/>
              <a:pPr/>
              <a:t>6</a:t>
            </a:fld>
            <a:endParaRPr lang="en-US" altLang="en-US" smtClean="0"/>
          </a:p>
        </p:txBody>
      </p:sp>
      <p:pic>
        <p:nvPicPr>
          <p:cNvPr id="1126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190750"/>
            <a:ext cx="462915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2491979" y="5183982"/>
            <a:ext cx="1382315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CA" altLang="en-US"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Linking Open Data cloud diagram 2017, by </a:t>
            </a:r>
            <a:r>
              <a:rPr lang="en-CA" altLang="en-US" sz="675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Andrejs</a:t>
            </a:r>
            <a:r>
              <a:rPr lang="en-CA" altLang="en-US"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Abele, John P. McCrae, Paul </a:t>
            </a:r>
            <a:r>
              <a:rPr lang="en-CA" altLang="en-US" sz="675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Buitelaar</a:t>
            </a:r>
            <a:r>
              <a:rPr lang="en-CA" altLang="en-US"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CA" altLang="en-US" sz="675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Anja</a:t>
            </a:r>
            <a:r>
              <a:rPr lang="en-CA" altLang="en-US"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CA" altLang="en-US" sz="675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Jentzsch</a:t>
            </a:r>
            <a:r>
              <a:rPr lang="en-CA" altLang="en-US"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and Richard </a:t>
            </a:r>
            <a:r>
              <a:rPr lang="en-CA" altLang="en-US" sz="675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Cyganiak</a:t>
            </a:r>
            <a:r>
              <a:rPr lang="en-CA" altLang="en-US" sz="675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. http://lod-cloud.net/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43001" y="1150144"/>
            <a:ext cx="6860381" cy="96440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ct val="0"/>
              </a:spcBef>
              <a:buNone/>
              <a:defRPr/>
            </a:pPr>
            <a:r>
              <a:rPr lang="en-CA" altLang="en-US" sz="2700" kern="0" dirty="0">
                <a:solidFill>
                  <a:srgbClr val="557D55"/>
                </a:solidFill>
              </a:rPr>
              <a:t>Emerging Trend</a:t>
            </a:r>
          </a:p>
          <a:p>
            <a:pPr algn="ctr">
              <a:spcBef>
                <a:spcPct val="0"/>
              </a:spcBef>
              <a:defRPr/>
            </a:pPr>
            <a:r>
              <a:rPr lang="en-CA" altLang="en-US" sz="2100" kern="0" dirty="0"/>
              <a:t>Semantic Web – Linked Data</a:t>
            </a:r>
          </a:p>
          <a:p>
            <a:pPr marL="0" indent="0">
              <a:spcBef>
                <a:spcPct val="0"/>
              </a:spcBef>
              <a:buNone/>
              <a:defRPr/>
            </a:pPr>
            <a:endParaRPr lang="en-CA" altLang="en-US" sz="2100" kern="0" dirty="0"/>
          </a:p>
        </p:txBody>
      </p:sp>
      <p:sp>
        <p:nvSpPr>
          <p:cNvPr id="11270" name="TextBox 6"/>
          <p:cNvSpPr txBox="1">
            <a:spLocks noChangeArrowheads="1"/>
          </p:cNvSpPr>
          <p:nvPr/>
        </p:nvSpPr>
        <p:spPr bwMode="auto">
          <a:xfrm>
            <a:off x="3893344" y="3952875"/>
            <a:ext cx="2114550" cy="207749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CA" altLang="en-US" sz="750">
                <a:solidFill>
                  <a:schemeClr val="bg1"/>
                </a:solidFill>
              </a:rPr>
              <a:t>the web is the database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138238" y="1970485"/>
            <a:ext cx="6860381" cy="0"/>
          </a:xfrm>
          <a:prstGeom prst="line">
            <a:avLst/>
          </a:prstGeom>
          <a:ln>
            <a:solidFill>
              <a:srgbClr val="557D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54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6460331" y="5695950"/>
            <a:ext cx="1600200" cy="228600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3A07A31-F537-4695-8DD8-84481BC1E4DB}" type="slidenum">
              <a:rPr lang="en-US" altLang="en-US" smtClean="0"/>
              <a:pPr/>
              <a:t>7</a:t>
            </a:fld>
            <a:endParaRPr lang="en-US" altLang="en-US" smtClean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143001" y="1150144"/>
            <a:ext cx="6860381" cy="69770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ct val="0"/>
              </a:spcBef>
              <a:buNone/>
              <a:defRPr/>
            </a:pPr>
            <a:r>
              <a:rPr lang="en-CA" altLang="en-US" sz="2700" kern="0" dirty="0">
                <a:solidFill>
                  <a:srgbClr val="557D55"/>
                </a:solidFill>
              </a:rPr>
              <a:t>The Semantic Web</a:t>
            </a:r>
          </a:p>
          <a:p>
            <a:pPr algn="ctr">
              <a:spcBef>
                <a:spcPct val="0"/>
              </a:spcBef>
              <a:defRPr/>
            </a:pPr>
            <a:r>
              <a:rPr lang="en-CA" altLang="en-US" sz="2100" kern="0" dirty="0"/>
              <a:t>links </a:t>
            </a:r>
            <a:r>
              <a:rPr lang="en-CA" altLang="en-US" sz="2100" kern="0" dirty="0">
                <a:solidFill>
                  <a:srgbClr val="557D55"/>
                </a:solidFill>
              </a:rPr>
              <a:t>things</a:t>
            </a:r>
            <a:r>
              <a:rPr lang="en-CA" altLang="en-US" sz="2100" kern="0" dirty="0"/>
              <a:t>, </a:t>
            </a:r>
            <a:r>
              <a:rPr lang="en-CA" altLang="en-US" sz="2100" kern="0" dirty="0">
                <a:solidFill>
                  <a:srgbClr val="557D55"/>
                </a:solidFill>
              </a:rPr>
              <a:t>types</a:t>
            </a:r>
            <a:r>
              <a:rPr lang="en-CA" altLang="en-US" sz="2100" kern="0" dirty="0"/>
              <a:t>, pages</a:t>
            </a:r>
          </a:p>
        </p:txBody>
      </p:sp>
      <p:sp>
        <p:nvSpPr>
          <p:cNvPr id="31" name="Oval 30"/>
          <p:cNvSpPr/>
          <p:nvPr/>
        </p:nvSpPr>
        <p:spPr>
          <a:xfrm>
            <a:off x="3262313" y="5018485"/>
            <a:ext cx="1200150" cy="685800"/>
          </a:xfrm>
          <a:prstGeom prst="ellipse">
            <a:avLst/>
          </a:prstGeom>
          <a:solidFill>
            <a:srgbClr val="FFFF00">
              <a:alpha val="44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CA" sz="750" i="1" dirty="0">
                <a:solidFill>
                  <a:schemeClr val="tx1"/>
                </a:solidFill>
              </a:rPr>
              <a:t>River Gauge</a:t>
            </a:r>
          </a:p>
        </p:txBody>
      </p:sp>
      <p:sp>
        <p:nvSpPr>
          <p:cNvPr id="32" name="Oval 31"/>
          <p:cNvSpPr/>
          <p:nvPr/>
        </p:nvSpPr>
        <p:spPr>
          <a:xfrm>
            <a:off x="5537597" y="5036344"/>
            <a:ext cx="1200150" cy="685800"/>
          </a:xfrm>
          <a:prstGeom prst="ellipse">
            <a:avLst/>
          </a:prstGeom>
          <a:solidFill>
            <a:srgbClr val="FFFF00">
              <a:alpha val="44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CA" sz="750" i="1" dirty="0">
                <a:solidFill>
                  <a:schemeClr val="tx1"/>
                </a:solidFill>
              </a:rPr>
              <a:t>Water Body</a:t>
            </a:r>
          </a:p>
        </p:txBody>
      </p:sp>
      <p:cxnSp>
        <p:nvCxnSpPr>
          <p:cNvPr id="33" name="Straight Arrow Connector 32"/>
          <p:cNvCxnSpPr>
            <a:endCxn id="31" idx="0"/>
          </p:cNvCxnSpPr>
          <p:nvPr/>
        </p:nvCxnSpPr>
        <p:spPr>
          <a:xfrm flipH="1">
            <a:off x="3862388" y="4504135"/>
            <a:ext cx="10716" cy="51435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32" idx="0"/>
          </p:cNvCxnSpPr>
          <p:nvPr/>
        </p:nvCxnSpPr>
        <p:spPr>
          <a:xfrm flipH="1">
            <a:off x="6137672" y="4492229"/>
            <a:ext cx="0" cy="54411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6" name="TextBox 39"/>
          <p:cNvSpPr txBox="1">
            <a:spLocks noChangeArrowheads="1"/>
          </p:cNvSpPr>
          <p:nvPr/>
        </p:nvSpPr>
        <p:spPr bwMode="auto">
          <a:xfrm>
            <a:off x="1496616" y="2647950"/>
            <a:ext cx="147042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CA" altLang="en-US" sz="1100" dirty="0"/>
              <a:t> pages</a:t>
            </a:r>
          </a:p>
          <a:p>
            <a:pPr eaLnBrk="1" hangingPunct="1">
              <a:defRPr/>
            </a:pPr>
            <a:r>
              <a:rPr lang="en-CA" altLang="en-US" sz="1100" dirty="0">
                <a:solidFill>
                  <a:schemeClr val="bg1">
                    <a:lumMod val="50000"/>
                  </a:schemeClr>
                </a:solidFill>
              </a:rPr>
              <a:t>(representations)</a:t>
            </a:r>
          </a:p>
        </p:txBody>
      </p:sp>
      <p:sp>
        <p:nvSpPr>
          <p:cNvPr id="16394" name="TextBox 40"/>
          <p:cNvSpPr txBox="1">
            <a:spLocks noChangeArrowheads="1"/>
          </p:cNvSpPr>
          <p:nvPr/>
        </p:nvSpPr>
        <p:spPr bwMode="auto">
          <a:xfrm>
            <a:off x="1481138" y="3908823"/>
            <a:ext cx="168473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CA" altLang="en-US" sz="1100" dirty="0"/>
              <a:t> things</a:t>
            </a:r>
          </a:p>
          <a:p>
            <a:pPr eaLnBrk="1" hangingPunct="1">
              <a:defRPr/>
            </a:pPr>
            <a:r>
              <a:rPr lang="en-CA" altLang="en-US" sz="1100" dirty="0">
                <a:solidFill>
                  <a:schemeClr val="bg1">
                    <a:lumMod val="50000"/>
                  </a:schemeClr>
                </a:solidFill>
              </a:rPr>
              <a:t>(features, datasets)</a:t>
            </a:r>
          </a:p>
        </p:txBody>
      </p:sp>
      <p:sp>
        <p:nvSpPr>
          <p:cNvPr id="16395" name="TextBox 41"/>
          <p:cNvSpPr txBox="1">
            <a:spLocks noChangeArrowheads="1"/>
          </p:cNvSpPr>
          <p:nvPr/>
        </p:nvSpPr>
        <p:spPr bwMode="auto">
          <a:xfrm>
            <a:off x="1496616" y="5118498"/>
            <a:ext cx="15906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CA" altLang="en-US" sz="1100" dirty="0"/>
              <a:t> types</a:t>
            </a:r>
          </a:p>
          <a:p>
            <a:pPr eaLnBrk="1" hangingPunct="1">
              <a:defRPr/>
            </a:pPr>
            <a:r>
              <a:rPr lang="en-CA" altLang="en-US" sz="1100" dirty="0">
                <a:solidFill>
                  <a:schemeClr val="bg1">
                    <a:lumMod val="50000"/>
                  </a:schemeClr>
                </a:solidFill>
              </a:rPr>
              <a:t>(e.g. feature types)</a:t>
            </a:r>
          </a:p>
        </p:txBody>
      </p:sp>
      <p:cxnSp>
        <p:nvCxnSpPr>
          <p:cNvPr id="44" name="Straight Arrow Connector 43"/>
          <p:cNvCxnSpPr>
            <a:stCxn id="31" idx="6"/>
            <a:endCxn id="32" idx="2"/>
          </p:cNvCxnSpPr>
          <p:nvPr/>
        </p:nvCxnSpPr>
        <p:spPr>
          <a:xfrm>
            <a:off x="4462463" y="5361385"/>
            <a:ext cx="1075135" cy="17859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0" name="TextBox 44"/>
          <p:cNvSpPr txBox="1">
            <a:spLocks noChangeArrowheads="1"/>
          </p:cNvSpPr>
          <p:nvPr/>
        </p:nvSpPr>
        <p:spPr bwMode="auto">
          <a:xfrm>
            <a:off x="4462463" y="5101829"/>
            <a:ext cx="1131094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CA" altLang="en-US" sz="750"/>
              <a:t>on</a:t>
            </a:r>
          </a:p>
        </p:txBody>
      </p:sp>
      <p:sp>
        <p:nvSpPr>
          <p:cNvPr id="34" name="Flowchart: Document 33"/>
          <p:cNvSpPr/>
          <p:nvPr/>
        </p:nvSpPr>
        <p:spPr>
          <a:xfrm>
            <a:off x="3567113" y="2400300"/>
            <a:ext cx="628650" cy="857250"/>
          </a:xfrm>
          <a:prstGeom prst="flowChartDocument">
            <a:avLst/>
          </a:prstGeom>
          <a:solidFill>
            <a:schemeClr val="accent1">
              <a:alpha val="6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CA" sz="750" i="1" dirty="0">
                <a:solidFill>
                  <a:schemeClr val="bg1">
                    <a:lumMod val="65000"/>
                  </a:schemeClr>
                </a:solidFill>
              </a:rPr>
              <a:t>HTML</a:t>
            </a:r>
          </a:p>
          <a:p>
            <a:pPr algn="ctr" eaLnBrk="1" hangingPunct="1">
              <a:defRPr/>
            </a:pPr>
            <a:endParaRPr lang="en-CA" sz="9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defRPr/>
            </a:pPr>
            <a:r>
              <a:rPr lang="en-CA" sz="9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STJQ7</a:t>
            </a:r>
          </a:p>
        </p:txBody>
      </p:sp>
      <p:sp>
        <p:nvSpPr>
          <p:cNvPr id="35" name="Flowchart: Document 34"/>
          <p:cNvSpPr/>
          <p:nvPr/>
        </p:nvSpPr>
        <p:spPr>
          <a:xfrm>
            <a:off x="5831681" y="2400300"/>
            <a:ext cx="628650" cy="857250"/>
          </a:xfrm>
          <a:prstGeom prst="flowChartDocument">
            <a:avLst/>
          </a:prstGeom>
          <a:solidFill>
            <a:schemeClr val="accent1">
              <a:alpha val="64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CA" sz="750" i="1" dirty="0">
                <a:solidFill>
                  <a:schemeClr val="bg1">
                    <a:lumMod val="65000"/>
                  </a:schemeClr>
                </a:solidFill>
              </a:rPr>
              <a:t>HTML</a:t>
            </a:r>
          </a:p>
          <a:p>
            <a:pPr algn="ctr" eaLnBrk="1" hangingPunct="1">
              <a:defRPr/>
            </a:pPr>
            <a:endParaRPr lang="en-CA" sz="900" i="1" dirty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r>
              <a:rPr lang="en-CA" sz="900" i="1" dirty="0">
                <a:solidFill>
                  <a:schemeClr val="tx1"/>
                </a:solidFill>
              </a:rPr>
              <a:t>Richelieu River</a:t>
            </a:r>
          </a:p>
        </p:txBody>
      </p:sp>
      <p:cxnSp>
        <p:nvCxnSpPr>
          <p:cNvPr id="36" name="Straight Arrow Connector 35"/>
          <p:cNvCxnSpPr>
            <a:stCxn id="34" idx="3"/>
            <a:endCxn id="35" idx="1"/>
          </p:cNvCxnSpPr>
          <p:nvPr/>
        </p:nvCxnSpPr>
        <p:spPr>
          <a:xfrm>
            <a:off x="4195763" y="2828925"/>
            <a:ext cx="1635919" cy="0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4" name="TextBox 46"/>
          <p:cNvSpPr txBox="1">
            <a:spLocks noChangeArrowheads="1"/>
          </p:cNvSpPr>
          <p:nvPr/>
        </p:nvSpPr>
        <p:spPr bwMode="auto">
          <a:xfrm>
            <a:off x="4623198" y="2508648"/>
            <a:ext cx="978694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750"/>
              <a:t>hyperlink</a:t>
            </a:r>
          </a:p>
        </p:txBody>
      </p:sp>
      <p:sp>
        <p:nvSpPr>
          <p:cNvPr id="48" name="Oval 47"/>
          <p:cNvSpPr/>
          <p:nvPr/>
        </p:nvSpPr>
        <p:spPr>
          <a:xfrm>
            <a:off x="3281363" y="3810000"/>
            <a:ext cx="1200150" cy="685800"/>
          </a:xfrm>
          <a:prstGeom prst="ellipse">
            <a:avLst/>
          </a:prstGeom>
          <a:solidFill>
            <a:srgbClr val="FFFF00">
              <a:alpha val="44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CA" sz="750" i="1" dirty="0">
                <a:solidFill>
                  <a:schemeClr val="tx1"/>
                </a:solidFill>
              </a:rPr>
              <a:t>STJQ7</a:t>
            </a:r>
          </a:p>
        </p:txBody>
      </p:sp>
      <p:sp>
        <p:nvSpPr>
          <p:cNvPr id="49" name="Oval 48"/>
          <p:cNvSpPr/>
          <p:nvPr/>
        </p:nvSpPr>
        <p:spPr>
          <a:xfrm>
            <a:off x="5545931" y="3808810"/>
            <a:ext cx="1200150" cy="685800"/>
          </a:xfrm>
          <a:prstGeom prst="ellipse">
            <a:avLst/>
          </a:prstGeom>
          <a:solidFill>
            <a:srgbClr val="FFFF00">
              <a:alpha val="44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CA" sz="750" i="1" dirty="0">
                <a:solidFill>
                  <a:schemeClr val="tx1"/>
                </a:solidFill>
              </a:rPr>
              <a:t>Richelieu River</a:t>
            </a:r>
          </a:p>
        </p:txBody>
      </p:sp>
      <p:cxnSp>
        <p:nvCxnSpPr>
          <p:cNvPr id="50" name="Straight Arrow Connector 49"/>
          <p:cNvCxnSpPr>
            <a:stCxn id="48" idx="6"/>
            <a:endCxn id="49" idx="2"/>
          </p:cNvCxnSpPr>
          <p:nvPr/>
        </p:nvCxnSpPr>
        <p:spPr>
          <a:xfrm flipV="1">
            <a:off x="4481513" y="4151710"/>
            <a:ext cx="1064419" cy="1190"/>
          </a:xfrm>
          <a:prstGeom prst="straightConnector1">
            <a:avLst/>
          </a:prstGeom>
          <a:ln>
            <a:solidFill>
              <a:schemeClr val="tx1"/>
            </a:solidFill>
            <a:headEnd type="none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48" idx="0"/>
            <a:endCxn id="34" idx="2"/>
          </p:cNvCxnSpPr>
          <p:nvPr/>
        </p:nvCxnSpPr>
        <p:spPr>
          <a:xfrm flipV="1">
            <a:off x="3881438" y="3200400"/>
            <a:ext cx="0" cy="609600"/>
          </a:xfrm>
          <a:prstGeom prst="straightConnector1">
            <a:avLst/>
          </a:prstGeom>
          <a:ln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9" idx="0"/>
            <a:endCxn id="35" idx="2"/>
          </p:cNvCxnSpPr>
          <p:nvPr/>
        </p:nvCxnSpPr>
        <p:spPr>
          <a:xfrm flipV="1">
            <a:off x="6146006" y="3200400"/>
            <a:ext cx="0" cy="608410"/>
          </a:xfrm>
          <a:prstGeom prst="straightConnector1">
            <a:avLst/>
          </a:prstGeom>
          <a:ln>
            <a:solidFill>
              <a:schemeClr val="tx1"/>
            </a:solidFill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10" name="TextBox 55"/>
          <p:cNvSpPr txBox="1">
            <a:spLocks noChangeArrowheads="1"/>
          </p:cNvSpPr>
          <p:nvPr/>
        </p:nvSpPr>
        <p:spPr bwMode="auto">
          <a:xfrm>
            <a:off x="4462462" y="3875485"/>
            <a:ext cx="1139429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CA" altLang="en-US" sz="750"/>
              <a:t>on</a:t>
            </a:r>
          </a:p>
        </p:txBody>
      </p:sp>
      <p:sp>
        <p:nvSpPr>
          <p:cNvPr id="57" name="Left Brace 56"/>
          <p:cNvSpPr/>
          <p:nvPr/>
        </p:nvSpPr>
        <p:spPr>
          <a:xfrm rot="10800000">
            <a:off x="6880623" y="4169569"/>
            <a:ext cx="210740" cy="1070372"/>
          </a:xfrm>
          <a:prstGeom prst="leftBrace">
            <a:avLst>
              <a:gd name="adj1" fmla="val 56605"/>
              <a:gd name="adj2" fmla="val 52980"/>
            </a:avLst>
          </a:prstGeom>
          <a:ln>
            <a:solidFill>
              <a:srgbClr val="557D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CA" sz="750">
              <a:solidFill>
                <a:srgbClr val="557D55"/>
              </a:solidFill>
            </a:endParaRPr>
          </a:p>
        </p:txBody>
      </p:sp>
      <p:sp>
        <p:nvSpPr>
          <p:cNvPr id="12312" name="TextBox 57"/>
          <p:cNvSpPr txBox="1">
            <a:spLocks noChangeArrowheads="1"/>
          </p:cNvSpPr>
          <p:nvPr/>
        </p:nvSpPr>
        <p:spPr bwMode="auto">
          <a:xfrm>
            <a:off x="7035404" y="4511279"/>
            <a:ext cx="978694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 sz="1050" dirty="0">
                <a:solidFill>
                  <a:srgbClr val="557D55"/>
                </a:solidFill>
              </a:rPr>
              <a:t> ontologies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138238" y="1970485"/>
            <a:ext cx="6860381" cy="0"/>
          </a:xfrm>
          <a:prstGeom prst="line">
            <a:avLst/>
          </a:prstGeom>
          <a:ln>
            <a:solidFill>
              <a:srgbClr val="557D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7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17DC0B-DE18-42CC-9497-F0D8F2480161}" type="slidenum">
              <a:rPr lang="en-US" altLang="en-US" smtClean="0"/>
              <a:pPr/>
              <a:t>8</a:t>
            </a:fld>
            <a:endParaRPr lang="en-US" altLang="en-US" smtClean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43001" y="1150144"/>
            <a:ext cx="6860381" cy="44648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ct val="0"/>
              </a:spcBef>
              <a:buNone/>
              <a:defRPr/>
            </a:pPr>
            <a:r>
              <a:rPr lang="en-CA" altLang="en-US" sz="2700" kern="0" dirty="0">
                <a:solidFill>
                  <a:srgbClr val="557D55"/>
                </a:solidFill>
              </a:rPr>
              <a:t>Linked Data Example</a:t>
            </a:r>
            <a:endParaRPr lang="en-CA" altLang="en-US" sz="2700" kern="0" dirty="0">
              <a:solidFill>
                <a:srgbClr val="557D55"/>
              </a:solidFill>
            </a:endParaRPr>
          </a:p>
          <a:p>
            <a:pPr marL="0" indent="0">
              <a:spcBef>
                <a:spcPct val="0"/>
              </a:spcBef>
              <a:buNone/>
              <a:defRPr/>
            </a:pPr>
            <a:endParaRPr lang="en-CA" altLang="en-US" sz="2100" kern="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143001" y="1657350"/>
            <a:ext cx="6860381" cy="0"/>
          </a:xfrm>
          <a:prstGeom prst="line">
            <a:avLst/>
          </a:prstGeom>
          <a:ln>
            <a:solidFill>
              <a:srgbClr val="557D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1828801"/>
            <a:ext cx="4287093" cy="358259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11" name="TextBox 10"/>
          <p:cNvSpPr txBox="1"/>
          <p:nvPr/>
        </p:nvSpPr>
        <p:spPr>
          <a:xfrm>
            <a:off x="863203" y="4863704"/>
            <a:ext cx="2280047" cy="21358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CA" sz="788" dirty="0">
                <a:solidFill>
                  <a:schemeClr val="accent2"/>
                </a:solidFill>
              </a:rPr>
              <a:t>Water body: </a:t>
            </a:r>
            <a:r>
              <a:rPr lang="en-CA" sz="788" dirty="0" err="1">
                <a:solidFill>
                  <a:schemeClr val="accent2"/>
                </a:solidFill>
              </a:rPr>
              <a:t>Riviere</a:t>
            </a:r>
            <a:r>
              <a:rPr lang="en-CA" sz="788" dirty="0">
                <a:solidFill>
                  <a:schemeClr val="accent2"/>
                </a:solidFill>
              </a:rPr>
              <a:t> Richelieu</a:t>
            </a:r>
          </a:p>
        </p:txBody>
      </p:sp>
      <p:grpSp>
        <p:nvGrpSpPr>
          <p:cNvPr id="13319" name="Group 20"/>
          <p:cNvGrpSpPr>
            <a:grpSpLocks/>
          </p:cNvGrpSpPr>
          <p:nvPr/>
        </p:nvGrpSpPr>
        <p:grpSpPr bwMode="auto">
          <a:xfrm>
            <a:off x="2571750" y="1828800"/>
            <a:ext cx="6504385" cy="3582591"/>
            <a:chOff x="3429000" y="1295400"/>
            <a:chExt cx="8763000" cy="477678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92324" y="1295400"/>
              <a:ext cx="6399676" cy="4776787"/>
            </a:xfrm>
            <a:prstGeom prst="rect">
              <a:avLst/>
            </a:prstGeom>
            <a:effectLst>
              <a:innerShdw blurRad="114300">
                <a:prstClr val="black"/>
              </a:innerShdw>
            </a:effectLst>
          </p:spPr>
        </p:pic>
        <p:cxnSp>
          <p:nvCxnSpPr>
            <p:cNvPr id="18" name="Straight Arrow Connector 17"/>
            <p:cNvCxnSpPr/>
            <p:nvPr/>
          </p:nvCxnSpPr>
          <p:spPr>
            <a:xfrm>
              <a:off x="3429000" y="4190999"/>
              <a:ext cx="320010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2365773" y="2747963"/>
            <a:ext cx="6549628" cy="3153966"/>
            <a:chOff x="3154701" y="2520780"/>
            <a:chExt cx="8732499" cy="4205936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3858" y="2520780"/>
              <a:ext cx="5603342" cy="4205936"/>
            </a:xfrm>
            <a:prstGeom prst="rect">
              <a:avLst/>
            </a:prstGeom>
            <a:effectLst>
              <a:innerShdw blurRad="114300">
                <a:prstClr val="black"/>
              </a:innerShdw>
            </a:effectLst>
          </p:spPr>
        </p:pic>
        <p:cxnSp>
          <p:nvCxnSpPr>
            <p:cNvPr id="13" name="Straight Arrow Connector 12"/>
            <p:cNvCxnSpPr/>
            <p:nvPr/>
          </p:nvCxnSpPr>
          <p:spPr bwMode="auto">
            <a:xfrm>
              <a:off x="3154701" y="5485100"/>
              <a:ext cx="3487602" cy="1587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21" name="TextBox 2"/>
          <p:cNvSpPr txBox="1">
            <a:spLocks noChangeArrowheads="1"/>
          </p:cNvSpPr>
          <p:nvPr/>
        </p:nvSpPr>
        <p:spPr bwMode="auto">
          <a:xfrm>
            <a:off x="863203" y="5016103"/>
            <a:ext cx="2908697" cy="18466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600">
                <a:hlinkClick r:id="rId5"/>
              </a:rPr>
              <a:t>https://geoconnex.ca/id/waterbody/60c56a06be4911d892e2080020a0f4c9</a:t>
            </a:r>
            <a:endParaRPr lang="en-CA" altLang="en-US" sz="600"/>
          </a:p>
        </p:txBody>
      </p:sp>
    </p:spTree>
    <p:extLst>
      <p:ext uri="{BB962C8B-B14F-4D97-AF65-F5344CB8AC3E}">
        <p14:creationId xmlns:p14="http://schemas.microsoft.com/office/powerpoint/2010/main" val="284033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2880122" y="2141935"/>
            <a:ext cx="3480197" cy="710803"/>
          </a:xfrm>
          <a:prstGeom prst="rect">
            <a:avLst/>
          </a:prstGeom>
          <a:solidFill>
            <a:srgbClr val="557D55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750"/>
          </a:p>
        </p:txBody>
      </p:sp>
      <p:sp>
        <p:nvSpPr>
          <p:cNvPr id="14339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0D28D8-2ACE-4E2B-A5CE-1CE155EC3C1E}" type="slidenum">
              <a:rPr lang="en-US" altLang="en-US" smtClean="0"/>
              <a:pPr/>
              <a:t>9</a:t>
            </a:fld>
            <a:endParaRPr lang="en-US" altLang="en-US" smtClean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143001" y="1150144"/>
            <a:ext cx="6860381" cy="96440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ct val="0"/>
              </a:spcBef>
              <a:buNone/>
              <a:defRPr/>
            </a:pPr>
            <a:r>
              <a:rPr lang="en-CA" altLang="en-US" sz="2700" kern="0" dirty="0">
                <a:solidFill>
                  <a:srgbClr val="557D55"/>
                </a:solidFill>
              </a:rPr>
              <a:t>Benefits</a:t>
            </a:r>
          </a:p>
          <a:p>
            <a:pPr marL="0" indent="0">
              <a:spcBef>
                <a:spcPct val="0"/>
              </a:spcBef>
              <a:buNone/>
              <a:defRPr/>
            </a:pPr>
            <a:endParaRPr lang="en-CA" altLang="en-US" sz="2100" kern="0" dirty="0"/>
          </a:p>
        </p:txBody>
      </p:sp>
      <p:cxnSp>
        <p:nvCxnSpPr>
          <p:cNvPr id="7" name="Straight Connector 6"/>
          <p:cNvCxnSpPr>
            <a:stCxn id="21" idx="0"/>
            <a:endCxn id="51" idx="2"/>
          </p:cNvCxnSpPr>
          <p:nvPr/>
        </p:nvCxnSpPr>
        <p:spPr>
          <a:xfrm>
            <a:off x="4620817" y="2141935"/>
            <a:ext cx="2381" cy="356115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2883694" y="2844404"/>
            <a:ext cx="348019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2868216" y="3600450"/>
            <a:ext cx="348138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4" name="TextBox 14"/>
          <p:cNvSpPr txBox="1">
            <a:spLocks noChangeArrowheads="1"/>
          </p:cNvSpPr>
          <p:nvPr/>
        </p:nvSpPr>
        <p:spPr bwMode="auto">
          <a:xfrm>
            <a:off x="3543301" y="1789510"/>
            <a:ext cx="45124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1100" dirty="0">
                <a:solidFill>
                  <a:srgbClr val="557D55"/>
                </a:solidFill>
              </a:rPr>
              <a:t>SDI</a:t>
            </a:r>
          </a:p>
        </p:txBody>
      </p:sp>
      <p:sp>
        <p:nvSpPr>
          <p:cNvPr id="14345" name="TextBox 14"/>
          <p:cNvSpPr txBox="1">
            <a:spLocks noChangeArrowheads="1"/>
          </p:cNvSpPr>
          <p:nvPr/>
        </p:nvSpPr>
        <p:spPr bwMode="auto">
          <a:xfrm>
            <a:off x="5200651" y="1789510"/>
            <a:ext cx="45124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1100">
                <a:solidFill>
                  <a:srgbClr val="557D55"/>
                </a:solidFill>
              </a:rPr>
              <a:t>LD</a:t>
            </a:r>
          </a:p>
        </p:txBody>
      </p:sp>
      <p:sp>
        <p:nvSpPr>
          <p:cNvPr id="14346" name="TextBox 14"/>
          <p:cNvSpPr txBox="1">
            <a:spLocks noChangeArrowheads="1"/>
          </p:cNvSpPr>
          <p:nvPr/>
        </p:nvSpPr>
        <p:spPr bwMode="auto">
          <a:xfrm>
            <a:off x="1701404" y="2401491"/>
            <a:ext cx="1143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1400" dirty="0">
                <a:solidFill>
                  <a:srgbClr val="557D55"/>
                </a:solidFill>
              </a:rPr>
              <a:t>Discover</a:t>
            </a:r>
          </a:p>
        </p:txBody>
      </p:sp>
      <p:sp>
        <p:nvSpPr>
          <p:cNvPr id="14347" name="TextBox 14"/>
          <p:cNvSpPr txBox="1">
            <a:spLocks noChangeArrowheads="1"/>
          </p:cNvSpPr>
          <p:nvPr/>
        </p:nvSpPr>
        <p:spPr bwMode="auto">
          <a:xfrm>
            <a:off x="1701404" y="3092054"/>
            <a:ext cx="1143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1400">
                <a:solidFill>
                  <a:srgbClr val="557D55"/>
                </a:solidFill>
              </a:rPr>
              <a:t>Connect</a:t>
            </a:r>
          </a:p>
        </p:txBody>
      </p:sp>
      <p:sp>
        <p:nvSpPr>
          <p:cNvPr id="14348" name="TextBox 14"/>
          <p:cNvSpPr txBox="1">
            <a:spLocks noChangeArrowheads="1"/>
          </p:cNvSpPr>
          <p:nvPr/>
        </p:nvSpPr>
        <p:spPr bwMode="auto">
          <a:xfrm>
            <a:off x="1701404" y="3777854"/>
            <a:ext cx="1143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1400">
                <a:solidFill>
                  <a:srgbClr val="557D55"/>
                </a:solidFill>
              </a:rPr>
              <a:t>Access</a:t>
            </a:r>
          </a:p>
        </p:txBody>
      </p:sp>
      <p:sp>
        <p:nvSpPr>
          <p:cNvPr id="14349" name="TextBox 18"/>
          <p:cNvSpPr txBox="1">
            <a:spLocks noChangeArrowheads="1"/>
          </p:cNvSpPr>
          <p:nvPr/>
        </p:nvSpPr>
        <p:spPr bwMode="auto">
          <a:xfrm>
            <a:off x="2857501" y="2312194"/>
            <a:ext cx="1831181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CA" altLang="en-US" sz="750"/>
              <a:t>Web Portal / Catalog</a:t>
            </a:r>
          </a:p>
          <a:p>
            <a:pPr algn="ctr"/>
            <a:r>
              <a:rPr lang="en-CA" altLang="en-US" sz="900"/>
              <a:t> e.g. GIN</a:t>
            </a:r>
          </a:p>
        </p:txBody>
      </p:sp>
      <p:sp>
        <p:nvSpPr>
          <p:cNvPr id="14350" name="TextBox 19"/>
          <p:cNvSpPr txBox="1">
            <a:spLocks noChangeArrowheads="1"/>
          </p:cNvSpPr>
          <p:nvPr/>
        </p:nvSpPr>
        <p:spPr bwMode="auto">
          <a:xfrm>
            <a:off x="4838700" y="2295525"/>
            <a:ext cx="1371600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750"/>
              <a:t>Search Engine</a:t>
            </a:r>
          </a:p>
          <a:p>
            <a:r>
              <a:rPr lang="en-CA" altLang="en-US" sz="900"/>
              <a:t>e.g. Google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3694" y="3612357"/>
            <a:ext cx="3480197" cy="740569"/>
          </a:xfrm>
          <a:prstGeom prst="rect">
            <a:avLst/>
          </a:prstGeom>
          <a:solidFill>
            <a:srgbClr val="557D55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750"/>
          </a:p>
        </p:txBody>
      </p:sp>
      <p:sp>
        <p:nvSpPr>
          <p:cNvPr id="14352" name="TextBox 23"/>
          <p:cNvSpPr txBox="1">
            <a:spLocks noChangeArrowheads="1"/>
          </p:cNvSpPr>
          <p:nvPr/>
        </p:nvSpPr>
        <p:spPr bwMode="auto">
          <a:xfrm>
            <a:off x="3063479" y="3730229"/>
            <a:ext cx="1371600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750"/>
              <a:t>Datasets</a:t>
            </a:r>
          </a:p>
          <a:p>
            <a:r>
              <a:rPr lang="en-CA" altLang="en-US" sz="900"/>
              <a:t>e.g. GIS layers</a:t>
            </a:r>
          </a:p>
        </p:txBody>
      </p:sp>
      <p:sp>
        <p:nvSpPr>
          <p:cNvPr id="14353" name="TextBox 24"/>
          <p:cNvSpPr txBox="1">
            <a:spLocks noChangeArrowheads="1"/>
          </p:cNvSpPr>
          <p:nvPr/>
        </p:nvSpPr>
        <p:spPr bwMode="auto">
          <a:xfrm>
            <a:off x="4841081" y="3711179"/>
            <a:ext cx="1419225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750"/>
              <a:t>Features</a:t>
            </a:r>
          </a:p>
          <a:p>
            <a:r>
              <a:rPr lang="en-CA" altLang="en-US" sz="900"/>
              <a:t>e.g. aquifers, wells, rivers, gauges</a:t>
            </a:r>
          </a:p>
        </p:txBody>
      </p:sp>
      <p:sp>
        <p:nvSpPr>
          <p:cNvPr id="14354" name="TextBox 25"/>
          <p:cNvSpPr txBox="1">
            <a:spLocks noChangeArrowheads="1"/>
          </p:cNvSpPr>
          <p:nvPr/>
        </p:nvSpPr>
        <p:spPr bwMode="auto">
          <a:xfrm>
            <a:off x="3063479" y="2993232"/>
            <a:ext cx="1371600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750"/>
              <a:t>Disconnected</a:t>
            </a:r>
          </a:p>
          <a:p>
            <a:r>
              <a:rPr lang="en-CA" altLang="en-US" sz="900"/>
              <a:t>wells / gauges / rivers</a:t>
            </a:r>
          </a:p>
        </p:txBody>
      </p:sp>
      <p:sp>
        <p:nvSpPr>
          <p:cNvPr id="14355" name="TextBox 26"/>
          <p:cNvSpPr txBox="1">
            <a:spLocks noChangeArrowheads="1"/>
          </p:cNvSpPr>
          <p:nvPr/>
        </p:nvSpPr>
        <p:spPr bwMode="auto">
          <a:xfrm>
            <a:off x="4839891" y="2993231"/>
            <a:ext cx="1371600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750"/>
              <a:t>Connected</a:t>
            </a:r>
          </a:p>
          <a:p>
            <a:r>
              <a:rPr lang="en-CA" altLang="en-US" sz="900"/>
              <a:t>e.g. wells upstream of gauge on river 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1143001" y="1657350"/>
            <a:ext cx="6860381" cy="0"/>
          </a:xfrm>
          <a:prstGeom prst="line">
            <a:avLst/>
          </a:prstGeom>
          <a:ln>
            <a:solidFill>
              <a:srgbClr val="557D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2868216" y="4341019"/>
            <a:ext cx="348138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58" name="TextBox 14"/>
          <p:cNvSpPr txBox="1">
            <a:spLocks noChangeArrowheads="1"/>
          </p:cNvSpPr>
          <p:nvPr/>
        </p:nvSpPr>
        <p:spPr bwMode="auto">
          <a:xfrm>
            <a:off x="1701404" y="4488657"/>
            <a:ext cx="1143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1400">
                <a:solidFill>
                  <a:srgbClr val="557D55"/>
                </a:solidFill>
              </a:rPr>
              <a:t>Use</a:t>
            </a:r>
          </a:p>
        </p:txBody>
      </p:sp>
      <p:sp>
        <p:nvSpPr>
          <p:cNvPr id="14359" name="TextBox 36"/>
          <p:cNvSpPr txBox="1">
            <a:spLocks noChangeArrowheads="1"/>
          </p:cNvSpPr>
          <p:nvPr/>
        </p:nvSpPr>
        <p:spPr bwMode="auto">
          <a:xfrm>
            <a:off x="3148013" y="4557713"/>
            <a:ext cx="13716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750"/>
              <a:t>Expert</a:t>
            </a:r>
          </a:p>
        </p:txBody>
      </p:sp>
      <p:sp>
        <p:nvSpPr>
          <p:cNvPr id="14360" name="TextBox 37"/>
          <p:cNvSpPr txBox="1">
            <a:spLocks noChangeArrowheads="1"/>
          </p:cNvSpPr>
          <p:nvPr/>
        </p:nvSpPr>
        <p:spPr bwMode="auto">
          <a:xfrm>
            <a:off x="4838700" y="4575573"/>
            <a:ext cx="13716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750"/>
              <a:t>Non-expert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83694" y="2124075"/>
            <a:ext cx="3480197" cy="3579019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750"/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2863453" y="5029200"/>
            <a:ext cx="348019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63" name="TextBox 14"/>
          <p:cNvSpPr txBox="1">
            <a:spLocks noChangeArrowheads="1"/>
          </p:cNvSpPr>
          <p:nvPr/>
        </p:nvSpPr>
        <p:spPr bwMode="auto">
          <a:xfrm>
            <a:off x="1701404" y="5197079"/>
            <a:ext cx="1143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1400">
                <a:solidFill>
                  <a:srgbClr val="557D55"/>
                </a:solidFill>
              </a:rPr>
              <a:t>Maintain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122" y="5020866"/>
            <a:ext cx="3476625" cy="709613"/>
          </a:xfrm>
          <a:prstGeom prst="rect">
            <a:avLst/>
          </a:prstGeom>
          <a:solidFill>
            <a:srgbClr val="557D55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750"/>
          </a:p>
        </p:txBody>
      </p:sp>
      <p:sp>
        <p:nvSpPr>
          <p:cNvPr id="14365" name="TextBox 36"/>
          <p:cNvSpPr txBox="1">
            <a:spLocks noChangeArrowheads="1"/>
          </p:cNvSpPr>
          <p:nvPr/>
        </p:nvSpPr>
        <p:spPr bwMode="auto">
          <a:xfrm>
            <a:off x="3119438" y="5179219"/>
            <a:ext cx="13716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750"/>
              <a:t>Closed World</a:t>
            </a:r>
          </a:p>
        </p:txBody>
      </p:sp>
      <p:sp>
        <p:nvSpPr>
          <p:cNvPr id="14366" name="TextBox 37"/>
          <p:cNvSpPr txBox="1">
            <a:spLocks noChangeArrowheads="1"/>
          </p:cNvSpPr>
          <p:nvPr/>
        </p:nvSpPr>
        <p:spPr bwMode="auto">
          <a:xfrm>
            <a:off x="4811316" y="5197079"/>
            <a:ext cx="13716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750"/>
              <a:t>Open World</a:t>
            </a:r>
          </a:p>
        </p:txBody>
      </p:sp>
    </p:spTree>
    <p:extLst>
      <p:ext uri="{BB962C8B-B14F-4D97-AF65-F5344CB8AC3E}">
        <p14:creationId xmlns:p14="http://schemas.microsoft.com/office/powerpoint/2010/main" val="309009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75569C-06E6-493D-9872-B1FAFF5D8C9C}" type="slidenum">
              <a:rPr lang="en-US" altLang="en-US" smtClean="0"/>
              <a:pPr/>
              <a:t>10</a:t>
            </a:fld>
            <a:endParaRPr lang="en-US" altLang="en-US" smtClean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143001" y="1150144"/>
            <a:ext cx="6860381" cy="56435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ct val="0"/>
              </a:spcBef>
              <a:buNone/>
              <a:defRPr/>
            </a:pPr>
            <a:r>
              <a:rPr lang="en-CA" altLang="en-US" sz="2700" kern="0" dirty="0">
                <a:solidFill>
                  <a:srgbClr val="557D55"/>
                </a:solidFill>
              </a:rPr>
              <a:t> </a:t>
            </a:r>
            <a:r>
              <a:rPr lang="en-CA" altLang="en-US" sz="2700" kern="0" dirty="0">
                <a:solidFill>
                  <a:srgbClr val="557D55"/>
                </a:solidFill>
              </a:rPr>
              <a:t>Benefits – connectivity</a:t>
            </a:r>
          </a:p>
          <a:p>
            <a:pPr marL="0" indent="0" algn="ctr">
              <a:spcBef>
                <a:spcPct val="0"/>
              </a:spcBef>
              <a:buNone/>
              <a:defRPr/>
            </a:pPr>
            <a:r>
              <a:rPr lang="en-CA" altLang="en-US" sz="2700" kern="0" dirty="0">
                <a:solidFill>
                  <a:srgbClr val="557D55"/>
                </a:solidFill>
              </a:rPr>
              <a:t> </a:t>
            </a:r>
            <a:endParaRPr lang="en-CA" altLang="en-US" sz="2700" kern="0" dirty="0">
              <a:solidFill>
                <a:srgbClr val="557D55"/>
              </a:solidFill>
            </a:endParaRPr>
          </a:p>
        </p:txBody>
      </p:sp>
      <p:sp>
        <p:nvSpPr>
          <p:cNvPr id="15364" name="TextBox 3"/>
          <p:cNvSpPr txBox="1">
            <a:spLocks noChangeArrowheads="1"/>
          </p:cNvSpPr>
          <p:nvPr/>
        </p:nvSpPr>
        <p:spPr bwMode="auto">
          <a:xfrm>
            <a:off x="2657475" y="2027635"/>
            <a:ext cx="542925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1200" dirty="0"/>
              <a:t>aquifer      	</a:t>
            </a:r>
            <a:r>
              <a:rPr lang="en-CA" altLang="en-US" sz="1200" dirty="0" smtClean="0"/>
              <a:t>	</a:t>
            </a:r>
            <a:r>
              <a:rPr lang="en-CA" altLang="en-US" sz="1200" i="1" dirty="0" smtClean="0"/>
              <a:t>overlaps</a:t>
            </a:r>
            <a:r>
              <a:rPr lang="en-CA" altLang="en-US" sz="1200" dirty="0" smtClean="0"/>
              <a:t> </a:t>
            </a:r>
            <a:r>
              <a:rPr lang="en-CA" altLang="en-US" sz="1200" dirty="0"/>
              <a:t>		catchment</a:t>
            </a:r>
          </a:p>
          <a:p>
            <a:r>
              <a:rPr lang="en-CA" altLang="en-US" sz="1200" dirty="0"/>
              <a:t>aquifer      	</a:t>
            </a:r>
            <a:r>
              <a:rPr lang="en-CA" altLang="en-US" sz="1200" dirty="0" smtClean="0"/>
              <a:t>	</a:t>
            </a:r>
            <a:r>
              <a:rPr lang="en-CA" altLang="en-US" sz="1200" i="1" dirty="0" smtClean="0"/>
              <a:t>overlaps</a:t>
            </a:r>
            <a:r>
              <a:rPr lang="en-CA" altLang="en-US" sz="1200" dirty="0" smtClean="0"/>
              <a:t> </a:t>
            </a:r>
            <a:r>
              <a:rPr lang="en-CA" altLang="en-US" sz="1200" dirty="0"/>
              <a:t>		waterbody </a:t>
            </a:r>
          </a:p>
          <a:p>
            <a:r>
              <a:rPr lang="en-CA" altLang="en-US" sz="1200" dirty="0"/>
              <a:t>aquifer      	</a:t>
            </a:r>
            <a:r>
              <a:rPr lang="en-CA" altLang="en-US" sz="1200" dirty="0" smtClean="0"/>
              <a:t>	</a:t>
            </a:r>
            <a:r>
              <a:rPr lang="en-CA" altLang="en-US" sz="1200" i="1" dirty="0" smtClean="0"/>
              <a:t>hydraulically-connects</a:t>
            </a:r>
            <a:r>
              <a:rPr lang="en-CA" altLang="en-US" sz="1200" dirty="0" smtClean="0"/>
              <a:t> </a:t>
            </a:r>
            <a:r>
              <a:rPr lang="en-CA" altLang="en-US" sz="1200" dirty="0"/>
              <a:t>	waterbody</a:t>
            </a:r>
          </a:p>
          <a:p>
            <a:r>
              <a:rPr lang="en-CA" altLang="en-US" sz="1200" dirty="0"/>
              <a:t>aquifer	   	</a:t>
            </a:r>
            <a:r>
              <a:rPr lang="en-CA" altLang="en-US" sz="1200" i="1" dirty="0"/>
              <a:t>contains</a:t>
            </a:r>
            <a:r>
              <a:rPr lang="en-CA" altLang="en-US" sz="1200" dirty="0"/>
              <a:t>		</a:t>
            </a:r>
            <a:r>
              <a:rPr lang="en-CA" altLang="en-US" sz="1200" dirty="0" smtClean="0"/>
              <a:t>water </a:t>
            </a:r>
            <a:r>
              <a:rPr lang="en-CA" altLang="en-US" sz="1200" dirty="0"/>
              <a:t>well</a:t>
            </a:r>
          </a:p>
          <a:p>
            <a:r>
              <a:rPr lang="en-CA" altLang="en-US" sz="1200" dirty="0"/>
              <a:t>aquifer	   	</a:t>
            </a:r>
            <a:r>
              <a:rPr lang="en-CA" altLang="en-US" sz="1200" i="1" dirty="0"/>
              <a:t>contains</a:t>
            </a:r>
            <a:r>
              <a:rPr lang="en-CA" altLang="en-US" sz="1200" dirty="0"/>
              <a:t>		</a:t>
            </a:r>
            <a:r>
              <a:rPr lang="en-CA" altLang="en-US" sz="1200" dirty="0" err="1" smtClean="0"/>
              <a:t>gw</a:t>
            </a:r>
            <a:r>
              <a:rPr lang="en-CA" altLang="en-US" sz="1200" dirty="0" smtClean="0"/>
              <a:t>-station</a:t>
            </a:r>
            <a:endParaRPr lang="en-CA" altLang="en-US" sz="1200" dirty="0"/>
          </a:p>
          <a:p>
            <a:r>
              <a:rPr lang="en-CA" altLang="en-US" sz="1200" dirty="0"/>
              <a:t>aquifer </a:t>
            </a:r>
            <a:r>
              <a:rPr lang="en-CA" altLang="en-US" sz="1200" dirty="0">
                <a:solidFill>
                  <a:schemeClr val="accent2"/>
                </a:solidFill>
              </a:rPr>
              <a:t>[CAN]</a:t>
            </a:r>
            <a:r>
              <a:rPr lang="en-CA" altLang="en-US" sz="1200" dirty="0"/>
              <a:t>	</a:t>
            </a:r>
            <a:r>
              <a:rPr lang="en-CA" altLang="en-US" sz="1200" i="1" dirty="0"/>
              <a:t>hydraulically-connects	</a:t>
            </a:r>
            <a:r>
              <a:rPr lang="en-CA" altLang="en-US" sz="1200" dirty="0"/>
              <a:t>aquifer </a:t>
            </a:r>
            <a:r>
              <a:rPr lang="en-CA" altLang="en-US" sz="1200" dirty="0">
                <a:solidFill>
                  <a:schemeClr val="accent2"/>
                </a:solidFill>
              </a:rPr>
              <a:t>[US]</a:t>
            </a:r>
          </a:p>
          <a:p>
            <a:endParaRPr lang="en-CA" altLang="en-US" sz="1200" dirty="0"/>
          </a:p>
          <a:p>
            <a:r>
              <a:rPr lang="en-CA" altLang="en-US" sz="1200" dirty="0"/>
              <a:t>catchment            	</a:t>
            </a:r>
            <a:r>
              <a:rPr lang="en-CA" altLang="en-US" sz="1200" i="1" dirty="0" smtClean="0"/>
              <a:t>contains</a:t>
            </a:r>
            <a:r>
              <a:rPr lang="en-CA" altLang="en-US" sz="1200" dirty="0"/>
              <a:t>		water well</a:t>
            </a:r>
          </a:p>
          <a:p>
            <a:r>
              <a:rPr lang="en-CA" altLang="en-US" sz="1200" dirty="0"/>
              <a:t>catchment            	</a:t>
            </a:r>
            <a:r>
              <a:rPr lang="en-CA" altLang="en-US" sz="1200" i="1" dirty="0" smtClean="0"/>
              <a:t>contains</a:t>
            </a:r>
            <a:r>
              <a:rPr lang="en-CA" altLang="en-US" sz="1200" dirty="0"/>
              <a:t>		hydrometric-station</a:t>
            </a:r>
          </a:p>
          <a:p>
            <a:r>
              <a:rPr lang="en-CA" altLang="en-US" sz="1200" dirty="0"/>
              <a:t>catchment		</a:t>
            </a:r>
            <a:r>
              <a:rPr lang="en-CA" altLang="en-US" sz="1200" i="1" dirty="0"/>
              <a:t>contains</a:t>
            </a:r>
            <a:r>
              <a:rPr lang="en-CA" altLang="en-US" sz="1200" dirty="0"/>
              <a:t> 	</a:t>
            </a:r>
            <a:r>
              <a:rPr lang="en-CA" altLang="en-US" sz="1200" dirty="0" smtClean="0"/>
              <a:t>	</a:t>
            </a:r>
            <a:r>
              <a:rPr lang="en-CA" altLang="en-US" sz="1200" dirty="0" err="1" smtClean="0"/>
              <a:t>gw</a:t>
            </a:r>
            <a:r>
              <a:rPr lang="en-CA" altLang="en-US" sz="1200" dirty="0" smtClean="0"/>
              <a:t>-station</a:t>
            </a:r>
            <a:endParaRPr lang="en-CA" altLang="en-US" sz="1200" dirty="0"/>
          </a:p>
          <a:p>
            <a:r>
              <a:rPr lang="en-CA" altLang="en-US" sz="1200" dirty="0"/>
              <a:t>waterbody </a:t>
            </a:r>
            <a:r>
              <a:rPr lang="en-CA" altLang="en-US" sz="1200" dirty="0">
                <a:solidFill>
                  <a:schemeClr val="accent2"/>
                </a:solidFill>
              </a:rPr>
              <a:t>[CAN]</a:t>
            </a:r>
            <a:r>
              <a:rPr lang="en-CA" altLang="en-US" sz="1200" dirty="0"/>
              <a:t>	</a:t>
            </a:r>
            <a:r>
              <a:rPr lang="en-CA" altLang="en-US" sz="1200" i="1" dirty="0" smtClean="0"/>
              <a:t>downstream-of </a:t>
            </a:r>
            <a:r>
              <a:rPr lang="en-CA" altLang="en-US" sz="1200" i="1" dirty="0"/>
              <a:t>	</a:t>
            </a:r>
            <a:r>
              <a:rPr lang="en-CA" altLang="en-US" sz="1200" dirty="0"/>
              <a:t>waterbody </a:t>
            </a:r>
            <a:r>
              <a:rPr lang="en-CA" altLang="en-US" sz="1200" dirty="0">
                <a:solidFill>
                  <a:schemeClr val="accent2"/>
                </a:solidFill>
              </a:rPr>
              <a:t>[US]</a:t>
            </a:r>
          </a:p>
          <a:p>
            <a:endParaRPr lang="en-CA" altLang="en-US" sz="1200" dirty="0"/>
          </a:p>
          <a:p>
            <a:r>
              <a:rPr lang="en-CA" altLang="en-US" sz="1200" dirty="0"/>
              <a:t>hydrometric-station     	</a:t>
            </a:r>
            <a:r>
              <a:rPr lang="en-CA" altLang="en-US" sz="1200" i="1" dirty="0"/>
              <a:t>measures</a:t>
            </a:r>
            <a:r>
              <a:rPr lang="en-CA" altLang="en-US" sz="1200" dirty="0"/>
              <a:t>      	waterbody</a:t>
            </a:r>
          </a:p>
          <a:p>
            <a:r>
              <a:rPr lang="en-CA" altLang="en-US" sz="1200" dirty="0"/>
              <a:t>hydrometric-station     	</a:t>
            </a:r>
            <a:r>
              <a:rPr lang="en-CA" altLang="en-US" sz="1200" i="1" dirty="0"/>
              <a:t>near 		</a:t>
            </a:r>
            <a:r>
              <a:rPr lang="en-CA" altLang="en-US" sz="1200" dirty="0"/>
              <a:t>waterbody </a:t>
            </a:r>
          </a:p>
          <a:p>
            <a:r>
              <a:rPr lang="en-CA" altLang="en-US" sz="1200" dirty="0"/>
              <a:t>hydrometric-station    	</a:t>
            </a:r>
            <a:r>
              <a:rPr lang="en-CA" altLang="en-US" sz="1200" i="1" dirty="0"/>
              <a:t>downstream-of	</a:t>
            </a:r>
            <a:r>
              <a:rPr lang="en-CA" altLang="en-US" sz="1200" dirty="0"/>
              <a:t>hydrometric-station</a:t>
            </a:r>
          </a:p>
          <a:p>
            <a:r>
              <a:rPr lang="en-CA" altLang="en-US" sz="1200" dirty="0"/>
              <a:t>hydrometric-station    	</a:t>
            </a:r>
            <a:r>
              <a:rPr lang="en-CA" altLang="en-US" sz="1200" i="1" dirty="0"/>
              <a:t>downstream-of</a:t>
            </a:r>
            <a:r>
              <a:rPr lang="en-CA" altLang="en-US" sz="1200" dirty="0"/>
              <a:t> 	city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143001" y="1657350"/>
            <a:ext cx="6860381" cy="0"/>
          </a:xfrm>
          <a:prstGeom prst="line">
            <a:avLst/>
          </a:prstGeom>
          <a:ln>
            <a:solidFill>
              <a:srgbClr val="557D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599" y="2027635"/>
            <a:ext cx="2428875" cy="136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Wingdings" panose="05000000000000000000" pitchFamily="2" charset="2"/>
              <a:buChar char="§"/>
              <a:defRPr/>
            </a:pPr>
            <a:r>
              <a:rPr lang="en-CA" sz="2800" dirty="0">
                <a:solidFill>
                  <a:srgbClr val="557D55"/>
                </a:solidFill>
              </a:rPr>
              <a:t>Link </a:t>
            </a:r>
            <a:r>
              <a:rPr lang="en-CA" sz="2800" dirty="0" err="1">
                <a:solidFill>
                  <a:srgbClr val="557D55"/>
                </a:solidFill>
              </a:rPr>
              <a:t>Aquisition</a:t>
            </a:r>
            <a:endParaRPr lang="en-CA" sz="2800" dirty="0">
              <a:solidFill>
                <a:srgbClr val="557D55"/>
              </a:solidFill>
            </a:endParaRPr>
          </a:p>
          <a:p>
            <a:pPr>
              <a:spcBef>
                <a:spcPts val="375"/>
              </a:spcBef>
              <a:defRPr/>
            </a:pPr>
            <a:r>
              <a:rPr lang="en-CA" dirty="0">
                <a:solidFill>
                  <a:srgbClr val="557D55"/>
                </a:solidFill>
              </a:rPr>
              <a:t>    Current: </a:t>
            </a:r>
            <a:r>
              <a:rPr lang="en-CA" dirty="0"/>
              <a:t>manual</a:t>
            </a:r>
          </a:p>
          <a:p>
            <a:pPr>
              <a:spcBef>
                <a:spcPts val="375"/>
              </a:spcBef>
              <a:defRPr/>
            </a:pPr>
            <a:r>
              <a:rPr lang="en-CA" dirty="0">
                <a:solidFill>
                  <a:srgbClr val="557D55"/>
                </a:solidFill>
              </a:rPr>
              <a:t>    Future: </a:t>
            </a:r>
            <a:r>
              <a:rPr lang="en-CA" dirty="0"/>
              <a:t>(semi)automatic</a:t>
            </a:r>
          </a:p>
        </p:txBody>
      </p:sp>
    </p:spTree>
    <p:extLst>
      <p:ext uri="{BB962C8B-B14F-4D97-AF65-F5344CB8AC3E}">
        <p14:creationId xmlns:p14="http://schemas.microsoft.com/office/powerpoint/2010/main" val="172135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24EB50-6E34-4863-A73D-FE054CC0D971}" type="slidenum">
              <a:rPr lang="en-US" altLang="en-US" smtClean="0"/>
              <a:pPr/>
              <a:t>11</a:t>
            </a:fld>
            <a:endParaRPr lang="en-US" altLang="en-US" smtClean="0"/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3492104" y="2895601"/>
            <a:ext cx="882253" cy="111680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lowchart: Magnetic Disk 3"/>
          <p:cNvSpPr/>
          <p:nvPr/>
        </p:nvSpPr>
        <p:spPr>
          <a:xfrm>
            <a:off x="3045619" y="4381500"/>
            <a:ext cx="800100" cy="742950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CA" sz="750" dirty="0">
                <a:solidFill>
                  <a:schemeClr val="tx1"/>
                </a:solidFill>
              </a:rPr>
              <a:t>Gauge Network </a:t>
            </a:r>
          </a:p>
        </p:txBody>
      </p:sp>
      <p:sp>
        <p:nvSpPr>
          <p:cNvPr id="5" name="Flowchart: Magnetic Disk 4"/>
          <p:cNvSpPr/>
          <p:nvPr/>
        </p:nvSpPr>
        <p:spPr>
          <a:xfrm>
            <a:off x="5418535" y="4388644"/>
            <a:ext cx="797719" cy="742950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CA" sz="750" dirty="0">
                <a:solidFill>
                  <a:schemeClr val="tx1"/>
                </a:solidFill>
              </a:rPr>
              <a:t>Stream Network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916091" y="2887266"/>
            <a:ext cx="920353" cy="114300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arrow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Card 6"/>
          <p:cNvSpPr/>
          <p:nvPr/>
        </p:nvSpPr>
        <p:spPr>
          <a:xfrm>
            <a:off x="3045619" y="4052888"/>
            <a:ext cx="800100" cy="326231"/>
          </a:xfrm>
          <a:prstGeom prst="flowChartPunchedCar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CA" sz="750" i="1" dirty="0">
                <a:solidFill>
                  <a:schemeClr val="tx1"/>
                </a:solidFill>
              </a:rPr>
              <a:t>OGC / REST Web Service</a:t>
            </a:r>
          </a:p>
        </p:txBody>
      </p:sp>
      <p:sp>
        <p:nvSpPr>
          <p:cNvPr id="8" name="Flowchart: Card 7"/>
          <p:cNvSpPr/>
          <p:nvPr/>
        </p:nvSpPr>
        <p:spPr>
          <a:xfrm>
            <a:off x="5418535" y="4079082"/>
            <a:ext cx="797719" cy="326231"/>
          </a:xfrm>
          <a:prstGeom prst="flowChartPunchedCar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CA" sz="750" i="1" dirty="0">
                <a:solidFill>
                  <a:schemeClr val="tx1"/>
                </a:solidFill>
              </a:rPr>
              <a:t>OGC / REST Web Service</a:t>
            </a:r>
          </a:p>
        </p:txBody>
      </p:sp>
      <p:pic>
        <p:nvPicPr>
          <p:cNvPr id="16393" name="Picture 3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0550" y="2101454"/>
            <a:ext cx="8001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3664744" y="3051572"/>
            <a:ext cx="897731" cy="5078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CA" sz="900" i="1" dirty="0">
                <a:solidFill>
                  <a:schemeClr val="bg1">
                    <a:lumMod val="65000"/>
                  </a:schemeClr>
                </a:solidFill>
              </a:rPr>
              <a:t>GML, HTML, JSON, RDF …</a:t>
            </a: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1143001" y="1150144"/>
            <a:ext cx="6860381" cy="82034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ct val="0"/>
              </a:spcBef>
              <a:buNone/>
              <a:defRPr/>
            </a:pPr>
            <a:r>
              <a:rPr lang="en-CA" altLang="en-US" sz="2700" kern="0" dirty="0">
                <a:solidFill>
                  <a:srgbClr val="557D55"/>
                </a:solidFill>
              </a:rPr>
              <a:t>Architecture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1143001" y="1657350"/>
            <a:ext cx="6860381" cy="0"/>
          </a:xfrm>
          <a:prstGeom prst="line">
            <a:avLst/>
          </a:prstGeom>
          <a:ln>
            <a:solidFill>
              <a:srgbClr val="557D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938713" y="3028950"/>
            <a:ext cx="897731" cy="5078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CA" sz="900" i="1" dirty="0">
                <a:solidFill>
                  <a:schemeClr val="bg1">
                    <a:lumMod val="65000"/>
                  </a:schemeClr>
                </a:solidFill>
              </a:rPr>
              <a:t>GML, HTML, JSON, RDF …</a:t>
            </a:r>
          </a:p>
        </p:txBody>
      </p:sp>
      <p:grpSp>
        <p:nvGrpSpPr>
          <p:cNvPr id="9" name="Group 8"/>
          <p:cNvGrpSpPr>
            <a:grpSpLocks/>
          </p:cNvGrpSpPr>
          <p:nvPr/>
        </p:nvGrpSpPr>
        <p:grpSpPr bwMode="auto">
          <a:xfrm>
            <a:off x="1882379" y="2252663"/>
            <a:ext cx="3149203" cy="2878931"/>
            <a:chOff x="2509838" y="1860550"/>
            <a:chExt cx="4198937" cy="3838575"/>
          </a:xfrm>
        </p:grpSpPr>
        <p:sp>
          <p:nvSpPr>
            <p:cNvPr id="10" name="Flowchart: Magnetic Disk 9"/>
            <p:cNvSpPr/>
            <p:nvPr/>
          </p:nvSpPr>
          <p:spPr>
            <a:xfrm>
              <a:off x="5641975" y="4708525"/>
              <a:ext cx="1066800" cy="990600"/>
            </a:xfrm>
            <a:prstGeom prst="flowChartMagneticDisk">
              <a:avLst/>
            </a:prstGeom>
            <a:solidFill>
              <a:srgbClr val="FFFF00">
                <a:alpha val="44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CA" sz="750" dirty="0">
                  <a:solidFill>
                    <a:schemeClr val="tx1"/>
                  </a:solidFill>
                </a:rPr>
                <a:t>Link Db</a:t>
              </a:r>
            </a:p>
            <a:p>
              <a:pPr algn="ctr">
                <a:defRPr/>
              </a:pPr>
              <a:r>
                <a:rPr lang="en-CA" sz="750" dirty="0">
                  <a:solidFill>
                    <a:schemeClr val="tx1"/>
                  </a:solidFill>
                </a:rPr>
                <a:t>Rep Db 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>
              <a:off x="6175375" y="2684463"/>
              <a:ext cx="0" cy="155575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headEnd type="arrow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948363" y="2925763"/>
              <a:ext cx="730251" cy="30777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CA" sz="900" i="1" dirty="0">
                  <a:solidFill>
                    <a:schemeClr val="bg1">
                      <a:lumMod val="65000"/>
                    </a:schemeClr>
                  </a:solidFill>
                </a:rPr>
                <a:t>RDF</a:t>
              </a:r>
            </a:p>
          </p:txBody>
        </p:sp>
        <p:sp>
          <p:nvSpPr>
            <p:cNvPr id="13" name="Flowchart: Card 12"/>
            <p:cNvSpPr/>
            <p:nvPr/>
          </p:nvSpPr>
          <p:spPr>
            <a:xfrm>
              <a:off x="5641975" y="4273550"/>
              <a:ext cx="1066800" cy="434975"/>
            </a:xfrm>
            <a:prstGeom prst="flowChartPunchedCard">
              <a:avLst/>
            </a:prstGeom>
            <a:solidFill>
              <a:srgbClr val="FFFF00">
                <a:alpha val="44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CA" sz="750" i="1" dirty="0">
                  <a:solidFill>
                    <a:schemeClr val="tx1"/>
                  </a:solidFill>
                </a:rPr>
                <a:t>SPARQL API</a:t>
              </a:r>
            </a:p>
          </p:txBody>
        </p:sp>
        <p:sp>
          <p:nvSpPr>
            <p:cNvPr id="15" name="Snip and Round Single Corner Rectangle 14"/>
            <p:cNvSpPr/>
            <p:nvPr/>
          </p:nvSpPr>
          <p:spPr>
            <a:xfrm>
              <a:off x="2841625" y="1860550"/>
              <a:ext cx="1063625" cy="915988"/>
            </a:xfrm>
            <a:prstGeom prst="snipRoundRect">
              <a:avLst/>
            </a:prstGeom>
            <a:solidFill>
              <a:srgbClr val="FFFF00">
                <a:alpha val="44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CA" sz="750" dirty="0">
                  <a:solidFill>
                    <a:schemeClr val="tx1"/>
                  </a:solidFill>
                </a:rPr>
                <a:t>URL Broker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flipH="1" flipV="1">
              <a:off x="3975100" y="2354263"/>
              <a:ext cx="1763713" cy="635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headEnd type="arrow" w="lg" len="lg"/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2509838" y="2868613"/>
              <a:ext cx="2362200" cy="33855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CA" sz="105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https://geoconnex.ca/...</a:t>
              </a:r>
            </a:p>
          </p:txBody>
        </p:sp>
      </p:grpSp>
      <p:pic>
        <p:nvPicPr>
          <p:cNvPr id="16409" name="Picture 25" descr="Image result for bing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950" y="2183670"/>
            <a:ext cx="1192416" cy="794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9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1913930"/>
            <a:ext cx="1082279" cy="494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2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874BE64-2E85-4F93-A10F-68A225310C03}" type="slidenum">
              <a:rPr lang="en-US" altLang="en-US" smtClean="0"/>
              <a:pPr/>
              <a:t>12</a:t>
            </a:fld>
            <a:endParaRPr lang="en-US" altLang="en-US" smtClean="0"/>
          </a:p>
        </p:txBody>
      </p:sp>
      <p:sp>
        <p:nvSpPr>
          <p:cNvPr id="5" name="TextBox 4"/>
          <p:cNvSpPr txBox="1"/>
          <p:nvPr/>
        </p:nvSpPr>
        <p:spPr>
          <a:xfrm>
            <a:off x="3486150" y="3339704"/>
            <a:ext cx="2514600" cy="1661993"/>
          </a:xfrm>
          <a:prstGeom prst="rect">
            <a:avLst/>
          </a:prstGeom>
          <a:solidFill>
            <a:srgbClr val="557D55">
              <a:alpha val="25000"/>
            </a:srgb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spAutoFit/>
          </a:bodyPr>
          <a:lstStyle/>
          <a:p>
            <a:pPr>
              <a:defRPr/>
            </a:pPr>
            <a:r>
              <a:rPr lang="en-CA" sz="1800" dirty="0"/>
              <a:t>2. </a:t>
            </a:r>
          </a:p>
          <a:p>
            <a:pPr>
              <a:defRPr/>
            </a:pPr>
            <a:r>
              <a:rPr lang="en-CA" sz="1800" dirty="0"/>
              <a:t>Provide </a:t>
            </a:r>
            <a:r>
              <a:rPr lang="en-CA" sz="1800" dirty="0">
                <a:solidFill>
                  <a:srgbClr val="557D55"/>
                </a:solidFill>
              </a:rPr>
              <a:t>web (service) </a:t>
            </a:r>
            <a:r>
              <a:rPr lang="en-CA" sz="1800" dirty="0"/>
              <a:t>access to things</a:t>
            </a:r>
          </a:p>
          <a:p>
            <a:pPr>
              <a:defRPr/>
            </a:pPr>
            <a:r>
              <a:rPr lang="en-CA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web pages (html), others (xml, </a:t>
            </a:r>
            <a:r>
              <a:rPr lang="en-CA" sz="15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json</a:t>
            </a:r>
            <a:r>
              <a:rPr lang="en-CA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585" y="2272904"/>
            <a:ext cx="2416969" cy="1661993"/>
          </a:xfrm>
          <a:prstGeom prst="rect">
            <a:avLst/>
          </a:prstGeom>
          <a:solidFill>
            <a:srgbClr val="557D55">
              <a:alpha val="25000"/>
            </a:srgb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spAutoFit/>
          </a:bodyPr>
          <a:lstStyle/>
          <a:p>
            <a:pPr marL="257175" indent="-257175">
              <a:buFontTx/>
              <a:buAutoNum type="arabicPeriod"/>
              <a:defRPr/>
            </a:pPr>
            <a:r>
              <a:rPr lang="en-CA" sz="1800" dirty="0"/>
              <a:t> </a:t>
            </a:r>
          </a:p>
          <a:p>
            <a:pPr>
              <a:defRPr/>
            </a:pPr>
            <a:r>
              <a:rPr lang="en-CA" sz="1800" dirty="0"/>
              <a:t>Develop </a:t>
            </a:r>
            <a:r>
              <a:rPr lang="en-CA" sz="1800" dirty="0">
                <a:solidFill>
                  <a:srgbClr val="557D55"/>
                </a:solidFill>
              </a:rPr>
              <a:t>community URLs </a:t>
            </a:r>
            <a:r>
              <a:rPr lang="en-CA" sz="1800" dirty="0"/>
              <a:t>(ids) for things</a:t>
            </a:r>
          </a:p>
          <a:p>
            <a:pPr>
              <a:defRPr/>
            </a:pPr>
            <a:r>
              <a:rPr lang="en-CA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 supplement, not replace, local URLs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4347" y="4368403"/>
            <a:ext cx="2171700" cy="1154162"/>
          </a:xfrm>
          <a:prstGeom prst="rect">
            <a:avLst/>
          </a:prstGeom>
          <a:solidFill>
            <a:srgbClr val="557D55">
              <a:alpha val="25000"/>
            </a:srgb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spAutoFit/>
          </a:bodyPr>
          <a:lstStyle/>
          <a:p>
            <a:pPr>
              <a:defRPr/>
            </a:pPr>
            <a:r>
              <a:rPr lang="en-CA" sz="1800" dirty="0"/>
              <a:t>3. </a:t>
            </a:r>
          </a:p>
          <a:p>
            <a:pPr>
              <a:defRPr/>
            </a:pPr>
            <a:r>
              <a:rPr lang="en-CA" sz="1800" dirty="0"/>
              <a:t>Develop </a:t>
            </a:r>
            <a:r>
              <a:rPr lang="en-CA" sz="1800" dirty="0">
                <a:solidFill>
                  <a:srgbClr val="557D55"/>
                </a:solidFill>
              </a:rPr>
              <a:t>links</a:t>
            </a:r>
            <a:r>
              <a:rPr lang="en-CA" sz="1800" dirty="0"/>
              <a:t> between things</a:t>
            </a:r>
          </a:p>
          <a:p>
            <a:pPr>
              <a:defRPr/>
            </a:pPr>
            <a:r>
              <a:rPr lang="en-CA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add links to link Db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65585" y="2000250"/>
            <a:ext cx="7510463" cy="0"/>
          </a:xfrm>
          <a:prstGeom prst="line">
            <a:avLst/>
          </a:prstGeom>
          <a:ln>
            <a:solidFill>
              <a:srgbClr val="557D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1143001" y="1150144"/>
            <a:ext cx="6860381" cy="75842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ct val="0"/>
              </a:spcBef>
              <a:buNone/>
              <a:defRPr/>
            </a:pPr>
            <a:r>
              <a:rPr lang="en-CA" altLang="en-US" sz="2700" kern="0" dirty="0">
                <a:solidFill>
                  <a:srgbClr val="557D55"/>
                </a:solidFill>
              </a:rPr>
              <a:t>Data Providers</a:t>
            </a:r>
            <a:endParaRPr lang="en-CA" altLang="en-US" sz="2700" kern="0" dirty="0">
              <a:solidFill>
                <a:srgbClr val="557D55"/>
              </a:solidFill>
            </a:endParaRPr>
          </a:p>
          <a:p>
            <a:pPr algn="ctr">
              <a:spcBef>
                <a:spcPct val="0"/>
              </a:spcBef>
              <a:defRPr/>
            </a:pPr>
            <a:r>
              <a:rPr lang="en-CA" altLang="en-US" sz="2100" kern="0" dirty="0"/>
              <a:t>h</a:t>
            </a:r>
            <a:r>
              <a:rPr lang="en-CA" altLang="en-US" sz="2100" kern="0" dirty="0"/>
              <a:t>ow does one join?</a:t>
            </a:r>
            <a:endParaRPr lang="en-CA" altLang="en-US" sz="2100" kern="0" dirty="0"/>
          </a:p>
        </p:txBody>
      </p:sp>
    </p:spTree>
    <p:extLst>
      <p:ext uri="{BB962C8B-B14F-4D97-AF65-F5344CB8AC3E}">
        <p14:creationId xmlns:p14="http://schemas.microsoft.com/office/powerpoint/2010/main" val="358671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B86D76-EE6E-456C-821C-9ADF8386BFED}" type="slidenum">
              <a:rPr lang="en-US" altLang="en-US" smtClean="0"/>
              <a:pPr/>
              <a:t>13</a:t>
            </a:fld>
            <a:endParaRPr lang="en-US" altLang="en-US" smtClean="0"/>
          </a:p>
        </p:txBody>
      </p:sp>
      <p:sp>
        <p:nvSpPr>
          <p:cNvPr id="19459" name="TextBox 1"/>
          <p:cNvSpPr txBox="1">
            <a:spLocks noChangeArrowheads="1"/>
          </p:cNvSpPr>
          <p:nvPr/>
        </p:nvSpPr>
        <p:spPr bwMode="auto">
          <a:xfrm>
            <a:off x="838200" y="1770460"/>
            <a:ext cx="3276600" cy="3679212"/>
          </a:xfrm>
          <a:prstGeom prst="rect">
            <a:avLst/>
          </a:prstGeom>
          <a:solidFill>
            <a:srgbClr val="557D55">
              <a:alpha val="25882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800" dirty="0">
                <a:solidFill>
                  <a:schemeClr val="accent2"/>
                </a:solidFill>
                <a:cs typeface="Arial" panose="020B0604020202020204" pitchFamily="34" charset="0"/>
              </a:rPr>
              <a:t>Objectives:</a:t>
            </a:r>
          </a:p>
          <a:p>
            <a:pPr>
              <a:defRPr/>
            </a:pPr>
            <a:r>
              <a:rPr lang="en-US" altLang="en-US" sz="1800" dirty="0">
                <a:cs typeface="Arial" panose="020B0604020202020204" pitchFamily="34" charset="0"/>
              </a:rPr>
              <a:t>Nat’l hydro infra:</a:t>
            </a:r>
          </a:p>
          <a:p>
            <a:pPr>
              <a:spcAft>
                <a:spcPts val="750"/>
              </a:spcAft>
              <a:defRPr/>
            </a:pPr>
            <a:r>
              <a:rPr lang="en-US" altLang="en-US" sz="1800" dirty="0">
                <a:cs typeface="Arial" panose="020B0604020202020204" pitchFamily="34" charset="0"/>
              </a:rPr>
              <a:t>make hydro data easier to find &amp; use</a:t>
            </a:r>
          </a:p>
          <a:p>
            <a:pPr>
              <a:defRPr/>
            </a:pPr>
            <a:r>
              <a:rPr lang="en-US" altLang="en-US" sz="1800" dirty="0">
                <a:solidFill>
                  <a:schemeClr val="accent2"/>
                </a:solidFill>
                <a:cs typeface="Arial" panose="020B0604020202020204" pitchFamily="34" charset="0"/>
              </a:rPr>
              <a:t>Methods:</a:t>
            </a:r>
          </a:p>
          <a:p>
            <a:pPr>
              <a:spcAft>
                <a:spcPts val="1500"/>
              </a:spcAft>
              <a:defRPr/>
            </a:pPr>
            <a:r>
              <a:rPr lang="en-US" altLang="en-US" sz="1800" dirty="0">
                <a:cs typeface="Arial" panose="020B0604020202020204" pitchFamily="34" charset="0"/>
              </a:rPr>
              <a:t>semantic web tools to boost connectivity, discovery, access</a:t>
            </a:r>
          </a:p>
          <a:p>
            <a:pPr>
              <a:defRPr/>
            </a:pPr>
            <a:r>
              <a:rPr lang="en-US" altLang="en-US" sz="1800" dirty="0">
                <a:solidFill>
                  <a:schemeClr val="accent2"/>
                </a:solidFill>
                <a:cs typeface="Arial" panose="020B0604020202020204" pitchFamily="34" charset="0"/>
              </a:rPr>
              <a:t>Deliverables:</a:t>
            </a:r>
          </a:p>
          <a:p>
            <a:pPr>
              <a:spcAft>
                <a:spcPts val="1125"/>
              </a:spcAft>
              <a:defRPr/>
            </a:pPr>
            <a:r>
              <a:rPr lang="en-US" altLang="en-US" sz="1800" dirty="0">
                <a:cs typeface="Arial" panose="020B0604020202020204" pitchFamily="34" charset="0"/>
              </a:rPr>
              <a:t>LD proof-of-concept: CAN and CAN-US</a:t>
            </a:r>
            <a:endParaRPr lang="en-US" altLang="en-US" sz="675" dirty="0">
              <a:cs typeface="Arial" panose="020B0604020202020204" pitchFamily="34" charset="0"/>
            </a:endParaRPr>
          </a:p>
          <a:p>
            <a:pPr>
              <a:defRPr/>
            </a:pPr>
            <a:endParaRPr lang="en-US" altLang="en-US" sz="675" dirty="0">
              <a:cs typeface="Arial" panose="020B0604020202020204" pitchFamily="34" charset="0"/>
            </a:endParaRPr>
          </a:p>
        </p:txBody>
      </p:sp>
      <p:sp>
        <p:nvSpPr>
          <p:cNvPr id="13316" name="TextBox 2"/>
          <p:cNvSpPr txBox="1">
            <a:spLocks noChangeArrowheads="1"/>
          </p:cNvSpPr>
          <p:nvPr/>
        </p:nvSpPr>
        <p:spPr bwMode="auto">
          <a:xfrm>
            <a:off x="4400550" y="1770460"/>
            <a:ext cx="3676650" cy="3724096"/>
          </a:xfrm>
          <a:prstGeom prst="rect">
            <a:avLst/>
          </a:prstGeom>
          <a:solidFill>
            <a:srgbClr val="557D55">
              <a:alpha val="25882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800" dirty="0">
                <a:solidFill>
                  <a:schemeClr val="accent2"/>
                </a:solidFill>
                <a:cs typeface="Arial" panose="020B0604020202020204" pitchFamily="34" charset="0"/>
              </a:rPr>
              <a:t>Timelines:</a:t>
            </a:r>
          </a:p>
          <a:p>
            <a:pPr>
              <a:spcAft>
                <a:spcPts val="750"/>
              </a:spcAft>
              <a:defRPr/>
            </a:pPr>
            <a:r>
              <a:rPr lang="en-US" altLang="en-US" sz="1800" dirty="0">
                <a:cs typeface="Arial" panose="020B0604020202020204" pitchFamily="34" charset="0"/>
              </a:rPr>
              <a:t>CAN       (2017) [Richelieu]                 CAN-US (</a:t>
            </a:r>
            <a:r>
              <a:rPr lang="en-US" altLang="en-US" sz="1800" dirty="0">
                <a:cs typeface="Arial" panose="020B0604020202020204" pitchFamily="34" charset="0"/>
              </a:rPr>
              <a:t>2018</a:t>
            </a:r>
            <a:r>
              <a:rPr lang="en-US" altLang="en-US" sz="1800" dirty="0">
                <a:cs typeface="Arial" panose="020B0604020202020204" pitchFamily="34" charset="0"/>
              </a:rPr>
              <a:t>)</a:t>
            </a:r>
            <a:endParaRPr lang="en-US" altLang="en-US" sz="1800" dirty="0">
              <a:solidFill>
                <a:schemeClr val="tx1">
                  <a:lumMod val="50000"/>
                  <a:lumOff val="50000"/>
                </a:schemeClr>
              </a:solidFill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en-US" sz="1800" dirty="0">
                <a:solidFill>
                  <a:schemeClr val="accent2"/>
                </a:solidFill>
                <a:cs typeface="Arial" panose="020B0604020202020204" pitchFamily="34" charset="0"/>
              </a:rPr>
              <a:t>Participants:</a:t>
            </a:r>
          </a:p>
          <a:p>
            <a:pPr>
              <a:spcAft>
                <a:spcPts val="750"/>
              </a:spcAft>
              <a:defRPr/>
            </a:pPr>
            <a:r>
              <a:rPr lang="en-US" altLang="en-US" sz="1800" dirty="0">
                <a:cs typeface="Arial" panose="020B0604020202020204" pitchFamily="34" charset="0"/>
              </a:rPr>
              <a:t>GSC, CCMEO, ECCC, IJC, USGS [NHN</a:t>
            </a:r>
            <a:r>
              <a:rPr lang="en-US" altLang="en-US" sz="1800" dirty="0">
                <a:cs typeface="Arial" panose="020B0604020202020204" pitchFamily="34" charset="0"/>
                <a:sym typeface="Wingdings" panose="05000000000000000000" pitchFamily="2" charset="2"/>
              </a:rPr>
              <a:t></a:t>
            </a:r>
            <a:r>
              <a:rPr lang="en-US" altLang="en-US" sz="1800" dirty="0">
                <a:cs typeface="Arial" panose="020B0604020202020204" pitchFamily="34" charset="0"/>
              </a:rPr>
              <a:t>NHD]</a:t>
            </a:r>
          </a:p>
          <a:p>
            <a:pPr>
              <a:defRPr/>
            </a:pPr>
            <a:r>
              <a:rPr lang="en-US" altLang="en-US" sz="1800" dirty="0">
                <a:solidFill>
                  <a:schemeClr val="accent2"/>
                </a:solidFill>
                <a:cs typeface="Arial" panose="020B0604020202020204" pitchFamily="34" charset="0"/>
              </a:rPr>
              <a:t>Related Initiatives:</a:t>
            </a:r>
          </a:p>
          <a:p>
            <a:pPr>
              <a:spcAft>
                <a:spcPts val="750"/>
              </a:spcAft>
              <a:defRPr/>
            </a:pPr>
            <a:r>
              <a:rPr lang="en-US" altLang="en-US" sz="1800" dirty="0">
                <a:cs typeface="Arial" panose="020B0604020202020204" pitchFamily="34" charset="0"/>
              </a:rPr>
              <a:t>IJC </a:t>
            </a:r>
            <a:r>
              <a:rPr lang="en-US" altLang="en-US" sz="1800" dirty="0">
                <a:cs typeface="Arial" panose="020B0604020202020204" pitchFamily="34" charset="0"/>
              </a:rPr>
              <a:t>CAN-US data harmony</a:t>
            </a:r>
          </a:p>
          <a:p>
            <a:pPr>
              <a:defRPr/>
            </a:pPr>
            <a:r>
              <a:rPr lang="en-US" altLang="en-US" sz="1800" dirty="0">
                <a:solidFill>
                  <a:schemeClr val="accent2"/>
                </a:solidFill>
                <a:cs typeface="Arial" panose="020B0604020202020204" pitchFamily="34" charset="0"/>
              </a:rPr>
              <a:t>Current Status:</a:t>
            </a:r>
          </a:p>
          <a:p>
            <a:pPr>
              <a:defRPr/>
            </a:pPr>
            <a:r>
              <a:rPr lang="en-US" altLang="en-US" sz="1800" dirty="0">
                <a:cs typeface="Arial" panose="020B0604020202020204" pitchFamily="34" charset="0"/>
              </a:rPr>
              <a:t>team building (</a:t>
            </a:r>
            <a:r>
              <a:rPr lang="en-US" altLang="en-US" sz="1800" dirty="0">
                <a:cs typeface="Arial" panose="020B0604020202020204" pitchFamily="34" charset="0"/>
                <a:sym typeface="Wingdings" panose="05000000000000000000" pitchFamily="2" charset="2"/>
              </a:rPr>
              <a:t></a:t>
            </a:r>
            <a:r>
              <a:rPr lang="en-US" altLang="en-US" sz="1800" dirty="0">
                <a:cs typeface="Arial" panose="020B0604020202020204" pitchFamily="34" charset="0"/>
              </a:rPr>
              <a:t>), architecture    (in progress),      links and data (in progress)</a:t>
            </a:r>
            <a:endParaRPr lang="en-US" altLang="en-US" sz="1050" dirty="0">
              <a:cs typeface="Arial" panose="020B0604020202020204" pitchFamily="34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143001" y="1150144"/>
            <a:ext cx="6860381" cy="44648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ct val="0"/>
              </a:spcBef>
              <a:buNone/>
              <a:defRPr/>
            </a:pPr>
            <a:r>
              <a:rPr lang="en-CA" altLang="en-US" sz="2700" kern="0" dirty="0">
                <a:solidFill>
                  <a:srgbClr val="557D55"/>
                </a:solidFill>
              </a:rPr>
              <a:t>Federal Climate Science Plan project</a:t>
            </a:r>
          </a:p>
          <a:p>
            <a:pPr marL="0" indent="0">
              <a:spcBef>
                <a:spcPct val="0"/>
              </a:spcBef>
              <a:buNone/>
              <a:defRPr/>
            </a:pPr>
            <a:endParaRPr lang="en-CA" altLang="en-US" sz="2100" kern="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600200" y="1657350"/>
            <a:ext cx="5943600" cy="0"/>
          </a:xfrm>
          <a:prstGeom prst="line">
            <a:avLst/>
          </a:prstGeom>
          <a:ln>
            <a:solidFill>
              <a:srgbClr val="557D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92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771650"/>
            <a:ext cx="4343400" cy="354129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971551" y="1943100"/>
            <a:ext cx="5422106" cy="3636169"/>
            <a:chOff x="1295401" y="1447800"/>
            <a:chExt cx="7228931" cy="4848405"/>
          </a:xfrm>
        </p:grpSpPr>
        <p:sp>
          <p:nvSpPr>
            <p:cNvPr id="16" name="Rectangle 15"/>
            <p:cNvSpPr/>
            <p:nvPr/>
          </p:nvSpPr>
          <p:spPr>
            <a:xfrm>
              <a:off x="1295401" y="3429074"/>
              <a:ext cx="1600080" cy="152406"/>
            </a:xfrm>
            <a:prstGeom prst="rect">
              <a:avLst/>
            </a:prstGeom>
            <a:solidFill>
              <a:srgbClr val="FFC000">
                <a:alpha val="2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 sz="750"/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07801" y="1447800"/>
              <a:ext cx="2416531" cy="4848405"/>
            </a:xfrm>
            <a:prstGeom prst="rect">
              <a:avLst/>
            </a:prstGeom>
            <a:effectLst>
              <a:innerShdw blurRad="114300">
                <a:prstClr val="black"/>
              </a:innerShdw>
            </a:effectLst>
          </p:spPr>
        </p:pic>
        <p:cxnSp>
          <p:nvCxnSpPr>
            <p:cNvPr id="17" name="Straight Arrow Connector 16"/>
            <p:cNvCxnSpPr/>
            <p:nvPr/>
          </p:nvCxnSpPr>
          <p:spPr bwMode="auto">
            <a:xfrm flipV="1">
              <a:off x="2895481" y="3468763"/>
              <a:ext cx="4517685" cy="222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6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DCB70E-FAB4-4988-A4FB-15FCB7361839}" type="slidenum">
              <a:rPr lang="en-US" altLang="en-US" smtClean="0"/>
              <a:pPr/>
              <a:t>14</a:t>
            </a:fld>
            <a:endParaRPr lang="en-US" altLang="en-US" smtClean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0" y="1150144"/>
            <a:ext cx="9144000" cy="45005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ct val="0"/>
              </a:spcBef>
              <a:buNone/>
              <a:defRPr/>
            </a:pPr>
            <a:r>
              <a:rPr lang="en-CA" altLang="en-US" sz="2700" kern="0" dirty="0">
                <a:solidFill>
                  <a:srgbClr val="557D55"/>
                </a:solidFill>
              </a:rPr>
              <a:t>Example: gauges on Richelieu</a:t>
            </a:r>
            <a:endParaRPr lang="en-CA" altLang="en-US" sz="2100" kern="0" dirty="0"/>
          </a:p>
          <a:p>
            <a:pPr marL="0" indent="0">
              <a:spcBef>
                <a:spcPct val="0"/>
              </a:spcBef>
              <a:buNone/>
              <a:defRPr/>
            </a:pPr>
            <a:endParaRPr lang="en-CA" altLang="en-US" sz="2100" kern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71500" y="1657350"/>
            <a:ext cx="8001000" cy="0"/>
          </a:xfrm>
          <a:prstGeom prst="line">
            <a:avLst/>
          </a:prstGeom>
          <a:ln>
            <a:solidFill>
              <a:srgbClr val="557D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1257300" y="2169319"/>
            <a:ext cx="5763816" cy="3823097"/>
            <a:chOff x="1676400" y="1748710"/>
            <a:chExt cx="7685662" cy="509827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37662" y="1748710"/>
              <a:ext cx="4724400" cy="5098273"/>
            </a:xfrm>
            <a:prstGeom prst="rect">
              <a:avLst/>
            </a:prstGeom>
            <a:effectLst>
              <a:innerShdw blurRad="114300">
                <a:prstClr val="black"/>
              </a:innerShdw>
            </a:effectLst>
          </p:spPr>
        </p:pic>
        <p:cxnSp>
          <p:nvCxnSpPr>
            <p:cNvPr id="8" name="Straight Arrow Connector 7"/>
            <p:cNvCxnSpPr/>
            <p:nvPr/>
          </p:nvCxnSpPr>
          <p:spPr bwMode="auto">
            <a:xfrm flipV="1">
              <a:off x="3994323" y="4876582"/>
              <a:ext cx="935108" cy="635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1676400" y="4800370"/>
              <a:ext cx="2960909" cy="152424"/>
            </a:xfrm>
            <a:prstGeom prst="rect">
              <a:avLst/>
            </a:prstGeom>
            <a:solidFill>
              <a:srgbClr val="FFC000">
                <a:alpha val="2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 sz="750"/>
            </a:p>
          </p:txBody>
        </p:sp>
      </p:grpSp>
      <p:grpSp>
        <p:nvGrpSpPr>
          <p:cNvPr id="24" name="Group 23"/>
          <p:cNvGrpSpPr>
            <a:grpSpLocks/>
          </p:cNvGrpSpPr>
          <p:nvPr/>
        </p:nvGrpSpPr>
        <p:grpSpPr bwMode="auto">
          <a:xfrm>
            <a:off x="4776788" y="3225404"/>
            <a:ext cx="4336256" cy="2693194"/>
            <a:chOff x="6368656" y="3157008"/>
            <a:chExt cx="5782227" cy="3591983"/>
          </a:xfrm>
        </p:grpSpPr>
        <p:sp>
          <p:nvSpPr>
            <p:cNvPr id="11" name="Rectangle 10"/>
            <p:cNvSpPr/>
            <p:nvPr/>
          </p:nvSpPr>
          <p:spPr>
            <a:xfrm>
              <a:off x="6368656" y="4374979"/>
              <a:ext cx="717619" cy="196908"/>
            </a:xfrm>
            <a:prstGeom prst="rect">
              <a:avLst/>
            </a:prstGeom>
            <a:solidFill>
              <a:srgbClr val="FFC000">
                <a:alpha val="2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 sz="750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06840" y="3157008"/>
              <a:ext cx="3444043" cy="3591983"/>
            </a:xfrm>
            <a:prstGeom prst="rect">
              <a:avLst/>
            </a:prstGeom>
            <a:effectLst>
              <a:innerShdw blurRad="114300">
                <a:prstClr val="black"/>
              </a:innerShdw>
            </a:effectLst>
          </p:spPr>
        </p:pic>
        <p:cxnSp>
          <p:nvCxnSpPr>
            <p:cNvPr id="12" name="Straight Arrow Connector 11"/>
            <p:cNvCxnSpPr/>
            <p:nvPr/>
          </p:nvCxnSpPr>
          <p:spPr bwMode="auto">
            <a:xfrm flipV="1">
              <a:off x="7773728" y="4462317"/>
              <a:ext cx="1130408" cy="317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>
            <a:grpSpLocks/>
          </p:cNvGrpSpPr>
          <p:nvPr/>
        </p:nvGrpSpPr>
        <p:grpSpPr bwMode="auto">
          <a:xfrm>
            <a:off x="4776787" y="2163366"/>
            <a:ext cx="4319588" cy="3829050"/>
            <a:chOff x="6368656" y="1741584"/>
            <a:chExt cx="5759384" cy="5105399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73883" y="1741584"/>
              <a:ext cx="2254157" cy="5105399"/>
            </a:xfrm>
            <a:prstGeom prst="rect">
              <a:avLst/>
            </a:prstGeom>
            <a:effectLst>
              <a:innerShdw blurRad="114300">
                <a:prstClr val="black"/>
              </a:innerShdw>
            </a:effectLst>
          </p:spPr>
        </p:pic>
        <p:sp>
          <p:nvSpPr>
            <p:cNvPr id="27" name="Rectangle 26"/>
            <p:cNvSpPr/>
            <p:nvPr/>
          </p:nvSpPr>
          <p:spPr>
            <a:xfrm>
              <a:off x="6368656" y="5842095"/>
              <a:ext cx="1631931" cy="177800"/>
            </a:xfrm>
            <a:prstGeom prst="rect">
              <a:avLst/>
            </a:prstGeom>
            <a:solidFill>
              <a:srgbClr val="FFC000">
                <a:alpha val="2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 sz="750"/>
            </a:p>
          </p:txBody>
        </p:sp>
        <p:cxnSp>
          <p:nvCxnSpPr>
            <p:cNvPr id="28" name="Straight Arrow Connector 27"/>
            <p:cNvCxnSpPr/>
            <p:nvPr/>
          </p:nvCxnSpPr>
          <p:spPr bwMode="auto">
            <a:xfrm>
              <a:off x="8078374" y="5930995"/>
              <a:ext cx="218755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52475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7AA0FB-3960-45A2-B629-0726FA00420F}" type="slidenum">
              <a:rPr lang="en-US" altLang="en-US" smtClean="0"/>
              <a:pPr/>
              <a:t>15</a:t>
            </a:fld>
            <a:endParaRPr lang="en-US" altLang="en-US" smtClean="0"/>
          </a:p>
        </p:txBody>
      </p:sp>
      <p:pic>
        <p:nvPicPr>
          <p:cNvPr id="2048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2070498"/>
            <a:ext cx="3121819" cy="2978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TextBox 3"/>
          <p:cNvSpPr txBox="1">
            <a:spLocks noChangeArrowheads="1"/>
          </p:cNvSpPr>
          <p:nvPr/>
        </p:nvSpPr>
        <p:spPr bwMode="auto">
          <a:xfrm>
            <a:off x="1314450" y="1816894"/>
            <a:ext cx="31218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CA" altLang="en-US" sz="1200"/>
              <a:t>water wells inside watershed</a:t>
            </a:r>
          </a:p>
        </p:txBody>
      </p:sp>
      <p:pic>
        <p:nvPicPr>
          <p:cNvPr id="2048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150" y="2070498"/>
            <a:ext cx="3200400" cy="2978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extBox 5"/>
          <p:cNvSpPr txBox="1">
            <a:spLocks noChangeArrowheads="1"/>
          </p:cNvSpPr>
          <p:nvPr/>
        </p:nvSpPr>
        <p:spPr bwMode="auto">
          <a:xfrm>
            <a:off x="4629150" y="1816894"/>
            <a:ext cx="32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CA" altLang="en-US" sz="1200"/>
              <a:t>watersheds downstream of well (near river)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143001" y="1150144"/>
            <a:ext cx="6860381" cy="45005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ct val="0"/>
              </a:spcBef>
              <a:buNone/>
              <a:defRPr/>
            </a:pPr>
            <a:r>
              <a:rPr lang="en-CA" altLang="en-US" sz="2700" kern="0" dirty="0">
                <a:solidFill>
                  <a:srgbClr val="557D55"/>
                </a:solidFill>
              </a:rPr>
              <a:t>Example: integrated </a:t>
            </a:r>
            <a:r>
              <a:rPr lang="en-CA" altLang="en-US" sz="2700" kern="0" dirty="0" err="1">
                <a:solidFill>
                  <a:srgbClr val="557D55"/>
                </a:solidFill>
              </a:rPr>
              <a:t>gw</a:t>
            </a:r>
            <a:r>
              <a:rPr lang="en-CA" altLang="en-US" sz="2700" kern="0" dirty="0">
                <a:solidFill>
                  <a:srgbClr val="557D55"/>
                </a:solidFill>
              </a:rPr>
              <a:t> &amp; </a:t>
            </a:r>
            <a:r>
              <a:rPr lang="en-CA" altLang="en-US" sz="2700" kern="0" dirty="0" err="1">
                <a:solidFill>
                  <a:srgbClr val="557D55"/>
                </a:solidFill>
              </a:rPr>
              <a:t>sw</a:t>
            </a:r>
            <a:endParaRPr lang="en-CA" altLang="en-US" sz="2100" kern="0" dirty="0"/>
          </a:p>
          <a:p>
            <a:pPr marL="0" indent="0">
              <a:spcBef>
                <a:spcPct val="0"/>
              </a:spcBef>
              <a:buNone/>
              <a:defRPr/>
            </a:pPr>
            <a:endParaRPr lang="en-CA" altLang="en-US" sz="2100" kern="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143001" y="1657350"/>
            <a:ext cx="6860381" cy="0"/>
          </a:xfrm>
          <a:prstGeom prst="line">
            <a:avLst/>
          </a:prstGeom>
          <a:ln>
            <a:solidFill>
              <a:srgbClr val="557D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8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028950"/>
            <a:ext cx="2857500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0" name="TextBox 9"/>
          <p:cNvSpPr txBox="1">
            <a:spLocks noChangeArrowheads="1"/>
          </p:cNvSpPr>
          <p:nvPr/>
        </p:nvSpPr>
        <p:spPr bwMode="auto">
          <a:xfrm>
            <a:off x="2571750" y="5668567"/>
            <a:ext cx="32575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CA" altLang="en-US" sz="1200"/>
              <a:t>gauges upstream on Richelieu (CAN-US)</a:t>
            </a:r>
          </a:p>
        </p:txBody>
      </p:sp>
    </p:spTree>
    <p:extLst>
      <p:ext uri="{BB962C8B-B14F-4D97-AF65-F5344CB8AC3E}">
        <p14:creationId xmlns:p14="http://schemas.microsoft.com/office/powerpoint/2010/main" val="2609338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1E5CF6-4074-4466-B00C-635CD794AF6E}" type="slidenum">
              <a:rPr lang="en-US" altLang="en-US" smtClean="0"/>
              <a:pPr/>
              <a:t>16</a:t>
            </a:fld>
            <a:endParaRPr lang="en-US" altLang="en-US" smtClean="0"/>
          </a:p>
        </p:txBody>
      </p:sp>
      <p:sp>
        <p:nvSpPr>
          <p:cNvPr id="3" name="TextBox 2"/>
          <p:cNvSpPr txBox="1"/>
          <p:nvPr/>
        </p:nvSpPr>
        <p:spPr>
          <a:xfrm>
            <a:off x="1066800" y="2164556"/>
            <a:ext cx="7048500" cy="3252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spcAft>
                <a:spcPts val="375"/>
              </a:spcAft>
              <a:buClr>
                <a:srgbClr val="557D55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2100" dirty="0">
                <a:latin typeface="+mj-lt"/>
                <a:cs typeface="Times New Roman" panose="02020603050405020304" pitchFamily="18" charset="0"/>
              </a:rPr>
              <a:t>Progress re: prototype for CAN linked hydro data</a:t>
            </a:r>
          </a:p>
          <a:p>
            <a:pPr>
              <a:spcAft>
                <a:spcPts val="750"/>
              </a:spcAft>
              <a:buClr>
                <a:srgbClr val="557D55"/>
              </a:buClr>
              <a:defRPr/>
            </a:pPr>
            <a:r>
              <a:rPr lang="en-US" altLang="en-US" sz="2100" dirty="0">
                <a:solidFill>
                  <a:srgbClr val="557D55"/>
                </a:solidFill>
                <a:latin typeface="+mj-lt"/>
                <a:cs typeface="Times New Roman" panose="02020603050405020304" pitchFamily="18" charset="0"/>
              </a:rPr>
              <a:t>    Richelieu watershed</a:t>
            </a:r>
          </a:p>
          <a:p>
            <a:pPr>
              <a:spcAft>
                <a:spcPts val="750"/>
              </a:spcAft>
              <a:buClr>
                <a:srgbClr val="557D55"/>
              </a:buClr>
              <a:defRPr/>
            </a:pPr>
            <a:r>
              <a:rPr lang="en-US" altLang="en-US" sz="2100" dirty="0">
                <a:solidFill>
                  <a:srgbClr val="557D55"/>
                </a:solidFill>
                <a:latin typeface="+mj-lt"/>
                <a:cs typeface="Times New Roman" panose="02020603050405020304" pitchFamily="18" charset="0"/>
              </a:rPr>
              <a:t>    Toward a national infrastructure for hydro data</a:t>
            </a:r>
          </a:p>
          <a:p>
            <a:pPr marL="257175" indent="-257175">
              <a:spcBef>
                <a:spcPts val="375"/>
              </a:spcBef>
              <a:spcAft>
                <a:spcPts val="375"/>
              </a:spcAft>
              <a:buClr>
                <a:srgbClr val="557D55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2100" dirty="0">
                <a:latin typeface="+mj-lt"/>
                <a:cs typeface="Times New Roman" panose="02020603050405020304" pitchFamily="18" charset="0"/>
              </a:rPr>
              <a:t>CAN-US expansion in-progress</a:t>
            </a:r>
            <a:endParaRPr lang="en-US" altLang="en-US" sz="2100" dirty="0">
              <a:solidFill>
                <a:srgbClr val="557D55"/>
              </a:solidFill>
              <a:latin typeface="+mj-lt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375"/>
              </a:spcBef>
              <a:spcAft>
                <a:spcPts val="375"/>
              </a:spcAft>
              <a:buClr>
                <a:srgbClr val="557D55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2100" dirty="0">
                <a:latin typeface="+mj-lt"/>
                <a:cs typeface="Times New Roman" panose="02020603050405020304" pitchFamily="18" charset="0"/>
              </a:rPr>
              <a:t>Coordination with ongoing IJC activities</a:t>
            </a:r>
          </a:p>
          <a:p>
            <a:pPr marL="257175" indent="-257175">
              <a:spcBef>
                <a:spcPts val="375"/>
              </a:spcBef>
              <a:spcAft>
                <a:spcPts val="375"/>
              </a:spcAft>
              <a:buClr>
                <a:srgbClr val="557D55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2100" dirty="0">
                <a:latin typeface="+mj-lt"/>
                <a:cs typeface="Times New Roman" panose="02020603050405020304" pitchFamily="18" charset="0"/>
              </a:rPr>
              <a:t>Demo: </a:t>
            </a:r>
            <a:r>
              <a:rPr lang="en-CA" sz="2100" dirty="0">
                <a:hlinkClick r:id="rId2"/>
              </a:rPr>
              <a:t>https://geoconnex.ca/gsip/app/index.html</a:t>
            </a:r>
            <a:r>
              <a:rPr lang="en-CA" sz="2100" dirty="0"/>
              <a:t> </a:t>
            </a:r>
            <a:endParaRPr lang="en-US" altLang="en-US" sz="2100" dirty="0">
              <a:latin typeface="+mj-lt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375"/>
              </a:spcBef>
              <a:spcAft>
                <a:spcPts val="375"/>
              </a:spcAft>
              <a:buClr>
                <a:srgbClr val="557D55"/>
              </a:buClr>
              <a:buFont typeface="Wingdings" panose="05000000000000000000" pitchFamily="2" charset="2"/>
              <a:buChar char="§"/>
              <a:defRPr/>
            </a:pPr>
            <a:endParaRPr lang="en-US" altLang="en-US" sz="2100" dirty="0">
              <a:latin typeface="+mj-lt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buClr>
                <a:srgbClr val="557D55"/>
              </a:buClr>
              <a:defRPr/>
            </a:pPr>
            <a:r>
              <a:rPr lang="en-US" altLang="en-US" sz="15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en-US" sz="1500" dirty="0">
                <a:solidFill>
                  <a:srgbClr val="557D55"/>
                </a:solidFill>
                <a:latin typeface="+mj-lt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143001" y="1150144"/>
            <a:ext cx="6860381" cy="96440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ct val="0"/>
              </a:spcBef>
              <a:buNone/>
              <a:defRPr/>
            </a:pPr>
            <a:r>
              <a:rPr lang="en-CA" altLang="en-US" sz="2700" kern="0" dirty="0">
                <a:solidFill>
                  <a:srgbClr val="557D55"/>
                </a:solidFill>
              </a:rPr>
              <a:t>Final thoughts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143001" y="1657350"/>
            <a:ext cx="6860381" cy="0"/>
          </a:xfrm>
          <a:prstGeom prst="line">
            <a:avLst/>
          </a:prstGeom>
          <a:ln>
            <a:solidFill>
              <a:srgbClr val="557D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78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BC54BF5-56E3-4A20-8194-2DDEAA5C8128}" type="slidenum">
              <a:rPr lang="en-US" altLang="en-US" smtClean="0"/>
              <a:pPr/>
              <a:t>17</a:t>
            </a:fld>
            <a:endParaRPr lang="en-US" altLang="en-US" smtClean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143001" y="1150144"/>
            <a:ext cx="6860381" cy="96440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ct val="0"/>
              </a:spcBef>
              <a:buNone/>
              <a:defRPr/>
            </a:pPr>
            <a:r>
              <a:rPr lang="en-CA" altLang="en-US" sz="2700" kern="0" dirty="0">
                <a:solidFill>
                  <a:srgbClr val="557D55"/>
                </a:solidFill>
              </a:rPr>
              <a:t>Acknowledgements</a:t>
            </a:r>
            <a:endParaRPr lang="en-CA" altLang="en-US" sz="2700" kern="0" dirty="0">
              <a:solidFill>
                <a:srgbClr val="557D55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143001" y="1657350"/>
            <a:ext cx="6860381" cy="0"/>
          </a:xfrm>
          <a:prstGeom prst="line">
            <a:avLst/>
          </a:prstGeom>
          <a:ln>
            <a:solidFill>
              <a:srgbClr val="557D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33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191" y="2091929"/>
            <a:ext cx="2284809" cy="401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0" y="2743200"/>
            <a:ext cx="769144" cy="769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5" name="TextBox 8"/>
          <p:cNvSpPr txBox="1">
            <a:spLocks noChangeArrowheads="1"/>
          </p:cNvSpPr>
          <p:nvPr/>
        </p:nvSpPr>
        <p:spPr bwMode="auto">
          <a:xfrm>
            <a:off x="1143000" y="2639617"/>
            <a:ext cx="1485900" cy="1361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750" dirty="0"/>
              <a:t>Boyan Brodaric</a:t>
            </a:r>
          </a:p>
          <a:p>
            <a:r>
              <a:rPr lang="en-CA" altLang="en-US" sz="750" dirty="0"/>
              <a:t>Eric Boisvert</a:t>
            </a:r>
          </a:p>
          <a:p>
            <a:r>
              <a:rPr lang="en-CA" altLang="en-US" sz="750" dirty="0"/>
              <a:t>Heryk Julien</a:t>
            </a:r>
          </a:p>
          <a:p>
            <a:r>
              <a:rPr lang="en-CA" altLang="en-US" sz="750" dirty="0"/>
              <a:t>Alex Smirnoff</a:t>
            </a:r>
          </a:p>
          <a:p>
            <a:endParaRPr lang="en-CA" altLang="en-US" sz="750" dirty="0"/>
          </a:p>
          <a:p>
            <a:r>
              <a:rPr lang="en-CA" altLang="en-US" sz="750" dirty="0"/>
              <a:t>Mike Major</a:t>
            </a:r>
          </a:p>
          <a:p>
            <a:r>
              <a:rPr lang="en-CA" altLang="en-US" sz="750" dirty="0"/>
              <a:t>Mark Sondheim</a:t>
            </a:r>
          </a:p>
          <a:p>
            <a:r>
              <a:rPr lang="en-CA" altLang="en-US" sz="750" dirty="0"/>
              <a:t>Marie-Eve Martin</a:t>
            </a:r>
          </a:p>
          <a:p>
            <a:r>
              <a:rPr lang="en-CA" altLang="en-US" sz="750" dirty="0"/>
              <a:t>Denis </a:t>
            </a:r>
            <a:r>
              <a:rPr lang="en-CA" altLang="en-US" sz="750" dirty="0"/>
              <a:t>Boutin</a:t>
            </a:r>
          </a:p>
          <a:p>
            <a:r>
              <a:rPr lang="fr-CA" altLang="en-US" sz="750" dirty="0"/>
              <a:t>David </a:t>
            </a:r>
            <a:r>
              <a:rPr lang="fr-CA" altLang="en-US" sz="750" dirty="0" err="1"/>
              <a:t>Lagüe</a:t>
            </a:r>
            <a:endParaRPr lang="en-CA" altLang="en-US" sz="750" dirty="0"/>
          </a:p>
          <a:p>
            <a:endParaRPr lang="en-CA" altLang="en-US" sz="750" dirty="0"/>
          </a:p>
        </p:txBody>
      </p:sp>
      <p:pic>
        <p:nvPicPr>
          <p:cNvPr id="22536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133600"/>
            <a:ext cx="29432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7" name="TextBox 14"/>
          <p:cNvSpPr txBox="1">
            <a:spLocks noChangeArrowheads="1"/>
          </p:cNvSpPr>
          <p:nvPr/>
        </p:nvSpPr>
        <p:spPr bwMode="auto">
          <a:xfrm>
            <a:off x="5200650" y="2639616"/>
            <a:ext cx="1485900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750"/>
              <a:t>Doug Stiff</a:t>
            </a:r>
          </a:p>
          <a:p>
            <a:r>
              <a:rPr lang="en-CA" altLang="en-US" sz="750"/>
              <a:t>Lingling Liu</a:t>
            </a:r>
          </a:p>
          <a:p>
            <a:r>
              <a:rPr lang="en-CA" altLang="en-US" sz="750"/>
              <a:t>Tom Kralidis</a:t>
            </a:r>
          </a:p>
        </p:txBody>
      </p:sp>
      <p:pic>
        <p:nvPicPr>
          <p:cNvPr id="22538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1" y="3561160"/>
            <a:ext cx="1078706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9" name="TextBox 17"/>
          <p:cNvSpPr txBox="1">
            <a:spLocks noChangeArrowheads="1"/>
          </p:cNvSpPr>
          <p:nvPr/>
        </p:nvSpPr>
        <p:spPr bwMode="auto">
          <a:xfrm>
            <a:off x="5257800" y="4094560"/>
            <a:ext cx="1485900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750"/>
              <a:t>Dave Blodgett</a:t>
            </a:r>
          </a:p>
          <a:p>
            <a:r>
              <a:rPr lang="en-CA" altLang="en-US" sz="750"/>
              <a:t>Al Rea</a:t>
            </a:r>
          </a:p>
          <a:p>
            <a:r>
              <a:rPr lang="en-CA" altLang="en-US" sz="750"/>
              <a:t>Susan Buto</a:t>
            </a:r>
          </a:p>
        </p:txBody>
      </p:sp>
      <p:pic>
        <p:nvPicPr>
          <p:cNvPr id="22540" name="Picture 14" descr="International Joint Commissio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150" y="4129087"/>
            <a:ext cx="900113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1" name="TextBox 17"/>
          <p:cNvSpPr txBox="1">
            <a:spLocks noChangeArrowheads="1"/>
          </p:cNvSpPr>
          <p:nvPr/>
        </p:nvSpPr>
        <p:spPr bwMode="auto">
          <a:xfrm>
            <a:off x="3250406" y="5029200"/>
            <a:ext cx="14859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CA" altLang="en-US" sz="750"/>
              <a:t>Wayne Jenkinson</a:t>
            </a:r>
          </a:p>
          <a:p>
            <a:r>
              <a:rPr lang="en-CA" altLang="en-US" sz="750"/>
              <a:t>Michael Liatta</a:t>
            </a:r>
          </a:p>
        </p:txBody>
      </p:sp>
    </p:spTree>
    <p:extLst>
      <p:ext uri="{BB962C8B-B14F-4D97-AF65-F5344CB8AC3E}">
        <p14:creationId xmlns:p14="http://schemas.microsoft.com/office/powerpoint/2010/main" val="191472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3EA726-C938-4B32-AF3B-ABE4B0978522}" type="slidenum">
              <a:rPr lang="en-US" altLang="en-US" smtClean="0"/>
              <a:pPr/>
              <a:t>18</a:t>
            </a:fld>
            <a:endParaRPr lang="en-US" altLang="en-US" smtClean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089547" y="1600200"/>
            <a:ext cx="5886450" cy="111561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BB99B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ct val="0"/>
              </a:spcBef>
              <a:buNone/>
              <a:defRPr/>
            </a:pPr>
            <a:r>
              <a:rPr lang="en-CA" altLang="en-US" sz="2400" kern="0" dirty="0">
                <a:solidFill>
                  <a:srgbClr val="557D55"/>
                </a:solidFill>
              </a:rPr>
              <a:t>Thank you!</a:t>
            </a:r>
          </a:p>
          <a:p>
            <a:pPr marL="0" indent="0">
              <a:spcBef>
                <a:spcPct val="0"/>
              </a:spcBef>
              <a:buNone/>
              <a:defRPr/>
            </a:pPr>
            <a:endParaRPr lang="en-CA" altLang="en-US" sz="2400" kern="0" dirty="0">
              <a:solidFill>
                <a:srgbClr val="557D55"/>
              </a:solidFill>
            </a:endParaRP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CA" altLang="en-US" sz="2400" kern="0" dirty="0">
                <a:solidFill>
                  <a:srgbClr val="557D55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172684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2F86-5FE8-AC4F-AD61-C6D06823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D504-68B3-624C-B4EA-6975A93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A572-4D29-0547-8130-5F275B750B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Ninth Hydrology Domain Working Group Workshop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24933615"/>
      </p:ext>
    </p:extLst>
  </p:cSld>
  <p:clrMapOvr>
    <a:masterClrMapping/>
  </p:clrMapOvr>
</p:sld>
</file>

<file path=ppt/theme/theme1.xml><?xml version="1.0" encoding="utf-8"?>
<a:theme xmlns:a="http://schemas.openxmlformats.org/drawingml/2006/main" name="OGC_PowerPoint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1759</TotalTime>
  <Words>644</Words>
  <Application>Microsoft Office PowerPoint</Application>
  <PresentationFormat>On-screen Show (4:3)</PresentationFormat>
  <Paragraphs>225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MS PGothic</vt:lpstr>
      <vt:lpstr>Arial</vt:lpstr>
      <vt:lpstr>Arial Black</vt:lpstr>
      <vt:lpstr>CG Times</vt:lpstr>
      <vt:lpstr>Times New Roman</vt:lpstr>
      <vt:lpstr>Wingdings</vt:lpstr>
      <vt:lpstr>OGC_PowerPoint_Template</vt:lpstr>
      <vt:lpstr>Linked Data: Google-like connection and discovery of hydrological data on the web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Volunteered Geographic Information (VGI) Workshop</dc:title>
  <dc:subject>OGC TC/PC</dc:subject>
  <dc:creator>Scott Simmons</dc:creator>
  <cp:lastModifiedBy>Boisvert, Eric</cp:lastModifiedBy>
  <cp:revision>74</cp:revision>
  <cp:lastPrinted>2003-02-03T21:59:32Z</cp:lastPrinted>
  <dcterms:created xsi:type="dcterms:W3CDTF">2015-09-08T23:47:11Z</dcterms:created>
  <dcterms:modified xsi:type="dcterms:W3CDTF">2018-09-17T18:48:38Z</dcterms:modified>
</cp:coreProperties>
</file>