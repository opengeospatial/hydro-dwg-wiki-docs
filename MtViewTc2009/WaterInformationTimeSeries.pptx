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Default Extension="emf" ContentType="image/x-emf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22.xml" ContentType="application/vnd.openxmlformats-officedocument.presentationml.slide+xml"/>
  <Override PartName="/docProps/app.xml" ContentType="application/vnd.openxmlformats-officedocument.extended-properties+xml"/>
  <Default Extension="xml" ContentType="application/xml"/>
  <Override PartName="/ppt/slides/slide19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20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6.xml" ContentType="application/vnd.openxmlformats-officedocument.presentationml.slide+xml"/>
  <Override PartName="/ppt/embeddings/oleObject1.bin" ContentType="application/vnd.openxmlformats-officedocument.oleObject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s/slide23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3.xml" ContentType="application/vnd.openxmlformats-officedocument.presentationml.slide+xml"/>
  <Default Extension="vml" ContentType="application/vnd.openxmlformats-officedocument.vmlDrawing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Default Extension="docx" ContentType="application/vnd.openxmlformats-officedocument.wordprocessingml.document"/>
  <Override PartName="/ppt/slides/slide20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22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  <Override PartName="/ppt/notesSlides/notesSlide2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>
  <p:sldMasterIdLst>
    <p:sldMasterId id="2147483654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3" r:id="rId3"/>
    <p:sldId id="277" r:id="rId4"/>
    <p:sldId id="276" r:id="rId5"/>
    <p:sldId id="261" r:id="rId6"/>
    <p:sldId id="260" r:id="rId7"/>
    <p:sldId id="262" r:id="rId8"/>
    <p:sldId id="263" r:id="rId9"/>
    <p:sldId id="264" r:id="rId10"/>
    <p:sldId id="265" r:id="rId11"/>
    <p:sldId id="269" r:id="rId12"/>
    <p:sldId id="270" r:id="rId13"/>
    <p:sldId id="272" r:id="rId14"/>
    <p:sldId id="271" r:id="rId15"/>
    <p:sldId id="268" r:id="rId16"/>
    <p:sldId id="259" r:id="rId17"/>
    <p:sldId id="267" r:id="rId18"/>
    <p:sldId id="275" r:id="rId19"/>
    <p:sldId id="279" r:id="rId20"/>
    <p:sldId id="280" r:id="rId21"/>
    <p:sldId id="282" r:id="rId22"/>
    <p:sldId id="285" r:id="rId23"/>
    <p:sldId id="278" r:id="rId24"/>
    <p:sldId id="284" r:id="rId25"/>
    <p:sldId id="286" r:id="rId26"/>
    <p:sldId id="274" r:id="rId27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+mn-ea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+mn-ea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+mn-ea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+mn-ea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FF0000"/>
    <a:srgbClr val="006600"/>
    <a:srgbClr val="000066"/>
    <a:srgbClr val="FFFF99"/>
    <a:srgbClr val="969696"/>
    <a:srgbClr val="CCFFFF"/>
    <a:srgbClr val="5C0909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20496" autoAdjust="0"/>
    <p:restoredTop sz="86749" autoAdjust="0"/>
  </p:normalViewPr>
  <p:slideViewPr>
    <p:cSldViewPr>
      <p:cViewPr varScale="1">
        <p:scale>
          <a:sx n="107" d="100"/>
          <a:sy n="107" d="100"/>
        </p:scale>
        <p:origin x="-480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CD94B36E-C6D9-4037-ADDA-A12B51432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1B8099CB-7312-4D42-A674-C60BE896A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8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" pitchFamily="-123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0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" pitchFamily="-123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6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" pitchFamily="-123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" pitchFamily="-123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" pitchFamily="-123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Placeholder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Placeholder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" pitchFamily="-123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8099CB-7312-4D42-A674-C60BE896AEC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host\Shared Folders\LinuxDesktop\templates\ppt_image_081104.t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1588"/>
            <a:ext cx="9142412" cy="685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 w="9525">
            <a:noFill/>
            <a:miter lim="800000"/>
            <a:headEnd type="none" w="med" len="lg"/>
            <a:tailEnd/>
          </a:ln>
          <a:effectLst/>
        </p:spPr>
        <p:txBody>
          <a:bodyPr wrap="none" lIns="0" rIns="0">
            <a:spAutoFit/>
          </a:bodyPr>
          <a:lstStyle/>
          <a:p>
            <a:pPr>
              <a:defRPr/>
            </a:pPr>
            <a:r>
              <a:rPr 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2667000"/>
            <a:ext cx="7772400" cy="1143000"/>
          </a:xfrm>
        </p:spPr>
        <p:txBody>
          <a:bodyPr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1148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248400"/>
            <a:ext cx="3276600" cy="457200"/>
          </a:xfrm>
        </p:spPr>
        <p:txBody>
          <a:bodyPr/>
          <a:lstStyle>
            <a:lvl1pPr>
              <a:defRPr smtClean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2CCFBB-94F4-4A0B-B977-E0BA806D9A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82524-B0E4-4822-96D9-6A8C1253A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98FE2-2E5A-4FDF-9D41-9AE9DAE9E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0253F-5297-4F9A-B0DA-4A7E18D2B8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1AC1A-C75A-45F4-979E-63D2D02DE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BE451-BFD0-4433-82BB-A2A1BE2AB1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6BDC5-F218-425E-AEA1-9F3AFEC5FE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34E26-F4E0-4559-87CC-8170CAC1A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8300B-A25C-4B95-9F42-5AD758BA4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4ABB6-F0D9-46BA-98FD-BB992721BD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hyperlink" Target="http://images.google.com/imgres?imgurl=http://moat.nlanr.net/Workshops/HPIIS-2001/sdsc_logo.gif&amp;imgrefurl=http://moat.nlanr.net/Workshops/HPIIS-2001/&amp;h=73&amp;w=158&amp;sz=3&amp;hl=en&amp;start=8&amp;um=1&amp;tbnid=zTbA6qFh_r1TAM:&amp;tbnh=45&amp;tbnw=97&amp;prev=/images?q=sdsc+logo&amp;svnum=10&amp;um=1&amp;hl=en&amp;rls=GFRC,GFRC:2006-50,GFRC:en&amp;sa=N" TargetMode="Externa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6294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 smtClean="0">
                <a:solidFill>
                  <a:srgbClr val="092E5C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© 2009 Open Geospatial Consortium, Inc.</a:t>
            </a:r>
          </a:p>
        </p:txBody>
      </p:sp>
      <p:sp>
        <p:nvSpPr>
          <p:cNvPr id="462853" name="Text Box 5"/>
          <p:cNvSpPr txBox="1">
            <a:spLocks noChangeArrowheads="1"/>
          </p:cNvSpPr>
          <p:nvPr/>
        </p:nvSpPr>
        <p:spPr bwMode="auto">
          <a:xfrm>
            <a:off x="-1539875" y="3059113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sz="14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 smtClean="0">
                <a:solidFill>
                  <a:srgbClr val="092E5C"/>
                </a:solidFill>
                <a:latin typeface="+mn-lt"/>
              </a:defRPr>
            </a:lvl1pPr>
          </a:lstStyle>
          <a:p>
            <a:pPr>
              <a:defRPr/>
            </a:pPr>
            <a:fld id="{E64E3D54-271B-409A-9D9C-8359D8F0C4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62864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462868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 w="9525">
            <a:noFill/>
            <a:miter lim="800000"/>
            <a:headEnd type="none" w="med" len="lg"/>
            <a:tailEnd/>
          </a:ln>
          <a:effectLst/>
        </p:spPr>
        <p:txBody>
          <a:bodyPr wrap="none" lIns="0" rIns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14"/>
          <a:srcRect l="30624" t="60156" r="21875" b="21875"/>
          <a:stretch>
            <a:fillRect/>
          </a:stretch>
        </p:blipFill>
        <p:spPr bwMode="auto">
          <a:xfrm>
            <a:off x="6705600" y="6327579"/>
            <a:ext cx="1752600" cy="530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18" descr="sdsc_logo">
            <a:hlinkClick r:id="rId15"/>
          </p:cNvPr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21126330" y="29486225"/>
            <a:ext cx="2290713" cy="106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18" descr="sdsc_logo">
            <a:hlinkClick r:id="rId15"/>
          </p:cNvPr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21278730" y="29638625"/>
            <a:ext cx="2290713" cy="106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418" descr="sdsc_logo">
            <a:hlinkClick r:id="rId15"/>
          </p:cNvPr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5410200" y="6320703"/>
            <a:ext cx="1158875" cy="537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4" Type="http://schemas.openxmlformats.org/officeDocument/2006/relationships/package" Target="../embeddings/Microsoft_Word_Document1.docx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4" Type="http://schemas.openxmlformats.org/officeDocument/2006/relationships/package" Target="../embeddings/Microsoft_Word_Document2.docx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4" Type="http://schemas.openxmlformats.org/officeDocument/2006/relationships/package" Target="../embeddings/Microsoft_Word_Document3.docx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 smtClean="0"/>
              <a:t> Existing time series delivery formats and Water Data Services requirements, and OGC-compliant Water Data Services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 smtClean="0">
                <a:cs typeface="Arial" charset="0"/>
              </a:rPr>
              <a:t>71st OGC Technical Committee</a:t>
            </a:r>
          </a:p>
          <a:p>
            <a:r>
              <a:rPr lang="en-US" sz="2000" dirty="0" smtClean="0">
                <a:cs typeface="Arial" charset="0"/>
              </a:rPr>
              <a:t>Mountain View, CA. USA</a:t>
            </a:r>
          </a:p>
          <a:p>
            <a:r>
              <a:rPr lang="en-US" sz="2000" dirty="0" smtClean="0">
                <a:cs typeface="Arial" charset="0"/>
              </a:rPr>
              <a:t>David Valentine (CUAHSI/UCSD-SDSC)</a:t>
            </a:r>
          </a:p>
          <a:p>
            <a:r>
              <a:rPr lang="en-US" sz="2000" dirty="0" smtClean="0">
                <a:cs typeface="Arial" charset="0"/>
              </a:rPr>
              <a:t>December 8, 2009</a:t>
            </a:r>
            <a:endParaRPr lang="en-US" dirty="0" smtClean="0"/>
          </a:p>
        </p:txBody>
      </p:sp>
      <p:pic>
        <p:nvPicPr>
          <p:cNvPr id="307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1676400"/>
            <a:ext cx="2133600" cy="731838"/>
          </a:xfrm>
          <a:prstGeom prst="rect">
            <a:avLst/>
          </a:prstGeom>
          <a:noFill/>
          <a:ln w="9525">
            <a:noFill/>
            <a:miter lim="800000"/>
            <a:headEnd type="none" w="med" len="lg"/>
            <a:tailEnd/>
          </a:ln>
        </p:spPr>
      </p:pic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3794125" y="1354138"/>
            <a:ext cx="1555750" cy="244475"/>
          </a:xfrm>
          <a:prstGeom prst="rect">
            <a:avLst/>
          </a:prstGeom>
          <a:noFill/>
          <a:ln w="9525">
            <a:noFill/>
            <a:miter lim="800000"/>
            <a:headEnd type="none" w="med" len="lg"/>
            <a:tailEnd/>
          </a:ln>
        </p:spPr>
        <p:txBody>
          <a:bodyPr wrap="none" lIns="0" rIns="0">
            <a:spAutoFit/>
          </a:bodyPr>
          <a:lstStyle/>
          <a:p>
            <a:pPr algn="ctr"/>
            <a:r>
              <a:rPr lang="en-US"/>
              <a:t>Sponsored and hosted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Lets focus on the results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Offering/Series</a:t>
            </a:r>
          </a:p>
          <a:p>
            <a:pPr lvl="1"/>
            <a:r>
              <a:rPr lang="en-US" dirty="0" smtClean="0"/>
              <a:t>SOS capabilities </a:t>
            </a:r>
          </a:p>
          <a:p>
            <a:pPr lvl="1"/>
            <a:r>
              <a:rPr lang="en-US" dirty="0" smtClean="0"/>
              <a:t>CUAHSI Discovery </a:t>
            </a:r>
          </a:p>
          <a:p>
            <a:r>
              <a:rPr lang="en-US" dirty="0" smtClean="0"/>
              <a:t>Data Delivery Layouts</a:t>
            </a:r>
          </a:p>
          <a:p>
            <a:r>
              <a:rPr lang="en-US" dirty="0" smtClean="0"/>
              <a:t>Examples</a:t>
            </a:r>
          </a:p>
          <a:p>
            <a:r>
              <a:rPr lang="en-US" dirty="0" smtClean="0"/>
              <a:t>CUAHSI Model</a:t>
            </a:r>
          </a:p>
          <a:p>
            <a:pPr lvl="1"/>
            <a:r>
              <a:rPr lang="en-US" dirty="0" smtClean="0"/>
              <a:t>Data Values Attributes</a:t>
            </a:r>
          </a:p>
          <a:p>
            <a:pPr lvl="1"/>
            <a:r>
              <a:rPr lang="en-US" dirty="0" smtClean="0"/>
              <a:t>Series</a:t>
            </a:r>
          </a:p>
          <a:p>
            <a:r>
              <a:rPr lang="en-US" dirty="0" smtClean="0"/>
              <a:t>Services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Period of Record/Offering/Series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Importance</a:t>
            </a:r>
          </a:p>
          <a:p>
            <a:pPr lvl="1"/>
            <a:r>
              <a:rPr lang="en-US" dirty="0" smtClean="0"/>
              <a:t>Discovery </a:t>
            </a:r>
          </a:p>
          <a:p>
            <a:pPr lvl="2"/>
            <a:r>
              <a:rPr lang="en-US" dirty="0" smtClean="0"/>
              <a:t>SOS Capabilities</a:t>
            </a:r>
          </a:p>
          <a:p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Location/Site/Feature of Interest</a:t>
            </a:r>
          </a:p>
          <a:p>
            <a:pPr lvl="1"/>
            <a:r>
              <a:rPr lang="en-US" dirty="0" smtClean="0"/>
              <a:t>Variable/Parameter/Sensor</a:t>
            </a:r>
          </a:p>
          <a:p>
            <a:pPr lvl="1"/>
            <a:r>
              <a:rPr lang="en-US" dirty="0" smtClean="0"/>
              <a:t>Time Range</a:t>
            </a:r>
          </a:p>
          <a:p>
            <a:pPr lvl="1"/>
            <a:r>
              <a:rPr lang="en-US" dirty="0" smtClean="0"/>
              <a:t>Value Count</a:t>
            </a:r>
          </a:p>
          <a:p>
            <a:pPr lvl="1"/>
            <a:r>
              <a:rPr lang="en-US" dirty="0" smtClean="0"/>
              <a:t>Source</a:t>
            </a:r>
          </a:p>
          <a:p>
            <a:pPr lvl="1"/>
            <a:r>
              <a:rPr lang="en-US" dirty="0" smtClean="0"/>
              <a:t>Method</a:t>
            </a:r>
          </a:p>
          <a:p>
            <a:pPr lvl="1"/>
            <a:r>
              <a:rPr lang="en-US" dirty="0" smtClean="0"/>
              <a:t>Quality Control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Period of Record (USGS Site)</a:t>
            </a:r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57200" y="1219200"/>
            <a:ext cx="5962650" cy="3886200"/>
          </a:xfrm>
        </p:spPr>
      </p:pic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1057275"/>
            <a:ext cx="11963400" cy="4741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724400" y="2057400"/>
            <a:ext cx="2965450" cy="533400"/>
            <a:chOff x="2976" y="1392"/>
            <a:chExt cx="1868" cy="336"/>
          </a:xfrm>
        </p:grpSpPr>
        <p:sp>
          <p:nvSpPr>
            <p:cNvPr id="33806" name="Line 5"/>
            <p:cNvSpPr>
              <a:spLocks noChangeShapeType="1"/>
            </p:cNvSpPr>
            <p:nvPr/>
          </p:nvSpPr>
          <p:spPr bwMode="auto">
            <a:xfrm flipH="1">
              <a:off x="2976" y="1584"/>
              <a:ext cx="62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07" name="Text Box 7"/>
            <p:cNvSpPr txBox="1">
              <a:spLocks noChangeArrowheads="1"/>
            </p:cNvSpPr>
            <p:nvPr/>
          </p:nvSpPr>
          <p:spPr bwMode="auto">
            <a:xfrm>
              <a:off x="3552" y="1392"/>
              <a:ext cx="12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Daily Values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191000" y="2895600"/>
            <a:ext cx="3198813" cy="609600"/>
            <a:chOff x="2640" y="1920"/>
            <a:chExt cx="2015" cy="384"/>
          </a:xfrm>
        </p:grpSpPr>
        <p:sp>
          <p:nvSpPr>
            <p:cNvPr id="33804" name="Line 6"/>
            <p:cNvSpPr>
              <a:spLocks noChangeShapeType="1"/>
            </p:cNvSpPr>
            <p:nvPr/>
          </p:nvSpPr>
          <p:spPr bwMode="auto">
            <a:xfrm flipH="1">
              <a:off x="2640" y="2112"/>
              <a:ext cx="576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05" name="Text Box 8"/>
            <p:cNvSpPr txBox="1">
              <a:spLocks noChangeArrowheads="1"/>
            </p:cNvSpPr>
            <p:nvPr/>
          </p:nvSpPr>
          <p:spPr bwMode="auto">
            <a:xfrm>
              <a:off x="3264" y="1920"/>
              <a:ext cx="13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Water Quality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038600" y="3581400"/>
            <a:ext cx="3279775" cy="533400"/>
            <a:chOff x="2544" y="2256"/>
            <a:chExt cx="2066" cy="336"/>
          </a:xfrm>
        </p:grpSpPr>
        <p:sp>
          <p:nvSpPr>
            <p:cNvPr id="33802" name="Line 4"/>
            <p:cNvSpPr>
              <a:spLocks noChangeShapeType="1"/>
            </p:cNvSpPr>
            <p:nvPr/>
          </p:nvSpPr>
          <p:spPr bwMode="auto">
            <a:xfrm flipH="1">
              <a:off x="2544" y="2400"/>
              <a:ext cx="816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03" name="Text Box 9"/>
            <p:cNvSpPr txBox="1">
              <a:spLocks noChangeArrowheads="1"/>
            </p:cNvSpPr>
            <p:nvPr/>
          </p:nvSpPr>
          <p:spPr bwMode="auto">
            <a:xfrm>
              <a:off x="3312" y="2256"/>
              <a:ext cx="129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Groundwater</a:t>
              </a: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3505200" y="1295400"/>
            <a:ext cx="3579813" cy="990600"/>
            <a:chOff x="2208" y="960"/>
            <a:chExt cx="2255" cy="624"/>
          </a:xfrm>
        </p:grpSpPr>
        <p:sp>
          <p:nvSpPr>
            <p:cNvPr id="33800" name="Line 10"/>
            <p:cNvSpPr>
              <a:spLocks noChangeShapeType="1"/>
            </p:cNvSpPr>
            <p:nvPr/>
          </p:nvSpPr>
          <p:spPr bwMode="auto">
            <a:xfrm flipH="1">
              <a:off x="2208" y="1104"/>
              <a:ext cx="1104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01" name="Text Box 11"/>
            <p:cNvSpPr txBox="1">
              <a:spLocks noChangeArrowheads="1"/>
            </p:cNvSpPr>
            <p:nvPr/>
          </p:nvSpPr>
          <p:spPr bwMode="auto">
            <a:xfrm>
              <a:off x="3408" y="960"/>
              <a:ext cx="105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Real Time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Returned </a:t>
            </a:r>
            <a:r>
              <a:rPr lang="en-US" dirty="0"/>
              <a:t>information </a:t>
            </a:r>
            <a:r>
              <a:rPr lang="en-US" dirty="0" smtClean="0"/>
              <a:t>structure for Data Values</a:t>
            </a:r>
            <a:endParaRPr lang="en-US" dirty="0"/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Data Value Column</a:t>
            </a:r>
          </a:p>
          <a:p>
            <a:pPr lvl="1" eaLnBrk="1" hangingPunct="1"/>
            <a:r>
              <a:rPr lang="en-US" dirty="0"/>
              <a:t>Site-Time-Variable-Value- Qualifiers</a:t>
            </a:r>
          </a:p>
          <a:p>
            <a:pPr lvl="1" eaLnBrk="1" hangingPunct="1"/>
            <a:r>
              <a:rPr lang="en-US" dirty="0"/>
              <a:t>Site-Time-Value-Qualifiers</a:t>
            </a:r>
          </a:p>
          <a:p>
            <a:pPr eaLnBrk="1" hangingPunct="1"/>
            <a:r>
              <a:rPr lang="en-US" dirty="0"/>
              <a:t>Flat Columns</a:t>
            </a:r>
          </a:p>
          <a:p>
            <a:pPr lvl="1" eaLnBrk="1" hangingPunct="1"/>
            <a:r>
              <a:rPr lang="en-US" dirty="0"/>
              <a:t>Site-(site columns; e.g. Location..)-Variable(variable columns; e.g. units, speciation)-time-value-qualifiers</a:t>
            </a:r>
          </a:p>
          <a:p>
            <a:pPr lvl="1" eaLnBrk="1" hangingPunct="1"/>
            <a:r>
              <a:rPr lang="en-US" dirty="0"/>
              <a:t>Site-Time-value-value-value-value…</a:t>
            </a:r>
          </a:p>
          <a:p>
            <a:pPr eaLnBrk="1" hangingPunct="1"/>
            <a:r>
              <a:rPr lang="en-US" dirty="0" smtClean="0"/>
              <a:t>Data Table</a:t>
            </a:r>
          </a:p>
          <a:p>
            <a:pPr lvl="1" eaLnBrk="1" hangingPunct="1"/>
            <a:r>
              <a:rPr lang="en-US" dirty="0" smtClean="0"/>
              <a:t>Flat</a:t>
            </a:r>
          </a:p>
          <a:p>
            <a:pPr lvl="1" eaLnBrk="1" hangingPunct="1"/>
            <a:r>
              <a:rPr lang="en-US" dirty="0" smtClean="0"/>
              <a:t>Wide</a:t>
            </a:r>
          </a:p>
          <a:p>
            <a:pPr lvl="1" eaLnBrk="1" hangingPunct="1"/>
            <a:r>
              <a:rPr lang="en-US" dirty="0" smtClean="0"/>
              <a:t>Aggregate</a:t>
            </a:r>
          </a:p>
          <a:p>
            <a:pPr lvl="1" eaLnBrk="1" hangingPunct="1"/>
            <a:r>
              <a:rPr lang="en-US" dirty="0" smtClean="0"/>
              <a:t>Report</a:t>
            </a:r>
          </a:p>
          <a:p>
            <a:pPr eaLnBrk="1" hangingPunct="1"/>
            <a:r>
              <a:rPr lang="en-US" dirty="0" err="1" smtClean="0"/>
              <a:t>Hierachical</a:t>
            </a:r>
            <a:r>
              <a:rPr lang="en-US" dirty="0" smtClean="0"/>
              <a:t> (XML)</a:t>
            </a:r>
            <a:endParaRPr lang="en-US" dirty="0"/>
          </a:p>
          <a:p>
            <a:pPr lvl="1" eaLnBrk="1" hangingPunct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736600"/>
          </a:xfrm>
        </p:spPr>
        <p:txBody>
          <a:bodyPr/>
          <a:lstStyle/>
          <a:p>
            <a:pPr eaLnBrk="1" hangingPunct="1"/>
            <a:r>
              <a:rPr lang="en-US" smtClean="0"/>
              <a:t>USGS Data Stream, Real Time</a:t>
            </a: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52400" y="1143000"/>
            <a:ext cx="7827963" cy="3829050"/>
          </a:xfrm>
        </p:spPr>
      </p:pic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4343400" y="1371600"/>
            <a:ext cx="1616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4876800" y="5562600"/>
            <a:ext cx="36544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/>
              <a:t>There can be multiple instruments</a:t>
            </a:r>
          </a:p>
          <a:p>
            <a:r>
              <a:rPr lang="en-US" sz="2000"/>
              <a:t>For the same parameter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676400" y="2667000"/>
            <a:ext cx="4419600" cy="3033713"/>
            <a:chOff x="1056" y="1680"/>
            <a:chExt cx="2784" cy="1911"/>
          </a:xfrm>
        </p:grpSpPr>
        <p:sp>
          <p:nvSpPr>
            <p:cNvPr id="35850" name="Text Box 5"/>
            <p:cNvSpPr txBox="1">
              <a:spLocks noChangeArrowheads="1"/>
            </p:cNvSpPr>
            <p:nvPr/>
          </p:nvSpPr>
          <p:spPr bwMode="auto">
            <a:xfrm>
              <a:off x="1056" y="3264"/>
              <a:ext cx="10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Parameter</a:t>
              </a:r>
            </a:p>
          </p:txBody>
        </p:sp>
        <p:sp>
          <p:nvSpPr>
            <p:cNvPr id="35851" name="Line 7"/>
            <p:cNvSpPr>
              <a:spLocks noChangeShapeType="1"/>
            </p:cNvSpPr>
            <p:nvPr/>
          </p:nvSpPr>
          <p:spPr bwMode="auto">
            <a:xfrm flipV="1">
              <a:off x="2016" y="1680"/>
              <a:ext cx="288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2" name="Line 8"/>
            <p:cNvSpPr>
              <a:spLocks noChangeShapeType="1"/>
            </p:cNvSpPr>
            <p:nvPr/>
          </p:nvSpPr>
          <p:spPr bwMode="auto">
            <a:xfrm flipV="1">
              <a:off x="2064" y="1728"/>
              <a:ext cx="1776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352800" y="2667000"/>
            <a:ext cx="4238625" cy="2881313"/>
            <a:chOff x="2112" y="1680"/>
            <a:chExt cx="2670" cy="1815"/>
          </a:xfrm>
        </p:grpSpPr>
        <p:sp>
          <p:nvSpPr>
            <p:cNvPr id="35847" name="Text Box 4"/>
            <p:cNvSpPr txBox="1">
              <a:spLocks noChangeArrowheads="1"/>
            </p:cNvSpPr>
            <p:nvPr/>
          </p:nvSpPr>
          <p:spPr bwMode="auto">
            <a:xfrm>
              <a:off x="3696" y="3168"/>
              <a:ext cx="108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Instrument</a:t>
              </a:r>
            </a:p>
          </p:txBody>
        </p:sp>
        <p:sp>
          <p:nvSpPr>
            <p:cNvPr id="35848" name="Line 9"/>
            <p:cNvSpPr>
              <a:spLocks noChangeShapeType="1"/>
            </p:cNvSpPr>
            <p:nvPr/>
          </p:nvSpPr>
          <p:spPr bwMode="auto">
            <a:xfrm flipH="1" flipV="1">
              <a:off x="2112" y="1680"/>
              <a:ext cx="1632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49" name="Line 10"/>
            <p:cNvSpPr>
              <a:spLocks noChangeShapeType="1"/>
            </p:cNvSpPr>
            <p:nvPr/>
          </p:nvSpPr>
          <p:spPr bwMode="auto">
            <a:xfrm flipH="1" flipV="1">
              <a:off x="3600" y="1680"/>
              <a:ext cx="192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USGS Data Stream, Daily Values</a:t>
            </a:r>
          </a:p>
        </p:txBody>
      </p:sp>
      <p:pic>
        <p:nvPicPr>
          <p:cNvPr id="37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57200" y="1600200"/>
            <a:ext cx="8229600" cy="2487613"/>
          </a:xfrm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676400" y="3429000"/>
            <a:ext cx="5915025" cy="2271713"/>
            <a:chOff x="1056" y="2160"/>
            <a:chExt cx="3726" cy="1431"/>
          </a:xfrm>
        </p:grpSpPr>
        <p:sp>
          <p:nvSpPr>
            <p:cNvPr id="37896" name="Text Box 3"/>
            <p:cNvSpPr txBox="1">
              <a:spLocks noChangeArrowheads="1"/>
            </p:cNvSpPr>
            <p:nvPr/>
          </p:nvSpPr>
          <p:spPr bwMode="auto">
            <a:xfrm>
              <a:off x="3696" y="3168"/>
              <a:ext cx="108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Instrument</a:t>
              </a:r>
            </a:p>
          </p:txBody>
        </p:sp>
        <p:sp>
          <p:nvSpPr>
            <p:cNvPr id="37897" name="Text Box 4"/>
            <p:cNvSpPr txBox="1">
              <a:spLocks noChangeArrowheads="1"/>
            </p:cNvSpPr>
            <p:nvPr/>
          </p:nvSpPr>
          <p:spPr bwMode="auto">
            <a:xfrm>
              <a:off x="1056" y="3264"/>
              <a:ext cx="10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Parameter</a:t>
              </a:r>
            </a:p>
          </p:txBody>
        </p:sp>
        <p:sp>
          <p:nvSpPr>
            <p:cNvPr id="37898" name="Line 5"/>
            <p:cNvSpPr>
              <a:spLocks noChangeShapeType="1"/>
            </p:cNvSpPr>
            <p:nvPr/>
          </p:nvSpPr>
          <p:spPr bwMode="auto">
            <a:xfrm flipV="1">
              <a:off x="2016" y="2160"/>
              <a:ext cx="384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99" name="Line 6"/>
            <p:cNvSpPr>
              <a:spLocks noChangeShapeType="1"/>
            </p:cNvSpPr>
            <p:nvPr/>
          </p:nvSpPr>
          <p:spPr bwMode="auto">
            <a:xfrm flipV="1">
              <a:off x="2064" y="2160"/>
              <a:ext cx="2112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00" name="Line 7"/>
            <p:cNvSpPr>
              <a:spLocks noChangeShapeType="1"/>
            </p:cNvSpPr>
            <p:nvPr/>
          </p:nvSpPr>
          <p:spPr bwMode="auto">
            <a:xfrm flipH="1" flipV="1">
              <a:off x="2160" y="2160"/>
              <a:ext cx="1584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01" name="Line 8"/>
            <p:cNvSpPr>
              <a:spLocks noChangeShapeType="1"/>
            </p:cNvSpPr>
            <p:nvPr/>
          </p:nvSpPr>
          <p:spPr bwMode="auto">
            <a:xfrm flipV="1">
              <a:off x="3792" y="2160"/>
              <a:ext cx="144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86200" y="3429000"/>
            <a:ext cx="3514725" cy="2576513"/>
            <a:chOff x="2448" y="2160"/>
            <a:chExt cx="2214" cy="1623"/>
          </a:xfrm>
        </p:grpSpPr>
        <p:sp>
          <p:nvSpPr>
            <p:cNvPr id="37893" name="Text Box 9"/>
            <p:cNvSpPr txBox="1">
              <a:spLocks noChangeArrowheads="1"/>
            </p:cNvSpPr>
            <p:nvPr/>
          </p:nvSpPr>
          <p:spPr bwMode="auto">
            <a:xfrm>
              <a:off x="2448" y="3456"/>
              <a:ext cx="22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Statistic (00003=mean)</a:t>
              </a:r>
            </a:p>
          </p:txBody>
        </p:sp>
        <p:sp>
          <p:nvSpPr>
            <p:cNvPr id="37894" name="Line 10"/>
            <p:cNvSpPr>
              <a:spLocks noChangeShapeType="1"/>
            </p:cNvSpPr>
            <p:nvPr/>
          </p:nvSpPr>
          <p:spPr bwMode="auto">
            <a:xfrm flipH="1" flipV="1">
              <a:off x="2640" y="2160"/>
              <a:ext cx="48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95" name="Line 11"/>
            <p:cNvSpPr>
              <a:spLocks noChangeShapeType="1"/>
            </p:cNvSpPr>
            <p:nvPr/>
          </p:nvSpPr>
          <p:spPr bwMode="auto">
            <a:xfrm flipV="1">
              <a:off x="3072" y="2160"/>
              <a:ext cx="1296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3625" cy="685800"/>
          </a:xfrm>
        </p:spPr>
        <p:txBody>
          <a:bodyPr/>
          <a:lstStyle/>
          <a:p>
            <a:pPr eaLnBrk="1" hangingPunct="1"/>
            <a:r>
              <a:rPr lang="en-US" dirty="0" smtClean="0"/>
              <a:t>Data Value Column</a:t>
            </a:r>
            <a:br>
              <a:rPr lang="en-US" dirty="0" smtClean="0"/>
            </a:br>
            <a:r>
              <a:rPr lang="en-US" sz="2400" dirty="0" smtClean="0"/>
              <a:t>USGS Water Quality, </a:t>
            </a:r>
            <a:br>
              <a:rPr lang="en-US" sz="2400" dirty="0" smtClean="0"/>
            </a:br>
            <a:r>
              <a:rPr lang="en-US" sz="2400" dirty="0" smtClean="0"/>
              <a:t>Aka, Instantaneous Irregular Data </a:t>
            </a:r>
            <a:endParaRPr lang="en-US" dirty="0" smtClean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776413" y="1600200"/>
            <a:ext cx="5591175" cy="4525963"/>
          </a:xfrm>
        </p:spPr>
      </p:pic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295400"/>
            <a:ext cx="8991600" cy="3883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Table (DAYMET) </a:t>
            </a:r>
          </a:p>
        </p:txBody>
      </p:sp>
      <p:pic>
        <p:nvPicPr>
          <p:cNvPr id="419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447800" y="1524000"/>
            <a:ext cx="5895975" cy="22955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Flat Columns (NCDC)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Content Placeholder 5" descr="NCDC_graphic.jpg"/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46075" y="1752620"/>
            <a:ext cx="8458200" cy="394489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 (</a:t>
            </a:r>
            <a:r>
              <a:rPr lang="en-US" dirty="0" err="1" smtClean="0"/>
              <a:t>SnoTel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914400"/>
            <a:ext cx="4572000" cy="507682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lg"/>
            <a:tailEnd type="none" w="med" len="med"/>
          </a:ln>
        </p:spPr>
      </p:pic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3200400"/>
            <a:ext cx="6572250" cy="246697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lg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EPA Flat Format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6200" y="914400"/>
            <a:ext cx="7645697" cy="2617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914400"/>
            <a:ext cx="6830178" cy="302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1066800"/>
            <a:ext cx="7154813" cy="2476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Content Placeholder 8"/>
          <p:cNvPicPr>
            <a:picLocks noGrp="1"/>
          </p:cNvPicPr>
          <p:nvPr>
            <p:ph idx="1"/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0" y="1295400"/>
            <a:ext cx="5493946" cy="285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71600" y="990600"/>
            <a:ext cx="5943600" cy="2842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4800" y="4114800"/>
            <a:ext cx="6995013" cy="1594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/>
          <p:cNvPicPr/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19400" y="4724400"/>
            <a:ext cx="5943600" cy="2010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83625" cy="549275"/>
          </a:xfrm>
        </p:spPr>
        <p:txBody>
          <a:bodyPr/>
          <a:lstStyle/>
          <a:p>
            <a:r>
              <a:rPr lang="en-US" dirty="0" smtClean="0"/>
              <a:t>Mapping WQX results to </a:t>
            </a:r>
            <a:r>
              <a:rPr lang="en-US" dirty="0" err="1" smtClean="0"/>
              <a:t>WaterML</a:t>
            </a:r>
            <a:r>
              <a:rPr lang="en-US" dirty="0" smtClean="0"/>
              <a:t> </a:t>
            </a:r>
            <a:r>
              <a:rPr lang="en-US" dirty="0" err="1" smtClean="0"/>
              <a:t>TimeSeries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6" name="Rounded Rectangle 5"/>
          <p:cNvSpPr>
            <a:spLocks noChangeArrowheads="1"/>
          </p:cNvSpPr>
          <p:nvPr/>
        </p:nvSpPr>
        <p:spPr bwMode="auto">
          <a:xfrm>
            <a:off x="5105400" y="1409700"/>
            <a:ext cx="3048000" cy="4648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9pPr>
          </a:lstStyle>
          <a:p>
            <a:pPr algn="ctr" eaLnBrk="0" hangingPunct="0"/>
            <a:endParaRPr lang="en-US"/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76200" y="1409700"/>
            <a:ext cx="4114800" cy="457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9pPr>
          </a:lstStyle>
          <a:p>
            <a:pPr algn="ctr" eaLnBrk="0" hangingPunct="0"/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/>
        </p:nvSpPr>
        <p:spPr bwMode="auto">
          <a:xfrm>
            <a:off x="152400" y="1482725"/>
            <a:ext cx="4038600" cy="502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800" b="1">
                <a:solidFill>
                  <a:schemeClr val="tx1"/>
                </a:solidFill>
                <a:latin typeface="+mn-lt"/>
                <a:ea typeface="ＭＳ Ｐゴシック" pitchFamily="-123" charset="-128"/>
                <a:cs typeface="ＭＳ Ｐゴシック" pitchFamily="-123" charset="-128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123" charset="-128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23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"/>
                <a:ea typeface="ＭＳ Ｐゴシック" pitchFamily="-123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/>
                <a:ea typeface="ＭＳ Ｐゴシック" pitchFamily="-123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/>
              </a:defRPr>
            </a:lvl9pPr>
          </a:lstStyle>
          <a:p>
            <a:pPr eaLnBrk="1" hangingPunct="1">
              <a:defRPr/>
            </a:pPr>
            <a:r>
              <a:rPr lang="en-US" sz="1400" dirty="0" smtClean="0">
                <a:ea typeface="+mn-ea"/>
                <a:cs typeface="+mn-cs"/>
              </a:rPr>
              <a:t>Organization</a:t>
            </a:r>
          </a:p>
          <a:p>
            <a:pPr lvl="1" eaLnBrk="1" hangingPunct="1">
              <a:defRPr/>
            </a:pPr>
            <a:r>
              <a:rPr lang="en-US" sz="1200" dirty="0" smtClean="0"/>
              <a:t>Activity</a:t>
            </a:r>
          </a:p>
          <a:p>
            <a:pPr lvl="2" eaLnBrk="1" hangingPunct="1">
              <a:defRPr/>
            </a:pPr>
            <a:r>
              <a:rPr lang="en-US" sz="1100" dirty="0" err="1" smtClean="0"/>
              <a:t>ActivityDescription</a:t>
            </a:r>
            <a:endParaRPr lang="en-US" sz="1100" dirty="0" smtClean="0"/>
          </a:p>
          <a:p>
            <a:pPr lvl="3" eaLnBrk="1" hangingPunct="1">
              <a:defRPr/>
            </a:pPr>
            <a:r>
              <a:rPr lang="en-US" sz="1050" dirty="0" err="1" smtClean="0"/>
              <a:t>ActivityStartDate</a:t>
            </a:r>
            <a:endParaRPr lang="en-US" sz="1050" dirty="0" smtClean="0"/>
          </a:p>
          <a:p>
            <a:pPr lvl="3" eaLnBrk="1" hangingPunct="1">
              <a:defRPr/>
            </a:pPr>
            <a:r>
              <a:rPr lang="en-US" sz="1050" dirty="0" smtClean="0"/>
              <a:t>Details</a:t>
            </a:r>
          </a:p>
          <a:p>
            <a:pPr lvl="2" eaLnBrk="1" hangingPunct="1">
              <a:defRPr/>
            </a:pPr>
            <a:r>
              <a:rPr lang="en-US" sz="1100" dirty="0" err="1" smtClean="0"/>
              <a:t>MonitoringLocation</a:t>
            </a:r>
            <a:endParaRPr lang="en-US" sz="1100" dirty="0" smtClean="0"/>
          </a:p>
          <a:p>
            <a:pPr lvl="3" eaLnBrk="1" hangingPunct="1">
              <a:defRPr/>
            </a:pPr>
            <a:r>
              <a:rPr lang="en-US" sz="1000" dirty="0" err="1" smtClean="0"/>
              <a:t>StationID</a:t>
            </a:r>
            <a:r>
              <a:rPr lang="en-US" sz="1000" dirty="0" smtClean="0"/>
              <a:t>  and Name only</a:t>
            </a:r>
          </a:p>
          <a:p>
            <a:pPr lvl="2" eaLnBrk="1" hangingPunct="1">
              <a:defRPr/>
            </a:pPr>
            <a:r>
              <a:rPr lang="en-US" sz="1100" dirty="0" smtClean="0"/>
              <a:t>Result</a:t>
            </a:r>
          </a:p>
          <a:p>
            <a:pPr lvl="3" eaLnBrk="1" hangingPunct="1">
              <a:defRPr/>
            </a:pPr>
            <a:r>
              <a:rPr lang="en-US" sz="1050" dirty="0" smtClean="0"/>
              <a:t>Result Details</a:t>
            </a:r>
          </a:p>
          <a:p>
            <a:pPr lvl="4" eaLnBrk="1" hangingPunct="1">
              <a:defRPr/>
            </a:pPr>
            <a:r>
              <a:rPr lang="en-US" sz="1050" dirty="0" err="1" smtClean="0"/>
              <a:t>CharacteristicName</a:t>
            </a:r>
            <a:r>
              <a:rPr lang="en-US" sz="1050" dirty="0" smtClean="0"/>
              <a:t> (variable)</a:t>
            </a:r>
          </a:p>
          <a:p>
            <a:pPr lvl="4" eaLnBrk="1" hangingPunct="1">
              <a:defRPr/>
            </a:pPr>
            <a:r>
              <a:rPr lang="en-US" sz="1050" dirty="0" smtClean="0"/>
              <a:t>[</a:t>
            </a:r>
            <a:r>
              <a:rPr lang="en-US" sz="1050" dirty="0" err="1" smtClean="0"/>
              <a:t>ResultMeasureValue,Unit</a:t>
            </a:r>
            <a:r>
              <a:rPr lang="en-US" sz="1050" dirty="0" smtClean="0"/>
              <a:t>] </a:t>
            </a:r>
            <a:r>
              <a:rPr lang="en-US" sz="1050" dirty="0" err="1" smtClean="0"/>
              <a:t>ResultMeasure</a:t>
            </a:r>
            <a:r>
              <a:rPr lang="en-US" sz="1050" dirty="0" smtClean="0"/>
              <a:t> (</a:t>
            </a:r>
            <a:r>
              <a:rPr lang="en-US" sz="1050" dirty="0" err="1" smtClean="0"/>
              <a:t>DataValue</a:t>
            </a:r>
            <a:r>
              <a:rPr lang="en-US" sz="1050" dirty="0" smtClean="0"/>
              <a:t>)</a:t>
            </a:r>
          </a:p>
          <a:p>
            <a:pPr lvl="4" eaLnBrk="1" hangingPunct="1">
              <a:defRPr/>
            </a:pPr>
            <a:r>
              <a:rPr lang="en-US" sz="1050" dirty="0" smtClean="0"/>
              <a:t>Qualifier</a:t>
            </a:r>
          </a:p>
          <a:p>
            <a:pPr lvl="3" eaLnBrk="1" hangingPunct="1">
              <a:defRPr/>
            </a:pPr>
            <a:r>
              <a:rPr lang="en-US" sz="1050" dirty="0" err="1" smtClean="0"/>
              <a:t>BiologicalResultDescription</a:t>
            </a:r>
            <a:endParaRPr lang="en-US" sz="1050" dirty="0" smtClean="0"/>
          </a:p>
          <a:p>
            <a:pPr lvl="4" eaLnBrk="1" hangingPunct="1">
              <a:defRPr/>
            </a:pPr>
            <a:r>
              <a:rPr lang="en-US" sz="1050" dirty="0" smtClean="0"/>
              <a:t>Details</a:t>
            </a:r>
          </a:p>
          <a:p>
            <a:pPr lvl="3" eaLnBrk="1" hangingPunct="1">
              <a:defRPr/>
            </a:pPr>
            <a:r>
              <a:rPr lang="en-US" sz="1050" dirty="0" err="1" smtClean="0"/>
              <a:t>ResultLabInformation</a:t>
            </a:r>
            <a:endParaRPr lang="en-US" sz="1050" dirty="0" smtClean="0"/>
          </a:p>
          <a:p>
            <a:pPr lvl="4" eaLnBrk="1" hangingPunct="1">
              <a:defRPr/>
            </a:pPr>
            <a:r>
              <a:rPr lang="en-US" sz="1050" dirty="0" err="1" smtClean="0"/>
              <a:t>AnalysisStartDate</a:t>
            </a:r>
            <a:endParaRPr lang="en-US" sz="1050" dirty="0" smtClean="0"/>
          </a:p>
          <a:p>
            <a:pPr lvl="3" eaLnBrk="1" hangingPunct="1">
              <a:defRPr/>
            </a:pPr>
            <a:r>
              <a:rPr lang="en-US" sz="1050" dirty="0" err="1" smtClean="0"/>
              <a:t>ResultAnalyticalMethod</a:t>
            </a:r>
            <a:endParaRPr lang="en-US" sz="1050" dirty="0" smtClean="0"/>
          </a:p>
          <a:p>
            <a:pPr lvl="1" eaLnBrk="1" hangingPunct="1">
              <a:defRPr/>
            </a:pPr>
            <a:r>
              <a:rPr lang="en-US" sz="1600" dirty="0" smtClean="0">
                <a:solidFill>
                  <a:schemeClr val="bg2"/>
                </a:solidFill>
              </a:rPr>
              <a:t>Activity</a:t>
            </a:r>
          </a:p>
          <a:p>
            <a:pPr lvl="2" eaLnBrk="1" hangingPunct="1">
              <a:defRPr/>
            </a:pPr>
            <a:r>
              <a:rPr lang="en-US" sz="1000" dirty="0" err="1" smtClean="0">
                <a:solidFill>
                  <a:schemeClr val="bg2"/>
                </a:solidFill>
              </a:rPr>
              <a:t>ActivityDescription</a:t>
            </a:r>
            <a:endParaRPr lang="en-US" sz="1000" dirty="0" smtClean="0">
              <a:solidFill>
                <a:schemeClr val="bg2"/>
              </a:solidFill>
            </a:endParaRPr>
          </a:p>
          <a:p>
            <a:pPr lvl="3" eaLnBrk="1" hangingPunct="1">
              <a:defRPr/>
            </a:pPr>
            <a:r>
              <a:rPr lang="en-US" sz="900" dirty="0" err="1" smtClean="0">
                <a:solidFill>
                  <a:schemeClr val="bg2"/>
                </a:solidFill>
              </a:rPr>
              <a:t>ActivityStartDate</a:t>
            </a:r>
            <a:endParaRPr lang="en-US" sz="900" dirty="0" smtClean="0">
              <a:solidFill>
                <a:schemeClr val="bg2"/>
              </a:solidFill>
            </a:endParaRPr>
          </a:p>
          <a:p>
            <a:pPr lvl="1" eaLnBrk="1" hangingPunct="1">
              <a:buFont typeface="Arial" charset="0"/>
              <a:buNone/>
              <a:defRPr/>
            </a:pPr>
            <a:endParaRPr lang="en-US" sz="1600" dirty="0" smtClean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5181600" y="1485900"/>
            <a:ext cx="33528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9pPr>
          </a:lstStyle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200" b="1" dirty="0" err="1">
                <a:latin typeface="+mn-lt"/>
                <a:ea typeface="+mn-ea"/>
                <a:cs typeface="+mn-cs"/>
              </a:rPr>
              <a:t>TimeSeries</a:t>
            </a:r>
            <a:endParaRPr lang="en-US" sz="1200" b="1" dirty="0">
              <a:latin typeface="+mn-lt"/>
              <a:ea typeface="+mn-ea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latin typeface="+mn-lt"/>
                <a:ea typeface="+mn-ea"/>
                <a:cs typeface="+mn-cs"/>
              </a:rPr>
              <a:t>Site</a:t>
            </a:r>
          </a:p>
          <a:p>
            <a:pPr marL="1200150" lvl="2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 err="1">
                <a:latin typeface="+mn-lt"/>
                <a:ea typeface="+mn-ea"/>
                <a:cs typeface="+mn-cs"/>
              </a:rPr>
              <a:t>SiteInfo</a:t>
            </a:r>
            <a:endParaRPr lang="en-US" sz="1100" b="1" dirty="0">
              <a:latin typeface="+mn-lt"/>
              <a:ea typeface="+mn-ea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latin typeface="+mn-lt"/>
                <a:ea typeface="+mn-ea"/>
                <a:cs typeface="+mn-cs"/>
              </a:rPr>
              <a:t>Variable</a:t>
            </a:r>
          </a:p>
          <a:p>
            <a:pPr marL="1200150" lvl="2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 err="1">
                <a:latin typeface="+mn-lt"/>
                <a:ea typeface="+mn-ea"/>
                <a:cs typeface="+mn-cs"/>
              </a:rPr>
              <a:t>VariableName</a:t>
            </a:r>
            <a:endParaRPr lang="en-US" sz="1100" b="1" dirty="0">
              <a:latin typeface="+mn-lt"/>
              <a:ea typeface="+mn-ea"/>
              <a:cs typeface="+mn-cs"/>
            </a:endParaRPr>
          </a:p>
          <a:p>
            <a:pPr marL="1200150" lvl="2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latin typeface="+mn-lt"/>
                <a:ea typeface="+mn-ea"/>
                <a:cs typeface="+mn-cs"/>
              </a:rPr>
              <a:t>Units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latin typeface="+mn-lt"/>
                <a:ea typeface="+mn-ea"/>
                <a:cs typeface="+mn-cs"/>
              </a:rPr>
              <a:t>Values</a:t>
            </a:r>
          </a:p>
          <a:p>
            <a:pPr marL="1200150" lvl="2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 err="1">
                <a:latin typeface="+mn-lt"/>
                <a:ea typeface="+mn-ea"/>
                <a:cs typeface="+mn-cs"/>
              </a:rPr>
              <a:t>DataValue</a:t>
            </a:r>
            <a:endParaRPr lang="en-US" sz="1100" b="1" dirty="0">
              <a:latin typeface="+mn-lt"/>
              <a:ea typeface="+mn-ea"/>
              <a:cs typeface="+mn-cs"/>
            </a:endParaRP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 err="1">
                <a:latin typeface="+mn-lt"/>
                <a:ea typeface="+mn-ea"/>
                <a:cs typeface="+mn-cs"/>
              </a:rPr>
              <a:t>DateTime</a:t>
            </a:r>
            <a:endParaRPr lang="en-US" sz="1100" b="1" dirty="0">
              <a:latin typeface="+mn-lt"/>
              <a:ea typeface="+mn-ea"/>
              <a:cs typeface="+mn-cs"/>
            </a:endParaRP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latin typeface="+mn-lt"/>
                <a:ea typeface="+mn-ea"/>
                <a:cs typeface="+mn-cs"/>
              </a:rPr>
              <a:t>Value</a:t>
            </a: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latin typeface="+mn-lt"/>
                <a:ea typeface="+mn-ea"/>
                <a:cs typeface="+mn-cs"/>
              </a:rPr>
              <a:t>Qualifiers</a:t>
            </a: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latin typeface="+mn-lt"/>
                <a:ea typeface="+mn-ea"/>
                <a:cs typeface="+mn-cs"/>
              </a:rPr>
              <a:t>Method</a:t>
            </a:r>
          </a:p>
          <a:p>
            <a:pPr marL="1200150" lvl="2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 err="1">
                <a:solidFill>
                  <a:schemeClr val="bg2"/>
                </a:solidFill>
                <a:latin typeface="Times"/>
                <a:ea typeface="+mn-ea"/>
                <a:cs typeface="+mn-cs"/>
              </a:rPr>
              <a:t>DataValue</a:t>
            </a:r>
            <a:endParaRPr lang="en-US" sz="1100" b="1" dirty="0">
              <a:solidFill>
                <a:schemeClr val="bg2"/>
              </a:solidFill>
              <a:latin typeface="Times"/>
              <a:ea typeface="+mn-ea"/>
              <a:cs typeface="+mn-cs"/>
            </a:endParaRP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 err="1">
                <a:solidFill>
                  <a:schemeClr val="bg2"/>
                </a:solidFill>
                <a:latin typeface="Times"/>
                <a:ea typeface="+mn-ea"/>
                <a:cs typeface="+mn-cs"/>
              </a:rPr>
              <a:t>DateTime</a:t>
            </a:r>
            <a:endParaRPr lang="en-US" sz="1100" b="1" dirty="0">
              <a:solidFill>
                <a:schemeClr val="bg2"/>
              </a:solidFill>
              <a:latin typeface="Times"/>
              <a:ea typeface="+mn-ea"/>
              <a:cs typeface="+mn-cs"/>
            </a:endParaRP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solidFill>
                  <a:schemeClr val="bg2"/>
                </a:solidFill>
                <a:latin typeface="Times"/>
                <a:ea typeface="+mn-ea"/>
                <a:cs typeface="+mn-cs"/>
              </a:rPr>
              <a:t>Value</a:t>
            </a: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solidFill>
                  <a:schemeClr val="bg2"/>
                </a:solidFill>
                <a:latin typeface="Times"/>
                <a:ea typeface="+mn-ea"/>
                <a:cs typeface="+mn-cs"/>
              </a:rPr>
              <a:t>Qualifiers</a:t>
            </a:r>
          </a:p>
          <a:p>
            <a:pPr marL="1657350" lvl="3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solidFill>
                  <a:schemeClr val="bg2"/>
                </a:solidFill>
                <a:latin typeface="Times"/>
                <a:ea typeface="+mn-ea"/>
                <a:cs typeface="+mn-cs"/>
              </a:rPr>
              <a:t>Method</a:t>
            </a:r>
            <a:endParaRPr lang="en-US" sz="1100" b="1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  <a:p>
            <a:pPr marL="1200150" lvl="2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Qualifier</a:t>
            </a:r>
          </a:p>
          <a:p>
            <a:pPr marL="1200150" lvl="2" indent="-28575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100" b="1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Methods</a:t>
            </a: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0" y="1101725"/>
            <a:ext cx="259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9pPr>
          </a:lstStyle>
          <a:p>
            <a:pPr eaLnBrk="0" hangingPunct="0"/>
            <a:r>
              <a:rPr lang="en-US" sz="1400"/>
              <a:t>WQX</a:t>
            </a: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5410200" y="1104900"/>
            <a:ext cx="259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9pPr>
          </a:lstStyle>
          <a:p>
            <a:pPr eaLnBrk="0" hangingPunct="0"/>
            <a:r>
              <a:rPr lang="en-US" sz="1400"/>
              <a:t>WaterML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895600" y="2324100"/>
            <a:ext cx="36576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819400" y="4229100"/>
            <a:ext cx="3810000" cy="1371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352800" y="2019300"/>
            <a:ext cx="2819400" cy="838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2"/>
          <p:cNvSpPr txBox="1">
            <a:spLocks noChangeArrowheads="1"/>
          </p:cNvSpPr>
          <p:nvPr/>
        </p:nvSpPr>
        <p:spPr bwMode="auto">
          <a:xfrm>
            <a:off x="3633788" y="1028700"/>
            <a:ext cx="1165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9pPr>
          </a:lstStyle>
          <a:p>
            <a:pPr algn="ctr" eaLnBrk="0" hangingPunct="0"/>
            <a:r>
              <a:rPr lang="en-US" sz="1000">
                <a:solidFill>
                  <a:srgbClr val="FF0000"/>
                </a:solidFill>
              </a:rPr>
              <a:t>call to </a:t>
            </a:r>
          </a:p>
          <a:p>
            <a:pPr algn="ctr" eaLnBrk="0" hangingPunct="0"/>
            <a:r>
              <a:rPr lang="en-US" sz="1000">
                <a:solidFill>
                  <a:srgbClr val="FF0000"/>
                </a:solidFill>
              </a:rPr>
              <a:t>StationWebService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895600" y="3695700"/>
            <a:ext cx="3657600" cy="304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038600" y="3467100"/>
            <a:ext cx="2590800" cy="304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962400" y="2628900"/>
            <a:ext cx="2514600" cy="990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114800" y="2476500"/>
            <a:ext cx="21336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276600" y="3848100"/>
            <a:ext cx="33528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31"/>
          <p:cNvSpPr txBox="1">
            <a:spLocks noChangeArrowheads="1"/>
          </p:cNvSpPr>
          <p:nvPr/>
        </p:nvSpPr>
        <p:spPr bwMode="auto">
          <a:xfrm>
            <a:off x="1905000" y="6210300"/>
            <a:ext cx="556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imes" pitchFamily="-123" charset="0"/>
                <a:ea typeface="ＭＳ Ｐゴシック" pitchFamily="-123" charset="-128"/>
                <a:cs typeface="ＭＳ Ｐゴシック" pitchFamily="-123" charset="-128"/>
              </a:defRPr>
            </a:lvl9pPr>
          </a:lstStyle>
          <a:p>
            <a:pPr algn="ctr" eaLnBrk="0" hangingPunct="0"/>
            <a:r>
              <a:rPr lang="en-US" sz="1400"/>
              <a:t>WQX-Each activity produces one (or more) WaterML DataValue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495800" y="1485900"/>
            <a:ext cx="1447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2590800" cy="914400"/>
          </a:xfrm>
        </p:spPr>
        <p:txBody>
          <a:bodyPr/>
          <a:lstStyle/>
          <a:p>
            <a:r>
              <a:rPr lang="en-US" dirty="0" smtClean="0"/>
              <a:t>52 North </a:t>
            </a:r>
            <a:br>
              <a:rPr lang="en-US" dirty="0" smtClean="0"/>
            </a:br>
            <a:r>
              <a:rPr lang="en-US" dirty="0" smtClean="0"/>
              <a:t>SOS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9" y="1279525"/>
            <a:ext cx="7280275" cy="48910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lg"/>
            <a:tailEnd type="none" w="med" len="med"/>
          </a:ln>
          <a:effectLst/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505" name="Object 1"/>
          <p:cNvGraphicFramePr>
            <a:graphicFrameLocks noChangeAspect="1"/>
          </p:cNvGraphicFramePr>
          <p:nvPr/>
        </p:nvGraphicFramePr>
        <p:xfrm>
          <a:off x="2633562" y="685800"/>
          <a:ext cx="6510438" cy="7315200"/>
        </p:xfrm>
        <a:graphic>
          <a:graphicData uri="http://schemas.openxmlformats.org/presentationml/2006/ole">
            <p:oleObj spid="_x0000_s21505" r:id="rId4" imgW="7378700" imgH="102870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2009 Open Geospatial Consortium,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C076E3-5DDE-436C-B622-9F7CE71FF6C8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120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Transfer Standards (from the paper)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075" y="1279525"/>
            <a:ext cx="3082925" cy="4740275"/>
          </a:xfrm>
        </p:spPr>
        <p:txBody>
          <a:bodyPr/>
          <a:lstStyle/>
          <a:p>
            <a:r>
              <a:rPr lang="en-GB" sz="20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= Standard does not contain a relevant approach to the concept</a:t>
            </a:r>
            <a:endParaRPr lang="en-US" sz="20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GB" sz="20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+ = Standard at least contains a reference to the concept</a:t>
            </a:r>
            <a:endParaRPr lang="en-US" sz="20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GB" sz="20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++ = Standard defines the concept partially </a:t>
            </a:r>
            <a:endParaRPr lang="en-US" sz="20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GB" sz="20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+++ = Standard provides mechanisms for full description of the concept</a:t>
            </a:r>
            <a:endParaRPr lang="en-US" sz="20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endParaRPr lang="en-US" sz="2000" dirty="0" smtClean="0"/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3505200" y="1066800"/>
          <a:ext cx="5638800" cy="5105400"/>
        </p:xfrm>
        <a:graphic>
          <a:graphicData uri="http://schemas.openxmlformats.org/presentationml/2006/ole">
            <p:oleObj spid="_x0000_s6150" name="Document" r:id="rId4" imgW="6007100" imgH="7378700" progId="Word.Document.12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Observations Data Model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FBE451-BFD0-4433-82BB-A2A1BE2AB16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6" name="Content Placeholder 5" descr="ODM1DataModelFigure"/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066800"/>
            <a:ext cx="6632575" cy="50225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77724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datavalue</a:t>
            </a:r>
            <a:r>
              <a:rPr lang="en-US" dirty="0" smtClean="0"/>
              <a:t>, as defined by ODM, has</a:t>
            </a:r>
          </a:p>
          <a:p>
            <a:pPr lvl="1"/>
            <a:r>
              <a:rPr lang="en-US" dirty="0" smtClean="0"/>
              <a:t>References</a:t>
            </a:r>
          </a:p>
          <a:p>
            <a:pPr lvl="2"/>
            <a:r>
              <a:rPr lang="en-US" dirty="0" smtClean="0"/>
              <a:t>Location</a:t>
            </a:r>
          </a:p>
          <a:p>
            <a:pPr lvl="2"/>
            <a:r>
              <a:rPr lang="en-US" dirty="0" smtClean="0"/>
              <a:t>Variable</a:t>
            </a:r>
          </a:p>
          <a:p>
            <a:pPr lvl="2"/>
            <a:r>
              <a:rPr lang="en-US" dirty="0" smtClean="0"/>
              <a:t>Source</a:t>
            </a:r>
          </a:p>
          <a:p>
            <a:pPr lvl="1"/>
            <a:r>
              <a:rPr lang="en-US" dirty="0" smtClean="0"/>
              <a:t>Attributes</a:t>
            </a:r>
          </a:p>
          <a:p>
            <a:pPr lvl="2"/>
            <a:r>
              <a:rPr lang="en-US" dirty="0" smtClean="0"/>
              <a:t>Value</a:t>
            </a:r>
          </a:p>
          <a:p>
            <a:pPr lvl="2"/>
            <a:r>
              <a:rPr lang="en-US" dirty="0" smtClean="0"/>
              <a:t>Unit</a:t>
            </a:r>
          </a:p>
          <a:p>
            <a:pPr lvl="2"/>
            <a:r>
              <a:rPr lang="en-US" dirty="0" err="1" smtClean="0"/>
              <a:t>DateTime</a:t>
            </a:r>
            <a:endParaRPr lang="en-US" dirty="0" smtClean="0"/>
          </a:p>
          <a:p>
            <a:pPr lvl="2"/>
            <a:r>
              <a:rPr lang="en-US" dirty="0" err="1" smtClean="0"/>
              <a:t>CensorCode</a:t>
            </a:r>
            <a:r>
              <a:rPr lang="en-US" dirty="0" smtClean="0"/>
              <a:t> </a:t>
            </a:r>
          </a:p>
          <a:p>
            <a:pPr lvl="3"/>
            <a:r>
              <a:rPr lang="en-US" dirty="0" smtClean="0"/>
              <a:t>(not censored, present but not quantified, etc)</a:t>
            </a:r>
          </a:p>
          <a:p>
            <a:pPr lvl="2"/>
            <a:r>
              <a:rPr lang="en-US" dirty="0" smtClean="0"/>
              <a:t>Qualifier</a:t>
            </a:r>
          </a:p>
          <a:p>
            <a:pPr lvl="2"/>
            <a:r>
              <a:rPr lang="en-US" dirty="0" smtClean="0"/>
              <a:t>Method</a:t>
            </a:r>
          </a:p>
          <a:p>
            <a:pPr lvl="2"/>
            <a:r>
              <a:rPr lang="en-US" dirty="0" smtClean="0"/>
              <a:t>Quality Control Level</a:t>
            </a:r>
          </a:p>
          <a:p>
            <a:pPr lvl="2"/>
            <a:r>
              <a:rPr lang="en-US" dirty="0" smtClean="0"/>
              <a:t>Optional</a:t>
            </a:r>
          </a:p>
          <a:p>
            <a:pPr lvl="3"/>
            <a:r>
              <a:rPr lang="en-US" dirty="0" smtClean="0"/>
              <a:t>Offset (vertical)</a:t>
            </a:r>
          </a:p>
          <a:p>
            <a:pPr lvl="3"/>
            <a:r>
              <a:rPr lang="en-US" dirty="0" smtClean="0"/>
              <a:t>Value Accuracy</a:t>
            </a:r>
          </a:p>
          <a:p>
            <a:pPr lvl="3"/>
            <a:r>
              <a:rPr lang="en-US" dirty="0" smtClean="0"/>
              <a:t>Sample Reference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series, as defined by ODM, has</a:t>
            </a:r>
          </a:p>
          <a:p>
            <a:pPr lvl="1"/>
            <a:r>
              <a:rPr lang="en-US" dirty="0" smtClean="0"/>
              <a:t>1 site</a:t>
            </a:r>
          </a:p>
          <a:p>
            <a:pPr lvl="1"/>
            <a:r>
              <a:rPr lang="en-US" dirty="0" smtClean="0"/>
              <a:t>1 variable </a:t>
            </a:r>
          </a:p>
          <a:p>
            <a:pPr lvl="2"/>
            <a:r>
              <a:rPr lang="en-US" dirty="0" smtClean="0"/>
              <a:t>1 unit</a:t>
            </a:r>
          </a:p>
          <a:p>
            <a:pPr lvl="1"/>
            <a:r>
              <a:rPr lang="en-US" dirty="0" smtClean="0"/>
              <a:t>1 source</a:t>
            </a:r>
          </a:p>
          <a:p>
            <a:pPr lvl="1"/>
            <a:r>
              <a:rPr lang="en-US" dirty="0" smtClean="0"/>
              <a:t>1 method</a:t>
            </a:r>
          </a:p>
          <a:p>
            <a:pPr lvl="1"/>
            <a:r>
              <a:rPr lang="en-US" dirty="0" smtClean="0"/>
              <a:t>1 Quality Control Level</a:t>
            </a:r>
          </a:p>
          <a:p>
            <a:pPr lvl="1"/>
            <a:r>
              <a:rPr lang="en-US" dirty="0" smtClean="0"/>
              <a:t>Is derived from a set of data values</a:t>
            </a:r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Simplicity == Attributes defined per time series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426325" cy="4891088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Actual data records have:</a:t>
            </a:r>
          </a:p>
          <a:p>
            <a:r>
              <a:rPr lang="en-US" dirty="0" smtClean="0"/>
              <a:t>0+ </a:t>
            </a:r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features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 QC Levels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 Sources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 Methods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Inconsistent units</a:t>
            </a:r>
            <a:endParaRPr lang="en-US" dirty="0" smtClean="0"/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 Samples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 Offsets (</a:t>
            </a:r>
            <a:r>
              <a:rPr lang="en-US" dirty="0" smtClean="0"/>
              <a:t>vertical and horizontal) </a:t>
            </a:r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 Qualifiers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Multiple Variables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Duplicate Instruments or data streams</a:t>
            </a:r>
          </a:p>
          <a:p>
            <a:pPr>
              <a:buNone/>
            </a:pPr>
            <a:r>
              <a:rPr lang="en-US" dirty="0" smtClean="0"/>
              <a:t>Actual data attributes often</a:t>
            </a:r>
            <a:r>
              <a:rPr lang="en-US" dirty="0" smtClean="0"/>
              <a:t> are </a:t>
            </a:r>
            <a:r>
              <a:rPr lang="en-US" dirty="0" smtClean="0"/>
              <a:t>defined per result/value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Tradeoffs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Management &lt;&gt; Delivery</a:t>
            </a:r>
          </a:p>
          <a:p>
            <a:pPr lvl="1"/>
            <a:r>
              <a:rPr lang="en-US" dirty="0" smtClean="0"/>
              <a:t>Management of data streams</a:t>
            </a:r>
          </a:p>
          <a:p>
            <a:pPr lvl="1"/>
            <a:r>
              <a:rPr lang="en-US" dirty="0" smtClean="0"/>
              <a:t>Delivery of Time Series</a:t>
            </a:r>
          </a:p>
          <a:p>
            <a:r>
              <a:rPr lang="en-US" dirty="0" smtClean="0"/>
              <a:t>Archive vs. Use</a:t>
            </a:r>
          </a:p>
          <a:p>
            <a:pPr lvl="1"/>
            <a:r>
              <a:rPr lang="en-US" dirty="0" smtClean="0"/>
              <a:t>Deliver data needed for use</a:t>
            </a:r>
          </a:p>
          <a:p>
            <a:pPr lvl="1"/>
            <a:r>
              <a:rPr lang="en-US" dirty="0" smtClean="0"/>
              <a:t>Deliver all attributes of the data</a:t>
            </a:r>
          </a:p>
          <a:p>
            <a:r>
              <a:rPr lang="en-US" dirty="0" smtClean="0"/>
              <a:t>Attributes, per value or per series</a:t>
            </a:r>
          </a:p>
          <a:p>
            <a:r>
              <a:rPr lang="en-US" dirty="0" smtClean="0"/>
              <a:t>Data Values </a:t>
            </a:r>
          </a:p>
          <a:p>
            <a:pPr lvl="1"/>
            <a:r>
              <a:rPr lang="en-US" dirty="0" smtClean="0"/>
              <a:t>Core</a:t>
            </a:r>
          </a:p>
          <a:p>
            <a:pPr lvl="1"/>
            <a:r>
              <a:rPr lang="en-US" dirty="0" smtClean="0"/>
              <a:t>detailed</a:t>
            </a:r>
          </a:p>
          <a:p>
            <a:r>
              <a:rPr lang="en-US" dirty="0" smtClean="0"/>
              <a:t>Result Types</a:t>
            </a:r>
          </a:p>
          <a:p>
            <a:pPr>
              <a:buNone/>
            </a:pPr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Tradeoffs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result</a:t>
            </a:r>
          </a:p>
          <a:p>
            <a:pPr lvl="1"/>
            <a:r>
              <a:rPr lang="en-US" dirty="0" smtClean="0"/>
              <a:t>Service must understand all data value attributes and associations</a:t>
            </a:r>
          </a:p>
          <a:p>
            <a:r>
              <a:rPr lang="en-US" dirty="0" smtClean="0"/>
              <a:t>Multiple result types</a:t>
            </a:r>
          </a:p>
          <a:p>
            <a:pPr lvl="1"/>
            <a:r>
              <a:rPr lang="en-US" dirty="0" smtClean="0"/>
              <a:t>Service must understand some core set</a:t>
            </a:r>
          </a:p>
          <a:p>
            <a:pPr lvl="1"/>
            <a:r>
              <a:rPr lang="en-US" dirty="0" smtClean="0"/>
              <a:t>Additional result types extend core</a:t>
            </a:r>
          </a:p>
          <a:p>
            <a:pPr lvl="2"/>
            <a:r>
              <a:rPr lang="en-US" dirty="0" smtClean="0"/>
              <a:t>In Situ</a:t>
            </a:r>
          </a:p>
          <a:p>
            <a:pPr lvl="3"/>
            <a:r>
              <a:rPr lang="en-US" dirty="0" smtClean="0"/>
              <a:t>Temporally Dense, Spatially sparse</a:t>
            </a:r>
          </a:p>
          <a:p>
            <a:pPr lvl="3"/>
            <a:r>
              <a:rPr lang="en-US" dirty="0" smtClean="0"/>
              <a:t>Few observed phenomena</a:t>
            </a:r>
          </a:p>
          <a:p>
            <a:pPr lvl="2"/>
            <a:r>
              <a:rPr lang="en-US" dirty="0" smtClean="0"/>
              <a:t>Ex-Situ</a:t>
            </a:r>
          </a:p>
          <a:p>
            <a:pPr lvl="3"/>
            <a:r>
              <a:rPr lang="en-US" dirty="0" smtClean="0"/>
              <a:t>Temporally sparse, spatially sparse</a:t>
            </a:r>
          </a:p>
          <a:p>
            <a:pPr lvl="3"/>
            <a:r>
              <a:rPr lang="en-US" dirty="0" smtClean="0"/>
              <a:t>Many observed phenomena</a:t>
            </a:r>
          </a:p>
          <a:p>
            <a:pPr lvl="2"/>
            <a:r>
              <a:rPr lang="en-US" dirty="0" smtClean="0"/>
              <a:t>Complex Data Products</a:t>
            </a:r>
          </a:p>
          <a:p>
            <a:pPr lvl="3"/>
            <a:r>
              <a:rPr lang="en-US" dirty="0" smtClean="0"/>
              <a:t>Processed observational data</a:t>
            </a:r>
          </a:p>
          <a:p>
            <a:pPr lvl="3"/>
            <a:r>
              <a:rPr lang="en-US" dirty="0" smtClean="0"/>
              <a:t>Synthesized observational data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1066800" y="1066800"/>
          <a:ext cx="7278687" cy="5010150"/>
        </p:xfrm>
        <a:graphic>
          <a:graphicData uri="http://schemas.openxmlformats.org/presentationml/2006/ole">
            <p:oleObj spid="_x0000_s56322" name="Document" r:id="rId4" imgW="6146800" imgH="422910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Watershed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the goal the ability to have a digital watershed?</a:t>
            </a:r>
          </a:p>
          <a:p>
            <a:r>
              <a:rPr lang="en-US" dirty="0" smtClean="0"/>
              <a:t>What are the needs of a </a:t>
            </a:r>
            <a:r>
              <a:rPr lang="en-US" smtClean="0"/>
              <a:t>digital </a:t>
            </a:r>
            <a:r>
              <a:rPr lang="en-US" smtClean="0"/>
              <a:t>watershed?</a:t>
            </a:r>
          </a:p>
          <a:p>
            <a:pPr lvl="1"/>
            <a:r>
              <a:rPr lang="en-US" dirty="0" smtClean="0"/>
              <a:t>Standards based</a:t>
            </a:r>
          </a:p>
          <a:p>
            <a:pPr lvl="1"/>
            <a:r>
              <a:rPr lang="en-US" dirty="0" smtClean="0"/>
              <a:t>Repeatable</a:t>
            </a:r>
          </a:p>
          <a:p>
            <a:pPr lvl="1"/>
            <a:r>
              <a:rPr lang="en-US" dirty="0" err="1" smtClean="0"/>
              <a:t>Archivable</a:t>
            </a:r>
            <a:endParaRPr lang="en-US" dirty="0" smtClean="0"/>
          </a:p>
          <a:p>
            <a:pPr lvl="2"/>
            <a:r>
              <a:rPr lang="en-US" dirty="0" smtClean="0"/>
              <a:t>Predictable structure</a:t>
            </a:r>
          </a:p>
          <a:p>
            <a:pPr lvl="2"/>
            <a:r>
              <a:rPr lang="en-US" dirty="0" smtClean="0"/>
              <a:t>Self documenting</a:t>
            </a:r>
          </a:p>
          <a:p>
            <a:pPr lvl="1"/>
            <a:r>
              <a:rPr lang="en-US" dirty="0" smtClean="0"/>
              <a:t>Actual Information</a:t>
            </a:r>
          </a:p>
          <a:p>
            <a:pPr lvl="1"/>
            <a:r>
              <a:rPr lang="en-US" dirty="0" smtClean="0"/>
              <a:t>Extendable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series results</a:t>
            </a:r>
          </a:p>
          <a:p>
            <a:pPr lvl="1"/>
            <a:r>
              <a:rPr lang="en-US" dirty="0" smtClean="0"/>
              <a:t>Are delivered in a variety of forms</a:t>
            </a:r>
          </a:p>
          <a:p>
            <a:pPr lvl="1"/>
            <a:r>
              <a:rPr lang="en-US" dirty="0" smtClean="0"/>
              <a:t>Have a variety of information models</a:t>
            </a:r>
          </a:p>
          <a:p>
            <a:r>
              <a:rPr lang="en-US" dirty="0" smtClean="0"/>
              <a:t>A common series/offering description/methodology helps with discovery</a:t>
            </a:r>
          </a:p>
          <a:p>
            <a:pPr lvl="1"/>
            <a:r>
              <a:rPr lang="en-US" dirty="0" smtClean="0"/>
              <a:t>Often series information is implied or not available</a:t>
            </a:r>
          </a:p>
          <a:p>
            <a:r>
              <a:rPr lang="en-US" dirty="0" smtClean="0"/>
              <a:t>We have to decide on several tradeoffs in order to develop a digital watershed</a:t>
            </a:r>
          </a:p>
          <a:p>
            <a:pPr lvl="1"/>
            <a:r>
              <a:rPr lang="en-US" dirty="0" smtClean="0"/>
              <a:t>Archive vs. Use</a:t>
            </a:r>
          </a:p>
          <a:p>
            <a:pPr lvl="1"/>
            <a:r>
              <a:rPr lang="en-US" dirty="0" smtClean="0"/>
              <a:t>Result model or Result models</a:t>
            </a:r>
          </a:p>
          <a:p>
            <a:r>
              <a:rPr lang="en-US" dirty="0" smtClean="0"/>
              <a:t>Decide on what standardized services are part of the Hydrology stack.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Method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2009 Open Geospatial Consortium,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2CCFBB-94F4-4A0B-B977-E0BA806D9A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533400" y="1600200"/>
          <a:ext cx="7287638" cy="3355975"/>
        </p:xfrm>
        <a:graphic>
          <a:graphicData uri="http://schemas.openxmlformats.org/presentationml/2006/ole">
            <p:oleObj spid="_x0000_s55298" name="Document" r:id="rId4" imgW="6146800" imgH="2819400" progId="Word.Document.12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969696"/>
          </a:solidFill>
          <a:prstDash val="solid"/>
          <a:round/>
          <a:headEnd type="stealth" w="med" len="lg"/>
          <a:tailEnd type="none" w="med" len="med"/>
        </a:ln>
        <a:effectLst/>
      </a:spPr>
      <a:bodyPr vert="horz" wrap="none" lIns="0" tIns="45720" rIns="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969696"/>
          </a:solidFill>
          <a:prstDash val="solid"/>
          <a:round/>
          <a:headEnd type="stealth" w="med" len="lg"/>
          <a:tailEnd type="none" w="med" len="med"/>
        </a:ln>
        <a:effectLst/>
      </a:spPr>
      <a:bodyPr vert="horz" wrap="none" lIns="0" tIns="45720" rIns="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charset="0"/>
          </a:defRPr>
        </a:defPPr>
      </a:lstStyle>
    </a:ln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C:\Users\CARLAN~1\AppData\Local\Temp\OGC_PowerPoint_Template.pot</Template>
  <TotalTime>479</TotalTime>
  <Words>927</Words>
  <Application>Microsoft Macintosh PowerPoint</Application>
  <PresentationFormat>On-screen Show (4:3)</PresentationFormat>
  <Paragraphs>262</Paragraphs>
  <Slides>26</Slides>
  <Notes>23</Notes>
  <HiddenSlides>5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OGC_PowerPoint_Template</vt:lpstr>
      <vt:lpstr>Document</vt:lpstr>
      <vt:lpstr> Existing time series delivery formats and Water Data Services requirements, and OGC-compliant Water Data Services</vt:lpstr>
      <vt:lpstr>Lets focus on the results</vt:lpstr>
      <vt:lpstr>Outline</vt:lpstr>
      <vt:lpstr>Period of Record/Offering/Series</vt:lpstr>
      <vt:lpstr>Period of Record (USGS Site)</vt:lpstr>
      <vt:lpstr>Returned information structure for Data Values</vt:lpstr>
      <vt:lpstr>USGS Data Stream, Real Time</vt:lpstr>
      <vt:lpstr>USGS Data Stream, Daily Values</vt:lpstr>
      <vt:lpstr>Data Value Column USGS Water Quality,  Aka, Instantaneous Irregular Data </vt:lpstr>
      <vt:lpstr>Table (DAYMET) </vt:lpstr>
      <vt:lpstr>Flat Columns (NCDC)</vt:lpstr>
      <vt:lpstr>Report (SnoTel)</vt:lpstr>
      <vt:lpstr>EPA Flat Format</vt:lpstr>
      <vt:lpstr>Mapping WQX results to WaterML TimeSeries </vt:lpstr>
      <vt:lpstr>52 North  SOS Model</vt:lpstr>
      <vt:lpstr>Transfer Standards (from the paper)</vt:lpstr>
      <vt:lpstr>Observations Data Model</vt:lpstr>
      <vt:lpstr>Data Values</vt:lpstr>
      <vt:lpstr>Series</vt:lpstr>
      <vt:lpstr>Issues</vt:lpstr>
      <vt:lpstr>Tradeoffs</vt:lpstr>
      <vt:lpstr>Result Tradeoffs</vt:lpstr>
      <vt:lpstr>Services</vt:lpstr>
      <vt:lpstr>Digital Watershed</vt:lpstr>
      <vt:lpstr>Summary</vt:lpstr>
      <vt:lpstr>Access Method Examples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mpp</dc:subject>
  <dc:creator>Carl Reed</dc:creator>
  <cp:lastModifiedBy>Valentine David</cp:lastModifiedBy>
  <cp:revision>42</cp:revision>
  <cp:lastPrinted>2003-02-03T21:59:32Z</cp:lastPrinted>
  <dcterms:created xsi:type="dcterms:W3CDTF">2009-12-08T20:11:02Z</dcterms:created>
  <dcterms:modified xsi:type="dcterms:W3CDTF">2009-12-08T23:07:32Z</dcterms:modified>
</cp:coreProperties>
</file>