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61" r:id="rId4"/>
    <p:sldId id="262" r:id="rId5"/>
  </p:sldIdLst>
  <p:sldSz cx="9144000" cy="6858000" type="screen4x3"/>
  <p:notesSz cx="6904038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00"/>
    <a:srgbClr val="000066"/>
    <a:srgbClr val="FFFF99"/>
    <a:srgbClr val="969696"/>
    <a:srgbClr val="CCFFFF"/>
    <a:srgbClr val="5C090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3"/>
    <p:restoredTop sz="93688" autoAdjust="0"/>
  </p:normalViewPr>
  <p:slideViewPr>
    <p:cSldViewPr>
      <p:cViewPr varScale="1">
        <p:scale>
          <a:sx n="70" d="100"/>
          <a:sy n="70" d="100"/>
        </p:scale>
        <p:origin x="-1296" y="-102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3D35F818-8F95-4D4B-8511-C68E4BFDA967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43349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ED3BBFB6-EA16-814E-8BA7-170BD9422392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2113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3BBFB6-EA16-814E-8BA7-170BD9422392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525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tiff"/><Relationship Id="rId4" Type="http://schemas.openxmlformats.org/officeDocument/2006/relationships/image" Target="../media/image4.tif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z="800" smtClean="0">
                <a:solidFill>
                  <a:srgbClr val="FFFFFF"/>
                </a:solidFill>
                <a:latin typeface="Arial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8" name="Text Box 5"/>
          <p:cNvSpPr txBox="1">
            <a:spLocks noChangeArrowheads="1"/>
          </p:cNvSpPr>
          <p:nvPr userDrawn="1"/>
        </p:nvSpPr>
        <p:spPr bwMode="auto">
          <a:xfrm>
            <a:off x="4068763" y="1139825"/>
            <a:ext cx="854075" cy="246063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algn="ctr">
              <a:defRPr/>
            </a:pPr>
            <a:r>
              <a:rPr lang="en-US" dirty="0" smtClean="0">
                <a:latin typeface="Arial" charset="0"/>
              </a:rPr>
              <a:t>Sponsored by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762125" y="1426824"/>
            <a:ext cx="3810000" cy="1828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957584" y="1627526"/>
            <a:ext cx="25400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3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9BF124-AF04-5448-81DF-7A81BF3CA465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508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96FCB-D23A-A24C-9D82-3F41F4AC5DA0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372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66CF4-B06C-C644-947A-3193A300C1B1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616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6F97B-9CFF-B245-85B9-914B1C89C386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15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45999-4989-CE46-9052-5F6CD8C2D654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90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E257F-3AC2-0942-956E-433F540C01CE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467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35DC85-1E39-6F45-8D26-88CB57EE5C7C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751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941DA-054F-A74C-AF1A-5876988B7CF6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598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F5C08-9863-464B-8ADE-A89BC4109059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566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3E5D2-22FF-DE40-BB45-5904AFD691AA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65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 dirty="0"/>
              <a:t>Copyright © </a:t>
            </a:r>
            <a:r>
              <a:rPr lang="en-US" altLang="en-US" dirty="0" smtClean="0"/>
              <a:t>2017 </a:t>
            </a:r>
            <a:r>
              <a:rPr lang="en-US" altLang="en-US" dirty="0"/>
              <a:t>Open Geospatial Consortium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fld id="{27D0F9EB-4EAC-1044-9312-C01285DE51F3}" type="slidenum">
              <a:rPr lang="en-US" altLang="en-US"/>
              <a:pPr>
                <a:defRPr/>
              </a:pPr>
              <a:t>‹N°›</a:t>
            </a:fld>
            <a:endParaRPr lang="en-US" altLang="en-US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 smtClean="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mtClean="0">
                <a:solidFill>
                  <a:schemeClr val="tx2"/>
                </a:solidFill>
                <a:latin typeface="Arial" charset="0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xternal.opengis.org/twiki_public/pub/HydrologyDWG/WorkshopKoblenz2016/20160614_Inspire_OM_SWE_requirements_Grellet.ppt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inspire.ec.europa.eu/id/document/tg/download-sos" TargetMode="External"/><Relationship Id="rId4" Type="http://schemas.openxmlformats.org/officeDocument/2006/relationships/hyperlink" Target="http://inspire.ec.europa.eu/id/document/tg/d2.9-o&amp;m-swe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INSPIRE O&amp;M and SWE Requirements/</a:t>
            </a:r>
            <a:br>
              <a:rPr lang="en-US" dirty="0"/>
            </a:br>
            <a:r>
              <a:rPr lang="en-US" dirty="0"/>
              <a:t>Technical Guidance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 smtClean="0">
                <a:ea typeface="MS PGothic" charset="-128"/>
              </a:rPr>
              <a:t>102nd </a:t>
            </a:r>
            <a:r>
              <a:rPr lang="en-US" altLang="en-US" dirty="0">
                <a:ea typeface="MS PGothic" charset="-128"/>
              </a:rPr>
              <a:t>OGC Technical Committee</a:t>
            </a:r>
          </a:p>
          <a:p>
            <a:r>
              <a:rPr lang="en-US" altLang="en-US" dirty="0" smtClean="0">
                <a:ea typeface="MS PGothic" charset="-128"/>
              </a:rPr>
              <a:t>Delft, The Netherlands</a:t>
            </a:r>
            <a:endParaRPr lang="en-US" altLang="en-US" dirty="0">
              <a:ea typeface="MS PGothic" charset="-128"/>
            </a:endParaRPr>
          </a:p>
          <a:p>
            <a:r>
              <a:rPr lang="en-US" altLang="en-US" dirty="0" err="1"/>
              <a:t>S.Grellet</a:t>
            </a:r>
            <a:r>
              <a:rPr lang="en-US" altLang="en-US" dirty="0"/>
              <a:t> – BRGM</a:t>
            </a:r>
          </a:p>
          <a:p>
            <a:r>
              <a:rPr lang="en-US" altLang="en-US" dirty="0" err="1"/>
              <a:t>S.Jirka</a:t>
            </a:r>
            <a:r>
              <a:rPr lang="en-US" altLang="en-US" dirty="0"/>
              <a:t> – 52N</a:t>
            </a:r>
          </a:p>
          <a:p>
            <a:r>
              <a:rPr lang="en-US" altLang="en-US" dirty="0" smtClean="0">
                <a:ea typeface="MS PGothic" charset="-128"/>
              </a:rPr>
              <a:t>20 March 2017 : Hydro DWG</a:t>
            </a:r>
          </a:p>
          <a:p>
            <a:r>
              <a:rPr lang="en-US" altLang="en-US" dirty="0" smtClean="0">
                <a:ea typeface="MS PGothic" charset="-128"/>
              </a:rPr>
              <a:t>21 </a:t>
            </a:r>
            <a:r>
              <a:rPr lang="en-US" altLang="en-US" dirty="0">
                <a:ea typeface="MS PGothic" charset="-128"/>
              </a:rPr>
              <a:t>March 2017 : </a:t>
            </a:r>
            <a:r>
              <a:rPr lang="en-US" altLang="en-US" dirty="0" smtClean="0">
                <a:ea typeface="MS PGothic" charset="-128"/>
              </a:rPr>
              <a:t>SWE DWG</a:t>
            </a:r>
            <a:endParaRPr lang="en-US" altLang="en-US" dirty="0">
              <a:ea typeface="MS PGothic" charset="-128"/>
            </a:endParaRPr>
          </a:p>
          <a:p>
            <a:endParaRPr lang="en-US" altLang="en-US" dirty="0">
              <a:ea typeface="MS PGothic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pic>
        <p:nvPicPr>
          <p:cNvPr id="5" name="Picture 7" descr="D:\Dce Alain\logo janvier 2003\logos 2003 validés alain\version fevrier 2003\pcx\BRGM\BRGM couleur.pcx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5410200"/>
            <a:ext cx="1472602" cy="677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D:\Documents\grellets\Travail\OGC\HydroDWG\Meetings\20160309_Washington_TC\52N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6238448"/>
            <a:ext cx="1261256" cy="49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6921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75" y="1219200"/>
            <a:ext cx="8458200" cy="4570413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2 years of work updating EU INSPIRE rules regarding O&amp;M &amp; SWE</a:t>
            </a:r>
          </a:p>
          <a:p>
            <a:pPr lvl="1"/>
            <a:r>
              <a:rPr lang="en-GB" dirty="0"/>
              <a:t>TC Washington 2016 </a:t>
            </a:r>
            <a:r>
              <a:rPr lang="en-GB" dirty="0" err="1"/>
              <a:t>HydroDWG</a:t>
            </a:r>
            <a:r>
              <a:rPr lang="en-GB" dirty="0"/>
              <a:t> </a:t>
            </a:r>
            <a:r>
              <a:rPr lang="en-GB" dirty="0">
                <a:hlinkClick r:id="rId3"/>
              </a:rPr>
              <a:t>presentation</a:t>
            </a:r>
            <a:endParaRPr lang="en-GB" dirty="0"/>
          </a:p>
          <a:p>
            <a:pPr lvl="1"/>
            <a:r>
              <a:rPr lang="en-GB" dirty="0"/>
              <a:t>TC  Dublin 2016 SWE DWG presentation (see OGC portal)</a:t>
            </a:r>
          </a:p>
          <a:p>
            <a:pPr lvl="1"/>
            <a:r>
              <a:rPr lang="en-GB" dirty="0"/>
              <a:t>Documents circulated to SWE DWG and Hydro DWG</a:t>
            </a:r>
          </a:p>
          <a:p>
            <a:pPr lvl="1"/>
            <a:r>
              <a:rPr lang="en-GB" dirty="0"/>
              <a:t>Feedback from EU member states</a:t>
            </a:r>
          </a:p>
          <a:p>
            <a:pPr lvl="1"/>
            <a:endParaRPr lang="en-US" dirty="0"/>
          </a:p>
          <a:p>
            <a:r>
              <a:rPr lang="en-US" dirty="0"/>
              <a:t>Now officially endorsed</a:t>
            </a:r>
          </a:p>
          <a:p>
            <a:pPr lvl="1"/>
            <a:r>
              <a:rPr lang="en-GB" dirty="0">
                <a:hlinkClick r:id="rId4"/>
              </a:rPr>
              <a:t>Guidelines for the use of Observations &amp; Measurements and Sensor Web Enablement-related standards in INSPIRE</a:t>
            </a:r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>
                <a:hlinkClick r:id="rId5"/>
              </a:rPr>
              <a:t>Technical Guidance for implementing download services using the OGC Sensor Observation Service and ISO 19143 Filter Encoding</a:t>
            </a:r>
            <a:endParaRPr lang="en-GB" dirty="0"/>
          </a:p>
          <a:p>
            <a:pPr marL="347663" lvl="1" indent="0">
              <a:buNone/>
            </a:pPr>
            <a:r>
              <a:rPr lang="en-US" dirty="0"/>
              <a:t>	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48080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Proposal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the « Guidelines for the use of Observations &amp; Measurements and Sensor Web Enablement-related standards in INSPIRE” as an OGC BP </a:t>
            </a:r>
            <a:endParaRPr lang="en-US" dirty="0" smtClean="0"/>
          </a:p>
          <a:p>
            <a:pPr lvl="1"/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Already modular specification structure</a:t>
            </a:r>
          </a:p>
          <a:p>
            <a:pPr lvl="1"/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Contains an updated proposal for the </a:t>
            </a:r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GetDataAvailability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operation and also for a hierarchical </a:t>
            </a:r>
            <a:r>
              <a:rPr lang="en-GB" dirty="0" err="1">
                <a:latin typeface="Calibri" panose="020F0502020204030204" pitchFamily="34" charset="0"/>
                <a:cs typeface="Calibri" panose="020F0502020204030204" pitchFamily="34" charset="0"/>
              </a:rPr>
              <a:t>ObservationOffering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structure.</a:t>
            </a:r>
          </a:p>
          <a:p>
            <a:r>
              <a:rPr lang="en-US" dirty="0" smtClean="0"/>
              <a:t>Already </a:t>
            </a:r>
            <a:r>
              <a:rPr lang="en-US" dirty="0"/>
              <a:t>start working/testing the ‘expected next </a:t>
            </a:r>
            <a:r>
              <a:rPr lang="en-US" dirty="0" smtClean="0"/>
              <a:t>steps’ identified </a:t>
            </a:r>
            <a:r>
              <a:rPr lang="en-US" dirty="0"/>
              <a:t>in that document </a:t>
            </a:r>
            <a:r>
              <a:rPr lang="en-US" dirty="0" smtClean="0">
                <a:sym typeface="Wingdings" panose="05000000000000000000" pitchFamily="2" charset="2"/>
              </a:rPr>
              <a:t></a:t>
            </a:r>
          </a:p>
          <a:p>
            <a:pPr lvl="1"/>
            <a:r>
              <a:rPr lang="en-US" dirty="0"/>
              <a:t>O&amp;M and SWE JSON encoding rules,</a:t>
            </a:r>
          </a:p>
          <a:p>
            <a:pPr lvl="1"/>
            <a:r>
              <a:rPr lang="en-US" dirty="0"/>
              <a:t>Out of band issues,</a:t>
            </a:r>
          </a:p>
          <a:p>
            <a:pPr lvl="1"/>
            <a:r>
              <a:rPr lang="en-US" dirty="0"/>
              <a:t>Official </a:t>
            </a:r>
            <a:r>
              <a:rPr lang="en-US" dirty="0" err="1"/>
              <a:t>GetDataAvailability</a:t>
            </a:r>
            <a:r>
              <a:rPr lang="en-US" dirty="0"/>
              <a:t> </a:t>
            </a:r>
            <a:r>
              <a:rPr lang="en-US" dirty="0" smtClean="0"/>
              <a:t>operation</a:t>
            </a:r>
          </a:p>
          <a:p>
            <a:pPr lvl="1"/>
            <a:r>
              <a:rPr lang="en-US" dirty="0" smtClean="0"/>
              <a:t>Standard functionality to merge multiple observations into SWE data arrays</a:t>
            </a:r>
            <a:endParaRPr lang="en-US" dirty="0"/>
          </a:p>
          <a:p>
            <a:pPr lvl="1"/>
            <a:r>
              <a:rPr lang="en-US" dirty="0"/>
              <a:t>…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48279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Windows\Web\Wallpaper\BRGM\fond_ecran_2013_0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654" y="990600"/>
            <a:ext cx="8525746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 smtClean="0">
                <a:solidFill>
                  <a:schemeClr val="bg1"/>
                </a:solidFill>
              </a:rPr>
              <a:t>s.grellet@brgm.fr </a:t>
            </a:r>
            <a:endParaRPr lang="fr-FR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fr-FR" dirty="0" smtClean="0">
                <a:solidFill>
                  <a:schemeClr val="bg1"/>
                </a:solidFill>
              </a:rPr>
              <a:t>jirka@52north.org </a:t>
            </a:r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2017 Open Geospatial Consortium</a:t>
            </a:r>
            <a:endParaRPr lang="en-US" altLang="en-US" dirty="0"/>
          </a:p>
        </p:txBody>
      </p:sp>
      <p:pic>
        <p:nvPicPr>
          <p:cNvPr id="6" name="Picture 2" descr="D:\Documents\grellets\Travail\OGC\HydroDWG\Meetings\20160309_Washington_TC\52N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5909933"/>
            <a:ext cx="1261256" cy="49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224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GC_PowerPoint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1637</TotalTime>
  <Words>142</Words>
  <Application>Microsoft Office PowerPoint</Application>
  <PresentationFormat>Affichage à l'écran (4:3)</PresentationFormat>
  <Paragraphs>37</Paragraphs>
  <Slides>4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OGC_PowerPoint_Template</vt:lpstr>
      <vt:lpstr>INSPIRE O&amp;M and SWE Requirements/ Technical Guidance</vt:lpstr>
      <vt:lpstr>Context</vt:lpstr>
      <vt:lpstr>Proposal</vt:lpstr>
      <vt:lpstr>Thank you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Volunteered Geographic Information (VGI) Workshop</dc:title>
  <dc:subject>OGC TC/PC</dc:subject>
  <dc:creator>Scott Simmons</dc:creator>
  <cp:lastModifiedBy>Grellet Sylvain</cp:lastModifiedBy>
  <cp:revision>63</cp:revision>
  <cp:lastPrinted>2003-02-03T21:59:32Z</cp:lastPrinted>
  <dcterms:created xsi:type="dcterms:W3CDTF">2015-09-08T23:47:11Z</dcterms:created>
  <dcterms:modified xsi:type="dcterms:W3CDTF">2017-03-20T09:31:34Z</dcterms:modified>
</cp:coreProperties>
</file>